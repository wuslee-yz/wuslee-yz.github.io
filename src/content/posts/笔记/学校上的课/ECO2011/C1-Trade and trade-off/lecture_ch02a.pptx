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31"/>
  </p:notesMasterIdLst>
  <p:sldIdLst>
    <p:sldId id="256" r:id="rId2"/>
    <p:sldId id="266" r:id="rId3"/>
    <p:sldId id="313" r:id="rId4"/>
    <p:sldId id="314" r:id="rId5"/>
    <p:sldId id="267" r:id="rId6"/>
    <p:sldId id="269" r:id="rId7"/>
    <p:sldId id="315" r:id="rId8"/>
    <p:sldId id="318" r:id="rId9"/>
    <p:sldId id="270" r:id="rId10"/>
    <p:sldId id="319" r:id="rId11"/>
    <p:sldId id="272" r:id="rId12"/>
    <p:sldId id="273" r:id="rId13"/>
    <p:sldId id="274" r:id="rId14"/>
    <p:sldId id="275" r:id="rId15"/>
    <p:sldId id="276" r:id="rId16"/>
    <p:sldId id="277" r:id="rId17"/>
    <p:sldId id="278" r:id="rId18"/>
    <p:sldId id="323" r:id="rId19"/>
    <p:sldId id="322" r:id="rId20"/>
    <p:sldId id="317" r:id="rId21"/>
    <p:sldId id="285" r:id="rId22"/>
    <p:sldId id="320" r:id="rId23"/>
    <p:sldId id="289" r:id="rId24"/>
    <p:sldId id="324" r:id="rId25"/>
    <p:sldId id="321" r:id="rId26"/>
    <p:sldId id="261" r:id="rId27"/>
    <p:sldId id="262" r:id="rId28"/>
    <p:sldId id="263" r:id="rId29"/>
    <p:sldId id="265" r:id="rId30"/>
  </p:sldIdLst>
  <p:sldSz cx="9144000" cy="6858000" type="screen4x3"/>
  <p:notesSz cx="6858000" cy="9144000"/>
  <p:defaultTextStyle>
    <a:defPPr>
      <a:defRPr lang="id-ID"/>
    </a:defPPr>
    <a:lvl1pPr algn="l" rtl="0" fontAlgn="base">
      <a:spcBef>
        <a:spcPct val="0"/>
      </a:spcBef>
      <a:spcAft>
        <a:spcPct val="0"/>
      </a:spcAft>
      <a:defRPr kern="1200">
        <a:solidFill>
          <a:schemeClr val="tx1"/>
        </a:solidFill>
        <a:latin typeface="Calibri" pitchFamily="34" charset="0"/>
        <a:ea typeface="MS PGothic" pitchFamily="34" charset="-128"/>
        <a:cs typeface="Arial" pitchFamily="34" charset="0"/>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Arial" pitchFamily="34" charset="0"/>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Arial" pitchFamily="34" charset="0"/>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Arial" pitchFamily="34" charset="0"/>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Calibri"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Calibri"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Calibri"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Calibri" pitchFamily="34" charset="0"/>
        <a:ea typeface="MS PGothic" pitchFamily="34" charset="-128"/>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ia" initials="M" lastIdx="4" clrIdx="0"/>
  <p:cmAuthor id="1" name="hbadmin" initials="h"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89" autoAdjust="0"/>
    <p:restoredTop sz="84510" autoAdjust="0"/>
  </p:normalViewPr>
  <p:slideViewPr>
    <p:cSldViewPr>
      <p:cViewPr varScale="1">
        <p:scale>
          <a:sx n="70" d="100"/>
          <a:sy n="70" d="100"/>
        </p:scale>
        <p:origin x="1286" y="43"/>
      </p:cViewPr>
      <p:guideLst>
        <p:guide orient="horz" pos="2160"/>
        <p:guide pos="2880"/>
      </p:guideLst>
    </p:cSldViewPr>
  </p:slideViewPr>
  <p:notesTextViewPr>
    <p:cViewPr>
      <p:scale>
        <a:sx n="100" d="100"/>
        <a:sy n="100" d="100"/>
      </p:scale>
      <p:origin x="0" y="0"/>
    </p:cViewPr>
  </p:notesTextViewPr>
  <p:sorterViewPr>
    <p:cViewPr>
      <p:scale>
        <a:sx n="180" d="100"/>
        <a:sy n="180" d="100"/>
      </p:scale>
      <p:origin x="0" y="0"/>
    </p:cViewPr>
  </p:sorterViewPr>
  <p:notesViewPr>
    <p:cSldViewPr>
      <p:cViewPr varScale="1">
        <p:scale>
          <a:sx n="52" d="100"/>
          <a:sy n="52" d="100"/>
        </p:scale>
        <p:origin x="-2678"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cs typeface="+mn-cs"/>
              </a:defRPr>
            </a:lvl1pPr>
          </a:lstStyle>
          <a:p>
            <a:pPr>
              <a:defRPr/>
            </a:pPr>
            <a:fld id="{571A7FBC-A9BD-4C68-9927-C9AEC2E129B5}" type="datetimeFigureOut">
              <a:rPr lang="en-US"/>
              <a:pPr>
                <a:defRPr/>
              </a:pPr>
              <a:t>9/8/2015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cs typeface="+mn-cs"/>
              </a:defRPr>
            </a:lvl1pPr>
          </a:lstStyle>
          <a:p>
            <a:pPr>
              <a:defRPr/>
            </a:pPr>
            <a:fld id="{9F65F59A-4807-48EA-848B-2387B560F53D}" type="slidenum">
              <a:rPr lang="en-US"/>
              <a:pPr>
                <a:defRPr/>
              </a:pPr>
              <a:t>‹#›</a:t>
            </a:fld>
            <a:endParaRPr lang="en-US" dirty="0"/>
          </a:p>
        </p:txBody>
      </p:sp>
    </p:spTree>
    <p:extLst>
      <p:ext uri="{BB962C8B-B14F-4D97-AF65-F5344CB8AC3E}">
        <p14:creationId xmlns:p14="http://schemas.microsoft.com/office/powerpoint/2010/main" val="18893498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F65F59A-4807-48EA-848B-2387B560F53D}" type="slidenum">
              <a:rPr lang="en-US" smtClean="0"/>
              <a:pPr>
                <a:defRPr/>
              </a:pPr>
              <a:t>0</a:t>
            </a:fld>
            <a:endParaRPr lang="en-US" dirty="0"/>
          </a:p>
        </p:txBody>
      </p:sp>
    </p:spTree>
    <p:extLst>
      <p:ext uri="{BB962C8B-B14F-4D97-AF65-F5344CB8AC3E}">
        <p14:creationId xmlns:p14="http://schemas.microsoft.com/office/powerpoint/2010/main" val="3673680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latin typeface="Arial" pitchFamily="34" charset="0"/>
            </a:endParaRPr>
          </a:p>
        </p:txBody>
      </p:sp>
    </p:spTree>
    <p:extLst>
      <p:ext uri="{BB962C8B-B14F-4D97-AF65-F5344CB8AC3E}">
        <p14:creationId xmlns:p14="http://schemas.microsoft.com/office/powerpoint/2010/main" val="764115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latin typeface="Arial" pitchFamily="34" charset="0"/>
            </a:endParaRPr>
          </a:p>
        </p:txBody>
      </p:sp>
    </p:spTree>
    <p:extLst>
      <p:ext uri="{BB962C8B-B14F-4D97-AF65-F5344CB8AC3E}">
        <p14:creationId xmlns:p14="http://schemas.microsoft.com/office/powerpoint/2010/main" val="2293907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F65F59A-4807-48EA-848B-2387B560F53D}" type="slidenum">
              <a:rPr lang="en-US" smtClean="0"/>
              <a:pPr>
                <a:defRPr/>
              </a:pPr>
              <a:t>4</a:t>
            </a:fld>
            <a:endParaRPr lang="en-US" dirty="0"/>
          </a:p>
        </p:txBody>
      </p:sp>
    </p:spTree>
    <p:extLst>
      <p:ext uri="{BB962C8B-B14F-4D97-AF65-F5344CB8AC3E}">
        <p14:creationId xmlns:p14="http://schemas.microsoft.com/office/powerpoint/2010/main" val="4100350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b="1" i="1" u="sng" dirty="0" smtClean="0">
                <a:latin typeface="Arial" pitchFamily="34" charset="0"/>
              </a:rPr>
              <a:t>Figure Caption:</a:t>
            </a:r>
          </a:p>
          <a:p>
            <a:pPr eaLnBrk="1" hangingPunct="1">
              <a:spcBef>
                <a:spcPct val="0"/>
              </a:spcBef>
            </a:pPr>
            <a:r>
              <a:rPr lang="en-US" b="1" dirty="0" smtClean="0">
                <a:latin typeface="Arial" pitchFamily="34" charset="0"/>
              </a:rPr>
              <a:t>Figure 2.1</a:t>
            </a:r>
            <a:r>
              <a:rPr lang="en-US" dirty="0" smtClean="0">
                <a:latin typeface="Arial" pitchFamily="34" charset="0"/>
              </a:rPr>
              <a:t> - </a:t>
            </a:r>
            <a:r>
              <a:rPr lang="en-US" b="1" dirty="0" smtClean="0">
                <a:latin typeface="Arial" pitchFamily="34" charset="0"/>
              </a:rPr>
              <a:t>The Production Possibility Frontier</a:t>
            </a:r>
          </a:p>
          <a:p>
            <a:pPr eaLnBrk="1" hangingPunct="1">
              <a:spcBef>
                <a:spcPct val="0"/>
              </a:spcBef>
            </a:pPr>
            <a:r>
              <a:rPr lang="en-US" dirty="0" smtClean="0">
                <a:latin typeface="Arial" pitchFamily="34" charset="0"/>
              </a:rPr>
              <a:t>The production possibility frontier illustrates the trade-offs facing an economy that produces two goods. It shows the maximum quantity of one good that can be produced given the quantity of the other good produced. Here, the maximum quantity of </a:t>
            </a:r>
            <a:r>
              <a:rPr lang="en-US" b="0" dirty="0" smtClean="0">
                <a:latin typeface="Arial" pitchFamily="34" charset="0"/>
              </a:rPr>
              <a:t>Dreamliners</a:t>
            </a:r>
            <a:r>
              <a:rPr lang="en-US" dirty="0" smtClean="0">
                <a:latin typeface="Arial" pitchFamily="34" charset="0"/>
              </a:rPr>
              <a:t> that </a:t>
            </a:r>
            <a:r>
              <a:rPr lang="en-US" b="0" dirty="0" smtClean="0">
                <a:latin typeface="Arial" pitchFamily="34" charset="0"/>
              </a:rPr>
              <a:t>Boeing can produce</a:t>
            </a:r>
            <a:r>
              <a:rPr lang="en-US" dirty="0" smtClean="0">
                <a:latin typeface="Arial" pitchFamily="34" charset="0"/>
              </a:rPr>
              <a:t> depends on the quantity of </a:t>
            </a:r>
            <a:r>
              <a:rPr lang="en-US" b="0" strike="noStrike" baseline="0" dirty="0" smtClean="0">
                <a:latin typeface="Arial" pitchFamily="34" charset="0"/>
              </a:rPr>
              <a:t>small jets that Boeing can manufacture</a:t>
            </a:r>
            <a:r>
              <a:rPr lang="en-US" dirty="0" smtClean="0">
                <a:latin typeface="Arial" pitchFamily="34" charset="0"/>
              </a:rPr>
              <a:t>, and vice versa. His feasible production is shown by the area </a:t>
            </a:r>
            <a:r>
              <a:rPr lang="en-US" i="1" dirty="0" smtClean="0">
                <a:latin typeface="Arial" pitchFamily="34" charset="0"/>
              </a:rPr>
              <a:t>inside  </a:t>
            </a:r>
            <a:r>
              <a:rPr lang="en-US" dirty="0" smtClean="0">
                <a:latin typeface="Arial" pitchFamily="34" charset="0"/>
              </a:rPr>
              <a:t>or </a:t>
            </a:r>
            <a:r>
              <a:rPr lang="en-US" i="1" dirty="0" smtClean="0">
                <a:latin typeface="Arial" pitchFamily="34" charset="0"/>
              </a:rPr>
              <a:t>on </a:t>
            </a:r>
            <a:r>
              <a:rPr lang="en-US" dirty="0" smtClean="0">
                <a:latin typeface="Arial" pitchFamily="34" charset="0"/>
              </a:rPr>
              <a:t>the curve. Production at point </a:t>
            </a:r>
            <a:r>
              <a:rPr lang="en-US" i="1" dirty="0" smtClean="0">
                <a:latin typeface="Arial" pitchFamily="34" charset="0"/>
              </a:rPr>
              <a:t>C  </a:t>
            </a:r>
            <a:r>
              <a:rPr lang="en-US" dirty="0" smtClean="0">
                <a:latin typeface="Arial" pitchFamily="34" charset="0"/>
              </a:rPr>
              <a:t>is feasible but not efficient. Points </a:t>
            </a:r>
            <a:r>
              <a:rPr lang="en-US" i="1" dirty="0" smtClean="0">
                <a:latin typeface="Arial" pitchFamily="34" charset="0"/>
              </a:rPr>
              <a:t>A  </a:t>
            </a:r>
            <a:r>
              <a:rPr lang="en-US" dirty="0" smtClean="0">
                <a:latin typeface="Arial" pitchFamily="34" charset="0"/>
              </a:rPr>
              <a:t>and </a:t>
            </a:r>
            <a:r>
              <a:rPr lang="en-US" i="1" dirty="0" smtClean="0">
                <a:latin typeface="Arial" pitchFamily="34" charset="0"/>
              </a:rPr>
              <a:t>B  </a:t>
            </a:r>
            <a:r>
              <a:rPr lang="en-US" dirty="0" smtClean="0">
                <a:latin typeface="Arial" pitchFamily="34" charset="0"/>
              </a:rPr>
              <a:t>are feasible and efficient in production, but point </a:t>
            </a:r>
            <a:r>
              <a:rPr lang="en-US" i="1" dirty="0" smtClean="0">
                <a:latin typeface="Arial" pitchFamily="34" charset="0"/>
              </a:rPr>
              <a:t>D  </a:t>
            </a:r>
            <a:r>
              <a:rPr lang="en-US" dirty="0" smtClean="0">
                <a:latin typeface="Arial" pitchFamily="34" charset="0"/>
              </a:rPr>
              <a:t>is not feasible.</a:t>
            </a:r>
          </a:p>
        </p:txBody>
      </p:sp>
    </p:spTree>
    <p:extLst>
      <p:ext uri="{BB962C8B-B14F-4D97-AF65-F5344CB8AC3E}">
        <p14:creationId xmlns:p14="http://schemas.microsoft.com/office/powerpoint/2010/main" val="2314802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pPr>
              <a:defRPr/>
            </a:pPr>
            <a:fld id="{9F65F59A-4807-48EA-848B-2387B560F53D}" type="slidenum">
              <a:rPr lang="en-US" smtClean="0"/>
              <a:pPr>
                <a:defRPr/>
              </a:pPr>
              <a:t>6</a:t>
            </a:fld>
            <a:endParaRPr lang="en-US" dirty="0"/>
          </a:p>
        </p:txBody>
      </p:sp>
    </p:spTree>
    <p:extLst>
      <p:ext uri="{BB962C8B-B14F-4D97-AF65-F5344CB8AC3E}">
        <p14:creationId xmlns:p14="http://schemas.microsoft.com/office/powerpoint/2010/main" val="4119244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b="1" i="1" u="sng" dirty="0" smtClean="0">
                <a:latin typeface="Arial" pitchFamily="34" charset="0"/>
              </a:rPr>
              <a:t>Figure Caption:</a:t>
            </a:r>
          </a:p>
          <a:p>
            <a:pPr eaLnBrk="1" hangingPunct="1">
              <a:spcBef>
                <a:spcPct val="0"/>
              </a:spcBef>
            </a:pPr>
            <a:r>
              <a:rPr lang="en-US" b="1" dirty="0" smtClean="0">
                <a:latin typeface="Arial" pitchFamily="34" charset="0"/>
              </a:rPr>
              <a:t>Figure 2.2</a:t>
            </a:r>
            <a:r>
              <a:rPr lang="en-US" dirty="0" smtClean="0">
                <a:latin typeface="Arial" pitchFamily="34" charset="0"/>
              </a:rPr>
              <a:t> - </a:t>
            </a:r>
            <a:r>
              <a:rPr lang="en-US" b="1" dirty="0" smtClean="0">
                <a:latin typeface="Arial" pitchFamily="34" charset="0"/>
              </a:rPr>
              <a:t>Increasing Opportunity Cost</a:t>
            </a:r>
          </a:p>
          <a:p>
            <a:pPr eaLnBrk="1" hangingPunct="1">
              <a:spcBef>
                <a:spcPct val="0"/>
              </a:spcBef>
            </a:pPr>
            <a:r>
              <a:rPr lang="en-US" dirty="0" smtClean="0">
                <a:latin typeface="Arial" pitchFamily="34" charset="0"/>
              </a:rPr>
              <a:t>The bowed-out shape of the production possibility frontier reflects increasing opportunity cost. In this example, to produce the first 20 small jets, Boeing must give up 5 Dreamliners. But to produce an additional 20 small jets, he must give up 25 more Dreamliners.</a:t>
            </a:r>
          </a:p>
        </p:txBody>
      </p:sp>
    </p:spTree>
    <p:extLst>
      <p:ext uri="{BB962C8B-B14F-4D97-AF65-F5344CB8AC3E}">
        <p14:creationId xmlns:p14="http://schemas.microsoft.com/office/powerpoint/2010/main" val="3676323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b="1" dirty="0" smtClean="0">
                <a:latin typeface="Arial" pitchFamily="34" charset="0"/>
              </a:rPr>
              <a:t>Figure 2.3</a:t>
            </a:r>
            <a:r>
              <a:rPr lang="en-US" dirty="0" smtClean="0">
                <a:latin typeface="Arial" pitchFamily="34" charset="0"/>
              </a:rPr>
              <a:t> - </a:t>
            </a:r>
            <a:r>
              <a:rPr lang="en-US" b="1" dirty="0" smtClean="0">
                <a:latin typeface="Arial" pitchFamily="34" charset="0"/>
              </a:rPr>
              <a:t>Economic Growth</a:t>
            </a:r>
          </a:p>
          <a:p>
            <a:pPr eaLnBrk="1" hangingPunct="1">
              <a:spcBef>
                <a:spcPct val="0"/>
              </a:spcBef>
            </a:pPr>
            <a:r>
              <a:rPr lang="en-US" dirty="0" smtClean="0">
                <a:latin typeface="Arial" pitchFamily="34" charset="0"/>
              </a:rPr>
              <a:t>Economic growth results in an </a:t>
            </a:r>
            <a:r>
              <a:rPr lang="en-US" i="1" dirty="0" smtClean="0">
                <a:latin typeface="Arial" pitchFamily="34" charset="0"/>
              </a:rPr>
              <a:t>outward shift </a:t>
            </a:r>
            <a:r>
              <a:rPr lang="en-US" dirty="0" smtClean="0">
                <a:latin typeface="Arial" pitchFamily="34" charset="0"/>
              </a:rPr>
              <a:t>of the production possibility frontier because production possibilities are expanded. The economy can now produce more of everything. For example, if production is initially at point </a:t>
            </a:r>
            <a:r>
              <a:rPr lang="en-US" i="1" dirty="0" smtClean="0">
                <a:latin typeface="Arial" pitchFamily="34" charset="0"/>
              </a:rPr>
              <a:t>A </a:t>
            </a:r>
            <a:r>
              <a:rPr lang="en-US" dirty="0" smtClean="0">
                <a:latin typeface="Arial" pitchFamily="34" charset="0"/>
              </a:rPr>
              <a:t>(20 small jets and 25 Dreamliners), it could move to point </a:t>
            </a:r>
            <a:r>
              <a:rPr lang="en-US" i="1" dirty="0" smtClean="0">
                <a:latin typeface="Arial" pitchFamily="34" charset="0"/>
              </a:rPr>
              <a:t>E </a:t>
            </a:r>
            <a:r>
              <a:rPr lang="en-US" dirty="0" smtClean="0">
                <a:latin typeface="Arial" pitchFamily="34" charset="0"/>
              </a:rPr>
              <a:t>(25 small jets and 30 Dreamliners).</a:t>
            </a:r>
          </a:p>
        </p:txBody>
      </p:sp>
    </p:spTree>
    <p:extLst>
      <p:ext uri="{BB962C8B-B14F-4D97-AF65-F5344CB8AC3E}">
        <p14:creationId xmlns:p14="http://schemas.microsoft.com/office/powerpoint/2010/main" val="2394469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b="1" i="1" u="sng" dirty="0" smtClean="0">
                <a:latin typeface="Arial" pitchFamily="34" charset="0"/>
              </a:rPr>
              <a:t>Figure Caption:</a:t>
            </a:r>
          </a:p>
          <a:p>
            <a:pPr eaLnBrk="1" hangingPunct="1">
              <a:spcBef>
                <a:spcPct val="0"/>
              </a:spcBef>
            </a:pPr>
            <a:r>
              <a:rPr lang="en-US" b="1" dirty="0" smtClean="0">
                <a:latin typeface="Arial" pitchFamily="34" charset="0"/>
              </a:rPr>
              <a:t>Figure 2.4 - Production Possibilities for Two Countries</a:t>
            </a:r>
          </a:p>
          <a:p>
            <a:pPr eaLnBrk="1" hangingPunct="1">
              <a:spcBef>
                <a:spcPct val="0"/>
              </a:spcBef>
            </a:pPr>
            <a:r>
              <a:rPr lang="en-US" dirty="0" smtClean="0">
                <a:latin typeface="Arial" pitchFamily="34" charset="0"/>
              </a:rPr>
              <a:t>Here, each of the two countries has a constant opportunity cost of small jets and a straight-line production possibility frontier. In the U.S.’s case, each</a:t>
            </a:r>
            <a:r>
              <a:rPr lang="en-US" b="0" dirty="0" smtClean="0">
                <a:latin typeface="Arial" pitchFamily="34" charset="0"/>
              </a:rPr>
              <a:t> small jet always has an opportunity cost of 3⁄4 of a large </a:t>
            </a:r>
            <a:r>
              <a:rPr lang="en-US" b="0" strike="noStrike" baseline="0" dirty="0" smtClean="0">
                <a:latin typeface="Arial" pitchFamily="34" charset="0"/>
              </a:rPr>
              <a:t>jet.</a:t>
            </a:r>
            <a:endParaRPr lang="en-US" b="0" dirty="0" smtClean="0">
              <a:latin typeface="Arial" pitchFamily="34" charset="0"/>
            </a:endParaRPr>
          </a:p>
        </p:txBody>
      </p:sp>
    </p:spTree>
    <p:extLst>
      <p:ext uri="{BB962C8B-B14F-4D97-AF65-F5344CB8AC3E}">
        <p14:creationId xmlns:p14="http://schemas.microsoft.com/office/powerpoint/2010/main" val="4080843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b="1" i="1" u="sng" dirty="0" smtClean="0">
                <a:latin typeface="Arial" pitchFamily="34" charset="0"/>
              </a:rPr>
              <a:t>Figure Caption:</a:t>
            </a:r>
          </a:p>
          <a:p>
            <a:pPr eaLnBrk="1" hangingPunct="1">
              <a:spcBef>
                <a:spcPct val="0"/>
              </a:spcBef>
            </a:pPr>
            <a:r>
              <a:rPr lang="en-US" b="1" dirty="0" smtClean="0">
                <a:latin typeface="Arial" pitchFamily="34" charset="0"/>
              </a:rPr>
              <a:t>Figure 2.4 - Production Possibilities for Two Countries</a:t>
            </a:r>
          </a:p>
          <a:p>
            <a:pPr eaLnBrk="1" hangingPunct="1">
              <a:spcBef>
                <a:spcPct val="0"/>
              </a:spcBef>
            </a:pPr>
            <a:r>
              <a:rPr lang="en-US" dirty="0" smtClean="0">
                <a:latin typeface="Arial" pitchFamily="34" charset="0"/>
              </a:rPr>
              <a:t>Here, each of the two countries has a constant opportunity cost of small jets and a straight-line production possibility frontier. In Brazil’s case, each small jet always has an opportunity cost of </a:t>
            </a:r>
            <a:r>
              <a:rPr lang="en-US" b="0" dirty="0" smtClean="0">
                <a:latin typeface="Arial" pitchFamily="34" charset="0"/>
              </a:rPr>
              <a:t>1/3</a:t>
            </a:r>
            <a:r>
              <a:rPr lang="en-US" b="1" dirty="0" smtClean="0">
                <a:latin typeface="Arial" pitchFamily="34" charset="0"/>
              </a:rPr>
              <a:t> </a:t>
            </a:r>
            <a:r>
              <a:rPr lang="en-US" b="0" dirty="0" smtClean="0">
                <a:latin typeface="Arial" pitchFamily="34" charset="0"/>
              </a:rPr>
              <a:t>of a large jet</a:t>
            </a:r>
            <a:r>
              <a:rPr lang="en-US" dirty="0" smtClean="0">
                <a:latin typeface="Arial" pitchFamily="34" charset="0"/>
              </a:rPr>
              <a:t>.</a:t>
            </a:r>
          </a:p>
          <a:p>
            <a:pPr eaLnBrk="1" hangingPunct="1">
              <a:spcBef>
                <a:spcPct val="0"/>
              </a:spcBef>
            </a:pPr>
            <a:endParaRPr lang="en-US" dirty="0" smtClean="0">
              <a:latin typeface="Arial" pitchFamily="34" charset="0"/>
            </a:endParaRPr>
          </a:p>
        </p:txBody>
      </p:sp>
    </p:spTree>
    <p:extLst>
      <p:ext uri="{BB962C8B-B14F-4D97-AF65-F5344CB8AC3E}">
        <p14:creationId xmlns:p14="http://schemas.microsoft.com/office/powerpoint/2010/main" val="2031314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b="1" u="sng" dirty="0" smtClean="0"/>
              <a:t>TABLE 2-1</a:t>
            </a:r>
          </a:p>
        </p:txBody>
      </p:sp>
      <p:sp>
        <p:nvSpPr>
          <p:cNvPr id="542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E82F19DC-FC50-458A-8312-88734152C4D7}" type="slidenum">
              <a:rPr lang="en-US" smtClean="0"/>
              <a:pPr eaLnBrk="1" hangingPunct="1"/>
              <a:t>12</a:t>
            </a:fld>
            <a:endParaRPr lang="en-US" dirty="0" smtClean="0"/>
          </a:p>
        </p:txBody>
      </p:sp>
    </p:spTree>
    <p:extLst>
      <p:ext uri="{BB962C8B-B14F-4D97-AF65-F5344CB8AC3E}">
        <p14:creationId xmlns:p14="http://schemas.microsoft.com/office/powerpoint/2010/main" val="35108751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F65F59A-4807-48EA-848B-2387B560F53D}" type="slidenum">
              <a:rPr lang="en-US" smtClean="0"/>
              <a:pPr>
                <a:defRPr/>
              </a:pPr>
              <a:t>13</a:t>
            </a:fld>
            <a:endParaRPr lang="en-US" dirty="0"/>
          </a:p>
        </p:txBody>
      </p:sp>
    </p:spTree>
    <p:extLst>
      <p:ext uri="{BB962C8B-B14F-4D97-AF65-F5344CB8AC3E}">
        <p14:creationId xmlns:p14="http://schemas.microsoft.com/office/powerpoint/2010/main" val="2815080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b="1" i="1" u="sng" dirty="0" smtClean="0">
                <a:latin typeface="Arial" pitchFamily="34" charset="0"/>
              </a:rPr>
              <a:t>Figure Caption:</a:t>
            </a:r>
          </a:p>
          <a:p>
            <a:pPr eaLnBrk="1" hangingPunct="1">
              <a:spcBef>
                <a:spcPct val="0"/>
              </a:spcBef>
            </a:pPr>
            <a:r>
              <a:rPr lang="en-US" b="1" dirty="0" smtClean="0">
                <a:latin typeface="Arial" pitchFamily="34" charset="0"/>
              </a:rPr>
              <a:t>Figure 2-5: Comparative Advantage and Gains from Trade </a:t>
            </a:r>
          </a:p>
          <a:p>
            <a:pPr eaLnBrk="1" hangingPunct="1">
              <a:spcBef>
                <a:spcPct val="0"/>
              </a:spcBef>
            </a:pPr>
            <a:r>
              <a:rPr lang="en-US" dirty="0" smtClean="0">
                <a:latin typeface="Arial" pitchFamily="34" charset="0"/>
              </a:rPr>
              <a:t>By specializing and trading, the two countries can produce and consume more of both goods. Brazil specializes in making small jets, its comparative advantage, and US specializes in making large jets. The result is that each country can consume more of both goods than either could without trade.</a:t>
            </a:r>
          </a:p>
        </p:txBody>
      </p:sp>
    </p:spTree>
    <p:extLst>
      <p:ext uri="{BB962C8B-B14F-4D97-AF65-F5344CB8AC3E}">
        <p14:creationId xmlns:p14="http://schemas.microsoft.com/office/powerpoint/2010/main" val="21273711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F65F59A-4807-48EA-848B-2387B560F53D}" type="slidenum">
              <a:rPr lang="en-US" smtClean="0"/>
              <a:pPr>
                <a:defRPr/>
              </a:pPr>
              <a:t>15</a:t>
            </a:fld>
            <a:endParaRPr lang="en-US" dirty="0"/>
          </a:p>
        </p:txBody>
      </p:sp>
    </p:spTree>
    <p:extLst>
      <p:ext uri="{BB962C8B-B14F-4D97-AF65-F5344CB8AC3E}">
        <p14:creationId xmlns:p14="http://schemas.microsoft.com/office/powerpoint/2010/main" val="30055914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F65F59A-4807-48EA-848B-2387B560F53D}" type="slidenum">
              <a:rPr lang="en-US" smtClean="0"/>
              <a:pPr>
                <a:defRPr/>
              </a:pPr>
              <a:t>16</a:t>
            </a:fld>
            <a:endParaRPr lang="en-US" dirty="0"/>
          </a:p>
        </p:txBody>
      </p:sp>
    </p:spTree>
    <p:extLst>
      <p:ext uri="{BB962C8B-B14F-4D97-AF65-F5344CB8AC3E}">
        <p14:creationId xmlns:p14="http://schemas.microsoft.com/office/powerpoint/2010/main" val="9499117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F65F59A-4807-48EA-848B-2387B560F53D}" type="slidenum">
              <a:rPr lang="en-US" smtClean="0"/>
              <a:pPr>
                <a:defRPr/>
              </a:pPr>
              <a:t>17</a:t>
            </a:fld>
            <a:endParaRPr lang="en-US" dirty="0"/>
          </a:p>
        </p:txBody>
      </p:sp>
    </p:spTree>
    <p:extLst>
      <p:ext uri="{BB962C8B-B14F-4D97-AF65-F5344CB8AC3E}">
        <p14:creationId xmlns:p14="http://schemas.microsoft.com/office/powerpoint/2010/main" val="9499117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 more difficult question</a:t>
            </a:r>
            <a:r>
              <a:rPr lang="en-US" baseline="0" dirty="0" smtClean="0"/>
              <a:t> because it requires a two-step calculation of cost.  A is correct. </a:t>
            </a:r>
            <a:r>
              <a:rPr lang="en-US" sz="1200" kern="1200" dirty="0" smtClean="0">
                <a:solidFill>
                  <a:schemeClr val="tx1"/>
                </a:solidFill>
                <a:latin typeface="+mn-lt"/>
                <a:ea typeface="+mn-ea"/>
                <a:cs typeface="+mn-cs"/>
              </a:rPr>
              <a:t>In Australia, the opportunity cost of harvesting 10 bushels of tomatoes is 20 bushels of apples. In Brazil, the opportunity cost of harvesting 10 bushels of tomatoes is 12.5 bushels of apples. Australia has the absolute advantage in both goods, but also exhibits the higher opportunity cost of growing tomatoes.</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18</a:t>
            </a:fld>
            <a:endParaRPr lang="en-US"/>
          </a:p>
        </p:txBody>
      </p:sp>
    </p:spTree>
    <p:extLst>
      <p:ext uri="{BB962C8B-B14F-4D97-AF65-F5344CB8AC3E}">
        <p14:creationId xmlns:p14="http://schemas.microsoft.com/office/powerpoint/2010/main" val="32426621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F65F59A-4807-48EA-848B-2387B560F53D}" type="slidenum">
              <a:rPr lang="en-US" smtClean="0"/>
              <a:pPr>
                <a:defRPr/>
              </a:pPr>
              <a:t>20</a:t>
            </a:fld>
            <a:endParaRPr lang="en-US" dirty="0"/>
          </a:p>
        </p:txBody>
      </p:sp>
    </p:spTree>
    <p:extLst>
      <p:ext uri="{BB962C8B-B14F-4D97-AF65-F5344CB8AC3E}">
        <p14:creationId xmlns:p14="http://schemas.microsoft.com/office/powerpoint/2010/main" val="6782278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29F885-D88E-411F-A471-6A31563A3D16}" type="slidenum">
              <a:rPr lang="en-US" altLang="en-US"/>
              <a:pPr/>
              <a:t>21</a:t>
            </a:fld>
            <a:endParaRPr lang="en-US" altLang="en-US"/>
          </a:p>
        </p:txBody>
      </p:sp>
      <p:sp>
        <p:nvSpPr>
          <p:cNvPr id="206850" name="Rectangle 2"/>
          <p:cNvSpPr>
            <a:spLocks noGrp="1" noRot="1" noChangeAspect="1" noChangeArrowheads="1" noTextEdit="1"/>
          </p:cNvSpPr>
          <p:nvPr>
            <p:ph type="sldImg"/>
          </p:nvPr>
        </p:nvSpPr>
        <p:spPr>
          <a:xfrm>
            <a:off x="1143000" y="685800"/>
            <a:ext cx="4572000" cy="3429000"/>
          </a:xfrm>
          <a:ln/>
        </p:spPr>
      </p:sp>
      <p:sp>
        <p:nvSpPr>
          <p:cNvPr id="206851" name="Rectangle 3"/>
          <p:cNvSpPr>
            <a:spLocks noGrp="1" noChangeArrowheads="1"/>
          </p:cNvSpPr>
          <p:nvPr>
            <p:ph type="body" idx="1"/>
          </p:nvPr>
        </p:nvSpPr>
        <p:spPr>
          <a:xfrm>
            <a:off x="685800" y="4344025"/>
            <a:ext cx="5486400" cy="4114488"/>
          </a:xfrm>
        </p:spPr>
        <p:txBody>
          <a:bodyPr/>
          <a:lstStyle/>
          <a:p>
            <a:r>
              <a:rPr lang="en-US" altLang="en-US"/>
              <a:t>This and the following two slides build the Circular-Flow Diagram, piece by piece.  </a:t>
            </a:r>
          </a:p>
          <a:p>
            <a:endParaRPr lang="en-US" altLang="en-US"/>
          </a:p>
        </p:txBody>
      </p:sp>
    </p:spTree>
    <p:extLst>
      <p:ext uri="{BB962C8B-B14F-4D97-AF65-F5344CB8AC3E}">
        <p14:creationId xmlns:p14="http://schemas.microsoft.com/office/powerpoint/2010/main" val="3878101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F65F59A-4807-48EA-848B-2387B560F53D}" type="slidenum">
              <a:rPr lang="en-US" smtClean="0"/>
              <a:pPr>
                <a:defRPr/>
              </a:pPr>
              <a:t>22</a:t>
            </a:fld>
            <a:endParaRPr lang="en-US" dirty="0"/>
          </a:p>
        </p:txBody>
      </p:sp>
    </p:spTree>
    <p:extLst>
      <p:ext uri="{BB962C8B-B14F-4D97-AF65-F5344CB8AC3E}">
        <p14:creationId xmlns:p14="http://schemas.microsoft.com/office/powerpoint/2010/main" val="15354228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 A 2. B 3. B 4.</a:t>
            </a:r>
            <a:r>
              <a:rPr lang="en-US" baseline="0" dirty="0" smtClean="0"/>
              <a:t> A 5. A</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23</a:t>
            </a:fld>
            <a:endParaRPr lang="en-US"/>
          </a:p>
        </p:txBody>
      </p:sp>
    </p:spTree>
    <p:extLst>
      <p:ext uri="{BB962C8B-B14F-4D97-AF65-F5344CB8AC3E}">
        <p14:creationId xmlns:p14="http://schemas.microsoft.com/office/powerpoint/2010/main" val="17865184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latin typeface="Arial" pitchFamily="34" charset="0"/>
            </a:endParaRPr>
          </a:p>
        </p:txBody>
      </p:sp>
    </p:spTree>
    <p:extLst>
      <p:ext uri="{BB962C8B-B14F-4D97-AF65-F5344CB8AC3E}">
        <p14:creationId xmlns:p14="http://schemas.microsoft.com/office/powerpoint/2010/main" val="39419936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latin typeface="Arial" pitchFamily="34" charset="0"/>
            </a:endParaRPr>
          </a:p>
        </p:txBody>
      </p:sp>
    </p:spTree>
    <p:extLst>
      <p:ext uri="{BB962C8B-B14F-4D97-AF65-F5344CB8AC3E}">
        <p14:creationId xmlns:p14="http://schemas.microsoft.com/office/powerpoint/2010/main" val="8980440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latin typeface="Arial" pitchFamily="34" charset="0"/>
            </a:endParaRPr>
          </a:p>
        </p:txBody>
      </p:sp>
    </p:spTree>
    <p:extLst>
      <p:ext uri="{BB962C8B-B14F-4D97-AF65-F5344CB8AC3E}">
        <p14:creationId xmlns:p14="http://schemas.microsoft.com/office/powerpoint/2010/main" val="5143040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F65F59A-4807-48EA-848B-2387B560F53D}" type="slidenum">
              <a:rPr lang="en-US" smtClean="0"/>
              <a:pPr>
                <a:defRPr/>
              </a:pPr>
              <a:t>28</a:t>
            </a:fld>
            <a:endParaRPr lang="en-US" dirty="0"/>
          </a:p>
        </p:txBody>
      </p:sp>
    </p:spTree>
    <p:extLst>
      <p:ext uri="{BB962C8B-B14F-4D97-AF65-F5344CB8AC3E}">
        <p14:creationId xmlns:p14="http://schemas.microsoft.com/office/powerpoint/2010/main" val="39789729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pPr>
              <a:defRPr/>
            </a:pPr>
            <a:fld id="{F2746C92-2145-4198-9AF1-61EC6CBEE379}" type="datetime1">
              <a:rPr lang="id-ID"/>
              <a:pPr>
                <a:defRPr/>
              </a:pPr>
              <a:t>08/09/2015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C0FCA98D-157B-4AE7-9368-17F0F1FF391D}" type="slidenum">
              <a:rPr lang="id-ID"/>
              <a:pPr>
                <a:defRPr/>
              </a:pPr>
              <a:t>‹#›</a:t>
            </a:fld>
            <a:endParaRPr lang="id-ID"/>
          </a:p>
        </p:txBody>
      </p:sp>
    </p:spTree>
    <p:extLst>
      <p:ext uri="{BB962C8B-B14F-4D97-AF65-F5344CB8AC3E}">
        <p14:creationId xmlns:p14="http://schemas.microsoft.com/office/powerpoint/2010/main" val="2319795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lvl1pPr>
              <a:defRPr/>
            </a:lvl1pPr>
          </a:lstStyle>
          <a:p>
            <a:pPr>
              <a:defRPr/>
            </a:pPr>
            <a:fld id="{F696C4CE-4615-4F70-8087-8BD2BAB0918A}" type="datetime1">
              <a:rPr lang="id-ID"/>
              <a:pPr>
                <a:defRPr/>
              </a:pPr>
              <a:t>08/09/2015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8ECAAEF6-ECBA-45B4-A08A-CC90C112D161}" type="slidenum">
              <a:rPr lang="id-ID"/>
              <a:pPr>
                <a:defRPr/>
              </a:pPr>
              <a:t>‹#›</a:t>
            </a:fld>
            <a:endParaRPr lang="id-ID"/>
          </a:p>
        </p:txBody>
      </p:sp>
    </p:spTree>
    <p:extLst>
      <p:ext uri="{BB962C8B-B14F-4D97-AF65-F5344CB8AC3E}">
        <p14:creationId xmlns:p14="http://schemas.microsoft.com/office/powerpoint/2010/main" val="758403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7290" y="4406900"/>
            <a:ext cx="7137422" cy="1362075"/>
          </a:xfrm>
        </p:spPr>
        <p:txBody>
          <a:bodyPr anchor="t"/>
          <a:lstStyle>
            <a:lvl1pPr algn="l">
              <a:defRPr sz="4000" b="1" cap="all">
                <a:solidFill>
                  <a:schemeClr val="tx1"/>
                </a:solidFill>
              </a:defRPr>
            </a:lvl1pPr>
          </a:lstStyle>
          <a:p>
            <a:r>
              <a:rPr lang="en-US" smtClean="0"/>
              <a:t>Click to edit 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CF685171-4650-4B19-9097-72281998DC3B}" type="datetime1">
              <a:rPr lang="id-ID"/>
              <a:pPr>
                <a:defRPr/>
              </a:pPr>
              <a:t>08/09/2015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DA00EFDD-D92D-4498-A981-97E91C9A960B}" type="slidenum">
              <a:rPr lang="id-ID"/>
              <a:pPr>
                <a:defRPr/>
              </a:pPr>
              <a:t>‹#›</a:t>
            </a:fld>
            <a:endParaRPr lang="id-ID"/>
          </a:p>
        </p:txBody>
      </p:sp>
    </p:spTree>
    <p:extLst>
      <p:ext uri="{BB962C8B-B14F-4D97-AF65-F5344CB8AC3E}">
        <p14:creationId xmlns:p14="http://schemas.microsoft.com/office/powerpoint/2010/main" val="4294148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3286116" y="428604"/>
            <a:ext cx="5572164" cy="5857916"/>
          </a:xfrm>
        </p:spPr>
        <p:txBody>
          <a:bodyPr/>
          <a:lstStyle>
            <a:lvl1pPr>
              <a:defRPr sz="2400"/>
            </a:lvl1pPr>
            <a:lvl2pPr>
              <a:defRPr sz="2200"/>
            </a:lvl2pPr>
            <a:lvl3pPr>
              <a:defRPr sz="2000"/>
            </a:lvl3pPr>
            <a:lvl4pPr>
              <a:defRPr sz="1800"/>
            </a:lvl4pPr>
            <a:lvl5pPr>
              <a:defRPr sz="16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9" name="Text Placeholder 8"/>
          <p:cNvSpPr>
            <a:spLocks noGrp="1"/>
          </p:cNvSpPr>
          <p:nvPr>
            <p:ph type="body" sz="quarter" idx="13"/>
          </p:nvPr>
        </p:nvSpPr>
        <p:spPr>
          <a:xfrm>
            <a:off x="357188" y="1357313"/>
            <a:ext cx="2143125" cy="3786187"/>
          </a:xfrm>
        </p:spPr>
        <p:txBody>
          <a:bodyPr anchor="ctr">
            <a:normAutofit/>
          </a:bodyPr>
          <a:lstStyle>
            <a:lvl1pPr marL="0" indent="0" algn="ctr">
              <a:buNone/>
              <a:defRPr sz="3200" b="1" baseline="0">
                <a:solidFill>
                  <a:schemeClr val="bg1"/>
                </a:solidFill>
                <a:effectLst>
                  <a:outerShdw blurRad="38100" dist="38100" dir="2700000" algn="tl">
                    <a:srgbClr val="000000">
                      <a:alpha val="43137"/>
                    </a:srgbClr>
                  </a:outerShdw>
                </a:effectLst>
              </a:defRPr>
            </a:lvl1pPr>
          </a:lstStyle>
          <a:p>
            <a:pPr lvl="0"/>
            <a:r>
              <a:rPr lang="en-US" dirty="0" smtClean="0"/>
              <a:t>Click to edit</a:t>
            </a:r>
            <a:r>
              <a:rPr lang="id-ID" dirty="0" smtClean="0"/>
              <a:t> </a:t>
            </a:r>
            <a:r>
              <a:rPr lang="en-US" dirty="0" smtClean="0"/>
              <a:t>Master text styles</a:t>
            </a:r>
          </a:p>
        </p:txBody>
      </p:sp>
      <p:sp>
        <p:nvSpPr>
          <p:cNvPr id="5" name="Date Placeholder 4"/>
          <p:cNvSpPr>
            <a:spLocks noGrp="1"/>
          </p:cNvSpPr>
          <p:nvPr>
            <p:ph type="dt" sz="half" idx="14"/>
          </p:nvPr>
        </p:nvSpPr>
        <p:spPr/>
        <p:txBody>
          <a:bodyPr/>
          <a:lstStyle>
            <a:lvl1pPr>
              <a:defRPr/>
            </a:lvl1pPr>
          </a:lstStyle>
          <a:p>
            <a:pPr>
              <a:defRPr/>
            </a:pPr>
            <a:fld id="{ECD814D3-99EA-4CCC-8BD5-B04F74368B14}" type="datetime1">
              <a:rPr lang="id-ID"/>
              <a:pPr>
                <a:defRPr/>
              </a:pPr>
              <a:t>08/09/2015</a:t>
            </a:fld>
            <a:endParaRPr lang="id-ID"/>
          </a:p>
        </p:txBody>
      </p:sp>
      <p:sp>
        <p:nvSpPr>
          <p:cNvPr id="6" name="Footer Placeholder 5"/>
          <p:cNvSpPr>
            <a:spLocks noGrp="1"/>
          </p:cNvSpPr>
          <p:nvPr>
            <p:ph type="ftr" sz="quarter" idx="15"/>
          </p:nvPr>
        </p:nvSpPr>
        <p:spPr/>
        <p:txBody>
          <a:bodyPr/>
          <a:lstStyle>
            <a:lvl1pPr>
              <a:defRPr/>
            </a:lvl1pPr>
          </a:lstStyle>
          <a:p>
            <a:pPr>
              <a:defRPr/>
            </a:pPr>
            <a:endParaRPr lang="id-ID"/>
          </a:p>
        </p:txBody>
      </p:sp>
      <p:sp>
        <p:nvSpPr>
          <p:cNvPr id="7" name="Slide Number Placeholder 6"/>
          <p:cNvSpPr>
            <a:spLocks noGrp="1"/>
          </p:cNvSpPr>
          <p:nvPr>
            <p:ph type="sldNum" sz="quarter" idx="16"/>
          </p:nvPr>
        </p:nvSpPr>
        <p:spPr/>
        <p:txBody>
          <a:bodyPr/>
          <a:lstStyle>
            <a:lvl1pPr>
              <a:defRPr/>
            </a:lvl1pPr>
          </a:lstStyle>
          <a:p>
            <a:pPr>
              <a:defRPr/>
            </a:pPr>
            <a:fld id="{9670A96F-8ECA-4A01-B65A-5ACE9FC48495}" type="slidenum">
              <a:rPr lang="id-ID"/>
              <a:pPr>
                <a:defRPr/>
              </a:pPr>
              <a:t>‹#›</a:t>
            </a:fld>
            <a:endParaRPr lang="id-ID"/>
          </a:p>
        </p:txBody>
      </p:sp>
    </p:spTree>
    <p:extLst>
      <p:ext uri="{BB962C8B-B14F-4D97-AF65-F5344CB8AC3E}">
        <p14:creationId xmlns:p14="http://schemas.microsoft.com/office/powerpoint/2010/main" val="4193304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3"/>
          <p:cNvSpPr>
            <a:spLocks noGrp="1"/>
          </p:cNvSpPr>
          <p:nvPr>
            <p:ph type="dt" sz="half" idx="10"/>
          </p:nvPr>
        </p:nvSpPr>
        <p:spPr/>
        <p:txBody>
          <a:bodyPr/>
          <a:lstStyle>
            <a:lvl1pPr>
              <a:defRPr/>
            </a:lvl1pPr>
          </a:lstStyle>
          <a:p>
            <a:pPr>
              <a:defRPr/>
            </a:pPr>
            <a:fld id="{F0526E32-7505-4A67-8AD8-FAE9CB464253}" type="datetime1">
              <a:rPr lang="id-ID"/>
              <a:pPr>
                <a:defRPr/>
              </a:pPr>
              <a:t>08/09/2015</a:t>
            </a:fld>
            <a:endParaRPr lang="id-ID"/>
          </a:p>
        </p:txBody>
      </p:sp>
      <p:sp>
        <p:nvSpPr>
          <p:cNvPr id="8" name="Footer Placeholder 4"/>
          <p:cNvSpPr>
            <a:spLocks noGrp="1"/>
          </p:cNvSpPr>
          <p:nvPr>
            <p:ph type="ftr" sz="quarter" idx="11"/>
          </p:nvPr>
        </p:nvSpPr>
        <p:spPr/>
        <p:txBody>
          <a:bodyPr/>
          <a:lstStyle>
            <a:lvl1pPr>
              <a:defRPr/>
            </a:lvl1pPr>
          </a:lstStyle>
          <a:p>
            <a:pPr>
              <a:defRPr/>
            </a:pPr>
            <a:endParaRPr lang="id-ID"/>
          </a:p>
        </p:txBody>
      </p:sp>
      <p:sp>
        <p:nvSpPr>
          <p:cNvPr id="9" name="Slide Number Placeholder 5"/>
          <p:cNvSpPr>
            <a:spLocks noGrp="1"/>
          </p:cNvSpPr>
          <p:nvPr>
            <p:ph type="sldNum" sz="quarter" idx="12"/>
          </p:nvPr>
        </p:nvSpPr>
        <p:spPr/>
        <p:txBody>
          <a:bodyPr/>
          <a:lstStyle>
            <a:lvl1pPr>
              <a:defRPr/>
            </a:lvl1pPr>
          </a:lstStyle>
          <a:p>
            <a:pPr>
              <a:defRPr/>
            </a:pPr>
            <a:fld id="{A25A671B-9E6D-4084-B7C0-5E5A7442F4C1}" type="slidenum">
              <a:rPr lang="id-ID"/>
              <a:pPr>
                <a:defRPr/>
              </a:pPr>
              <a:t>‹#›</a:t>
            </a:fld>
            <a:endParaRPr lang="id-ID"/>
          </a:p>
        </p:txBody>
      </p:sp>
    </p:spTree>
    <p:extLst>
      <p:ext uri="{BB962C8B-B14F-4D97-AF65-F5344CB8AC3E}">
        <p14:creationId xmlns:p14="http://schemas.microsoft.com/office/powerpoint/2010/main" val="2019346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2"/>
          <p:cNvSpPr>
            <a:spLocks noGrp="1"/>
          </p:cNvSpPr>
          <p:nvPr>
            <p:ph type="dt" sz="half" idx="10"/>
          </p:nvPr>
        </p:nvSpPr>
        <p:spPr/>
        <p:txBody>
          <a:bodyPr/>
          <a:lstStyle>
            <a:lvl1pPr>
              <a:defRPr/>
            </a:lvl1pPr>
          </a:lstStyle>
          <a:p>
            <a:pPr>
              <a:defRPr/>
            </a:pPr>
            <a:fld id="{07861150-E68F-4EC6-9AC7-73BCBDFBE9E9}" type="datetime1">
              <a:rPr lang="id-ID"/>
              <a:pPr>
                <a:defRPr/>
              </a:pPr>
              <a:t>08/09/2015</a:t>
            </a:fld>
            <a:endParaRPr lang="id-ID"/>
          </a:p>
        </p:txBody>
      </p:sp>
      <p:sp>
        <p:nvSpPr>
          <p:cNvPr id="5" name="Footer Placeholder 3"/>
          <p:cNvSpPr>
            <a:spLocks noGrp="1"/>
          </p:cNvSpPr>
          <p:nvPr>
            <p:ph type="ftr" sz="quarter" idx="11"/>
          </p:nvPr>
        </p:nvSpPr>
        <p:spPr/>
        <p:txBody>
          <a:bodyPr/>
          <a:lstStyle>
            <a:lvl1pPr>
              <a:defRPr/>
            </a:lvl1pPr>
          </a:lstStyle>
          <a:p>
            <a:pPr>
              <a:defRPr/>
            </a:pPr>
            <a:endParaRPr lang="id-ID"/>
          </a:p>
        </p:txBody>
      </p:sp>
      <p:sp>
        <p:nvSpPr>
          <p:cNvPr id="7" name="Slide Number Placeholder 4"/>
          <p:cNvSpPr>
            <a:spLocks noGrp="1"/>
          </p:cNvSpPr>
          <p:nvPr>
            <p:ph type="sldNum" sz="quarter" idx="12"/>
          </p:nvPr>
        </p:nvSpPr>
        <p:spPr/>
        <p:txBody>
          <a:bodyPr/>
          <a:lstStyle>
            <a:lvl1pPr>
              <a:defRPr/>
            </a:lvl1pPr>
          </a:lstStyle>
          <a:p>
            <a:pPr>
              <a:defRPr/>
            </a:pPr>
            <a:fld id="{C24E7DAB-05DE-428E-9078-E3237484E60D}" type="slidenum">
              <a:rPr lang="id-ID"/>
              <a:pPr>
                <a:defRPr/>
              </a:pPr>
              <a:t>‹#›</a:t>
            </a:fld>
            <a:endParaRPr lang="id-ID"/>
          </a:p>
        </p:txBody>
      </p:sp>
    </p:spTree>
    <p:extLst>
      <p:ext uri="{BB962C8B-B14F-4D97-AF65-F5344CB8AC3E}">
        <p14:creationId xmlns:p14="http://schemas.microsoft.com/office/powerpoint/2010/main" val="3290248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
        <p:nvSpPr>
          <p:cNvPr id="4" name="Date Placeholder 1"/>
          <p:cNvSpPr>
            <a:spLocks noGrp="1"/>
          </p:cNvSpPr>
          <p:nvPr>
            <p:ph type="dt" sz="half" idx="10"/>
          </p:nvPr>
        </p:nvSpPr>
        <p:spPr/>
        <p:txBody>
          <a:bodyPr/>
          <a:lstStyle>
            <a:lvl1pPr>
              <a:defRPr/>
            </a:lvl1pPr>
          </a:lstStyle>
          <a:p>
            <a:pPr>
              <a:defRPr/>
            </a:pPr>
            <a:fld id="{F5BD1954-2854-49C5-A349-188F142C935E}" type="datetime1">
              <a:rPr lang="id-ID"/>
              <a:pPr>
                <a:defRPr/>
              </a:pPr>
              <a:t>08/09/2015</a:t>
            </a:fld>
            <a:endParaRPr lang="id-ID"/>
          </a:p>
        </p:txBody>
      </p:sp>
      <p:sp>
        <p:nvSpPr>
          <p:cNvPr id="7" name="Footer Placeholder 2"/>
          <p:cNvSpPr>
            <a:spLocks noGrp="1"/>
          </p:cNvSpPr>
          <p:nvPr>
            <p:ph type="ftr" sz="quarter" idx="11"/>
          </p:nvPr>
        </p:nvSpPr>
        <p:spPr/>
        <p:txBody>
          <a:bodyPr/>
          <a:lstStyle>
            <a:lvl1pPr>
              <a:defRPr/>
            </a:lvl1pPr>
          </a:lstStyle>
          <a:p>
            <a:pPr>
              <a:defRPr/>
            </a:pPr>
            <a:endParaRPr lang="id-ID"/>
          </a:p>
        </p:txBody>
      </p:sp>
      <p:sp>
        <p:nvSpPr>
          <p:cNvPr id="8" name="Slide Number Placeholder 3"/>
          <p:cNvSpPr>
            <a:spLocks noGrp="1"/>
          </p:cNvSpPr>
          <p:nvPr>
            <p:ph type="sldNum" sz="quarter" idx="12"/>
          </p:nvPr>
        </p:nvSpPr>
        <p:spPr/>
        <p:txBody>
          <a:bodyPr/>
          <a:lstStyle>
            <a:lvl1pPr>
              <a:defRPr/>
            </a:lvl1pPr>
          </a:lstStyle>
          <a:p>
            <a:pPr>
              <a:defRPr/>
            </a:pPr>
            <a:fld id="{574F62FB-70AE-4B90-91D4-B0FE4599FA61}" type="slidenum">
              <a:rPr lang="id-ID"/>
              <a:pPr>
                <a:defRPr/>
              </a:pPr>
              <a:t>‹#›</a:t>
            </a:fld>
            <a:endParaRPr lang="id-ID"/>
          </a:p>
        </p:txBody>
      </p:sp>
    </p:spTree>
    <p:extLst>
      <p:ext uri="{BB962C8B-B14F-4D97-AF65-F5344CB8AC3E}">
        <p14:creationId xmlns:p14="http://schemas.microsoft.com/office/powerpoint/2010/main" val="2921934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A6E2D7F-8896-49D6-AE8C-09403B8C1F4D}" type="datetime1">
              <a:rPr lang="id-ID"/>
              <a:pPr>
                <a:defRPr/>
              </a:pPr>
              <a:t>08/09/2015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13E847C9-34FB-42FC-9F33-A445C7BDE02A}" type="slidenum">
              <a:rPr lang="id-ID"/>
              <a:pPr>
                <a:defRPr/>
              </a:pPr>
              <a:t>‹#›</a:t>
            </a:fld>
            <a:endParaRPr lang="id-ID"/>
          </a:p>
        </p:txBody>
      </p:sp>
    </p:spTree>
    <p:extLst>
      <p:ext uri="{BB962C8B-B14F-4D97-AF65-F5344CB8AC3E}">
        <p14:creationId xmlns:p14="http://schemas.microsoft.com/office/powerpoint/2010/main" val="184994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86C690E-24B2-4DBB-9F86-64554B912223}" type="datetime1">
              <a:rPr lang="id-ID"/>
              <a:pPr>
                <a:defRPr/>
              </a:pPr>
              <a:t>08/09/2015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8344619A-3184-4D7E-9D38-13136C78488E}" type="slidenum">
              <a:rPr lang="id-ID"/>
              <a:pPr>
                <a:defRPr/>
              </a:pPr>
              <a:t>‹#›</a:t>
            </a:fld>
            <a:endParaRPr lang="id-ID"/>
          </a:p>
        </p:txBody>
      </p:sp>
    </p:spTree>
    <p:extLst>
      <p:ext uri="{BB962C8B-B14F-4D97-AF65-F5344CB8AC3E}">
        <p14:creationId xmlns:p14="http://schemas.microsoft.com/office/powerpoint/2010/main" val="117353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70A24516-7E49-41B0-A04B-70CBF09D97B4}" type="datetime1">
              <a:rPr lang="id-ID"/>
              <a:pPr>
                <a:defRPr/>
              </a:pPr>
              <a:t>08/09/2015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5014C424-B564-4DAF-B5AA-C7C04DF31EA2}" type="slidenum">
              <a:rPr lang="id-ID"/>
              <a:pPr>
                <a:defRPr/>
              </a:pPr>
              <a:t>‹#›</a:t>
            </a:fld>
            <a:endParaRPr lang="id-ID"/>
          </a:p>
        </p:txBody>
      </p:sp>
    </p:spTree>
    <p:extLst>
      <p:ext uri="{BB962C8B-B14F-4D97-AF65-F5344CB8AC3E}">
        <p14:creationId xmlns:p14="http://schemas.microsoft.com/office/powerpoint/2010/main" val="2995474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BB08A136-D347-41CE-99BA-5FF34DCA8C1F}" type="datetime1">
              <a:rPr lang="id-ID"/>
              <a:pPr>
                <a:defRPr/>
              </a:pPr>
              <a:t>08/09/2015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717CFA40-5D15-4DB8-A5D3-DE15B3F6221E}" type="slidenum">
              <a:rPr lang="id-ID"/>
              <a:pPr>
                <a:defRPr/>
              </a:pPr>
              <a:t>‹#›</a:t>
            </a:fld>
            <a:endParaRPr lang="id-ID"/>
          </a:p>
        </p:txBody>
      </p:sp>
    </p:spTree>
    <p:extLst>
      <p:ext uri="{BB962C8B-B14F-4D97-AF65-F5344CB8AC3E}">
        <p14:creationId xmlns:p14="http://schemas.microsoft.com/office/powerpoint/2010/main" val="4767234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Footer Placeholder 2"/>
          <p:cNvSpPr>
            <a:spLocks noGrp="1"/>
          </p:cNvSpPr>
          <p:nvPr>
            <p:ph type="ftr" sz="quarter" idx="10"/>
          </p:nvPr>
        </p:nvSpPr>
        <p:spPr/>
        <p:txBody>
          <a:bodyPr/>
          <a:lstStyle>
            <a:lvl1pPr>
              <a:defRPr/>
            </a:lvl1pPr>
          </a:lstStyle>
          <a:p>
            <a:r>
              <a:rPr lang="en-US" altLang="en-US"/>
              <a:t> </a:t>
            </a:r>
            <a:r>
              <a:rPr lang="en-US" altLang="en-US" b="0"/>
              <a:t>    MEASURING A NATION’S INCOME</a:t>
            </a:r>
          </a:p>
        </p:txBody>
      </p:sp>
    </p:spTree>
    <p:extLst>
      <p:ext uri="{BB962C8B-B14F-4D97-AF65-F5344CB8AC3E}">
        <p14:creationId xmlns:p14="http://schemas.microsoft.com/office/powerpoint/2010/main" val="184137569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wrap="square" lIns="91440" tIns="45720" rIns="91440" bIns="45720" numCol="1" anchor="ctr" anchorCtr="0" compatLnSpc="1">
            <a:prstTxWarp prst="textNoShape">
              <a:avLst/>
            </a:prstTxWarp>
            <a:noAutofit/>
          </a:bodyPr>
          <a:lstStyle/>
          <a:p>
            <a:pPr lvl="0"/>
            <a:r>
              <a:rPr lang="en-US" smtClean="0"/>
              <a:t>Click to edit Master title style</a:t>
            </a:r>
            <a:endParaRPr lang="id-ID" smtClean="0"/>
          </a:p>
        </p:txBody>
      </p:sp>
      <p:sp>
        <p:nvSpPr>
          <p:cNvPr id="1027" name="Text Placeholder 2"/>
          <p:cNvSpPr>
            <a:spLocks noGrp="1"/>
          </p:cNvSpPr>
          <p:nvPr>
            <p:ph type="body" idx="1"/>
          </p:nvPr>
        </p:nvSpPr>
        <p:spPr bwMode="auto">
          <a:xfrm>
            <a:off x="857250" y="714375"/>
            <a:ext cx="8001000" cy="541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cs typeface="+mn-cs"/>
              </a:defRPr>
            </a:lvl1pPr>
          </a:lstStyle>
          <a:p>
            <a:pPr>
              <a:defRPr/>
            </a:pPr>
            <a:fld id="{C4A148D5-646F-4C15-A7E8-AB9B4297ABE7}" type="datetime1">
              <a:rPr lang="id-ID"/>
              <a:pPr>
                <a:defRPr/>
              </a:pPr>
              <a:t>08/09/2015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cs typeface="+mn-cs"/>
              </a:defRPr>
            </a:lvl1pPr>
          </a:lstStyle>
          <a:p>
            <a:pPr>
              <a:defRPr/>
            </a:pPr>
            <a:fld id="{7B4E2FB8-1C9D-4615-BA1A-66D5E8F5E3D8}" type="slidenum">
              <a:rPr lang="id-ID"/>
              <a:pPr>
                <a:defRPr/>
              </a:pPr>
              <a:t>‹#›</a:t>
            </a:fld>
            <a:endParaRPr lang="id-ID"/>
          </a:p>
        </p:txBody>
      </p:sp>
    </p:spTree>
  </p:cSld>
  <p:clrMap bg1="lt1" tx1="dk1" bg2="lt2" tx2="dk2" accent1="accent1" accent2="accent2" accent3="accent3" accent4="accent4" accent5="accent5" accent6="accent6" hlink="hlink" folHlink="folHlink"/>
  <p:sldLayoutIdLst>
    <p:sldLayoutId id="2147483678" r:id="rId1"/>
    <p:sldLayoutId id="2147483671" r:id="rId2"/>
    <p:sldLayoutId id="2147483672" r:id="rId3"/>
    <p:sldLayoutId id="2147483679" r:id="rId4"/>
    <p:sldLayoutId id="2147483673" r:id="rId5"/>
    <p:sldLayoutId id="2147483680" r:id="rId6"/>
    <p:sldLayoutId id="2147483681" r:id="rId7"/>
    <p:sldLayoutId id="2147483674" r:id="rId8"/>
    <p:sldLayoutId id="2147483675" r:id="rId9"/>
    <p:sldLayoutId id="2147483676" r:id="rId10"/>
    <p:sldLayoutId id="2147483677" r:id="rId11"/>
    <p:sldLayoutId id="2147483682" r:id="rId12"/>
  </p:sldLayoutIdLst>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S PGothic" pitchFamily="34" charset="-128"/>
          <a:cs typeface="+mj-cs"/>
        </a:defRPr>
      </a:lvl1pPr>
      <a:lvl2pPr algn="l" rtl="0" eaLnBrk="0" fontAlgn="base" hangingPunct="0">
        <a:spcBef>
          <a:spcPct val="0"/>
        </a:spcBef>
        <a:spcAft>
          <a:spcPct val="0"/>
        </a:spcAft>
        <a:defRPr sz="3200" b="1">
          <a:solidFill>
            <a:schemeClr val="bg1"/>
          </a:solidFill>
          <a:latin typeface="Calibri" pitchFamily="34" charset="0"/>
          <a:ea typeface="MS PGothic" pitchFamily="34" charset="-128"/>
        </a:defRPr>
      </a:lvl2pPr>
      <a:lvl3pPr algn="l" rtl="0" eaLnBrk="0" fontAlgn="base" hangingPunct="0">
        <a:spcBef>
          <a:spcPct val="0"/>
        </a:spcBef>
        <a:spcAft>
          <a:spcPct val="0"/>
        </a:spcAft>
        <a:defRPr sz="3200" b="1">
          <a:solidFill>
            <a:schemeClr val="bg1"/>
          </a:solidFill>
          <a:latin typeface="Calibri" pitchFamily="34" charset="0"/>
          <a:ea typeface="MS PGothic" pitchFamily="34" charset="-128"/>
        </a:defRPr>
      </a:lvl3pPr>
      <a:lvl4pPr algn="l" rtl="0" eaLnBrk="0" fontAlgn="base" hangingPunct="0">
        <a:spcBef>
          <a:spcPct val="0"/>
        </a:spcBef>
        <a:spcAft>
          <a:spcPct val="0"/>
        </a:spcAft>
        <a:defRPr sz="3200" b="1">
          <a:solidFill>
            <a:schemeClr val="bg1"/>
          </a:solidFill>
          <a:latin typeface="Calibri" pitchFamily="34" charset="0"/>
          <a:ea typeface="MS PGothic" pitchFamily="34" charset="-128"/>
        </a:defRPr>
      </a:lvl4pPr>
      <a:lvl5pPr algn="l" rtl="0" eaLnBrk="0" fontAlgn="base" hangingPunct="0">
        <a:spcBef>
          <a:spcPct val="0"/>
        </a:spcBef>
        <a:spcAft>
          <a:spcPct val="0"/>
        </a:spcAft>
        <a:defRPr sz="3200" b="1">
          <a:solidFill>
            <a:schemeClr val="bg1"/>
          </a:solidFill>
          <a:latin typeface="Calibri" pitchFamily="34" charset="0"/>
          <a:ea typeface="MS PGothic" pitchFamily="34" charset="-128"/>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2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ü"/>
        <a:defRPr sz="20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6.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7" name="Subtitle 16"/>
          <p:cNvSpPr>
            <a:spLocks noGrp="1"/>
          </p:cNvSpPr>
          <p:nvPr>
            <p:ph type="subTitle" idx="1"/>
          </p:nvPr>
        </p:nvSpPr>
        <p:spPr>
          <a:xfrm>
            <a:off x="2286000" y="5500688"/>
            <a:ext cx="6700838" cy="642937"/>
          </a:xfrm>
        </p:spPr>
        <p:txBody>
          <a:bodyPr rtlCol="0"/>
          <a:lstStyle/>
          <a:p>
            <a:pPr eaLnBrk="1" fontAlgn="auto" hangingPunct="1">
              <a:spcAft>
                <a:spcPts val="0"/>
              </a:spcAft>
              <a:defRPr/>
            </a:pPr>
            <a:r>
              <a:rPr lang="en-US" dirty="0" smtClean="0">
                <a:solidFill>
                  <a:schemeClr val="bg1"/>
                </a:solidFill>
                <a:ea typeface="+mn-ea"/>
              </a:rPr>
              <a:t>Economic Models: Trade-offs and Trades</a:t>
            </a:r>
            <a:endParaRPr lang="id-ID" dirty="0">
              <a:solidFill>
                <a:schemeClr val="bg1"/>
              </a:solidFill>
              <a:ea typeface="+mn-ea"/>
            </a:endParaRPr>
          </a:p>
        </p:txBody>
      </p:sp>
      <p:sp>
        <p:nvSpPr>
          <p:cNvPr id="4" name="Title 3"/>
          <p:cNvSpPr>
            <a:spLocks noGrp="1"/>
          </p:cNvSpPr>
          <p:nvPr>
            <p:ph type="ctrTitle"/>
          </p:nvPr>
        </p:nvSpPr>
        <p:spPr>
          <a:xfrm>
            <a:off x="3201988" y="4965700"/>
            <a:ext cx="5786437" cy="534988"/>
          </a:xfrm>
        </p:spPr>
        <p:txBody>
          <a:bodyPr/>
          <a:lstStyle/>
          <a:p>
            <a:pPr>
              <a:defRPr/>
            </a:pPr>
            <a:r>
              <a:rPr lang="en-US" dirty="0" smtClean="0"/>
              <a:t>Chapter 2</a:t>
            </a:r>
            <a:endParaRPr lang="en-US" dirty="0"/>
          </a:p>
        </p:txBody>
      </p:sp>
      <p:sp>
        <p:nvSpPr>
          <p:cNvPr id="5" name="Content Placeholder 7"/>
          <p:cNvSpPr txBox="1">
            <a:spLocks/>
          </p:cNvSpPr>
          <p:nvPr/>
        </p:nvSpPr>
        <p:spPr>
          <a:xfrm>
            <a:off x="4434840" y="-1416"/>
            <a:ext cx="4709160" cy="4053773"/>
          </a:xfrm>
          <a:prstGeom prst="rect">
            <a:avLst/>
          </a:prstGeom>
          <a:solidFill>
            <a:srgbClr val="CA5E70"/>
          </a:solidFill>
        </p:spPr>
        <p:txBody>
          <a:bodyPr/>
          <a:lstStyle>
            <a:lvl1pPr marL="342900" indent="-3429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1pPr>
            <a:lvl2pPr marL="457200" indent="0" algn="ctr" rtl="0" eaLnBrk="0" fontAlgn="base" hangingPunct="0">
              <a:spcBef>
                <a:spcPct val="20000"/>
              </a:spcBef>
              <a:spcAft>
                <a:spcPct val="0"/>
              </a:spcAft>
              <a:buFont typeface="Wingdings" pitchFamily="2" charset="2"/>
              <a:buNone/>
              <a:defRPr sz="4400" b="1" kern="1200">
                <a:solidFill>
                  <a:schemeClr val="bg1"/>
                </a:solidFill>
                <a:effectLst>
                  <a:outerShdw blurRad="38100" dist="38100" dir="2700000" algn="tl">
                    <a:srgbClr val="000000">
                      <a:alpha val="43137"/>
                    </a:srgbClr>
                  </a:outerShdw>
                </a:effectLst>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ü"/>
              <a:defRPr sz="20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gn="r"/>
            <a:r>
              <a:rPr lang="en-US" sz="3200" b="0" dirty="0" smtClean="0">
                <a:solidFill>
                  <a:schemeClr val="accent6"/>
                </a:solidFill>
                <a:effectLst/>
              </a:rPr>
              <a:t>THIRD EDITION</a:t>
            </a:r>
          </a:p>
          <a:p>
            <a:pPr lvl="1" algn="r"/>
            <a:r>
              <a:rPr lang="en-US" sz="4000" dirty="0" smtClean="0"/>
              <a:t>ECONOMICS</a:t>
            </a:r>
          </a:p>
          <a:p>
            <a:pPr lvl="1" algn="r"/>
            <a:r>
              <a:rPr lang="en-US" sz="4000" dirty="0" smtClean="0">
                <a:effectLst/>
              </a:rPr>
              <a:t>and</a:t>
            </a:r>
            <a:endParaRPr lang="en-US" sz="4000" dirty="0">
              <a:effectLst/>
            </a:endParaRPr>
          </a:p>
          <a:p>
            <a:pPr lvl="1" algn="r"/>
            <a:r>
              <a:rPr lang="en-US" sz="3900" dirty="0" smtClean="0"/>
              <a:t>MICROECONOMICS</a:t>
            </a:r>
            <a:br>
              <a:rPr lang="en-US" sz="3900" dirty="0" smtClean="0"/>
            </a:br>
            <a:r>
              <a:rPr lang="en-US" sz="2400" b="0" dirty="0" smtClean="0">
                <a:effectLst/>
              </a:rPr>
              <a:t>Paul Krugman | Robin Wells</a:t>
            </a:r>
            <a:endParaRPr lang="en-US" sz="2400" b="0" dirty="0">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Rot="1" noChangeArrowheads="1"/>
          </p:cNvSpPr>
          <p:nvPr>
            <p:ph type="title"/>
          </p:nvPr>
        </p:nvSpPr>
        <p:spPr>
          <a:xfrm>
            <a:off x="1043608" y="-8227"/>
            <a:ext cx="7920880" cy="685800"/>
          </a:xfrm>
        </p:spPr>
        <p:txBody>
          <a:bodyPr/>
          <a:lstStyle/>
          <a:p>
            <a:pPr>
              <a:defRPr/>
            </a:pPr>
            <a:r>
              <a:rPr lang="en-US" sz="2800" dirty="0" smtClean="0"/>
              <a:t>An Introduction to Economic Thinking</a:t>
            </a:r>
            <a:endParaRPr lang="en-US" sz="2800" b="0" dirty="0" smtClean="0"/>
          </a:p>
        </p:txBody>
      </p:sp>
      <p:sp>
        <p:nvSpPr>
          <p:cNvPr id="2" name="Content Placeholder 1"/>
          <p:cNvSpPr>
            <a:spLocks noGrp="1"/>
          </p:cNvSpPr>
          <p:nvPr>
            <p:ph idx="1"/>
          </p:nvPr>
        </p:nvSpPr>
        <p:spPr>
          <a:xfrm>
            <a:off x="857250" y="980728"/>
            <a:ext cx="8001000" cy="5411788"/>
          </a:xfrm>
        </p:spPr>
        <p:txBody>
          <a:bodyPr/>
          <a:lstStyle/>
          <a:p>
            <a:pPr marL="341313" indent="0">
              <a:buNone/>
            </a:pPr>
            <a:r>
              <a:rPr lang="en-US" sz="2800" dirty="0" smtClean="0"/>
              <a:t>What we will look at today:</a:t>
            </a:r>
          </a:p>
          <a:p>
            <a:pPr marL="684213">
              <a:buBlip>
                <a:blip r:embed="rId3"/>
              </a:buBlip>
            </a:pPr>
            <a:endParaRPr lang="en-US" dirty="0" smtClean="0"/>
          </a:p>
          <a:p>
            <a:pPr marL="684213">
              <a:buBlip>
                <a:blip r:embed="rId3"/>
              </a:buBlip>
            </a:pPr>
            <a:r>
              <a:rPr lang="en-US" sz="2600" dirty="0" smtClean="0"/>
              <a:t>Why </a:t>
            </a:r>
            <a:r>
              <a:rPr lang="en-US" sz="2600" i="1" dirty="0" smtClean="0">
                <a:hlinkClick r:id="rId4" action="ppaction://hlinksldjump"/>
              </a:rPr>
              <a:t>models</a:t>
            </a:r>
            <a:r>
              <a:rPr lang="en-US" sz="2600" dirty="0" smtClean="0"/>
              <a:t>—simplified representations of reality—play a crucial role in economics</a:t>
            </a:r>
          </a:p>
          <a:p>
            <a:pPr marL="684213">
              <a:buBlip>
                <a:blip r:embed="rId3"/>
              </a:buBlip>
            </a:pPr>
            <a:r>
              <a:rPr lang="en-US" sz="2600" dirty="0" smtClean="0"/>
              <a:t>Two simple but important models: the </a:t>
            </a:r>
            <a:r>
              <a:rPr lang="en-US" sz="2600" i="1" dirty="0" smtClean="0">
                <a:hlinkClick r:id="rId5" action="ppaction://hlinksldjump"/>
              </a:rPr>
              <a:t>production possibility frontier</a:t>
            </a:r>
            <a:r>
              <a:rPr lang="en-US" sz="2600" dirty="0" smtClean="0"/>
              <a:t> and </a:t>
            </a:r>
            <a:r>
              <a:rPr lang="en-US" sz="2600" i="1" dirty="0" smtClean="0">
                <a:hlinkClick r:id="rId6" action="ppaction://hlinksldjump"/>
              </a:rPr>
              <a:t>comparative advantage</a:t>
            </a:r>
            <a:endParaRPr lang="en-US" sz="2600" i="1" dirty="0" smtClean="0"/>
          </a:p>
          <a:p>
            <a:pPr marL="684213">
              <a:buBlip>
                <a:blip r:embed="rId3"/>
              </a:buBlip>
            </a:pPr>
            <a:r>
              <a:rPr lang="en-US" sz="2600" dirty="0" smtClean="0"/>
              <a:t>The </a:t>
            </a:r>
            <a:r>
              <a:rPr lang="en-US" sz="2600" i="1" dirty="0" smtClean="0">
                <a:hlinkClick r:id="" action="ppaction://noaction"/>
              </a:rPr>
              <a:t>circular-flow diagram</a:t>
            </a:r>
            <a:r>
              <a:rPr lang="en-US" sz="2600" dirty="0" smtClean="0"/>
              <a:t>, a schematic representation of the economy</a:t>
            </a:r>
          </a:p>
          <a:p>
            <a:pPr marL="684213">
              <a:buBlip>
                <a:blip r:embed="rId3"/>
              </a:buBlip>
            </a:pPr>
            <a:r>
              <a:rPr lang="en-US" sz="2600" dirty="0" smtClean="0"/>
              <a:t>The difference between </a:t>
            </a:r>
            <a:r>
              <a:rPr lang="en-US" sz="2600" i="1" dirty="0" smtClean="0">
                <a:hlinkClick r:id="" action="ppaction://noaction"/>
              </a:rPr>
              <a:t>positive economics </a:t>
            </a:r>
            <a:r>
              <a:rPr lang="en-US" sz="2600" dirty="0" smtClean="0">
                <a:hlinkClick r:id="" action="ppaction://noaction"/>
              </a:rPr>
              <a:t>and</a:t>
            </a:r>
            <a:r>
              <a:rPr lang="en-US" sz="2600" i="1" dirty="0" smtClean="0">
                <a:hlinkClick r:id="" action="ppaction://noaction"/>
              </a:rPr>
              <a:t> normative economics</a:t>
            </a:r>
            <a:endParaRPr lang="en-US" sz="2600" i="1" dirty="0" smtClean="0"/>
          </a:p>
          <a:p>
            <a:pPr marL="684213">
              <a:buBlip>
                <a:blip r:embed="rId3"/>
              </a:buBlip>
            </a:pPr>
            <a:r>
              <a:rPr lang="en-US" sz="2600" i="1" dirty="0" smtClean="0">
                <a:hlinkClick r:id="" action="ppaction://noaction"/>
              </a:rPr>
              <a:t>When economists agree and why they sometimes disagree</a:t>
            </a:r>
            <a:endParaRPr lang="en-US" sz="2600" i="1" dirty="0" smtClean="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Rot="1" noChangeArrowheads="1"/>
          </p:cNvSpPr>
          <p:nvPr>
            <p:ph type="title"/>
          </p:nvPr>
        </p:nvSpPr>
        <p:spPr>
          <a:xfrm>
            <a:off x="971600" y="-8227"/>
            <a:ext cx="7920880" cy="685800"/>
          </a:xfrm>
        </p:spPr>
        <p:txBody>
          <a:bodyPr/>
          <a:lstStyle/>
          <a:p>
            <a:pPr>
              <a:defRPr/>
            </a:pPr>
            <a:r>
              <a:rPr lang="en-US" sz="2800" dirty="0" smtClean="0"/>
              <a:t>Models in Economics</a:t>
            </a:r>
            <a:endParaRPr lang="en-US" sz="2800" b="0" dirty="0" smtClean="0"/>
          </a:p>
        </p:txBody>
      </p:sp>
      <p:sp>
        <p:nvSpPr>
          <p:cNvPr id="9219" name="Rectangle 3"/>
          <p:cNvSpPr>
            <a:spLocks noGrp="1" noChangeArrowheads="1"/>
          </p:cNvSpPr>
          <p:nvPr>
            <p:ph type="body" idx="1"/>
          </p:nvPr>
        </p:nvSpPr>
        <p:spPr>
          <a:xfrm>
            <a:off x="971600" y="908720"/>
            <a:ext cx="7920880" cy="5568280"/>
          </a:xfrm>
        </p:spPr>
        <p:txBody>
          <a:bodyPr/>
          <a:lstStyle/>
          <a:p>
            <a:pPr marL="231775" indent="-231775"/>
            <a:r>
              <a:rPr lang="en-US" sz="2600" dirty="0" smtClean="0"/>
              <a:t>A </a:t>
            </a:r>
            <a:r>
              <a:rPr lang="en-US" sz="2600" b="1" dirty="0" smtClean="0"/>
              <a:t>model </a:t>
            </a:r>
            <a:r>
              <a:rPr lang="en-US" sz="2600" dirty="0" smtClean="0"/>
              <a:t>is a simplified representation of a real situation that is used to better understand real-life situations. How? By</a:t>
            </a:r>
          </a:p>
          <a:p>
            <a:pPr marL="806450" lvl="1" indent="-342900"/>
            <a:r>
              <a:rPr lang="en-US" sz="2400" dirty="0" smtClean="0">
                <a:solidFill>
                  <a:srgbClr val="000000"/>
                </a:solidFill>
              </a:rPr>
              <a:t> Creating </a:t>
            </a:r>
            <a:r>
              <a:rPr lang="en-US" sz="2400" dirty="0" smtClean="0"/>
              <a:t>a real but simplified economy</a:t>
            </a:r>
          </a:p>
          <a:p>
            <a:pPr marL="463550" lvl="1" indent="0">
              <a:buNone/>
            </a:pPr>
            <a:r>
              <a:rPr lang="en-US" sz="2400" dirty="0" smtClean="0"/>
              <a:t>Example: cigarettes in World War II prison camps</a:t>
            </a:r>
          </a:p>
          <a:p>
            <a:pPr marL="806450" lvl="1" indent="-342900"/>
            <a:r>
              <a:rPr lang="en-US" sz="2400" dirty="0" smtClean="0">
                <a:solidFill>
                  <a:srgbClr val="000000"/>
                </a:solidFill>
              </a:rPr>
              <a:t> Simulating </a:t>
            </a:r>
            <a:r>
              <a:rPr lang="en-US" sz="2400" dirty="0" smtClean="0"/>
              <a:t>an economy on a computer</a:t>
            </a:r>
          </a:p>
          <a:p>
            <a:pPr marL="463550" lvl="1" indent="0">
              <a:buNone/>
            </a:pPr>
            <a:r>
              <a:rPr lang="en-US" sz="2400" dirty="0" smtClean="0"/>
              <a:t>Examples: tax models, money models…</a:t>
            </a:r>
          </a:p>
          <a:p>
            <a:pPr marL="463550" lvl="1" indent="0">
              <a:buNone/>
            </a:pPr>
            <a:endParaRPr lang="en-US" sz="1800" dirty="0" smtClean="0"/>
          </a:p>
          <a:p>
            <a:pPr marL="231775" indent="-231775"/>
            <a:r>
              <a:rPr lang="en-US" sz="2600" dirty="0" smtClean="0"/>
              <a:t>When using models, we </a:t>
            </a:r>
            <a:r>
              <a:rPr lang="en-US" sz="2600" dirty="0"/>
              <a:t>try to treat economics as close to </a:t>
            </a:r>
            <a:r>
              <a:rPr lang="en-US" sz="2600" dirty="0" smtClean="0"/>
              <a:t>experimental </a:t>
            </a:r>
            <a:r>
              <a:rPr lang="en-US" sz="2600" dirty="0"/>
              <a:t>science as </a:t>
            </a:r>
            <a:r>
              <a:rPr lang="en-US" sz="2600" dirty="0" smtClean="0"/>
              <a:t>possible—only </a:t>
            </a:r>
            <a:r>
              <a:rPr lang="en-US" sz="2600" dirty="0"/>
              <a:t>one variable allowed to change at a </a:t>
            </a:r>
            <a:r>
              <a:rPr lang="en-US" sz="2600" dirty="0" smtClean="0"/>
              <a:t>time</a:t>
            </a:r>
          </a:p>
          <a:p>
            <a:pPr marL="631825" lvl="1" indent="-231775"/>
            <a:r>
              <a:rPr lang="en-US" sz="2600" dirty="0"/>
              <a:t>The </a:t>
            </a:r>
            <a:r>
              <a:rPr lang="en-US" sz="2600" b="1" dirty="0"/>
              <a:t>“other things equal” assumption </a:t>
            </a:r>
            <a:r>
              <a:rPr lang="en-US" sz="2600" dirty="0"/>
              <a:t>means that all other relevant factors remain </a:t>
            </a:r>
            <a:r>
              <a:rPr lang="en-US" sz="2600" dirty="0" smtClean="0"/>
              <a:t>unchanged</a:t>
            </a:r>
            <a:endParaRPr lang="en-US" sz="2600" dirty="0"/>
          </a:p>
          <a:p>
            <a:pPr marL="231775" indent="-231775"/>
            <a:endParaRPr lang="en-US" sz="2600" dirty="0" smtClean="0"/>
          </a:p>
          <a:p>
            <a:pPr marL="231775" indent="-231775"/>
            <a:endParaRPr lang="en-US" sz="2600" dirty="0" smtClean="0"/>
          </a:p>
        </p:txBody>
      </p:sp>
    </p:spTree>
    <p:extLst>
      <p:ext uri="{BB962C8B-B14F-4D97-AF65-F5344CB8AC3E}">
        <p14:creationId xmlns:p14="http://schemas.microsoft.com/office/powerpoint/2010/main" val="288848764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Models in Economics</a:t>
            </a:r>
          </a:p>
        </p:txBody>
      </p:sp>
      <p:sp>
        <p:nvSpPr>
          <p:cNvPr id="3" name="Content Placeholder 2"/>
          <p:cNvSpPr>
            <a:spLocks noGrp="1"/>
          </p:cNvSpPr>
          <p:nvPr>
            <p:ph idx="1"/>
          </p:nvPr>
        </p:nvSpPr>
        <p:spPr>
          <a:xfrm>
            <a:off x="857250" y="4653135"/>
            <a:ext cx="8001000" cy="1728193"/>
          </a:xfrm>
        </p:spPr>
        <p:txBody>
          <a:bodyPr/>
          <a:lstStyle/>
          <a:p>
            <a:r>
              <a:rPr lang="en-US" dirty="0" smtClean="0"/>
              <a:t>Just </a:t>
            </a:r>
            <a:r>
              <a:rPr lang="en-US" dirty="0"/>
              <a:t>like a map is a simplified representation of the world that is used to better understand </a:t>
            </a:r>
            <a:r>
              <a:rPr lang="en-US" dirty="0" smtClean="0"/>
              <a:t>geography,</a:t>
            </a:r>
            <a:endParaRPr lang="en-US" dirty="0"/>
          </a:p>
          <a:p>
            <a:r>
              <a:rPr lang="en-US" b="0" dirty="0" smtClean="0"/>
              <a:t>A model is a simplified representation </a:t>
            </a:r>
            <a:r>
              <a:rPr lang="en-US" b="0" dirty="0"/>
              <a:t>of </a:t>
            </a:r>
            <a:r>
              <a:rPr lang="en-US" b="0" dirty="0" smtClean="0"/>
              <a:t>a situation that </a:t>
            </a:r>
            <a:r>
              <a:rPr lang="en-US" b="0" dirty="0"/>
              <a:t>is used to better </a:t>
            </a:r>
            <a:r>
              <a:rPr lang="en-US" b="0" dirty="0" smtClean="0"/>
              <a:t>understand a real-world issue.</a:t>
            </a:r>
            <a:endParaRPr lang="en-US" dirty="0"/>
          </a:p>
        </p:txBody>
      </p:sp>
      <p:pic>
        <p:nvPicPr>
          <p:cNvPr id="3074" name="Picture 2" descr="http://www.sxc.hu/pic/l/t/th/theswedish/1207518_65204033.jpg"/>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921188" y="758552"/>
            <a:ext cx="5531132"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68702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Rot="1" noChangeArrowheads="1"/>
          </p:cNvSpPr>
          <p:nvPr>
            <p:ph type="title"/>
          </p:nvPr>
        </p:nvSpPr>
        <p:spPr/>
        <p:txBody>
          <a:bodyPr/>
          <a:lstStyle/>
          <a:p>
            <a:r>
              <a:rPr lang="en-US" dirty="0" smtClean="0"/>
              <a:t>Trade-offs: The Production Possibility Frontier</a:t>
            </a:r>
          </a:p>
        </p:txBody>
      </p:sp>
      <p:sp>
        <p:nvSpPr>
          <p:cNvPr id="13315" name="Rectangle 3"/>
          <p:cNvSpPr>
            <a:spLocks noGrp="1" noChangeArrowheads="1"/>
          </p:cNvSpPr>
          <p:nvPr>
            <p:ph type="body" idx="1"/>
          </p:nvPr>
        </p:nvSpPr>
        <p:spPr>
          <a:xfrm>
            <a:off x="963488" y="825524"/>
            <a:ext cx="8001000" cy="5411788"/>
          </a:xfrm>
        </p:spPr>
        <p:txBody>
          <a:bodyPr/>
          <a:lstStyle/>
          <a:p>
            <a:r>
              <a:rPr lang="en-US" sz="2600" dirty="0" smtClean="0"/>
              <a:t>The </a:t>
            </a:r>
            <a:r>
              <a:rPr lang="en-US" sz="2600" dirty="0"/>
              <a:t>production possibility frontier (PPF</a:t>
            </a:r>
            <a:r>
              <a:rPr lang="en-US" sz="2600" dirty="0" smtClean="0"/>
              <a:t>) is a simple model about what a society can produce</a:t>
            </a:r>
          </a:p>
          <a:p>
            <a:endParaRPr lang="en-US" sz="2600" dirty="0"/>
          </a:p>
          <a:p>
            <a:r>
              <a:rPr lang="en-US" sz="2600" dirty="0" smtClean="0"/>
              <a:t>The production possibility frontier (PPF) illustrates the trade-offs facing an economy that produces only two goods. </a:t>
            </a:r>
          </a:p>
          <a:p>
            <a:pPr lvl="1"/>
            <a:r>
              <a:rPr lang="en-US" dirty="0" smtClean="0"/>
              <a:t>It shows the maximum quantity of one good that can be produced for any given production of the other good.</a:t>
            </a:r>
          </a:p>
          <a:p>
            <a:endParaRPr lang="en-US" sz="2600" dirty="0" smtClean="0"/>
          </a:p>
          <a:p>
            <a:r>
              <a:rPr lang="en-US" sz="2600" dirty="0" smtClean="0"/>
              <a:t>The PPF improves our understanding of trade-offs by considering a simplified economy that produces only two goods by showing this trade-off graphically.</a:t>
            </a:r>
          </a:p>
          <a:p>
            <a:endParaRPr lang="en-US" sz="2600" dirty="0" smtClean="0"/>
          </a:p>
          <a:p>
            <a:endParaRPr lang="en-US" sz="2600" dirty="0" smtClean="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Rot="1" noChangeArrowheads="1"/>
          </p:cNvSpPr>
          <p:nvPr>
            <p:ph type="title"/>
          </p:nvPr>
        </p:nvSpPr>
        <p:spPr>
          <a:xfrm>
            <a:off x="900113" y="52094"/>
            <a:ext cx="8005762" cy="555625"/>
          </a:xfrm>
        </p:spPr>
        <p:txBody>
          <a:bodyPr/>
          <a:lstStyle/>
          <a:p>
            <a:pPr>
              <a:defRPr/>
            </a:pPr>
            <a:r>
              <a:rPr lang="en-US" sz="2800" dirty="0" smtClean="0"/>
              <a:t>The Production Possibility Frontier</a:t>
            </a:r>
          </a:p>
        </p:txBody>
      </p:sp>
      <p:sp>
        <p:nvSpPr>
          <p:cNvPr id="14339" name="Freeform 5"/>
          <p:cNvSpPr>
            <a:spLocks/>
          </p:cNvSpPr>
          <p:nvPr/>
        </p:nvSpPr>
        <p:spPr bwMode="auto">
          <a:xfrm>
            <a:off x="1498600" y="2403475"/>
            <a:ext cx="4487863" cy="3313113"/>
          </a:xfrm>
          <a:custGeom>
            <a:avLst/>
            <a:gdLst>
              <a:gd name="T0" fmla="*/ 0 w 633"/>
              <a:gd name="T1" fmla="*/ 3313113 h 488"/>
              <a:gd name="T2" fmla="*/ 0 w 633"/>
              <a:gd name="T3" fmla="*/ 0 h 488"/>
              <a:gd name="T4" fmla="*/ 4487863 w 633"/>
              <a:gd name="T5" fmla="*/ 3313113 h 488"/>
              <a:gd name="T6" fmla="*/ 0 w 633"/>
              <a:gd name="T7" fmla="*/ 3313113 h 488"/>
              <a:gd name="T8" fmla="*/ 0 60000 65536"/>
              <a:gd name="T9" fmla="*/ 0 60000 65536"/>
              <a:gd name="T10" fmla="*/ 0 60000 65536"/>
              <a:gd name="T11" fmla="*/ 0 60000 65536"/>
              <a:gd name="T12" fmla="*/ 0 w 633"/>
              <a:gd name="T13" fmla="*/ 0 h 488"/>
              <a:gd name="T14" fmla="*/ 633 w 633"/>
              <a:gd name="T15" fmla="*/ 488 h 488"/>
            </a:gdLst>
            <a:ahLst/>
            <a:cxnLst>
              <a:cxn ang="T8">
                <a:pos x="T0" y="T1"/>
              </a:cxn>
              <a:cxn ang="T9">
                <a:pos x="T2" y="T3"/>
              </a:cxn>
              <a:cxn ang="T10">
                <a:pos x="T4" y="T5"/>
              </a:cxn>
              <a:cxn ang="T11">
                <a:pos x="T6" y="T7"/>
              </a:cxn>
            </a:cxnLst>
            <a:rect l="T12" t="T13" r="T14" b="T15"/>
            <a:pathLst>
              <a:path w="633" h="488">
                <a:moveTo>
                  <a:pt x="0" y="488"/>
                </a:moveTo>
                <a:cubicBezTo>
                  <a:pt x="0" y="485"/>
                  <a:pt x="0" y="0"/>
                  <a:pt x="0" y="0"/>
                </a:cubicBezTo>
                <a:cubicBezTo>
                  <a:pt x="633" y="488"/>
                  <a:pt x="633" y="488"/>
                  <a:pt x="633" y="488"/>
                </a:cubicBezTo>
                <a:lnTo>
                  <a:pt x="0" y="488"/>
                </a:lnTo>
                <a:close/>
              </a:path>
            </a:pathLst>
          </a:custGeom>
          <a:solidFill>
            <a:srgbClr val="C7D6E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340" name="Line 6"/>
          <p:cNvSpPr>
            <a:spLocks noChangeShapeType="1"/>
          </p:cNvSpPr>
          <p:nvPr/>
        </p:nvSpPr>
        <p:spPr bwMode="auto">
          <a:xfrm>
            <a:off x="1498600" y="4794250"/>
            <a:ext cx="190500"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4341" name="Line 7"/>
          <p:cNvSpPr>
            <a:spLocks noChangeShapeType="1"/>
          </p:cNvSpPr>
          <p:nvPr/>
        </p:nvSpPr>
        <p:spPr bwMode="auto">
          <a:xfrm flipV="1">
            <a:off x="4746625" y="5527675"/>
            <a:ext cx="0" cy="18891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4342" name="Rectangle 8"/>
          <p:cNvSpPr>
            <a:spLocks noChangeArrowheads="1"/>
          </p:cNvSpPr>
          <p:nvPr/>
        </p:nvSpPr>
        <p:spPr bwMode="auto">
          <a:xfrm>
            <a:off x="4603750" y="5748338"/>
            <a:ext cx="1809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28</a:t>
            </a:r>
            <a:endParaRPr lang="en-US" sz="1400" dirty="0"/>
          </a:p>
        </p:txBody>
      </p:sp>
      <p:sp>
        <p:nvSpPr>
          <p:cNvPr id="14343" name="Rectangle 9"/>
          <p:cNvSpPr>
            <a:spLocks noChangeArrowheads="1"/>
          </p:cNvSpPr>
          <p:nvPr/>
        </p:nvSpPr>
        <p:spPr bwMode="auto">
          <a:xfrm>
            <a:off x="3614738" y="5748338"/>
            <a:ext cx="1809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20</a:t>
            </a:r>
            <a:endParaRPr lang="en-US" sz="1400" dirty="0"/>
          </a:p>
        </p:txBody>
      </p:sp>
      <p:sp>
        <p:nvSpPr>
          <p:cNvPr id="14344" name="Rectangle 10"/>
          <p:cNvSpPr>
            <a:spLocks noChangeArrowheads="1"/>
          </p:cNvSpPr>
          <p:nvPr/>
        </p:nvSpPr>
        <p:spPr bwMode="auto">
          <a:xfrm>
            <a:off x="5856288" y="5748338"/>
            <a:ext cx="1809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40</a:t>
            </a:r>
            <a:endParaRPr lang="en-US" sz="1400" dirty="0"/>
          </a:p>
        </p:txBody>
      </p:sp>
      <p:sp>
        <p:nvSpPr>
          <p:cNvPr id="14345" name="Rectangle 11"/>
          <p:cNvSpPr>
            <a:spLocks noChangeArrowheads="1"/>
          </p:cNvSpPr>
          <p:nvPr/>
        </p:nvSpPr>
        <p:spPr bwMode="auto">
          <a:xfrm>
            <a:off x="1241425" y="5748338"/>
            <a:ext cx="904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0</a:t>
            </a:r>
            <a:endParaRPr lang="en-US" sz="1400" dirty="0"/>
          </a:p>
        </p:txBody>
      </p:sp>
      <p:sp>
        <p:nvSpPr>
          <p:cNvPr id="14346" name="Rectangle 12"/>
          <p:cNvSpPr>
            <a:spLocks noChangeArrowheads="1"/>
          </p:cNvSpPr>
          <p:nvPr/>
        </p:nvSpPr>
        <p:spPr bwMode="auto">
          <a:xfrm>
            <a:off x="1101725" y="2308225"/>
            <a:ext cx="1809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30</a:t>
            </a:r>
            <a:endParaRPr lang="en-US" sz="1400" dirty="0"/>
          </a:p>
        </p:txBody>
      </p:sp>
      <p:sp>
        <p:nvSpPr>
          <p:cNvPr id="14347" name="Rectangle 13"/>
          <p:cNvSpPr>
            <a:spLocks noChangeArrowheads="1"/>
          </p:cNvSpPr>
          <p:nvPr/>
        </p:nvSpPr>
        <p:spPr bwMode="auto">
          <a:xfrm>
            <a:off x="1241425" y="4641850"/>
            <a:ext cx="904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9</a:t>
            </a:r>
            <a:endParaRPr lang="en-US" sz="1400" dirty="0"/>
          </a:p>
        </p:txBody>
      </p:sp>
      <p:sp>
        <p:nvSpPr>
          <p:cNvPr id="14348" name="Rectangle 14"/>
          <p:cNvSpPr>
            <a:spLocks noChangeArrowheads="1"/>
          </p:cNvSpPr>
          <p:nvPr/>
        </p:nvSpPr>
        <p:spPr bwMode="auto">
          <a:xfrm>
            <a:off x="1085850" y="3917950"/>
            <a:ext cx="1809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15</a:t>
            </a:r>
            <a:endParaRPr lang="en-US" sz="1400" dirty="0"/>
          </a:p>
        </p:txBody>
      </p:sp>
      <p:sp>
        <p:nvSpPr>
          <p:cNvPr id="14349" name="Rectangle 15"/>
          <p:cNvSpPr>
            <a:spLocks noChangeArrowheads="1"/>
          </p:cNvSpPr>
          <p:nvPr/>
        </p:nvSpPr>
        <p:spPr bwMode="auto">
          <a:xfrm>
            <a:off x="900113" y="908050"/>
            <a:ext cx="20294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D</a:t>
            </a:r>
            <a:r>
              <a:rPr lang="en-US" sz="1400" b="1" dirty="0" smtClean="0">
                <a:solidFill>
                  <a:srgbClr val="000000"/>
                </a:solidFill>
                <a:latin typeface="Myriad Pro"/>
              </a:rPr>
              <a:t>reamliners</a:t>
            </a:r>
            <a:endParaRPr lang="en-US" sz="1400" b="1" dirty="0"/>
          </a:p>
        </p:txBody>
      </p:sp>
      <p:sp>
        <p:nvSpPr>
          <p:cNvPr id="628752" name="Line 16"/>
          <p:cNvSpPr>
            <a:spLocks noChangeShapeType="1"/>
          </p:cNvSpPr>
          <p:nvPr/>
        </p:nvSpPr>
        <p:spPr bwMode="auto">
          <a:xfrm flipH="1" flipV="1">
            <a:off x="3622675" y="3377057"/>
            <a:ext cx="82550" cy="629792"/>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4351" name="Rectangle 17"/>
          <p:cNvSpPr>
            <a:spLocks noChangeArrowheads="1"/>
          </p:cNvSpPr>
          <p:nvPr/>
        </p:nvSpPr>
        <p:spPr bwMode="auto">
          <a:xfrm>
            <a:off x="6084888" y="5084763"/>
            <a:ext cx="2287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Production possibility frontier</a:t>
            </a:r>
            <a:endParaRPr lang="en-US" sz="1400" i="1" dirty="0"/>
          </a:p>
        </p:txBody>
      </p:sp>
      <p:sp>
        <p:nvSpPr>
          <p:cNvPr id="14352" name="Rectangle 18"/>
          <p:cNvSpPr>
            <a:spLocks noChangeArrowheads="1"/>
          </p:cNvSpPr>
          <p:nvPr/>
        </p:nvSpPr>
        <p:spPr bwMode="auto">
          <a:xfrm>
            <a:off x="3814763" y="3736975"/>
            <a:ext cx="1095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A</a:t>
            </a:r>
            <a:endParaRPr lang="en-US" sz="1400" dirty="0"/>
          </a:p>
        </p:txBody>
      </p:sp>
      <p:sp>
        <p:nvSpPr>
          <p:cNvPr id="14353" name="Rectangle 19"/>
          <p:cNvSpPr>
            <a:spLocks noChangeArrowheads="1"/>
          </p:cNvSpPr>
          <p:nvPr/>
        </p:nvSpPr>
        <p:spPr bwMode="auto">
          <a:xfrm>
            <a:off x="4799013" y="4460875"/>
            <a:ext cx="968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B</a:t>
            </a:r>
            <a:endParaRPr lang="en-US" sz="1400" dirty="0"/>
          </a:p>
        </p:txBody>
      </p:sp>
      <p:sp>
        <p:nvSpPr>
          <p:cNvPr id="14354" name="Rectangle 20"/>
          <p:cNvSpPr>
            <a:spLocks noChangeArrowheads="1"/>
          </p:cNvSpPr>
          <p:nvPr/>
        </p:nvSpPr>
        <p:spPr bwMode="auto">
          <a:xfrm>
            <a:off x="6162675" y="2276475"/>
            <a:ext cx="1190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D</a:t>
            </a:r>
            <a:endParaRPr lang="en-US" sz="1400" dirty="0"/>
          </a:p>
        </p:txBody>
      </p:sp>
      <p:sp>
        <p:nvSpPr>
          <p:cNvPr id="14355" name="Rectangle 21"/>
          <p:cNvSpPr>
            <a:spLocks noChangeArrowheads="1"/>
          </p:cNvSpPr>
          <p:nvPr/>
        </p:nvSpPr>
        <p:spPr bwMode="auto">
          <a:xfrm>
            <a:off x="3519488" y="4814888"/>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C</a:t>
            </a:r>
            <a:endParaRPr lang="en-US" sz="1400" dirty="0"/>
          </a:p>
        </p:txBody>
      </p:sp>
      <p:sp>
        <p:nvSpPr>
          <p:cNvPr id="14356" name="Line 22"/>
          <p:cNvSpPr>
            <a:spLocks noChangeShapeType="1"/>
          </p:cNvSpPr>
          <p:nvPr/>
        </p:nvSpPr>
        <p:spPr bwMode="auto">
          <a:xfrm>
            <a:off x="1498601" y="2414587"/>
            <a:ext cx="4502150" cy="3302001"/>
          </a:xfrm>
          <a:prstGeom prst="line">
            <a:avLst/>
          </a:prstGeom>
          <a:noFill/>
          <a:ln w="30163">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4357" name="Oval 23"/>
          <p:cNvSpPr>
            <a:spLocks noChangeArrowheads="1"/>
          </p:cNvSpPr>
          <p:nvPr/>
        </p:nvSpPr>
        <p:spPr bwMode="auto">
          <a:xfrm>
            <a:off x="5930900" y="2363788"/>
            <a:ext cx="142875" cy="13652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358" name="Freeform 24"/>
          <p:cNvSpPr>
            <a:spLocks noEditPoints="1"/>
          </p:cNvSpPr>
          <p:nvPr/>
        </p:nvSpPr>
        <p:spPr bwMode="auto">
          <a:xfrm>
            <a:off x="1752600" y="4779963"/>
            <a:ext cx="2851150" cy="28575"/>
          </a:xfrm>
          <a:custGeom>
            <a:avLst/>
            <a:gdLst>
              <a:gd name="T0" fmla="*/ 2851150 w 402"/>
              <a:gd name="T1" fmla="*/ 14288 h 4"/>
              <a:gd name="T2" fmla="*/ 2822780 w 402"/>
              <a:gd name="T3" fmla="*/ 14288 h 4"/>
              <a:gd name="T4" fmla="*/ 2730579 w 402"/>
              <a:gd name="T5" fmla="*/ 14288 h 4"/>
              <a:gd name="T6" fmla="*/ 2702209 w 402"/>
              <a:gd name="T7" fmla="*/ 14288 h 4"/>
              <a:gd name="T8" fmla="*/ 2610008 w 402"/>
              <a:gd name="T9" fmla="*/ 14288 h 4"/>
              <a:gd name="T10" fmla="*/ 2581638 w 402"/>
              <a:gd name="T11" fmla="*/ 14288 h 4"/>
              <a:gd name="T12" fmla="*/ 2482345 w 402"/>
              <a:gd name="T13" fmla="*/ 14288 h 4"/>
              <a:gd name="T14" fmla="*/ 2453975 w 402"/>
              <a:gd name="T15" fmla="*/ 14288 h 4"/>
              <a:gd name="T16" fmla="*/ 2361774 w 402"/>
              <a:gd name="T17" fmla="*/ 14288 h 4"/>
              <a:gd name="T18" fmla="*/ 2333404 w 402"/>
              <a:gd name="T19" fmla="*/ 14288 h 4"/>
              <a:gd name="T20" fmla="*/ 2241203 w 402"/>
              <a:gd name="T21" fmla="*/ 14288 h 4"/>
              <a:gd name="T22" fmla="*/ 2212833 w 402"/>
              <a:gd name="T23" fmla="*/ 14288 h 4"/>
              <a:gd name="T24" fmla="*/ 2113539 w 402"/>
              <a:gd name="T25" fmla="*/ 14288 h 4"/>
              <a:gd name="T26" fmla="*/ 2085170 w 402"/>
              <a:gd name="T27" fmla="*/ 14288 h 4"/>
              <a:gd name="T28" fmla="*/ 1992968 w 402"/>
              <a:gd name="T29" fmla="*/ 14288 h 4"/>
              <a:gd name="T30" fmla="*/ 1964599 w 402"/>
              <a:gd name="T31" fmla="*/ 14288 h 4"/>
              <a:gd name="T32" fmla="*/ 1872397 w 402"/>
              <a:gd name="T33" fmla="*/ 14288 h 4"/>
              <a:gd name="T34" fmla="*/ 1844028 w 402"/>
              <a:gd name="T35" fmla="*/ 14288 h 4"/>
              <a:gd name="T36" fmla="*/ 1744733 w 402"/>
              <a:gd name="T37" fmla="*/ 14288 h 4"/>
              <a:gd name="T38" fmla="*/ 1716364 w 402"/>
              <a:gd name="T39" fmla="*/ 14288 h 4"/>
              <a:gd name="T40" fmla="*/ 1624163 w 402"/>
              <a:gd name="T41" fmla="*/ 14288 h 4"/>
              <a:gd name="T42" fmla="*/ 1595793 w 402"/>
              <a:gd name="T43" fmla="*/ 14288 h 4"/>
              <a:gd name="T44" fmla="*/ 1503592 w 402"/>
              <a:gd name="T45" fmla="*/ 14288 h 4"/>
              <a:gd name="T46" fmla="*/ 1475222 w 402"/>
              <a:gd name="T47" fmla="*/ 14288 h 4"/>
              <a:gd name="T48" fmla="*/ 1383021 w 402"/>
              <a:gd name="T49" fmla="*/ 14288 h 4"/>
              <a:gd name="T50" fmla="*/ 1354651 w 402"/>
              <a:gd name="T51" fmla="*/ 14288 h 4"/>
              <a:gd name="T52" fmla="*/ 1255357 w 402"/>
              <a:gd name="T53" fmla="*/ 14288 h 4"/>
              <a:gd name="T54" fmla="*/ 1226987 w 402"/>
              <a:gd name="T55" fmla="*/ 14288 h 4"/>
              <a:gd name="T56" fmla="*/ 1134786 w 402"/>
              <a:gd name="T57" fmla="*/ 14288 h 4"/>
              <a:gd name="T58" fmla="*/ 1106417 w 402"/>
              <a:gd name="T59" fmla="*/ 14288 h 4"/>
              <a:gd name="T60" fmla="*/ 1014215 w 402"/>
              <a:gd name="T61" fmla="*/ 14288 h 4"/>
              <a:gd name="T62" fmla="*/ 985846 w 402"/>
              <a:gd name="T63" fmla="*/ 14288 h 4"/>
              <a:gd name="T64" fmla="*/ 886552 w 402"/>
              <a:gd name="T65" fmla="*/ 14288 h 4"/>
              <a:gd name="T66" fmla="*/ 858182 w 402"/>
              <a:gd name="T67" fmla="*/ 14288 h 4"/>
              <a:gd name="T68" fmla="*/ 765981 w 402"/>
              <a:gd name="T69" fmla="*/ 14288 h 4"/>
              <a:gd name="T70" fmla="*/ 737611 w 402"/>
              <a:gd name="T71" fmla="*/ 14288 h 4"/>
              <a:gd name="T72" fmla="*/ 645410 w 402"/>
              <a:gd name="T73" fmla="*/ 14288 h 4"/>
              <a:gd name="T74" fmla="*/ 617040 w 402"/>
              <a:gd name="T75" fmla="*/ 14288 h 4"/>
              <a:gd name="T76" fmla="*/ 517746 w 402"/>
              <a:gd name="T77" fmla="*/ 14288 h 4"/>
              <a:gd name="T78" fmla="*/ 489377 w 402"/>
              <a:gd name="T79" fmla="*/ 14288 h 4"/>
              <a:gd name="T80" fmla="*/ 397175 w 402"/>
              <a:gd name="T81" fmla="*/ 14288 h 4"/>
              <a:gd name="T82" fmla="*/ 368805 w 402"/>
              <a:gd name="T83" fmla="*/ 14288 h 4"/>
              <a:gd name="T84" fmla="*/ 276604 w 402"/>
              <a:gd name="T85" fmla="*/ 14288 h 4"/>
              <a:gd name="T86" fmla="*/ 248234 w 402"/>
              <a:gd name="T87" fmla="*/ 14288 h 4"/>
              <a:gd name="T88" fmla="*/ 148941 w 402"/>
              <a:gd name="T89" fmla="*/ 14288 h 4"/>
              <a:gd name="T90" fmla="*/ 120571 w 402"/>
              <a:gd name="T91" fmla="*/ 14288 h 4"/>
              <a:gd name="T92" fmla="*/ 28370 w 402"/>
              <a:gd name="T93" fmla="*/ 14288 h 4"/>
              <a:gd name="T94" fmla="*/ 0 w 402"/>
              <a:gd name="T95" fmla="*/ 14288 h 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2"/>
              <a:gd name="T145" fmla="*/ 0 h 4"/>
              <a:gd name="T146" fmla="*/ 402 w 402"/>
              <a:gd name="T147" fmla="*/ 4 h 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2" h="4">
                <a:moveTo>
                  <a:pt x="398" y="2"/>
                </a:moveTo>
                <a:cubicBezTo>
                  <a:pt x="398" y="1"/>
                  <a:pt x="399" y="0"/>
                  <a:pt x="400" y="0"/>
                </a:cubicBezTo>
                <a:cubicBezTo>
                  <a:pt x="400" y="0"/>
                  <a:pt x="400" y="0"/>
                  <a:pt x="400" y="0"/>
                </a:cubicBezTo>
                <a:cubicBezTo>
                  <a:pt x="401" y="0"/>
                  <a:pt x="402" y="1"/>
                  <a:pt x="402" y="2"/>
                </a:cubicBezTo>
                <a:cubicBezTo>
                  <a:pt x="402" y="2"/>
                  <a:pt x="402" y="2"/>
                  <a:pt x="402" y="2"/>
                </a:cubicBezTo>
                <a:cubicBezTo>
                  <a:pt x="402" y="4"/>
                  <a:pt x="401" y="4"/>
                  <a:pt x="400" y="4"/>
                </a:cubicBezTo>
                <a:cubicBezTo>
                  <a:pt x="400" y="4"/>
                  <a:pt x="400" y="4"/>
                  <a:pt x="400" y="4"/>
                </a:cubicBezTo>
                <a:cubicBezTo>
                  <a:pt x="399" y="4"/>
                  <a:pt x="398" y="4"/>
                  <a:pt x="398" y="2"/>
                </a:cubicBezTo>
                <a:close/>
                <a:moveTo>
                  <a:pt x="381" y="2"/>
                </a:moveTo>
                <a:cubicBezTo>
                  <a:pt x="381" y="1"/>
                  <a:pt x="382" y="0"/>
                  <a:pt x="383" y="0"/>
                </a:cubicBezTo>
                <a:cubicBezTo>
                  <a:pt x="383" y="0"/>
                  <a:pt x="383" y="0"/>
                  <a:pt x="383" y="0"/>
                </a:cubicBezTo>
                <a:cubicBezTo>
                  <a:pt x="384" y="0"/>
                  <a:pt x="385" y="1"/>
                  <a:pt x="385" y="2"/>
                </a:cubicBezTo>
                <a:cubicBezTo>
                  <a:pt x="385" y="2"/>
                  <a:pt x="385" y="2"/>
                  <a:pt x="385" y="2"/>
                </a:cubicBezTo>
                <a:cubicBezTo>
                  <a:pt x="385" y="4"/>
                  <a:pt x="384" y="4"/>
                  <a:pt x="383" y="4"/>
                </a:cubicBezTo>
                <a:cubicBezTo>
                  <a:pt x="383" y="4"/>
                  <a:pt x="383" y="4"/>
                  <a:pt x="383" y="4"/>
                </a:cubicBezTo>
                <a:cubicBezTo>
                  <a:pt x="382" y="4"/>
                  <a:pt x="381" y="4"/>
                  <a:pt x="381" y="2"/>
                </a:cubicBezTo>
                <a:close/>
                <a:moveTo>
                  <a:pt x="364" y="2"/>
                </a:moveTo>
                <a:cubicBezTo>
                  <a:pt x="364" y="1"/>
                  <a:pt x="365" y="0"/>
                  <a:pt x="366" y="0"/>
                </a:cubicBezTo>
                <a:cubicBezTo>
                  <a:pt x="366" y="0"/>
                  <a:pt x="366" y="0"/>
                  <a:pt x="366" y="0"/>
                </a:cubicBezTo>
                <a:cubicBezTo>
                  <a:pt x="367" y="0"/>
                  <a:pt x="368" y="1"/>
                  <a:pt x="368" y="2"/>
                </a:cubicBezTo>
                <a:cubicBezTo>
                  <a:pt x="368" y="2"/>
                  <a:pt x="368" y="2"/>
                  <a:pt x="368" y="2"/>
                </a:cubicBezTo>
                <a:cubicBezTo>
                  <a:pt x="368" y="4"/>
                  <a:pt x="367" y="4"/>
                  <a:pt x="366" y="4"/>
                </a:cubicBezTo>
                <a:cubicBezTo>
                  <a:pt x="366" y="4"/>
                  <a:pt x="366" y="4"/>
                  <a:pt x="366" y="4"/>
                </a:cubicBezTo>
                <a:cubicBezTo>
                  <a:pt x="365" y="4"/>
                  <a:pt x="364" y="4"/>
                  <a:pt x="364" y="2"/>
                </a:cubicBezTo>
                <a:close/>
                <a:moveTo>
                  <a:pt x="346" y="2"/>
                </a:moveTo>
                <a:cubicBezTo>
                  <a:pt x="346" y="1"/>
                  <a:pt x="347" y="0"/>
                  <a:pt x="348" y="0"/>
                </a:cubicBezTo>
                <a:cubicBezTo>
                  <a:pt x="348" y="0"/>
                  <a:pt x="348" y="0"/>
                  <a:pt x="348" y="0"/>
                </a:cubicBezTo>
                <a:cubicBezTo>
                  <a:pt x="349" y="0"/>
                  <a:pt x="350" y="1"/>
                  <a:pt x="350" y="2"/>
                </a:cubicBezTo>
                <a:cubicBezTo>
                  <a:pt x="350" y="2"/>
                  <a:pt x="350" y="2"/>
                  <a:pt x="350" y="2"/>
                </a:cubicBezTo>
                <a:cubicBezTo>
                  <a:pt x="350" y="4"/>
                  <a:pt x="349" y="4"/>
                  <a:pt x="348" y="4"/>
                </a:cubicBezTo>
                <a:cubicBezTo>
                  <a:pt x="348" y="4"/>
                  <a:pt x="348" y="4"/>
                  <a:pt x="348" y="4"/>
                </a:cubicBezTo>
                <a:cubicBezTo>
                  <a:pt x="347" y="4"/>
                  <a:pt x="346" y="4"/>
                  <a:pt x="346" y="2"/>
                </a:cubicBezTo>
                <a:close/>
                <a:moveTo>
                  <a:pt x="329" y="2"/>
                </a:moveTo>
                <a:cubicBezTo>
                  <a:pt x="329" y="1"/>
                  <a:pt x="330" y="0"/>
                  <a:pt x="331" y="0"/>
                </a:cubicBezTo>
                <a:cubicBezTo>
                  <a:pt x="331" y="0"/>
                  <a:pt x="331" y="0"/>
                  <a:pt x="331" y="0"/>
                </a:cubicBezTo>
                <a:cubicBezTo>
                  <a:pt x="332" y="0"/>
                  <a:pt x="333" y="1"/>
                  <a:pt x="333" y="2"/>
                </a:cubicBezTo>
                <a:cubicBezTo>
                  <a:pt x="333" y="2"/>
                  <a:pt x="333" y="2"/>
                  <a:pt x="333" y="2"/>
                </a:cubicBezTo>
                <a:cubicBezTo>
                  <a:pt x="333" y="4"/>
                  <a:pt x="332" y="4"/>
                  <a:pt x="331" y="4"/>
                </a:cubicBezTo>
                <a:cubicBezTo>
                  <a:pt x="331" y="4"/>
                  <a:pt x="331" y="4"/>
                  <a:pt x="331" y="4"/>
                </a:cubicBezTo>
                <a:cubicBezTo>
                  <a:pt x="330" y="4"/>
                  <a:pt x="329" y="4"/>
                  <a:pt x="329" y="2"/>
                </a:cubicBezTo>
                <a:close/>
                <a:moveTo>
                  <a:pt x="312" y="2"/>
                </a:moveTo>
                <a:cubicBezTo>
                  <a:pt x="312" y="1"/>
                  <a:pt x="313" y="0"/>
                  <a:pt x="314" y="0"/>
                </a:cubicBezTo>
                <a:cubicBezTo>
                  <a:pt x="314" y="0"/>
                  <a:pt x="314" y="0"/>
                  <a:pt x="314" y="0"/>
                </a:cubicBezTo>
                <a:cubicBezTo>
                  <a:pt x="315" y="0"/>
                  <a:pt x="316" y="1"/>
                  <a:pt x="316" y="2"/>
                </a:cubicBezTo>
                <a:cubicBezTo>
                  <a:pt x="316" y="2"/>
                  <a:pt x="316" y="2"/>
                  <a:pt x="316" y="2"/>
                </a:cubicBezTo>
                <a:cubicBezTo>
                  <a:pt x="316" y="4"/>
                  <a:pt x="315" y="4"/>
                  <a:pt x="314" y="4"/>
                </a:cubicBezTo>
                <a:cubicBezTo>
                  <a:pt x="314" y="4"/>
                  <a:pt x="314" y="4"/>
                  <a:pt x="314" y="4"/>
                </a:cubicBezTo>
                <a:cubicBezTo>
                  <a:pt x="313" y="4"/>
                  <a:pt x="312" y="4"/>
                  <a:pt x="312" y="2"/>
                </a:cubicBezTo>
                <a:close/>
                <a:moveTo>
                  <a:pt x="294" y="2"/>
                </a:moveTo>
                <a:cubicBezTo>
                  <a:pt x="294" y="1"/>
                  <a:pt x="295" y="0"/>
                  <a:pt x="296" y="0"/>
                </a:cubicBezTo>
                <a:cubicBezTo>
                  <a:pt x="296" y="0"/>
                  <a:pt x="296" y="0"/>
                  <a:pt x="296" y="0"/>
                </a:cubicBezTo>
                <a:cubicBezTo>
                  <a:pt x="298" y="0"/>
                  <a:pt x="298" y="1"/>
                  <a:pt x="298" y="2"/>
                </a:cubicBezTo>
                <a:cubicBezTo>
                  <a:pt x="298" y="2"/>
                  <a:pt x="298" y="2"/>
                  <a:pt x="298" y="2"/>
                </a:cubicBezTo>
                <a:cubicBezTo>
                  <a:pt x="298" y="4"/>
                  <a:pt x="298" y="4"/>
                  <a:pt x="296" y="4"/>
                </a:cubicBezTo>
                <a:cubicBezTo>
                  <a:pt x="296" y="4"/>
                  <a:pt x="296" y="4"/>
                  <a:pt x="296" y="4"/>
                </a:cubicBezTo>
                <a:cubicBezTo>
                  <a:pt x="295" y="4"/>
                  <a:pt x="294" y="4"/>
                  <a:pt x="294" y="2"/>
                </a:cubicBezTo>
                <a:close/>
                <a:moveTo>
                  <a:pt x="277" y="2"/>
                </a:moveTo>
                <a:cubicBezTo>
                  <a:pt x="277" y="1"/>
                  <a:pt x="278" y="0"/>
                  <a:pt x="279" y="0"/>
                </a:cubicBezTo>
                <a:cubicBezTo>
                  <a:pt x="279" y="0"/>
                  <a:pt x="279" y="0"/>
                  <a:pt x="279" y="0"/>
                </a:cubicBezTo>
                <a:cubicBezTo>
                  <a:pt x="280" y="0"/>
                  <a:pt x="281" y="1"/>
                  <a:pt x="281" y="2"/>
                </a:cubicBezTo>
                <a:cubicBezTo>
                  <a:pt x="281" y="2"/>
                  <a:pt x="281" y="2"/>
                  <a:pt x="281" y="2"/>
                </a:cubicBezTo>
                <a:cubicBezTo>
                  <a:pt x="281" y="4"/>
                  <a:pt x="280" y="4"/>
                  <a:pt x="279" y="4"/>
                </a:cubicBezTo>
                <a:cubicBezTo>
                  <a:pt x="279" y="4"/>
                  <a:pt x="279" y="4"/>
                  <a:pt x="279" y="4"/>
                </a:cubicBezTo>
                <a:cubicBezTo>
                  <a:pt x="278" y="4"/>
                  <a:pt x="277" y="4"/>
                  <a:pt x="277" y="2"/>
                </a:cubicBezTo>
                <a:close/>
                <a:moveTo>
                  <a:pt x="260" y="2"/>
                </a:moveTo>
                <a:cubicBezTo>
                  <a:pt x="260" y="1"/>
                  <a:pt x="261" y="0"/>
                  <a:pt x="262" y="0"/>
                </a:cubicBezTo>
                <a:cubicBezTo>
                  <a:pt x="262" y="0"/>
                  <a:pt x="262" y="0"/>
                  <a:pt x="262" y="0"/>
                </a:cubicBezTo>
                <a:cubicBezTo>
                  <a:pt x="263" y="0"/>
                  <a:pt x="264" y="1"/>
                  <a:pt x="264" y="2"/>
                </a:cubicBezTo>
                <a:cubicBezTo>
                  <a:pt x="264" y="2"/>
                  <a:pt x="264" y="2"/>
                  <a:pt x="264" y="2"/>
                </a:cubicBezTo>
                <a:cubicBezTo>
                  <a:pt x="264" y="4"/>
                  <a:pt x="263" y="4"/>
                  <a:pt x="262" y="4"/>
                </a:cubicBezTo>
                <a:cubicBezTo>
                  <a:pt x="262" y="4"/>
                  <a:pt x="262" y="4"/>
                  <a:pt x="262" y="4"/>
                </a:cubicBezTo>
                <a:cubicBezTo>
                  <a:pt x="261" y="4"/>
                  <a:pt x="260" y="4"/>
                  <a:pt x="260" y="2"/>
                </a:cubicBezTo>
                <a:close/>
                <a:moveTo>
                  <a:pt x="242" y="2"/>
                </a:moveTo>
                <a:cubicBezTo>
                  <a:pt x="242" y="1"/>
                  <a:pt x="243" y="0"/>
                  <a:pt x="244" y="0"/>
                </a:cubicBezTo>
                <a:cubicBezTo>
                  <a:pt x="244" y="0"/>
                  <a:pt x="244" y="0"/>
                  <a:pt x="244" y="0"/>
                </a:cubicBezTo>
                <a:cubicBezTo>
                  <a:pt x="246" y="0"/>
                  <a:pt x="246" y="1"/>
                  <a:pt x="246" y="2"/>
                </a:cubicBezTo>
                <a:cubicBezTo>
                  <a:pt x="246" y="2"/>
                  <a:pt x="246" y="2"/>
                  <a:pt x="246" y="2"/>
                </a:cubicBezTo>
                <a:cubicBezTo>
                  <a:pt x="246" y="4"/>
                  <a:pt x="246" y="4"/>
                  <a:pt x="244" y="4"/>
                </a:cubicBezTo>
                <a:cubicBezTo>
                  <a:pt x="244" y="4"/>
                  <a:pt x="244" y="4"/>
                  <a:pt x="244" y="4"/>
                </a:cubicBezTo>
                <a:cubicBezTo>
                  <a:pt x="243" y="4"/>
                  <a:pt x="242" y="4"/>
                  <a:pt x="242" y="2"/>
                </a:cubicBezTo>
                <a:close/>
                <a:moveTo>
                  <a:pt x="225" y="2"/>
                </a:moveTo>
                <a:cubicBezTo>
                  <a:pt x="225" y="1"/>
                  <a:pt x="226" y="0"/>
                  <a:pt x="227" y="0"/>
                </a:cubicBezTo>
                <a:cubicBezTo>
                  <a:pt x="227" y="0"/>
                  <a:pt x="227" y="0"/>
                  <a:pt x="227" y="0"/>
                </a:cubicBezTo>
                <a:cubicBezTo>
                  <a:pt x="228" y="0"/>
                  <a:pt x="229" y="1"/>
                  <a:pt x="229" y="2"/>
                </a:cubicBezTo>
                <a:cubicBezTo>
                  <a:pt x="229" y="2"/>
                  <a:pt x="229" y="2"/>
                  <a:pt x="229" y="2"/>
                </a:cubicBezTo>
                <a:cubicBezTo>
                  <a:pt x="229" y="4"/>
                  <a:pt x="228" y="4"/>
                  <a:pt x="227" y="4"/>
                </a:cubicBezTo>
                <a:cubicBezTo>
                  <a:pt x="227" y="4"/>
                  <a:pt x="227" y="4"/>
                  <a:pt x="227" y="4"/>
                </a:cubicBezTo>
                <a:cubicBezTo>
                  <a:pt x="226" y="4"/>
                  <a:pt x="225" y="4"/>
                  <a:pt x="225" y="2"/>
                </a:cubicBezTo>
                <a:close/>
                <a:moveTo>
                  <a:pt x="208" y="2"/>
                </a:moveTo>
                <a:cubicBezTo>
                  <a:pt x="208" y="1"/>
                  <a:pt x="209" y="0"/>
                  <a:pt x="210" y="0"/>
                </a:cubicBezTo>
                <a:cubicBezTo>
                  <a:pt x="210" y="0"/>
                  <a:pt x="210" y="0"/>
                  <a:pt x="210" y="0"/>
                </a:cubicBezTo>
                <a:cubicBezTo>
                  <a:pt x="211" y="0"/>
                  <a:pt x="212" y="1"/>
                  <a:pt x="212" y="2"/>
                </a:cubicBezTo>
                <a:cubicBezTo>
                  <a:pt x="212" y="2"/>
                  <a:pt x="212" y="2"/>
                  <a:pt x="212" y="2"/>
                </a:cubicBezTo>
                <a:cubicBezTo>
                  <a:pt x="212" y="4"/>
                  <a:pt x="211" y="4"/>
                  <a:pt x="210" y="4"/>
                </a:cubicBezTo>
                <a:cubicBezTo>
                  <a:pt x="210" y="4"/>
                  <a:pt x="210" y="4"/>
                  <a:pt x="210" y="4"/>
                </a:cubicBezTo>
                <a:cubicBezTo>
                  <a:pt x="209" y="4"/>
                  <a:pt x="208" y="4"/>
                  <a:pt x="208" y="2"/>
                </a:cubicBezTo>
                <a:close/>
                <a:moveTo>
                  <a:pt x="191" y="2"/>
                </a:moveTo>
                <a:cubicBezTo>
                  <a:pt x="191" y="1"/>
                  <a:pt x="191" y="0"/>
                  <a:pt x="193" y="0"/>
                </a:cubicBezTo>
                <a:cubicBezTo>
                  <a:pt x="193" y="0"/>
                  <a:pt x="193" y="0"/>
                  <a:pt x="193" y="0"/>
                </a:cubicBezTo>
                <a:cubicBezTo>
                  <a:pt x="194" y="0"/>
                  <a:pt x="195" y="1"/>
                  <a:pt x="195" y="2"/>
                </a:cubicBezTo>
                <a:cubicBezTo>
                  <a:pt x="195" y="2"/>
                  <a:pt x="195" y="2"/>
                  <a:pt x="195" y="2"/>
                </a:cubicBezTo>
                <a:cubicBezTo>
                  <a:pt x="195" y="4"/>
                  <a:pt x="194" y="4"/>
                  <a:pt x="193" y="4"/>
                </a:cubicBezTo>
                <a:cubicBezTo>
                  <a:pt x="193" y="4"/>
                  <a:pt x="193" y="4"/>
                  <a:pt x="193" y="4"/>
                </a:cubicBezTo>
                <a:cubicBezTo>
                  <a:pt x="191" y="4"/>
                  <a:pt x="191" y="4"/>
                  <a:pt x="191" y="2"/>
                </a:cubicBezTo>
                <a:close/>
                <a:moveTo>
                  <a:pt x="173" y="2"/>
                </a:moveTo>
                <a:cubicBezTo>
                  <a:pt x="173" y="1"/>
                  <a:pt x="174" y="0"/>
                  <a:pt x="175" y="0"/>
                </a:cubicBezTo>
                <a:cubicBezTo>
                  <a:pt x="175" y="0"/>
                  <a:pt x="175" y="0"/>
                  <a:pt x="175" y="0"/>
                </a:cubicBezTo>
                <a:cubicBezTo>
                  <a:pt x="176" y="0"/>
                  <a:pt x="177" y="1"/>
                  <a:pt x="177" y="2"/>
                </a:cubicBezTo>
                <a:cubicBezTo>
                  <a:pt x="177" y="2"/>
                  <a:pt x="177" y="2"/>
                  <a:pt x="177" y="2"/>
                </a:cubicBezTo>
                <a:cubicBezTo>
                  <a:pt x="177" y="4"/>
                  <a:pt x="176" y="4"/>
                  <a:pt x="175" y="4"/>
                </a:cubicBezTo>
                <a:cubicBezTo>
                  <a:pt x="175" y="4"/>
                  <a:pt x="175" y="4"/>
                  <a:pt x="175" y="4"/>
                </a:cubicBezTo>
                <a:cubicBezTo>
                  <a:pt x="174" y="4"/>
                  <a:pt x="173" y="4"/>
                  <a:pt x="173" y="2"/>
                </a:cubicBezTo>
                <a:close/>
                <a:moveTo>
                  <a:pt x="156" y="2"/>
                </a:moveTo>
                <a:cubicBezTo>
                  <a:pt x="156" y="1"/>
                  <a:pt x="157" y="0"/>
                  <a:pt x="158" y="0"/>
                </a:cubicBezTo>
                <a:cubicBezTo>
                  <a:pt x="158" y="0"/>
                  <a:pt x="158" y="0"/>
                  <a:pt x="158" y="0"/>
                </a:cubicBezTo>
                <a:cubicBezTo>
                  <a:pt x="159" y="0"/>
                  <a:pt x="160" y="1"/>
                  <a:pt x="160" y="2"/>
                </a:cubicBezTo>
                <a:cubicBezTo>
                  <a:pt x="160" y="2"/>
                  <a:pt x="160" y="2"/>
                  <a:pt x="160" y="2"/>
                </a:cubicBezTo>
                <a:cubicBezTo>
                  <a:pt x="160" y="4"/>
                  <a:pt x="159" y="4"/>
                  <a:pt x="158" y="4"/>
                </a:cubicBezTo>
                <a:cubicBezTo>
                  <a:pt x="158" y="4"/>
                  <a:pt x="158" y="4"/>
                  <a:pt x="158" y="4"/>
                </a:cubicBezTo>
                <a:cubicBezTo>
                  <a:pt x="157" y="4"/>
                  <a:pt x="156" y="4"/>
                  <a:pt x="156" y="2"/>
                </a:cubicBezTo>
                <a:close/>
                <a:moveTo>
                  <a:pt x="139" y="2"/>
                </a:moveTo>
                <a:cubicBezTo>
                  <a:pt x="139" y="1"/>
                  <a:pt x="139" y="0"/>
                  <a:pt x="141" y="0"/>
                </a:cubicBezTo>
                <a:cubicBezTo>
                  <a:pt x="141" y="0"/>
                  <a:pt x="141" y="0"/>
                  <a:pt x="141" y="0"/>
                </a:cubicBezTo>
                <a:cubicBezTo>
                  <a:pt x="142" y="0"/>
                  <a:pt x="143" y="1"/>
                  <a:pt x="143" y="2"/>
                </a:cubicBezTo>
                <a:cubicBezTo>
                  <a:pt x="143" y="2"/>
                  <a:pt x="143" y="2"/>
                  <a:pt x="143" y="2"/>
                </a:cubicBezTo>
                <a:cubicBezTo>
                  <a:pt x="143" y="4"/>
                  <a:pt x="142" y="4"/>
                  <a:pt x="141" y="4"/>
                </a:cubicBezTo>
                <a:cubicBezTo>
                  <a:pt x="141" y="4"/>
                  <a:pt x="141" y="4"/>
                  <a:pt x="141" y="4"/>
                </a:cubicBezTo>
                <a:cubicBezTo>
                  <a:pt x="139" y="4"/>
                  <a:pt x="139" y="4"/>
                  <a:pt x="139" y="2"/>
                </a:cubicBezTo>
                <a:close/>
                <a:moveTo>
                  <a:pt x="121" y="2"/>
                </a:moveTo>
                <a:cubicBezTo>
                  <a:pt x="121" y="1"/>
                  <a:pt x="122" y="0"/>
                  <a:pt x="123" y="0"/>
                </a:cubicBezTo>
                <a:cubicBezTo>
                  <a:pt x="123" y="0"/>
                  <a:pt x="123" y="0"/>
                  <a:pt x="123" y="0"/>
                </a:cubicBezTo>
                <a:cubicBezTo>
                  <a:pt x="124" y="0"/>
                  <a:pt x="125" y="1"/>
                  <a:pt x="125" y="2"/>
                </a:cubicBezTo>
                <a:cubicBezTo>
                  <a:pt x="125" y="2"/>
                  <a:pt x="125" y="2"/>
                  <a:pt x="125" y="2"/>
                </a:cubicBezTo>
                <a:cubicBezTo>
                  <a:pt x="125" y="4"/>
                  <a:pt x="124" y="4"/>
                  <a:pt x="123" y="4"/>
                </a:cubicBezTo>
                <a:cubicBezTo>
                  <a:pt x="123" y="4"/>
                  <a:pt x="123" y="4"/>
                  <a:pt x="123" y="4"/>
                </a:cubicBezTo>
                <a:cubicBezTo>
                  <a:pt x="122" y="4"/>
                  <a:pt x="121" y="4"/>
                  <a:pt x="121" y="2"/>
                </a:cubicBezTo>
                <a:close/>
                <a:moveTo>
                  <a:pt x="104" y="2"/>
                </a:moveTo>
                <a:cubicBezTo>
                  <a:pt x="104" y="1"/>
                  <a:pt x="105" y="0"/>
                  <a:pt x="106" y="0"/>
                </a:cubicBezTo>
                <a:cubicBezTo>
                  <a:pt x="106" y="0"/>
                  <a:pt x="106" y="0"/>
                  <a:pt x="106" y="0"/>
                </a:cubicBezTo>
                <a:cubicBezTo>
                  <a:pt x="107" y="0"/>
                  <a:pt x="108" y="1"/>
                  <a:pt x="108" y="2"/>
                </a:cubicBezTo>
                <a:cubicBezTo>
                  <a:pt x="108" y="2"/>
                  <a:pt x="108" y="2"/>
                  <a:pt x="108" y="2"/>
                </a:cubicBezTo>
                <a:cubicBezTo>
                  <a:pt x="108" y="4"/>
                  <a:pt x="107" y="4"/>
                  <a:pt x="106" y="4"/>
                </a:cubicBezTo>
                <a:cubicBezTo>
                  <a:pt x="106" y="4"/>
                  <a:pt x="106" y="4"/>
                  <a:pt x="106" y="4"/>
                </a:cubicBezTo>
                <a:cubicBezTo>
                  <a:pt x="105" y="4"/>
                  <a:pt x="104" y="4"/>
                  <a:pt x="104" y="2"/>
                </a:cubicBezTo>
                <a:close/>
                <a:moveTo>
                  <a:pt x="87" y="2"/>
                </a:moveTo>
                <a:cubicBezTo>
                  <a:pt x="87" y="1"/>
                  <a:pt x="87" y="0"/>
                  <a:pt x="89" y="0"/>
                </a:cubicBezTo>
                <a:cubicBezTo>
                  <a:pt x="89" y="0"/>
                  <a:pt x="89" y="0"/>
                  <a:pt x="89" y="0"/>
                </a:cubicBezTo>
                <a:cubicBezTo>
                  <a:pt x="90" y="0"/>
                  <a:pt x="91" y="1"/>
                  <a:pt x="91" y="2"/>
                </a:cubicBezTo>
                <a:cubicBezTo>
                  <a:pt x="91" y="2"/>
                  <a:pt x="91" y="2"/>
                  <a:pt x="91" y="2"/>
                </a:cubicBezTo>
                <a:cubicBezTo>
                  <a:pt x="91" y="4"/>
                  <a:pt x="90" y="4"/>
                  <a:pt x="89" y="4"/>
                </a:cubicBezTo>
                <a:cubicBezTo>
                  <a:pt x="89" y="4"/>
                  <a:pt x="89" y="4"/>
                  <a:pt x="89" y="4"/>
                </a:cubicBezTo>
                <a:cubicBezTo>
                  <a:pt x="87" y="4"/>
                  <a:pt x="87" y="4"/>
                  <a:pt x="87" y="2"/>
                </a:cubicBezTo>
                <a:close/>
                <a:moveTo>
                  <a:pt x="69" y="2"/>
                </a:moveTo>
                <a:cubicBezTo>
                  <a:pt x="69" y="1"/>
                  <a:pt x="70" y="0"/>
                  <a:pt x="71" y="0"/>
                </a:cubicBezTo>
                <a:cubicBezTo>
                  <a:pt x="71" y="0"/>
                  <a:pt x="71" y="0"/>
                  <a:pt x="71" y="0"/>
                </a:cubicBezTo>
                <a:cubicBezTo>
                  <a:pt x="72" y="0"/>
                  <a:pt x="73" y="1"/>
                  <a:pt x="73" y="2"/>
                </a:cubicBezTo>
                <a:cubicBezTo>
                  <a:pt x="73" y="2"/>
                  <a:pt x="73" y="2"/>
                  <a:pt x="73" y="2"/>
                </a:cubicBezTo>
                <a:cubicBezTo>
                  <a:pt x="73" y="4"/>
                  <a:pt x="72" y="4"/>
                  <a:pt x="71" y="4"/>
                </a:cubicBezTo>
                <a:cubicBezTo>
                  <a:pt x="71" y="4"/>
                  <a:pt x="71" y="4"/>
                  <a:pt x="71" y="4"/>
                </a:cubicBezTo>
                <a:cubicBezTo>
                  <a:pt x="70" y="4"/>
                  <a:pt x="69" y="4"/>
                  <a:pt x="69" y="2"/>
                </a:cubicBezTo>
                <a:close/>
                <a:moveTo>
                  <a:pt x="52" y="2"/>
                </a:moveTo>
                <a:cubicBezTo>
                  <a:pt x="52" y="1"/>
                  <a:pt x="53" y="0"/>
                  <a:pt x="54" y="0"/>
                </a:cubicBezTo>
                <a:cubicBezTo>
                  <a:pt x="54" y="0"/>
                  <a:pt x="54" y="0"/>
                  <a:pt x="54" y="0"/>
                </a:cubicBezTo>
                <a:cubicBezTo>
                  <a:pt x="55" y="0"/>
                  <a:pt x="56" y="1"/>
                  <a:pt x="56" y="2"/>
                </a:cubicBezTo>
                <a:cubicBezTo>
                  <a:pt x="56" y="2"/>
                  <a:pt x="56" y="2"/>
                  <a:pt x="56" y="2"/>
                </a:cubicBezTo>
                <a:cubicBezTo>
                  <a:pt x="56" y="4"/>
                  <a:pt x="55" y="4"/>
                  <a:pt x="54" y="4"/>
                </a:cubicBezTo>
                <a:cubicBezTo>
                  <a:pt x="54" y="4"/>
                  <a:pt x="54" y="4"/>
                  <a:pt x="54" y="4"/>
                </a:cubicBezTo>
                <a:cubicBezTo>
                  <a:pt x="53" y="4"/>
                  <a:pt x="52" y="4"/>
                  <a:pt x="52" y="2"/>
                </a:cubicBezTo>
                <a:close/>
                <a:moveTo>
                  <a:pt x="35" y="2"/>
                </a:moveTo>
                <a:cubicBezTo>
                  <a:pt x="35" y="1"/>
                  <a:pt x="36" y="0"/>
                  <a:pt x="37" y="0"/>
                </a:cubicBezTo>
                <a:cubicBezTo>
                  <a:pt x="37" y="0"/>
                  <a:pt x="37" y="0"/>
                  <a:pt x="37" y="0"/>
                </a:cubicBezTo>
                <a:cubicBezTo>
                  <a:pt x="38" y="0"/>
                  <a:pt x="39" y="1"/>
                  <a:pt x="39" y="2"/>
                </a:cubicBezTo>
                <a:cubicBezTo>
                  <a:pt x="39" y="2"/>
                  <a:pt x="39" y="2"/>
                  <a:pt x="39" y="2"/>
                </a:cubicBezTo>
                <a:cubicBezTo>
                  <a:pt x="39" y="4"/>
                  <a:pt x="38" y="4"/>
                  <a:pt x="37" y="4"/>
                </a:cubicBezTo>
                <a:cubicBezTo>
                  <a:pt x="37" y="4"/>
                  <a:pt x="37" y="4"/>
                  <a:pt x="37" y="4"/>
                </a:cubicBezTo>
                <a:cubicBezTo>
                  <a:pt x="36" y="4"/>
                  <a:pt x="35" y="4"/>
                  <a:pt x="35" y="2"/>
                </a:cubicBezTo>
                <a:close/>
                <a:moveTo>
                  <a:pt x="17" y="2"/>
                </a:moveTo>
                <a:cubicBezTo>
                  <a:pt x="17" y="1"/>
                  <a:pt x="18" y="0"/>
                  <a:pt x="19" y="0"/>
                </a:cubicBezTo>
                <a:cubicBezTo>
                  <a:pt x="19" y="0"/>
                  <a:pt x="19" y="0"/>
                  <a:pt x="19" y="0"/>
                </a:cubicBezTo>
                <a:cubicBezTo>
                  <a:pt x="20" y="0"/>
                  <a:pt x="21" y="1"/>
                  <a:pt x="21" y="2"/>
                </a:cubicBezTo>
                <a:cubicBezTo>
                  <a:pt x="21" y="2"/>
                  <a:pt x="21" y="2"/>
                  <a:pt x="21" y="2"/>
                </a:cubicBezTo>
                <a:cubicBezTo>
                  <a:pt x="21" y="4"/>
                  <a:pt x="20" y="4"/>
                  <a:pt x="19" y="4"/>
                </a:cubicBezTo>
                <a:cubicBezTo>
                  <a:pt x="19" y="4"/>
                  <a:pt x="19" y="4"/>
                  <a:pt x="19" y="4"/>
                </a:cubicBezTo>
                <a:cubicBezTo>
                  <a:pt x="18" y="4"/>
                  <a:pt x="17" y="4"/>
                  <a:pt x="17" y="2"/>
                </a:cubicBezTo>
                <a:close/>
                <a:moveTo>
                  <a:pt x="0" y="2"/>
                </a:moveTo>
                <a:cubicBezTo>
                  <a:pt x="0" y="1"/>
                  <a:pt x="1" y="0"/>
                  <a:pt x="2" y="0"/>
                </a:cubicBezTo>
                <a:cubicBezTo>
                  <a:pt x="2" y="0"/>
                  <a:pt x="2" y="0"/>
                  <a:pt x="2" y="0"/>
                </a:cubicBezTo>
                <a:cubicBezTo>
                  <a:pt x="3" y="0"/>
                  <a:pt x="4" y="1"/>
                  <a:pt x="4" y="2"/>
                </a:cubicBezTo>
                <a:cubicBezTo>
                  <a:pt x="4" y="2"/>
                  <a:pt x="4" y="2"/>
                  <a:pt x="4" y="2"/>
                </a:cubicBezTo>
                <a:cubicBezTo>
                  <a:pt x="4" y="4"/>
                  <a:pt x="3" y="4"/>
                  <a:pt x="2" y="4"/>
                </a:cubicBezTo>
                <a:cubicBezTo>
                  <a:pt x="2" y="4"/>
                  <a:pt x="2" y="4"/>
                  <a:pt x="2" y="4"/>
                </a:cubicBezTo>
                <a:cubicBezTo>
                  <a:pt x="1" y="4"/>
                  <a:pt x="0" y="4"/>
                  <a:pt x="0" y="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359" name="Freeform 25"/>
          <p:cNvSpPr>
            <a:spLocks noEditPoints="1"/>
          </p:cNvSpPr>
          <p:nvPr/>
        </p:nvSpPr>
        <p:spPr bwMode="auto">
          <a:xfrm>
            <a:off x="1601788" y="2417763"/>
            <a:ext cx="4329112" cy="28575"/>
          </a:xfrm>
          <a:custGeom>
            <a:avLst/>
            <a:gdLst>
              <a:gd name="T0" fmla="*/ 4329112 w 610"/>
              <a:gd name="T1" fmla="*/ 14288 h 4"/>
              <a:gd name="T2" fmla="*/ 4194271 w 610"/>
              <a:gd name="T3" fmla="*/ 0 h 4"/>
              <a:gd name="T4" fmla="*/ 4194271 w 610"/>
              <a:gd name="T5" fmla="*/ 28575 h 4"/>
              <a:gd name="T6" fmla="*/ 4080720 w 610"/>
              <a:gd name="T7" fmla="*/ 14288 h 4"/>
              <a:gd name="T8" fmla="*/ 3931685 w 610"/>
              <a:gd name="T9" fmla="*/ 14288 h 4"/>
              <a:gd name="T10" fmla="*/ 3945879 w 610"/>
              <a:gd name="T11" fmla="*/ 28575 h 4"/>
              <a:gd name="T12" fmla="*/ 3825232 w 610"/>
              <a:gd name="T13" fmla="*/ 0 h 4"/>
              <a:gd name="T14" fmla="*/ 3811038 w 610"/>
              <a:gd name="T15" fmla="*/ 14288 h 4"/>
              <a:gd name="T16" fmla="*/ 3718778 w 610"/>
              <a:gd name="T17" fmla="*/ 14288 h 4"/>
              <a:gd name="T18" fmla="*/ 3576840 w 610"/>
              <a:gd name="T19" fmla="*/ 0 h 4"/>
              <a:gd name="T20" fmla="*/ 3576840 w 610"/>
              <a:gd name="T21" fmla="*/ 28575 h 4"/>
              <a:gd name="T22" fmla="*/ 3470386 w 610"/>
              <a:gd name="T23" fmla="*/ 14288 h 4"/>
              <a:gd name="T24" fmla="*/ 3321351 w 610"/>
              <a:gd name="T25" fmla="*/ 14288 h 4"/>
              <a:gd name="T26" fmla="*/ 3335545 w 610"/>
              <a:gd name="T27" fmla="*/ 28575 h 4"/>
              <a:gd name="T28" fmla="*/ 3207801 w 610"/>
              <a:gd name="T29" fmla="*/ 0 h 4"/>
              <a:gd name="T30" fmla="*/ 3193607 w 610"/>
              <a:gd name="T31" fmla="*/ 14288 h 4"/>
              <a:gd name="T32" fmla="*/ 3101347 w 610"/>
              <a:gd name="T33" fmla="*/ 14288 h 4"/>
              <a:gd name="T34" fmla="*/ 2966506 w 610"/>
              <a:gd name="T35" fmla="*/ 0 h 4"/>
              <a:gd name="T36" fmla="*/ 2966506 w 610"/>
              <a:gd name="T37" fmla="*/ 28575 h 4"/>
              <a:gd name="T38" fmla="*/ 2852956 w 610"/>
              <a:gd name="T39" fmla="*/ 14288 h 4"/>
              <a:gd name="T40" fmla="*/ 2703921 w 610"/>
              <a:gd name="T41" fmla="*/ 14288 h 4"/>
              <a:gd name="T42" fmla="*/ 2718114 w 610"/>
              <a:gd name="T43" fmla="*/ 28575 h 4"/>
              <a:gd name="T44" fmla="*/ 2597467 w 610"/>
              <a:gd name="T45" fmla="*/ 0 h 4"/>
              <a:gd name="T46" fmla="*/ 2583273 w 610"/>
              <a:gd name="T47" fmla="*/ 14288 h 4"/>
              <a:gd name="T48" fmla="*/ 2483917 w 610"/>
              <a:gd name="T49" fmla="*/ 14288 h 4"/>
              <a:gd name="T50" fmla="*/ 2349075 w 610"/>
              <a:gd name="T51" fmla="*/ 0 h 4"/>
              <a:gd name="T52" fmla="*/ 2349075 w 610"/>
              <a:gd name="T53" fmla="*/ 28575 h 4"/>
              <a:gd name="T54" fmla="*/ 2242622 w 610"/>
              <a:gd name="T55" fmla="*/ 14288 h 4"/>
              <a:gd name="T56" fmla="*/ 2086490 w 610"/>
              <a:gd name="T57" fmla="*/ 14288 h 4"/>
              <a:gd name="T58" fmla="*/ 2100684 w 610"/>
              <a:gd name="T59" fmla="*/ 28575 h 4"/>
              <a:gd name="T60" fmla="*/ 1980037 w 610"/>
              <a:gd name="T61" fmla="*/ 0 h 4"/>
              <a:gd name="T62" fmla="*/ 1965843 w 610"/>
              <a:gd name="T63" fmla="*/ 14288 h 4"/>
              <a:gd name="T64" fmla="*/ 1873583 w 610"/>
              <a:gd name="T65" fmla="*/ 14288 h 4"/>
              <a:gd name="T66" fmla="*/ 1731645 w 610"/>
              <a:gd name="T67" fmla="*/ 0 h 4"/>
              <a:gd name="T68" fmla="*/ 1731645 w 610"/>
              <a:gd name="T69" fmla="*/ 28575 h 4"/>
              <a:gd name="T70" fmla="*/ 1625191 w 610"/>
              <a:gd name="T71" fmla="*/ 14288 h 4"/>
              <a:gd name="T72" fmla="*/ 1476156 w 610"/>
              <a:gd name="T73" fmla="*/ 14288 h 4"/>
              <a:gd name="T74" fmla="*/ 1490350 w 610"/>
              <a:gd name="T75" fmla="*/ 28575 h 4"/>
              <a:gd name="T76" fmla="*/ 1362606 w 610"/>
              <a:gd name="T77" fmla="*/ 0 h 4"/>
              <a:gd name="T78" fmla="*/ 1348412 w 610"/>
              <a:gd name="T79" fmla="*/ 14288 h 4"/>
              <a:gd name="T80" fmla="*/ 1256152 w 610"/>
              <a:gd name="T81" fmla="*/ 14288 h 4"/>
              <a:gd name="T82" fmla="*/ 1121311 w 610"/>
              <a:gd name="T83" fmla="*/ 0 h 4"/>
              <a:gd name="T84" fmla="*/ 1121311 w 610"/>
              <a:gd name="T85" fmla="*/ 28575 h 4"/>
              <a:gd name="T86" fmla="*/ 1007761 w 610"/>
              <a:gd name="T87" fmla="*/ 14288 h 4"/>
              <a:gd name="T88" fmla="*/ 858725 w 610"/>
              <a:gd name="T89" fmla="*/ 14288 h 4"/>
              <a:gd name="T90" fmla="*/ 872919 w 610"/>
              <a:gd name="T91" fmla="*/ 28575 h 4"/>
              <a:gd name="T92" fmla="*/ 752272 w 610"/>
              <a:gd name="T93" fmla="*/ 0 h 4"/>
              <a:gd name="T94" fmla="*/ 738078 w 610"/>
              <a:gd name="T95" fmla="*/ 14288 h 4"/>
              <a:gd name="T96" fmla="*/ 645818 w 610"/>
              <a:gd name="T97" fmla="*/ 14288 h 4"/>
              <a:gd name="T98" fmla="*/ 503880 w 610"/>
              <a:gd name="T99" fmla="*/ 0 h 4"/>
              <a:gd name="T100" fmla="*/ 503880 w 610"/>
              <a:gd name="T101" fmla="*/ 28575 h 4"/>
              <a:gd name="T102" fmla="*/ 397427 w 610"/>
              <a:gd name="T103" fmla="*/ 14288 h 4"/>
              <a:gd name="T104" fmla="*/ 248392 w 610"/>
              <a:gd name="T105" fmla="*/ 14288 h 4"/>
              <a:gd name="T106" fmla="*/ 262585 w 610"/>
              <a:gd name="T107" fmla="*/ 28575 h 4"/>
              <a:gd name="T108" fmla="*/ 134841 w 610"/>
              <a:gd name="T109" fmla="*/ 0 h 4"/>
              <a:gd name="T110" fmla="*/ 120647 w 610"/>
              <a:gd name="T111" fmla="*/ 14288 h 4"/>
              <a:gd name="T112" fmla="*/ 28388 w 610"/>
              <a:gd name="T113" fmla="*/ 14288 h 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0"/>
              <a:gd name="T172" fmla="*/ 0 h 4"/>
              <a:gd name="T173" fmla="*/ 610 w 610"/>
              <a:gd name="T174" fmla="*/ 4 h 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0" h="4">
                <a:moveTo>
                  <a:pt x="606" y="2"/>
                </a:moveTo>
                <a:cubicBezTo>
                  <a:pt x="606" y="1"/>
                  <a:pt x="607" y="0"/>
                  <a:pt x="608" y="0"/>
                </a:cubicBezTo>
                <a:cubicBezTo>
                  <a:pt x="608" y="0"/>
                  <a:pt x="608" y="0"/>
                  <a:pt x="608" y="0"/>
                </a:cubicBezTo>
                <a:cubicBezTo>
                  <a:pt x="609" y="0"/>
                  <a:pt x="610" y="1"/>
                  <a:pt x="610" y="2"/>
                </a:cubicBezTo>
                <a:cubicBezTo>
                  <a:pt x="610" y="2"/>
                  <a:pt x="610" y="2"/>
                  <a:pt x="610" y="2"/>
                </a:cubicBezTo>
                <a:cubicBezTo>
                  <a:pt x="610" y="3"/>
                  <a:pt x="609" y="4"/>
                  <a:pt x="608" y="4"/>
                </a:cubicBezTo>
                <a:cubicBezTo>
                  <a:pt x="608" y="4"/>
                  <a:pt x="608" y="4"/>
                  <a:pt x="608" y="4"/>
                </a:cubicBezTo>
                <a:cubicBezTo>
                  <a:pt x="607" y="4"/>
                  <a:pt x="606" y="3"/>
                  <a:pt x="606" y="2"/>
                </a:cubicBezTo>
                <a:close/>
                <a:moveTo>
                  <a:pt x="589" y="2"/>
                </a:moveTo>
                <a:cubicBezTo>
                  <a:pt x="589" y="1"/>
                  <a:pt x="590" y="0"/>
                  <a:pt x="591" y="0"/>
                </a:cubicBezTo>
                <a:cubicBezTo>
                  <a:pt x="591" y="0"/>
                  <a:pt x="591" y="0"/>
                  <a:pt x="591" y="0"/>
                </a:cubicBezTo>
                <a:cubicBezTo>
                  <a:pt x="592" y="0"/>
                  <a:pt x="593" y="1"/>
                  <a:pt x="593" y="2"/>
                </a:cubicBezTo>
                <a:cubicBezTo>
                  <a:pt x="593" y="2"/>
                  <a:pt x="593" y="2"/>
                  <a:pt x="593" y="2"/>
                </a:cubicBezTo>
                <a:cubicBezTo>
                  <a:pt x="593" y="3"/>
                  <a:pt x="592" y="4"/>
                  <a:pt x="591" y="4"/>
                </a:cubicBezTo>
                <a:cubicBezTo>
                  <a:pt x="591" y="4"/>
                  <a:pt x="591" y="4"/>
                  <a:pt x="591" y="4"/>
                </a:cubicBezTo>
                <a:cubicBezTo>
                  <a:pt x="590" y="4"/>
                  <a:pt x="589" y="3"/>
                  <a:pt x="589" y="2"/>
                </a:cubicBezTo>
                <a:close/>
                <a:moveTo>
                  <a:pt x="571" y="2"/>
                </a:moveTo>
                <a:cubicBezTo>
                  <a:pt x="571" y="1"/>
                  <a:pt x="572" y="0"/>
                  <a:pt x="573" y="0"/>
                </a:cubicBezTo>
                <a:cubicBezTo>
                  <a:pt x="573" y="0"/>
                  <a:pt x="573" y="0"/>
                  <a:pt x="573" y="0"/>
                </a:cubicBezTo>
                <a:cubicBezTo>
                  <a:pt x="575" y="0"/>
                  <a:pt x="575" y="1"/>
                  <a:pt x="575" y="2"/>
                </a:cubicBezTo>
                <a:cubicBezTo>
                  <a:pt x="575" y="2"/>
                  <a:pt x="575" y="2"/>
                  <a:pt x="575" y="2"/>
                </a:cubicBezTo>
                <a:cubicBezTo>
                  <a:pt x="575" y="3"/>
                  <a:pt x="575" y="4"/>
                  <a:pt x="573" y="4"/>
                </a:cubicBezTo>
                <a:cubicBezTo>
                  <a:pt x="573" y="4"/>
                  <a:pt x="573" y="4"/>
                  <a:pt x="573" y="4"/>
                </a:cubicBezTo>
                <a:cubicBezTo>
                  <a:pt x="572" y="4"/>
                  <a:pt x="571" y="3"/>
                  <a:pt x="571" y="2"/>
                </a:cubicBezTo>
                <a:close/>
                <a:moveTo>
                  <a:pt x="554" y="2"/>
                </a:moveTo>
                <a:cubicBezTo>
                  <a:pt x="554" y="1"/>
                  <a:pt x="555" y="0"/>
                  <a:pt x="556" y="0"/>
                </a:cubicBezTo>
                <a:cubicBezTo>
                  <a:pt x="556" y="0"/>
                  <a:pt x="556" y="0"/>
                  <a:pt x="556" y="0"/>
                </a:cubicBezTo>
                <a:cubicBezTo>
                  <a:pt x="557" y="0"/>
                  <a:pt x="558" y="1"/>
                  <a:pt x="558" y="2"/>
                </a:cubicBezTo>
                <a:cubicBezTo>
                  <a:pt x="558" y="2"/>
                  <a:pt x="558" y="2"/>
                  <a:pt x="558" y="2"/>
                </a:cubicBezTo>
                <a:cubicBezTo>
                  <a:pt x="558" y="3"/>
                  <a:pt x="557" y="4"/>
                  <a:pt x="556" y="4"/>
                </a:cubicBezTo>
                <a:cubicBezTo>
                  <a:pt x="556" y="4"/>
                  <a:pt x="556" y="4"/>
                  <a:pt x="556" y="4"/>
                </a:cubicBezTo>
                <a:cubicBezTo>
                  <a:pt x="555" y="4"/>
                  <a:pt x="554" y="3"/>
                  <a:pt x="554" y="2"/>
                </a:cubicBezTo>
                <a:close/>
                <a:moveTo>
                  <a:pt x="537" y="2"/>
                </a:moveTo>
                <a:cubicBezTo>
                  <a:pt x="537" y="1"/>
                  <a:pt x="538" y="0"/>
                  <a:pt x="539" y="0"/>
                </a:cubicBezTo>
                <a:cubicBezTo>
                  <a:pt x="539" y="0"/>
                  <a:pt x="539" y="0"/>
                  <a:pt x="539" y="0"/>
                </a:cubicBezTo>
                <a:cubicBezTo>
                  <a:pt x="540" y="0"/>
                  <a:pt x="541" y="1"/>
                  <a:pt x="541" y="2"/>
                </a:cubicBezTo>
                <a:cubicBezTo>
                  <a:pt x="541" y="2"/>
                  <a:pt x="541" y="2"/>
                  <a:pt x="541" y="2"/>
                </a:cubicBezTo>
                <a:cubicBezTo>
                  <a:pt x="541" y="3"/>
                  <a:pt x="540" y="4"/>
                  <a:pt x="539" y="4"/>
                </a:cubicBezTo>
                <a:cubicBezTo>
                  <a:pt x="539" y="4"/>
                  <a:pt x="539" y="4"/>
                  <a:pt x="539" y="4"/>
                </a:cubicBezTo>
                <a:cubicBezTo>
                  <a:pt x="538" y="4"/>
                  <a:pt x="537" y="3"/>
                  <a:pt x="537" y="2"/>
                </a:cubicBezTo>
                <a:close/>
                <a:moveTo>
                  <a:pt x="520" y="2"/>
                </a:moveTo>
                <a:cubicBezTo>
                  <a:pt x="520" y="1"/>
                  <a:pt x="520" y="0"/>
                  <a:pt x="522" y="0"/>
                </a:cubicBezTo>
                <a:cubicBezTo>
                  <a:pt x="522" y="0"/>
                  <a:pt x="522" y="0"/>
                  <a:pt x="522" y="0"/>
                </a:cubicBezTo>
                <a:cubicBezTo>
                  <a:pt x="523" y="0"/>
                  <a:pt x="524" y="1"/>
                  <a:pt x="524" y="2"/>
                </a:cubicBezTo>
                <a:cubicBezTo>
                  <a:pt x="524" y="2"/>
                  <a:pt x="524" y="2"/>
                  <a:pt x="524" y="2"/>
                </a:cubicBezTo>
                <a:cubicBezTo>
                  <a:pt x="524" y="3"/>
                  <a:pt x="523" y="4"/>
                  <a:pt x="522" y="4"/>
                </a:cubicBezTo>
                <a:cubicBezTo>
                  <a:pt x="522" y="4"/>
                  <a:pt x="522" y="4"/>
                  <a:pt x="522" y="4"/>
                </a:cubicBezTo>
                <a:cubicBezTo>
                  <a:pt x="520" y="4"/>
                  <a:pt x="520" y="3"/>
                  <a:pt x="520" y="2"/>
                </a:cubicBezTo>
                <a:close/>
                <a:moveTo>
                  <a:pt x="502" y="2"/>
                </a:moveTo>
                <a:cubicBezTo>
                  <a:pt x="502" y="1"/>
                  <a:pt x="503" y="0"/>
                  <a:pt x="504" y="0"/>
                </a:cubicBezTo>
                <a:cubicBezTo>
                  <a:pt x="504" y="0"/>
                  <a:pt x="504" y="0"/>
                  <a:pt x="504" y="0"/>
                </a:cubicBezTo>
                <a:cubicBezTo>
                  <a:pt x="505" y="0"/>
                  <a:pt x="506" y="1"/>
                  <a:pt x="506" y="2"/>
                </a:cubicBezTo>
                <a:cubicBezTo>
                  <a:pt x="506" y="2"/>
                  <a:pt x="506" y="2"/>
                  <a:pt x="506" y="2"/>
                </a:cubicBezTo>
                <a:cubicBezTo>
                  <a:pt x="506" y="3"/>
                  <a:pt x="505" y="4"/>
                  <a:pt x="504" y="4"/>
                </a:cubicBezTo>
                <a:cubicBezTo>
                  <a:pt x="504" y="4"/>
                  <a:pt x="504" y="4"/>
                  <a:pt x="504" y="4"/>
                </a:cubicBezTo>
                <a:cubicBezTo>
                  <a:pt x="503" y="4"/>
                  <a:pt x="502" y="3"/>
                  <a:pt x="502" y="2"/>
                </a:cubicBezTo>
                <a:close/>
                <a:moveTo>
                  <a:pt x="485" y="2"/>
                </a:moveTo>
                <a:cubicBezTo>
                  <a:pt x="485" y="1"/>
                  <a:pt x="486" y="0"/>
                  <a:pt x="487" y="0"/>
                </a:cubicBezTo>
                <a:cubicBezTo>
                  <a:pt x="487" y="0"/>
                  <a:pt x="487" y="0"/>
                  <a:pt x="487" y="0"/>
                </a:cubicBezTo>
                <a:cubicBezTo>
                  <a:pt x="488" y="0"/>
                  <a:pt x="489" y="1"/>
                  <a:pt x="489" y="2"/>
                </a:cubicBezTo>
                <a:cubicBezTo>
                  <a:pt x="489" y="2"/>
                  <a:pt x="489" y="2"/>
                  <a:pt x="489" y="2"/>
                </a:cubicBezTo>
                <a:cubicBezTo>
                  <a:pt x="489" y="3"/>
                  <a:pt x="488" y="4"/>
                  <a:pt x="487" y="4"/>
                </a:cubicBezTo>
                <a:cubicBezTo>
                  <a:pt x="487" y="4"/>
                  <a:pt x="487" y="4"/>
                  <a:pt x="487" y="4"/>
                </a:cubicBezTo>
                <a:cubicBezTo>
                  <a:pt x="486" y="4"/>
                  <a:pt x="485" y="3"/>
                  <a:pt x="485" y="2"/>
                </a:cubicBezTo>
                <a:close/>
                <a:moveTo>
                  <a:pt x="468" y="2"/>
                </a:moveTo>
                <a:cubicBezTo>
                  <a:pt x="468" y="1"/>
                  <a:pt x="468" y="0"/>
                  <a:pt x="470" y="0"/>
                </a:cubicBezTo>
                <a:cubicBezTo>
                  <a:pt x="470" y="0"/>
                  <a:pt x="470" y="0"/>
                  <a:pt x="470" y="0"/>
                </a:cubicBezTo>
                <a:cubicBezTo>
                  <a:pt x="471" y="0"/>
                  <a:pt x="472" y="1"/>
                  <a:pt x="472" y="2"/>
                </a:cubicBezTo>
                <a:cubicBezTo>
                  <a:pt x="472" y="2"/>
                  <a:pt x="472" y="2"/>
                  <a:pt x="472" y="2"/>
                </a:cubicBezTo>
                <a:cubicBezTo>
                  <a:pt x="472" y="3"/>
                  <a:pt x="471" y="4"/>
                  <a:pt x="470" y="4"/>
                </a:cubicBezTo>
                <a:cubicBezTo>
                  <a:pt x="470" y="4"/>
                  <a:pt x="470" y="4"/>
                  <a:pt x="470" y="4"/>
                </a:cubicBezTo>
                <a:cubicBezTo>
                  <a:pt x="468" y="4"/>
                  <a:pt x="468" y="3"/>
                  <a:pt x="468" y="2"/>
                </a:cubicBezTo>
                <a:close/>
                <a:moveTo>
                  <a:pt x="450" y="2"/>
                </a:moveTo>
                <a:cubicBezTo>
                  <a:pt x="450" y="1"/>
                  <a:pt x="451" y="0"/>
                  <a:pt x="452" y="0"/>
                </a:cubicBezTo>
                <a:cubicBezTo>
                  <a:pt x="452" y="0"/>
                  <a:pt x="452" y="0"/>
                  <a:pt x="452" y="0"/>
                </a:cubicBezTo>
                <a:cubicBezTo>
                  <a:pt x="453" y="0"/>
                  <a:pt x="454" y="1"/>
                  <a:pt x="454" y="2"/>
                </a:cubicBezTo>
                <a:cubicBezTo>
                  <a:pt x="454" y="2"/>
                  <a:pt x="454" y="2"/>
                  <a:pt x="454" y="2"/>
                </a:cubicBezTo>
                <a:cubicBezTo>
                  <a:pt x="454" y="3"/>
                  <a:pt x="453" y="4"/>
                  <a:pt x="452" y="4"/>
                </a:cubicBezTo>
                <a:cubicBezTo>
                  <a:pt x="452" y="4"/>
                  <a:pt x="452" y="4"/>
                  <a:pt x="452" y="4"/>
                </a:cubicBezTo>
                <a:cubicBezTo>
                  <a:pt x="451" y="4"/>
                  <a:pt x="450" y="3"/>
                  <a:pt x="450" y="2"/>
                </a:cubicBezTo>
                <a:close/>
                <a:moveTo>
                  <a:pt x="433" y="2"/>
                </a:moveTo>
                <a:cubicBezTo>
                  <a:pt x="433" y="1"/>
                  <a:pt x="434" y="0"/>
                  <a:pt x="435" y="0"/>
                </a:cubicBezTo>
                <a:cubicBezTo>
                  <a:pt x="435" y="0"/>
                  <a:pt x="435" y="0"/>
                  <a:pt x="435" y="0"/>
                </a:cubicBezTo>
                <a:cubicBezTo>
                  <a:pt x="436" y="0"/>
                  <a:pt x="437" y="1"/>
                  <a:pt x="437" y="2"/>
                </a:cubicBezTo>
                <a:cubicBezTo>
                  <a:pt x="437" y="2"/>
                  <a:pt x="437" y="2"/>
                  <a:pt x="437" y="2"/>
                </a:cubicBezTo>
                <a:cubicBezTo>
                  <a:pt x="437" y="3"/>
                  <a:pt x="436" y="4"/>
                  <a:pt x="435" y="4"/>
                </a:cubicBezTo>
                <a:cubicBezTo>
                  <a:pt x="435" y="4"/>
                  <a:pt x="435" y="4"/>
                  <a:pt x="435" y="4"/>
                </a:cubicBezTo>
                <a:cubicBezTo>
                  <a:pt x="434" y="4"/>
                  <a:pt x="433" y="3"/>
                  <a:pt x="433" y="2"/>
                </a:cubicBezTo>
                <a:close/>
                <a:moveTo>
                  <a:pt x="416" y="2"/>
                </a:moveTo>
                <a:cubicBezTo>
                  <a:pt x="416" y="1"/>
                  <a:pt x="416" y="0"/>
                  <a:pt x="418" y="0"/>
                </a:cubicBezTo>
                <a:cubicBezTo>
                  <a:pt x="418" y="0"/>
                  <a:pt x="418" y="0"/>
                  <a:pt x="418" y="0"/>
                </a:cubicBezTo>
                <a:cubicBezTo>
                  <a:pt x="419" y="0"/>
                  <a:pt x="420" y="1"/>
                  <a:pt x="420" y="2"/>
                </a:cubicBezTo>
                <a:cubicBezTo>
                  <a:pt x="420" y="2"/>
                  <a:pt x="420" y="2"/>
                  <a:pt x="420" y="2"/>
                </a:cubicBezTo>
                <a:cubicBezTo>
                  <a:pt x="420" y="3"/>
                  <a:pt x="419" y="4"/>
                  <a:pt x="418" y="4"/>
                </a:cubicBezTo>
                <a:cubicBezTo>
                  <a:pt x="418" y="4"/>
                  <a:pt x="418" y="4"/>
                  <a:pt x="418" y="4"/>
                </a:cubicBezTo>
                <a:cubicBezTo>
                  <a:pt x="416" y="4"/>
                  <a:pt x="416" y="3"/>
                  <a:pt x="416" y="2"/>
                </a:cubicBezTo>
                <a:close/>
                <a:moveTo>
                  <a:pt x="398" y="2"/>
                </a:moveTo>
                <a:cubicBezTo>
                  <a:pt x="398" y="1"/>
                  <a:pt x="399" y="0"/>
                  <a:pt x="400" y="0"/>
                </a:cubicBezTo>
                <a:cubicBezTo>
                  <a:pt x="400" y="0"/>
                  <a:pt x="400" y="0"/>
                  <a:pt x="400" y="0"/>
                </a:cubicBezTo>
                <a:cubicBezTo>
                  <a:pt x="401" y="0"/>
                  <a:pt x="402" y="1"/>
                  <a:pt x="402" y="2"/>
                </a:cubicBezTo>
                <a:cubicBezTo>
                  <a:pt x="402" y="2"/>
                  <a:pt x="402" y="2"/>
                  <a:pt x="402" y="2"/>
                </a:cubicBezTo>
                <a:cubicBezTo>
                  <a:pt x="402" y="3"/>
                  <a:pt x="401" y="4"/>
                  <a:pt x="400" y="4"/>
                </a:cubicBezTo>
                <a:cubicBezTo>
                  <a:pt x="400" y="4"/>
                  <a:pt x="400" y="4"/>
                  <a:pt x="400" y="4"/>
                </a:cubicBezTo>
                <a:cubicBezTo>
                  <a:pt x="399" y="4"/>
                  <a:pt x="398" y="3"/>
                  <a:pt x="398" y="2"/>
                </a:cubicBezTo>
                <a:close/>
                <a:moveTo>
                  <a:pt x="381" y="2"/>
                </a:moveTo>
                <a:cubicBezTo>
                  <a:pt x="381" y="1"/>
                  <a:pt x="382" y="0"/>
                  <a:pt x="383" y="0"/>
                </a:cubicBezTo>
                <a:cubicBezTo>
                  <a:pt x="383" y="0"/>
                  <a:pt x="383" y="0"/>
                  <a:pt x="383" y="0"/>
                </a:cubicBezTo>
                <a:cubicBezTo>
                  <a:pt x="384" y="0"/>
                  <a:pt x="385" y="1"/>
                  <a:pt x="385" y="2"/>
                </a:cubicBezTo>
                <a:cubicBezTo>
                  <a:pt x="385" y="2"/>
                  <a:pt x="385" y="2"/>
                  <a:pt x="385" y="2"/>
                </a:cubicBezTo>
                <a:cubicBezTo>
                  <a:pt x="385" y="3"/>
                  <a:pt x="384" y="4"/>
                  <a:pt x="383" y="4"/>
                </a:cubicBezTo>
                <a:cubicBezTo>
                  <a:pt x="383" y="4"/>
                  <a:pt x="383" y="4"/>
                  <a:pt x="383" y="4"/>
                </a:cubicBezTo>
                <a:cubicBezTo>
                  <a:pt x="382" y="4"/>
                  <a:pt x="381" y="3"/>
                  <a:pt x="381" y="2"/>
                </a:cubicBezTo>
                <a:close/>
                <a:moveTo>
                  <a:pt x="364" y="2"/>
                </a:moveTo>
                <a:cubicBezTo>
                  <a:pt x="364" y="1"/>
                  <a:pt x="365" y="0"/>
                  <a:pt x="366" y="0"/>
                </a:cubicBezTo>
                <a:cubicBezTo>
                  <a:pt x="366" y="0"/>
                  <a:pt x="366" y="0"/>
                  <a:pt x="366" y="0"/>
                </a:cubicBezTo>
                <a:cubicBezTo>
                  <a:pt x="367" y="0"/>
                  <a:pt x="368" y="1"/>
                  <a:pt x="368" y="2"/>
                </a:cubicBezTo>
                <a:cubicBezTo>
                  <a:pt x="368" y="2"/>
                  <a:pt x="368" y="2"/>
                  <a:pt x="368" y="2"/>
                </a:cubicBezTo>
                <a:cubicBezTo>
                  <a:pt x="368" y="3"/>
                  <a:pt x="367" y="4"/>
                  <a:pt x="366" y="4"/>
                </a:cubicBezTo>
                <a:cubicBezTo>
                  <a:pt x="366" y="4"/>
                  <a:pt x="366" y="4"/>
                  <a:pt x="366" y="4"/>
                </a:cubicBezTo>
                <a:cubicBezTo>
                  <a:pt x="365" y="4"/>
                  <a:pt x="364" y="3"/>
                  <a:pt x="364" y="2"/>
                </a:cubicBezTo>
                <a:close/>
                <a:moveTo>
                  <a:pt x="346" y="2"/>
                </a:moveTo>
                <a:cubicBezTo>
                  <a:pt x="346" y="1"/>
                  <a:pt x="347" y="0"/>
                  <a:pt x="348" y="0"/>
                </a:cubicBezTo>
                <a:cubicBezTo>
                  <a:pt x="348" y="0"/>
                  <a:pt x="348" y="0"/>
                  <a:pt x="348" y="0"/>
                </a:cubicBezTo>
                <a:cubicBezTo>
                  <a:pt x="349" y="0"/>
                  <a:pt x="350" y="1"/>
                  <a:pt x="350" y="2"/>
                </a:cubicBezTo>
                <a:cubicBezTo>
                  <a:pt x="350" y="2"/>
                  <a:pt x="350" y="2"/>
                  <a:pt x="350" y="2"/>
                </a:cubicBezTo>
                <a:cubicBezTo>
                  <a:pt x="350" y="3"/>
                  <a:pt x="349" y="4"/>
                  <a:pt x="348" y="4"/>
                </a:cubicBezTo>
                <a:cubicBezTo>
                  <a:pt x="348" y="4"/>
                  <a:pt x="348" y="4"/>
                  <a:pt x="348" y="4"/>
                </a:cubicBezTo>
                <a:cubicBezTo>
                  <a:pt x="347" y="4"/>
                  <a:pt x="346" y="3"/>
                  <a:pt x="346" y="2"/>
                </a:cubicBezTo>
                <a:close/>
                <a:moveTo>
                  <a:pt x="329" y="2"/>
                </a:moveTo>
                <a:cubicBezTo>
                  <a:pt x="329" y="1"/>
                  <a:pt x="330" y="0"/>
                  <a:pt x="331" y="0"/>
                </a:cubicBezTo>
                <a:cubicBezTo>
                  <a:pt x="331" y="0"/>
                  <a:pt x="331" y="0"/>
                  <a:pt x="331" y="0"/>
                </a:cubicBezTo>
                <a:cubicBezTo>
                  <a:pt x="332" y="0"/>
                  <a:pt x="333" y="1"/>
                  <a:pt x="333" y="2"/>
                </a:cubicBezTo>
                <a:cubicBezTo>
                  <a:pt x="333" y="2"/>
                  <a:pt x="333" y="2"/>
                  <a:pt x="333" y="2"/>
                </a:cubicBezTo>
                <a:cubicBezTo>
                  <a:pt x="333" y="3"/>
                  <a:pt x="332" y="4"/>
                  <a:pt x="331" y="4"/>
                </a:cubicBezTo>
                <a:cubicBezTo>
                  <a:pt x="331" y="4"/>
                  <a:pt x="331" y="4"/>
                  <a:pt x="331" y="4"/>
                </a:cubicBezTo>
                <a:cubicBezTo>
                  <a:pt x="330" y="4"/>
                  <a:pt x="329" y="3"/>
                  <a:pt x="329" y="2"/>
                </a:cubicBezTo>
                <a:close/>
                <a:moveTo>
                  <a:pt x="312" y="2"/>
                </a:moveTo>
                <a:cubicBezTo>
                  <a:pt x="312" y="1"/>
                  <a:pt x="313" y="0"/>
                  <a:pt x="314" y="0"/>
                </a:cubicBezTo>
                <a:cubicBezTo>
                  <a:pt x="314" y="0"/>
                  <a:pt x="314" y="0"/>
                  <a:pt x="314" y="0"/>
                </a:cubicBezTo>
                <a:cubicBezTo>
                  <a:pt x="315" y="0"/>
                  <a:pt x="316" y="1"/>
                  <a:pt x="316" y="2"/>
                </a:cubicBezTo>
                <a:cubicBezTo>
                  <a:pt x="316" y="2"/>
                  <a:pt x="316" y="2"/>
                  <a:pt x="316" y="2"/>
                </a:cubicBezTo>
                <a:cubicBezTo>
                  <a:pt x="316" y="3"/>
                  <a:pt x="315" y="4"/>
                  <a:pt x="314" y="4"/>
                </a:cubicBezTo>
                <a:cubicBezTo>
                  <a:pt x="314" y="4"/>
                  <a:pt x="314" y="4"/>
                  <a:pt x="314" y="4"/>
                </a:cubicBezTo>
                <a:cubicBezTo>
                  <a:pt x="313" y="4"/>
                  <a:pt x="312" y="3"/>
                  <a:pt x="312" y="2"/>
                </a:cubicBezTo>
                <a:close/>
                <a:moveTo>
                  <a:pt x="294" y="2"/>
                </a:moveTo>
                <a:cubicBezTo>
                  <a:pt x="294" y="1"/>
                  <a:pt x="295" y="0"/>
                  <a:pt x="296" y="0"/>
                </a:cubicBezTo>
                <a:cubicBezTo>
                  <a:pt x="296" y="0"/>
                  <a:pt x="296" y="0"/>
                  <a:pt x="296" y="0"/>
                </a:cubicBezTo>
                <a:cubicBezTo>
                  <a:pt x="297" y="0"/>
                  <a:pt x="298" y="1"/>
                  <a:pt x="298" y="2"/>
                </a:cubicBezTo>
                <a:cubicBezTo>
                  <a:pt x="298" y="2"/>
                  <a:pt x="298" y="2"/>
                  <a:pt x="298" y="2"/>
                </a:cubicBezTo>
                <a:cubicBezTo>
                  <a:pt x="298" y="3"/>
                  <a:pt x="297" y="4"/>
                  <a:pt x="296" y="4"/>
                </a:cubicBezTo>
                <a:cubicBezTo>
                  <a:pt x="296" y="4"/>
                  <a:pt x="296" y="4"/>
                  <a:pt x="296" y="4"/>
                </a:cubicBezTo>
                <a:cubicBezTo>
                  <a:pt x="295" y="4"/>
                  <a:pt x="294" y="3"/>
                  <a:pt x="294" y="2"/>
                </a:cubicBezTo>
                <a:close/>
                <a:moveTo>
                  <a:pt x="277" y="2"/>
                </a:moveTo>
                <a:cubicBezTo>
                  <a:pt x="277" y="1"/>
                  <a:pt x="278" y="0"/>
                  <a:pt x="279" y="0"/>
                </a:cubicBezTo>
                <a:cubicBezTo>
                  <a:pt x="279" y="0"/>
                  <a:pt x="279" y="0"/>
                  <a:pt x="279" y="0"/>
                </a:cubicBezTo>
                <a:cubicBezTo>
                  <a:pt x="280" y="0"/>
                  <a:pt x="281" y="1"/>
                  <a:pt x="281" y="2"/>
                </a:cubicBezTo>
                <a:cubicBezTo>
                  <a:pt x="281" y="2"/>
                  <a:pt x="281" y="2"/>
                  <a:pt x="281" y="2"/>
                </a:cubicBezTo>
                <a:cubicBezTo>
                  <a:pt x="281" y="3"/>
                  <a:pt x="280" y="4"/>
                  <a:pt x="279" y="4"/>
                </a:cubicBezTo>
                <a:cubicBezTo>
                  <a:pt x="279" y="4"/>
                  <a:pt x="279" y="4"/>
                  <a:pt x="279" y="4"/>
                </a:cubicBezTo>
                <a:cubicBezTo>
                  <a:pt x="278" y="4"/>
                  <a:pt x="277" y="3"/>
                  <a:pt x="277" y="2"/>
                </a:cubicBezTo>
                <a:close/>
                <a:moveTo>
                  <a:pt x="260" y="2"/>
                </a:moveTo>
                <a:cubicBezTo>
                  <a:pt x="260" y="1"/>
                  <a:pt x="261" y="0"/>
                  <a:pt x="262" y="0"/>
                </a:cubicBezTo>
                <a:cubicBezTo>
                  <a:pt x="262" y="0"/>
                  <a:pt x="262" y="0"/>
                  <a:pt x="262" y="0"/>
                </a:cubicBezTo>
                <a:cubicBezTo>
                  <a:pt x="263" y="0"/>
                  <a:pt x="264" y="1"/>
                  <a:pt x="264" y="2"/>
                </a:cubicBezTo>
                <a:cubicBezTo>
                  <a:pt x="264" y="2"/>
                  <a:pt x="264" y="2"/>
                  <a:pt x="264" y="2"/>
                </a:cubicBezTo>
                <a:cubicBezTo>
                  <a:pt x="264" y="3"/>
                  <a:pt x="263" y="4"/>
                  <a:pt x="262" y="4"/>
                </a:cubicBezTo>
                <a:cubicBezTo>
                  <a:pt x="262" y="4"/>
                  <a:pt x="262" y="4"/>
                  <a:pt x="262" y="4"/>
                </a:cubicBezTo>
                <a:cubicBezTo>
                  <a:pt x="261" y="4"/>
                  <a:pt x="260" y="3"/>
                  <a:pt x="260" y="2"/>
                </a:cubicBezTo>
                <a:close/>
                <a:moveTo>
                  <a:pt x="242" y="2"/>
                </a:moveTo>
                <a:cubicBezTo>
                  <a:pt x="242" y="1"/>
                  <a:pt x="243" y="0"/>
                  <a:pt x="244" y="0"/>
                </a:cubicBezTo>
                <a:cubicBezTo>
                  <a:pt x="244" y="0"/>
                  <a:pt x="244" y="0"/>
                  <a:pt x="244" y="0"/>
                </a:cubicBezTo>
                <a:cubicBezTo>
                  <a:pt x="246" y="0"/>
                  <a:pt x="246" y="1"/>
                  <a:pt x="246" y="2"/>
                </a:cubicBezTo>
                <a:cubicBezTo>
                  <a:pt x="246" y="2"/>
                  <a:pt x="246" y="2"/>
                  <a:pt x="246" y="2"/>
                </a:cubicBezTo>
                <a:cubicBezTo>
                  <a:pt x="246" y="3"/>
                  <a:pt x="246" y="4"/>
                  <a:pt x="244" y="4"/>
                </a:cubicBezTo>
                <a:cubicBezTo>
                  <a:pt x="244" y="4"/>
                  <a:pt x="244" y="4"/>
                  <a:pt x="244" y="4"/>
                </a:cubicBezTo>
                <a:cubicBezTo>
                  <a:pt x="243" y="4"/>
                  <a:pt x="242" y="3"/>
                  <a:pt x="242" y="2"/>
                </a:cubicBezTo>
                <a:close/>
                <a:moveTo>
                  <a:pt x="225" y="2"/>
                </a:moveTo>
                <a:cubicBezTo>
                  <a:pt x="225" y="1"/>
                  <a:pt x="226" y="0"/>
                  <a:pt x="227" y="0"/>
                </a:cubicBezTo>
                <a:cubicBezTo>
                  <a:pt x="227" y="0"/>
                  <a:pt x="227" y="0"/>
                  <a:pt x="227" y="0"/>
                </a:cubicBezTo>
                <a:cubicBezTo>
                  <a:pt x="228" y="0"/>
                  <a:pt x="229" y="1"/>
                  <a:pt x="229" y="2"/>
                </a:cubicBezTo>
                <a:cubicBezTo>
                  <a:pt x="229" y="2"/>
                  <a:pt x="229" y="2"/>
                  <a:pt x="229" y="2"/>
                </a:cubicBezTo>
                <a:cubicBezTo>
                  <a:pt x="229" y="3"/>
                  <a:pt x="228" y="4"/>
                  <a:pt x="227" y="4"/>
                </a:cubicBezTo>
                <a:cubicBezTo>
                  <a:pt x="227" y="4"/>
                  <a:pt x="227" y="4"/>
                  <a:pt x="227" y="4"/>
                </a:cubicBezTo>
                <a:cubicBezTo>
                  <a:pt x="226" y="4"/>
                  <a:pt x="225" y="3"/>
                  <a:pt x="225" y="2"/>
                </a:cubicBezTo>
                <a:close/>
                <a:moveTo>
                  <a:pt x="208" y="2"/>
                </a:moveTo>
                <a:cubicBezTo>
                  <a:pt x="208" y="1"/>
                  <a:pt x="209" y="0"/>
                  <a:pt x="210" y="0"/>
                </a:cubicBezTo>
                <a:cubicBezTo>
                  <a:pt x="210" y="0"/>
                  <a:pt x="210" y="0"/>
                  <a:pt x="210" y="0"/>
                </a:cubicBezTo>
                <a:cubicBezTo>
                  <a:pt x="211" y="0"/>
                  <a:pt x="212" y="1"/>
                  <a:pt x="212" y="2"/>
                </a:cubicBezTo>
                <a:cubicBezTo>
                  <a:pt x="212" y="2"/>
                  <a:pt x="212" y="2"/>
                  <a:pt x="212" y="2"/>
                </a:cubicBezTo>
                <a:cubicBezTo>
                  <a:pt x="212" y="3"/>
                  <a:pt x="211" y="4"/>
                  <a:pt x="210" y="4"/>
                </a:cubicBezTo>
                <a:cubicBezTo>
                  <a:pt x="210" y="4"/>
                  <a:pt x="210" y="4"/>
                  <a:pt x="210" y="4"/>
                </a:cubicBezTo>
                <a:cubicBezTo>
                  <a:pt x="209" y="4"/>
                  <a:pt x="208" y="3"/>
                  <a:pt x="208" y="2"/>
                </a:cubicBezTo>
                <a:close/>
                <a:moveTo>
                  <a:pt x="190" y="2"/>
                </a:moveTo>
                <a:cubicBezTo>
                  <a:pt x="190" y="1"/>
                  <a:pt x="191" y="0"/>
                  <a:pt x="192" y="0"/>
                </a:cubicBezTo>
                <a:cubicBezTo>
                  <a:pt x="192" y="0"/>
                  <a:pt x="192" y="0"/>
                  <a:pt x="192" y="0"/>
                </a:cubicBezTo>
                <a:cubicBezTo>
                  <a:pt x="194" y="0"/>
                  <a:pt x="194" y="1"/>
                  <a:pt x="194" y="2"/>
                </a:cubicBezTo>
                <a:cubicBezTo>
                  <a:pt x="194" y="2"/>
                  <a:pt x="194" y="2"/>
                  <a:pt x="194" y="2"/>
                </a:cubicBezTo>
                <a:cubicBezTo>
                  <a:pt x="194" y="3"/>
                  <a:pt x="194" y="4"/>
                  <a:pt x="192" y="4"/>
                </a:cubicBezTo>
                <a:cubicBezTo>
                  <a:pt x="192" y="4"/>
                  <a:pt x="192" y="4"/>
                  <a:pt x="192" y="4"/>
                </a:cubicBezTo>
                <a:cubicBezTo>
                  <a:pt x="191" y="4"/>
                  <a:pt x="190" y="3"/>
                  <a:pt x="190" y="2"/>
                </a:cubicBezTo>
                <a:close/>
                <a:moveTo>
                  <a:pt x="173" y="2"/>
                </a:moveTo>
                <a:cubicBezTo>
                  <a:pt x="173" y="1"/>
                  <a:pt x="174" y="0"/>
                  <a:pt x="175" y="0"/>
                </a:cubicBezTo>
                <a:cubicBezTo>
                  <a:pt x="175" y="0"/>
                  <a:pt x="175" y="0"/>
                  <a:pt x="175" y="0"/>
                </a:cubicBezTo>
                <a:cubicBezTo>
                  <a:pt x="176" y="0"/>
                  <a:pt x="177" y="1"/>
                  <a:pt x="177" y="2"/>
                </a:cubicBezTo>
                <a:cubicBezTo>
                  <a:pt x="177" y="2"/>
                  <a:pt x="177" y="2"/>
                  <a:pt x="177" y="2"/>
                </a:cubicBezTo>
                <a:cubicBezTo>
                  <a:pt x="177" y="3"/>
                  <a:pt x="176" y="4"/>
                  <a:pt x="175" y="4"/>
                </a:cubicBezTo>
                <a:cubicBezTo>
                  <a:pt x="175" y="4"/>
                  <a:pt x="175" y="4"/>
                  <a:pt x="175" y="4"/>
                </a:cubicBezTo>
                <a:cubicBezTo>
                  <a:pt x="174" y="4"/>
                  <a:pt x="173" y="3"/>
                  <a:pt x="173" y="2"/>
                </a:cubicBezTo>
                <a:close/>
                <a:moveTo>
                  <a:pt x="156" y="2"/>
                </a:moveTo>
                <a:cubicBezTo>
                  <a:pt x="156" y="1"/>
                  <a:pt x="157" y="0"/>
                  <a:pt x="158" y="0"/>
                </a:cubicBezTo>
                <a:cubicBezTo>
                  <a:pt x="158" y="0"/>
                  <a:pt x="158" y="0"/>
                  <a:pt x="158" y="0"/>
                </a:cubicBezTo>
                <a:cubicBezTo>
                  <a:pt x="159" y="0"/>
                  <a:pt x="160" y="1"/>
                  <a:pt x="160" y="2"/>
                </a:cubicBezTo>
                <a:cubicBezTo>
                  <a:pt x="160" y="2"/>
                  <a:pt x="160" y="2"/>
                  <a:pt x="160" y="2"/>
                </a:cubicBezTo>
                <a:cubicBezTo>
                  <a:pt x="160" y="3"/>
                  <a:pt x="159" y="4"/>
                  <a:pt x="158" y="4"/>
                </a:cubicBezTo>
                <a:cubicBezTo>
                  <a:pt x="158" y="4"/>
                  <a:pt x="158" y="4"/>
                  <a:pt x="158" y="4"/>
                </a:cubicBezTo>
                <a:cubicBezTo>
                  <a:pt x="157" y="4"/>
                  <a:pt x="156" y="3"/>
                  <a:pt x="156" y="2"/>
                </a:cubicBezTo>
                <a:close/>
                <a:moveTo>
                  <a:pt x="138" y="2"/>
                </a:moveTo>
                <a:cubicBezTo>
                  <a:pt x="138" y="1"/>
                  <a:pt x="139" y="0"/>
                  <a:pt x="140" y="0"/>
                </a:cubicBezTo>
                <a:cubicBezTo>
                  <a:pt x="140" y="0"/>
                  <a:pt x="140" y="0"/>
                  <a:pt x="140" y="0"/>
                </a:cubicBezTo>
                <a:cubicBezTo>
                  <a:pt x="142" y="0"/>
                  <a:pt x="142" y="1"/>
                  <a:pt x="142" y="2"/>
                </a:cubicBezTo>
                <a:cubicBezTo>
                  <a:pt x="142" y="2"/>
                  <a:pt x="142" y="2"/>
                  <a:pt x="142" y="2"/>
                </a:cubicBezTo>
                <a:cubicBezTo>
                  <a:pt x="142" y="3"/>
                  <a:pt x="142" y="4"/>
                  <a:pt x="140" y="4"/>
                </a:cubicBezTo>
                <a:cubicBezTo>
                  <a:pt x="140" y="4"/>
                  <a:pt x="140" y="4"/>
                  <a:pt x="140" y="4"/>
                </a:cubicBezTo>
                <a:cubicBezTo>
                  <a:pt x="139" y="4"/>
                  <a:pt x="138" y="3"/>
                  <a:pt x="138" y="2"/>
                </a:cubicBezTo>
                <a:close/>
                <a:moveTo>
                  <a:pt x="121" y="2"/>
                </a:moveTo>
                <a:cubicBezTo>
                  <a:pt x="121" y="1"/>
                  <a:pt x="122" y="0"/>
                  <a:pt x="123" y="0"/>
                </a:cubicBezTo>
                <a:cubicBezTo>
                  <a:pt x="123" y="0"/>
                  <a:pt x="123" y="0"/>
                  <a:pt x="123" y="0"/>
                </a:cubicBezTo>
                <a:cubicBezTo>
                  <a:pt x="124" y="0"/>
                  <a:pt x="125" y="1"/>
                  <a:pt x="125" y="2"/>
                </a:cubicBezTo>
                <a:cubicBezTo>
                  <a:pt x="125" y="2"/>
                  <a:pt x="125" y="2"/>
                  <a:pt x="125" y="2"/>
                </a:cubicBezTo>
                <a:cubicBezTo>
                  <a:pt x="125" y="3"/>
                  <a:pt x="124" y="4"/>
                  <a:pt x="123" y="4"/>
                </a:cubicBezTo>
                <a:cubicBezTo>
                  <a:pt x="123" y="4"/>
                  <a:pt x="123" y="4"/>
                  <a:pt x="123" y="4"/>
                </a:cubicBezTo>
                <a:cubicBezTo>
                  <a:pt x="122" y="4"/>
                  <a:pt x="121" y="3"/>
                  <a:pt x="121" y="2"/>
                </a:cubicBezTo>
                <a:close/>
                <a:moveTo>
                  <a:pt x="104" y="2"/>
                </a:moveTo>
                <a:cubicBezTo>
                  <a:pt x="104" y="1"/>
                  <a:pt x="105" y="0"/>
                  <a:pt x="106" y="0"/>
                </a:cubicBezTo>
                <a:cubicBezTo>
                  <a:pt x="106" y="0"/>
                  <a:pt x="106" y="0"/>
                  <a:pt x="106" y="0"/>
                </a:cubicBezTo>
                <a:cubicBezTo>
                  <a:pt x="107" y="0"/>
                  <a:pt x="108" y="1"/>
                  <a:pt x="108" y="2"/>
                </a:cubicBezTo>
                <a:cubicBezTo>
                  <a:pt x="108" y="2"/>
                  <a:pt x="108" y="2"/>
                  <a:pt x="108" y="2"/>
                </a:cubicBezTo>
                <a:cubicBezTo>
                  <a:pt x="108" y="3"/>
                  <a:pt x="107" y="4"/>
                  <a:pt x="106" y="4"/>
                </a:cubicBezTo>
                <a:cubicBezTo>
                  <a:pt x="106" y="4"/>
                  <a:pt x="106" y="4"/>
                  <a:pt x="106" y="4"/>
                </a:cubicBezTo>
                <a:cubicBezTo>
                  <a:pt x="105" y="4"/>
                  <a:pt x="104" y="3"/>
                  <a:pt x="104" y="2"/>
                </a:cubicBezTo>
                <a:close/>
                <a:moveTo>
                  <a:pt x="87" y="2"/>
                </a:moveTo>
                <a:cubicBezTo>
                  <a:pt x="87" y="1"/>
                  <a:pt x="87" y="0"/>
                  <a:pt x="89" y="0"/>
                </a:cubicBezTo>
                <a:cubicBezTo>
                  <a:pt x="89" y="0"/>
                  <a:pt x="89" y="0"/>
                  <a:pt x="89" y="0"/>
                </a:cubicBezTo>
                <a:cubicBezTo>
                  <a:pt x="90" y="0"/>
                  <a:pt x="91" y="1"/>
                  <a:pt x="91" y="2"/>
                </a:cubicBezTo>
                <a:cubicBezTo>
                  <a:pt x="91" y="2"/>
                  <a:pt x="91" y="2"/>
                  <a:pt x="91" y="2"/>
                </a:cubicBezTo>
                <a:cubicBezTo>
                  <a:pt x="91" y="3"/>
                  <a:pt x="90" y="4"/>
                  <a:pt x="89" y="4"/>
                </a:cubicBezTo>
                <a:cubicBezTo>
                  <a:pt x="89" y="4"/>
                  <a:pt x="89" y="4"/>
                  <a:pt x="89" y="4"/>
                </a:cubicBezTo>
                <a:cubicBezTo>
                  <a:pt x="87" y="4"/>
                  <a:pt x="87" y="3"/>
                  <a:pt x="87" y="2"/>
                </a:cubicBezTo>
                <a:close/>
                <a:moveTo>
                  <a:pt x="69" y="2"/>
                </a:moveTo>
                <a:cubicBezTo>
                  <a:pt x="69" y="1"/>
                  <a:pt x="70" y="0"/>
                  <a:pt x="71" y="0"/>
                </a:cubicBezTo>
                <a:cubicBezTo>
                  <a:pt x="71" y="0"/>
                  <a:pt x="71" y="0"/>
                  <a:pt x="71" y="0"/>
                </a:cubicBezTo>
                <a:cubicBezTo>
                  <a:pt x="72" y="0"/>
                  <a:pt x="73" y="1"/>
                  <a:pt x="73" y="2"/>
                </a:cubicBezTo>
                <a:cubicBezTo>
                  <a:pt x="73" y="2"/>
                  <a:pt x="73" y="2"/>
                  <a:pt x="73" y="2"/>
                </a:cubicBezTo>
                <a:cubicBezTo>
                  <a:pt x="73" y="3"/>
                  <a:pt x="72" y="4"/>
                  <a:pt x="71" y="4"/>
                </a:cubicBezTo>
                <a:cubicBezTo>
                  <a:pt x="71" y="4"/>
                  <a:pt x="71" y="4"/>
                  <a:pt x="71" y="4"/>
                </a:cubicBezTo>
                <a:cubicBezTo>
                  <a:pt x="70" y="4"/>
                  <a:pt x="69" y="3"/>
                  <a:pt x="69" y="2"/>
                </a:cubicBezTo>
                <a:close/>
                <a:moveTo>
                  <a:pt x="52" y="2"/>
                </a:moveTo>
                <a:cubicBezTo>
                  <a:pt x="52" y="1"/>
                  <a:pt x="53" y="0"/>
                  <a:pt x="54" y="0"/>
                </a:cubicBezTo>
                <a:cubicBezTo>
                  <a:pt x="54" y="0"/>
                  <a:pt x="54" y="0"/>
                  <a:pt x="54" y="0"/>
                </a:cubicBezTo>
                <a:cubicBezTo>
                  <a:pt x="55" y="0"/>
                  <a:pt x="56" y="1"/>
                  <a:pt x="56" y="2"/>
                </a:cubicBezTo>
                <a:cubicBezTo>
                  <a:pt x="56" y="2"/>
                  <a:pt x="56" y="2"/>
                  <a:pt x="56" y="2"/>
                </a:cubicBezTo>
                <a:cubicBezTo>
                  <a:pt x="56" y="3"/>
                  <a:pt x="55" y="4"/>
                  <a:pt x="54" y="4"/>
                </a:cubicBezTo>
                <a:cubicBezTo>
                  <a:pt x="54" y="4"/>
                  <a:pt x="54" y="4"/>
                  <a:pt x="54" y="4"/>
                </a:cubicBezTo>
                <a:cubicBezTo>
                  <a:pt x="53" y="4"/>
                  <a:pt x="52" y="3"/>
                  <a:pt x="52" y="2"/>
                </a:cubicBezTo>
                <a:close/>
                <a:moveTo>
                  <a:pt x="35" y="2"/>
                </a:moveTo>
                <a:cubicBezTo>
                  <a:pt x="35" y="1"/>
                  <a:pt x="35" y="0"/>
                  <a:pt x="37" y="0"/>
                </a:cubicBezTo>
                <a:cubicBezTo>
                  <a:pt x="37" y="0"/>
                  <a:pt x="37" y="0"/>
                  <a:pt x="37" y="0"/>
                </a:cubicBezTo>
                <a:cubicBezTo>
                  <a:pt x="38" y="0"/>
                  <a:pt x="39" y="1"/>
                  <a:pt x="39" y="2"/>
                </a:cubicBezTo>
                <a:cubicBezTo>
                  <a:pt x="39" y="2"/>
                  <a:pt x="39" y="2"/>
                  <a:pt x="39" y="2"/>
                </a:cubicBezTo>
                <a:cubicBezTo>
                  <a:pt x="39" y="3"/>
                  <a:pt x="38" y="4"/>
                  <a:pt x="37" y="4"/>
                </a:cubicBezTo>
                <a:cubicBezTo>
                  <a:pt x="37" y="4"/>
                  <a:pt x="37" y="4"/>
                  <a:pt x="37" y="4"/>
                </a:cubicBezTo>
                <a:cubicBezTo>
                  <a:pt x="35" y="4"/>
                  <a:pt x="35" y="3"/>
                  <a:pt x="35" y="2"/>
                </a:cubicBezTo>
                <a:close/>
                <a:moveTo>
                  <a:pt x="17" y="2"/>
                </a:moveTo>
                <a:cubicBezTo>
                  <a:pt x="17" y="1"/>
                  <a:pt x="18" y="0"/>
                  <a:pt x="19" y="0"/>
                </a:cubicBezTo>
                <a:cubicBezTo>
                  <a:pt x="19" y="0"/>
                  <a:pt x="19" y="0"/>
                  <a:pt x="19" y="0"/>
                </a:cubicBezTo>
                <a:cubicBezTo>
                  <a:pt x="20" y="0"/>
                  <a:pt x="21" y="1"/>
                  <a:pt x="21" y="2"/>
                </a:cubicBezTo>
                <a:cubicBezTo>
                  <a:pt x="21" y="2"/>
                  <a:pt x="21" y="2"/>
                  <a:pt x="21" y="2"/>
                </a:cubicBezTo>
                <a:cubicBezTo>
                  <a:pt x="21" y="3"/>
                  <a:pt x="20" y="4"/>
                  <a:pt x="19" y="4"/>
                </a:cubicBezTo>
                <a:cubicBezTo>
                  <a:pt x="19" y="4"/>
                  <a:pt x="19" y="4"/>
                  <a:pt x="19" y="4"/>
                </a:cubicBezTo>
                <a:cubicBezTo>
                  <a:pt x="18" y="4"/>
                  <a:pt x="17" y="3"/>
                  <a:pt x="17" y="2"/>
                </a:cubicBezTo>
                <a:close/>
                <a:moveTo>
                  <a:pt x="0" y="2"/>
                </a:moveTo>
                <a:cubicBezTo>
                  <a:pt x="0" y="1"/>
                  <a:pt x="1" y="0"/>
                  <a:pt x="2" y="0"/>
                </a:cubicBezTo>
                <a:cubicBezTo>
                  <a:pt x="2" y="0"/>
                  <a:pt x="2" y="0"/>
                  <a:pt x="2" y="0"/>
                </a:cubicBezTo>
                <a:cubicBezTo>
                  <a:pt x="3" y="0"/>
                  <a:pt x="4" y="1"/>
                  <a:pt x="4" y="2"/>
                </a:cubicBezTo>
                <a:cubicBezTo>
                  <a:pt x="4" y="2"/>
                  <a:pt x="4" y="2"/>
                  <a:pt x="4" y="2"/>
                </a:cubicBezTo>
                <a:cubicBezTo>
                  <a:pt x="4" y="3"/>
                  <a:pt x="3" y="4"/>
                  <a:pt x="2" y="4"/>
                </a:cubicBezTo>
                <a:cubicBezTo>
                  <a:pt x="2" y="4"/>
                  <a:pt x="2" y="4"/>
                  <a:pt x="2" y="4"/>
                </a:cubicBezTo>
                <a:cubicBezTo>
                  <a:pt x="1" y="4"/>
                  <a:pt x="0" y="3"/>
                  <a:pt x="0" y="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360" name="Freeform 26"/>
          <p:cNvSpPr>
            <a:spLocks noEditPoints="1"/>
          </p:cNvSpPr>
          <p:nvPr/>
        </p:nvSpPr>
        <p:spPr bwMode="auto">
          <a:xfrm>
            <a:off x="1752600" y="4060825"/>
            <a:ext cx="2000250" cy="26988"/>
          </a:xfrm>
          <a:custGeom>
            <a:avLst/>
            <a:gdLst>
              <a:gd name="T0" fmla="*/ 1986064 w 282"/>
              <a:gd name="T1" fmla="*/ 0 h 4"/>
              <a:gd name="T2" fmla="*/ 1986064 w 282"/>
              <a:gd name="T3" fmla="*/ 26988 h 4"/>
              <a:gd name="T4" fmla="*/ 1844202 w 282"/>
              <a:gd name="T5" fmla="*/ 13494 h 4"/>
              <a:gd name="T6" fmla="*/ 1872575 w 282"/>
              <a:gd name="T7" fmla="*/ 13494 h 4"/>
              <a:gd name="T8" fmla="*/ 1858388 w 282"/>
              <a:gd name="T9" fmla="*/ 26988 h 4"/>
              <a:gd name="T10" fmla="*/ 1737806 w 282"/>
              <a:gd name="T11" fmla="*/ 0 h 4"/>
              <a:gd name="T12" fmla="*/ 1751992 w 282"/>
              <a:gd name="T13" fmla="*/ 13494 h 4"/>
              <a:gd name="T14" fmla="*/ 1723619 w 282"/>
              <a:gd name="T15" fmla="*/ 13494 h 4"/>
              <a:gd name="T16" fmla="*/ 1617223 w 282"/>
              <a:gd name="T17" fmla="*/ 0 h 4"/>
              <a:gd name="T18" fmla="*/ 1617223 w 282"/>
              <a:gd name="T19" fmla="*/ 26988 h 4"/>
              <a:gd name="T20" fmla="*/ 1475361 w 282"/>
              <a:gd name="T21" fmla="*/ 13494 h 4"/>
              <a:gd name="T22" fmla="*/ 1503734 w 282"/>
              <a:gd name="T23" fmla="*/ 13494 h 4"/>
              <a:gd name="T24" fmla="*/ 1489548 w 282"/>
              <a:gd name="T25" fmla="*/ 26988 h 4"/>
              <a:gd name="T26" fmla="*/ 1368965 w 282"/>
              <a:gd name="T27" fmla="*/ 0 h 4"/>
              <a:gd name="T28" fmla="*/ 1383151 w 282"/>
              <a:gd name="T29" fmla="*/ 13494 h 4"/>
              <a:gd name="T30" fmla="*/ 1354779 w 282"/>
              <a:gd name="T31" fmla="*/ 13494 h 4"/>
              <a:gd name="T32" fmla="*/ 1248383 w 282"/>
              <a:gd name="T33" fmla="*/ 0 h 4"/>
              <a:gd name="T34" fmla="*/ 1248383 w 282"/>
              <a:gd name="T35" fmla="*/ 26988 h 4"/>
              <a:gd name="T36" fmla="*/ 1106521 w 282"/>
              <a:gd name="T37" fmla="*/ 13494 h 4"/>
              <a:gd name="T38" fmla="*/ 1134894 w 282"/>
              <a:gd name="T39" fmla="*/ 13494 h 4"/>
              <a:gd name="T40" fmla="*/ 1120707 w 282"/>
              <a:gd name="T41" fmla="*/ 26988 h 4"/>
              <a:gd name="T42" fmla="*/ 1000125 w 282"/>
              <a:gd name="T43" fmla="*/ 0 h 4"/>
              <a:gd name="T44" fmla="*/ 1014311 w 282"/>
              <a:gd name="T45" fmla="*/ 13494 h 4"/>
              <a:gd name="T46" fmla="*/ 985939 w 282"/>
              <a:gd name="T47" fmla="*/ 13494 h 4"/>
              <a:gd name="T48" fmla="*/ 879542 w 282"/>
              <a:gd name="T49" fmla="*/ 0 h 4"/>
              <a:gd name="T50" fmla="*/ 879542 w 282"/>
              <a:gd name="T51" fmla="*/ 26988 h 4"/>
              <a:gd name="T52" fmla="*/ 737681 w 282"/>
              <a:gd name="T53" fmla="*/ 13494 h 4"/>
              <a:gd name="T54" fmla="*/ 766053 w 282"/>
              <a:gd name="T55" fmla="*/ 13494 h 4"/>
              <a:gd name="T56" fmla="*/ 751867 w 282"/>
              <a:gd name="T57" fmla="*/ 26988 h 4"/>
              <a:gd name="T58" fmla="*/ 631285 w 282"/>
              <a:gd name="T59" fmla="*/ 0 h 4"/>
              <a:gd name="T60" fmla="*/ 645471 w 282"/>
              <a:gd name="T61" fmla="*/ 13494 h 4"/>
              <a:gd name="T62" fmla="*/ 617098 w 282"/>
              <a:gd name="T63" fmla="*/ 13494 h 4"/>
              <a:gd name="T64" fmla="*/ 510702 w 282"/>
              <a:gd name="T65" fmla="*/ 0 h 4"/>
              <a:gd name="T66" fmla="*/ 510702 w 282"/>
              <a:gd name="T67" fmla="*/ 26988 h 4"/>
              <a:gd name="T68" fmla="*/ 368840 w 282"/>
              <a:gd name="T69" fmla="*/ 13494 h 4"/>
              <a:gd name="T70" fmla="*/ 397213 w 282"/>
              <a:gd name="T71" fmla="*/ 13494 h 4"/>
              <a:gd name="T72" fmla="*/ 383027 w 282"/>
              <a:gd name="T73" fmla="*/ 26988 h 4"/>
              <a:gd name="T74" fmla="*/ 262444 w 282"/>
              <a:gd name="T75" fmla="*/ 0 h 4"/>
              <a:gd name="T76" fmla="*/ 276630 w 282"/>
              <a:gd name="T77" fmla="*/ 13494 h 4"/>
              <a:gd name="T78" fmla="*/ 248258 w 282"/>
              <a:gd name="T79" fmla="*/ 13494 h 4"/>
              <a:gd name="T80" fmla="*/ 141862 w 282"/>
              <a:gd name="T81" fmla="*/ 0 h 4"/>
              <a:gd name="T82" fmla="*/ 141862 w 282"/>
              <a:gd name="T83" fmla="*/ 26988 h 4"/>
              <a:gd name="T84" fmla="*/ 0 w 282"/>
              <a:gd name="T85" fmla="*/ 13494 h 4"/>
              <a:gd name="T86" fmla="*/ 28372 w 282"/>
              <a:gd name="T87" fmla="*/ 13494 h 4"/>
              <a:gd name="T88" fmla="*/ 14186 w 282"/>
              <a:gd name="T89" fmla="*/ 26988 h 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82"/>
              <a:gd name="T136" fmla="*/ 0 h 4"/>
              <a:gd name="T137" fmla="*/ 282 w 282"/>
              <a:gd name="T138" fmla="*/ 4 h 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82" h="4">
                <a:moveTo>
                  <a:pt x="277" y="2"/>
                </a:moveTo>
                <a:cubicBezTo>
                  <a:pt x="277" y="1"/>
                  <a:pt x="278" y="0"/>
                  <a:pt x="280" y="0"/>
                </a:cubicBezTo>
                <a:cubicBezTo>
                  <a:pt x="280" y="0"/>
                  <a:pt x="280" y="0"/>
                  <a:pt x="280" y="0"/>
                </a:cubicBezTo>
                <a:cubicBezTo>
                  <a:pt x="281" y="0"/>
                  <a:pt x="282" y="1"/>
                  <a:pt x="282" y="2"/>
                </a:cubicBezTo>
                <a:cubicBezTo>
                  <a:pt x="282" y="2"/>
                  <a:pt x="282" y="2"/>
                  <a:pt x="282" y="2"/>
                </a:cubicBezTo>
                <a:cubicBezTo>
                  <a:pt x="282" y="3"/>
                  <a:pt x="281" y="4"/>
                  <a:pt x="280" y="4"/>
                </a:cubicBezTo>
                <a:cubicBezTo>
                  <a:pt x="280" y="4"/>
                  <a:pt x="280" y="4"/>
                  <a:pt x="280" y="4"/>
                </a:cubicBezTo>
                <a:cubicBezTo>
                  <a:pt x="278" y="4"/>
                  <a:pt x="277" y="3"/>
                  <a:pt x="277" y="2"/>
                </a:cubicBezTo>
                <a:close/>
                <a:moveTo>
                  <a:pt x="260" y="2"/>
                </a:moveTo>
                <a:cubicBezTo>
                  <a:pt x="260" y="1"/>
                  <a:pt x="261" y="0"/>
                  <a:pt x="262" y="0"/>
                </a:cubicBezTo>
                <a:cubicBezTo>
                  <a:pt x="262" y="0"/>
                  <a:pt x="262" y="0"/>
                  <a:pt x="262" y="0"/>
                </a:cubicBezTo>
                <a:cubicBezTo>
                  <a:pt x="263" y="0"/>
                  <a:pt x="264" y="1"/>
                  <a:pt x="264" y="2"/>
                </a:cubicBezTo>
                <a:cubicBezTo>
                  <a:pt x="264" y="2"/>
                  <a:pt x="264" y="2"/>
                  <a:pt x="264" y="2"/>
                </a:cubicBezTo>
                <a:cubicBezTo>
                  <a:pt x="264" y="3"/>
                  <a:pt x="263" y="4"/>
                  <a:pt x="262" y="4"/>
                </a:cubicBezTo>
                <a:cubicBezTo>
                  <a:pt x="262" y="4"/>
                  <a:pt x="262" y="4"/>
                  <a:pt x="262" y="4"/>
                </a:cubicBezTo>
                <a:cubicBezTo>
                  <a:pt x="261" y="4"/>
                  <a:pt x="260" y="3"/>
                  <a:pt x="260" y="2"/>
                </a:cubicBezTo>
                <a:close/>
                <a:moveTo>
                  <a:pt x="243" y="2"/>
                </a:moveTo>
                <a:cubicBezTo>
                  <a:pt x="243" y="1"/>
                  <a:pt x="244" y="0"/>
                  <a:pt x="245" y="0"/>
                </a:cubicBezTo>
                <a:cubicBezTo>
                  <a:pt x="245" y="0"/>
                  <a:pt x="245" y="0"/>
                  <a:pt x="245" y="0"/>
                </a:cubicBezTo>
                <a:cubicBezTo>
                  <a:pt x="246" y="0"/>
                  <a:pt x="247" y="1"/>
                  <a:pt x="247" y="2"/>
                </a:cubicBezTo>
                <a:cubicBezTo>
                  <a:pt x="247" y="2"/>
                  <a:pt x="247" y="2"/>
                  <a:pt x="247" y="2"/>
                </a:cubicBezTo>
                <a:cubicBezTo>
                  <a:pt x="247" y="3"/>
                  <a:pt x="246" y="4"/>
                  <a:pt x="245" y="4"/>
                </a:cubicBezTo>
                <a:cubicBezTo>
                  <a:pt x="245" y="4"/>
                  <a:pt x="245" y="4"/>
                  <a:pt x="245" y="4"/>
                </a:cubicBezTo>
                <a:cubicBezTo>
                  <a:pt x="244" y="4"/>
                  <a:pt x="243" y="3"/>
                  <a:pt x="243" y="2"/>
                </a:cubicBezTo>
                <a:close/>
                <a:moveTo>
                  <a:pt x="226" y="2"/>
                </a:moveTo>
                <a:cubicBezTo>
                  <a:pt x="226" y="1"/>
                  <a:pt x="226" y="0"/>
                  <a:pt x="228" y="0"/>
                </a:cubicBezTo>
                <a:cubicBezTo>
                  <a:pt x="228" y="0"/>
                  <a:pt x="228" y="0"/>
                  <a:pt x="228" y="0"/>
                </a:cubicBezTo>
                <a:cubicBezTo>
                  <a:pt x="229" y="0"/>
                  <a:pt x="230" y="1"/>
                  <a:pt x="230" y="2"/>
                </a:cubicBezTo>
                <a:cubicBezTo>
                  <a:pt x="230" y="2"/>
                  <a:pt x="230" y="2"/>
                  <a:pt x="230" y="2"/>
                </a:cubicBezTo>
                <a:cubicBezTo>
                  <a:pt x="230" y="3"/>
                  <a:pt x="229" y="4"/>
                  <a:pt x="228" y="4"/>
                </a:cubicBezTo>
                <a:cubicBezTo>
                  <a:pt x="228" y="4"/>
                  <a:pt x="228" y="4"/>
                  <a:pt x="228" y="4"/>
                </a:cubicBezTo>
                <a:cubicBezTo>
                  <a:pt x="226" y="4"/>
                  <a:pt x="226" y="3"/>
                  <a:pt x="226" y="2"/>
                </a:cubicBezTo>
                <a:close/>
                <a:moveTo>
                  <a:pt x="208" y="2"/>
                </a:moveTo>
                <a:cubicBezTo>
                  <a:pt x="208" y="1"/>
                  <a:pt x="209" y="0"/>
                  <a:pt x="210" y="0"/>
                </a:cubicBezTo>
                <a:cubicBezTo>
                  <a:pt x="210" y="0"/>
                  <a:pt x="210" y="0"/>
                  <a:pt x="210" y="0"/>
                </a:cubicBezTo>
                <a:cubicBezTo>
                  <a:pt x="211" y="0"/>
                  <a:pt x="212" y="1"/>
                  <a:pt x="212" y="2"/>
                </a:cubicBezTo>
                <a:cubicBezTo>
                  <a:pt x="212" y="2"/>
                  <a:pt x="212" y="2"/>
                  <a:pt x="212" y="2"/>
                </a:cubicBezTo>
                <a:cubicBezTo>
                  <a:pt x="212" y="3"/>
                  <a:pt x="211" y="4"/>
                  <a:pt x="210" y="4"/>
                </a:cubicBezTo>
                <a:cubicBezTo>
                  <a:pt x="210" y="4"/>
                  <a:pt x="210" y="4"/>
                  <a:pt x="210" y="4"/>
                </a:cubicBezTo>
                <a:cubicBezTo>
                  <a:pt x="209" y="4"/>
                  <a:pt x="208" y="3"/>
                  <a:pt x="208" y="2"/>
                </a:cubicBezTo>
                <a:close/>
                <a:moveTo>
                  <a:pt x="191" y="2"/>
                </a:moveTo>
                <a:cubicBezTo>
                  <a:pt x="191" y="1"/>
                  <a:pt x="192" y="0"/>
                  <a:pt x="193" y="0"/>
                </a:cubicBezTo>
                <a:cubicBezTo>
                  <a:pt x="193" y="0"/>
                  <a:pt x="193" y="0"/>
                  <a:pt x="193" y="0"/>
                </a:cubicBezTo>
                <a:cubicBezTo>
                  <a:pt x="194" y="0"/>
                  <a:pt x="195" y="1"/>
                  <a:pt x="195" y="2"/>
                </a:cubicBezTo>
                <a:cubicBezTo>
                  <a:pt x="195" y="2"/>
                  <a:pt x="195" y="2"/>
                  <a:pt x="195" y="2"/>
                </a:cubicBezTo>
                <a:cubicBezTo>
                  <a:pt x="195" y="3"/>
                  <a:pt x="194" y="4"/>
                  <a:pt x="193" y="4"/>
                </a:cubicBezTo>
                <a:cubicBezTo>
                  <a:pt x="193" y="4"/>
                  <a:pt x="193" y="4"/>
                  <a:pt x="193" y="4"/>
                </a:cubicBezTo>
                <a:cubicBezTo>
                  <a:pt x="192" y="4"/>
                  <a:pt x="191" y="3"/>
                  <a:pt x="191" y="2"/>
                </a:cubicBezTo>
                <a:close/>
                <a:moveTo>
                  <a:pt x="174" y="2"/>
                </a:moveTo>
                <a:cubicBezTo>
                  <a:pt x="174" y="1"/>
                  <a:pt x="174" y="0"/>
                  <a:pt x="176" y="0"/>
                </a:cubicBezTo>
                <a:cubicBezTo>
                  <a:pt x="176" y="0"/>
                  <a:pt x="176" y="0"/>
                  <a:pt x="176" y="0"/>
                </a:cubicBezTo>
                <a:cubicBezTo>
                  <a:pt x="177" y="0"/>
                  <a:pt x="178" y="1"/>
                  <a:pt x="178" y="2"/>
                </a:cubicBezTo>
                <a:cubicBezTo>
                  <a:pt x="178" y="2"/>
                  <a:pt x="178" y="2"/>
                  <a:pt x="178" y="2"/>
                </a:cubicBezTo>
                <a:cubicBezTo>
                  <a:pt x="178" y="3"/>
                  <a:pt x="177" y="4"/>
                  <a:pt x="176" y="4"/>
                </a:cubicBezTo>
                <a:cubicBezTo>
                  <a:pt x="176" y="4"/>
                  <a:pt x="176" y="4"/>
                  <a:pt x="176" y="4"/>
                </a:cubicBezTo>
                <a:cubicBezTo>
                  <a:pt x="174" y="4"/>
                  <a:pt x="174" y="3"/>
                  <a:pt x="174" y="2"/>
                </a:cubicBezTo>
                <a:close/>
                <a:moveTo>
                  <a:pt x="156" y="2"/>
                </a:moveTo>
                <a:cubicBezTo>
                  <a:pt x="156" y="1"/>
                  <a:pt x="157" y="0"/>
                  <a:pt x="158" y="0"/>
                </a:cubicBezTo>
                <a:cubicBezTo>
                  <a:pt x="158" y="0"/>
                  <a:pt x="158" y="0"/>
                  <a:pt x="158" y="0"/>
                </a:cubicBezTo>
                <a:cubicBezTo>
                  <a:pt x="159" y="0"/>
                  <a:pt x="160" y="1"/>
                  <a:pt x="160" y="2"/>
                </a:cubicBezTo>
                <a:cubicBezTo>
                  <a:pt x="160" y="2"/>
                  <a:pt x="160" y="2"/>
                  <a:pt x="160" y="2"/>
                </a:cubicBezTo>
                <a:cubicBezTo>
                  <a:pt x="160" y="3"/>
                  <a:pt x="159" y="4"/>
                  <a:pt x="158" y="4"/>
                </a:cubicBezTo>
                <a:cubicBezTo>
                  <a:pt x="158" y="4"/>
                  <a:pt x="158" y="4"/>
                  <a:pt x="158" y="4"/>
                </a:cubicBezTo>
                <a:cubicBezTo>
                  <a:pt x="157" y="4"/>
                  <a:pt x="156" y="3"/>
                  <a:pt x="156" y="2"/>
                </a:cubicBezTo>
                <a:close/>
                <a:moveTo>
                  <a:pt x="139" y="2"/>
                </a:moveTo>
                <a:cubicBezTo>
                  <a:pt x="139" y="1"/>
                  <a:pt x="140" y="0"/>
                  <a:pt x="141" y="0"/>
                </a:cubicBezTo>
                <a:cubicBezTo>
                  <a:pt x="141" y="0"/>
                  <a:pt x="141" y="0"/>
                  <a:pt x="141" y="0"/>
                </a:cubicBezTo>
                <a:cubicBezTo>
                  <a:pt x="142" y="0"/>
                  <a:pt x="143" y="1"/>
                  <a:pt x="143" y="2"/>
                </a:cubicBezTo>
                <a:cubicBezTo>
                  <a:pt x="143" y="2"/>
                  <a:pt x="143" y="2"/>
                  <a:pt x="143" y="2"/>
                </a:cubicBezTo>
                <a:cubicBezTo>
                  <a:pt x="143" y="3"/>
                  <a:pt x="142" y="4"/>
                  <a:pt x="141" y="4"/>
                </a:cubicBezTo>
                <a:cubicBezTo>
                  <a:pt x="141" y="4"/>
                  <a:pt x="141" y="4"/>
                  <a:pt x="141" y="4"/>
                </a:cubicBezTo>
                <a:cubicBezTo>
                  <a:pt x="140" y="4"/>
                  <a:pt x="139" y="3"/>
                  <a:pt x="139" y="2"/>
                </a:cubicBezTo>
                <a:close/>
                <a:moveTo>
                  <a:pt x="122" y="2"/>
                </a:moveTo>
                <a:cubicBezTo>
                  <a:pt x="122" y="1"/>
                  <a:pt x="123" y="0"/>
                  <a:pt x="124" y="0"/>
                </a:cubicBezTo>
                <a:cubicBezTo>
                  <a:pt x="124" y="0"/>
                  <a:pt x="124" y="0"/>
                  <a:pt x="124" y="0"/>
                </a:cubicBezTo>
                <a:cubicBezTo>
                  <a:pt x="125" y="0"/>
                  <a:pt x="126" y="1"/>
                  <a:pt x="126" y="2"/>
                </a:cubicBezTo>
                <a:cubicBezTo>
                  <a:pt x="126" y="2"/>
                  <a:pt x="126" y="2"/>
                  <a:pt x="126" y="2"/>
                </a:cubicBezTo>
                <a:cubicBezTo>
                  <a:pt x="126" y="3"/>
                  <a:pt x="125" y="4"/>
                  <a:pt x="124" y="4"/>
                </a:cubicBezTo>
                <a:cubicBezTo>
                  <a:pt x="124" y="4"/>
                  <a:pt x="124" y="4"/>
                  <a:pt x="124" y="4"/>
                </a:cubicBezTo>
                <a:cubicBezTo>
                  <a:pt x="123" y="4"/>
                  <a:pt x="122" y="3"/>
                  <a:pt x="122" y="2"/>
                </a:cubicBezTo>
                <a:close/>
                <a:moveTo>
                  <a:pt x="104" y="2"/>
                </a:moveTo>
                <a:cubicBezTo>
                  <a:pt x="104" y="1"/>
                  <a:pt x="105" y="0"/>
                  <a:pt x="106" y="0"/>
                </a:cubicBezTo>
                <a:cubicBezTo>
                  <a:pt x="106" y="0"/>
                  <a:pt x="106" y="0"/>
                  <a:pt x="106" y="0"/>
                </a:cubicBezTo>
                <a:cubicBezTo>
                  <a:pt x="107" y="0"/>
                  <a:pt x="108" y="1"/>
                  <a:pt x="108" y="2"/>
                </a:cubicBezTo>
                <a:cubicBezTo>
                  <a:pt x="108" y="2"/>
                  <a:pt x="108" y="2"/>
                  <a:pt x="108" y="2"/>
                </a:cubicBezTo>
                <a:cubicBezTo>
                  <a:pt x="108" y="3"/>
                  <a:pt x="107" y="4"/>
                  <a:pt x="106" y="4"/>
                </a:cubicBezTo>
                <a:cubicBezTo>
                  <a:pt x="106" y="4"/>
                  <a:pt x="106" y="4"/>
                  <a:pt x="106" y="4"/>
                </a:cubicBezTo>
                <a:cubicBezTo>
                  <a:pt x="105" y="4"/>
                  <a:pt x="104" y="3"/>
                  <a:pt x="104" y="2"/>
                </a:cubicBezTo>
                <a:close/>
                <a:moveTo>
                  <a:pt x="87" y="2"/>
                </a:moveTo>
                <a:cubicBezTo>
                  <a:pt x="87" y="1"/>
                  <a:pt x="88" y="0"/>
                  <a:pt x="89" y="0"/>
                </a:cubicBezTo>
                <a:cubicBezTo>
                  <a:pt x="89" y="0"/>
                  <a:pt x="89" y="0"/>
                  <a:pt x="89" y="0"/>
                </a:cubicBezTo>
                <a:cubicBezTo>
                  <a:pt x="90" y="0"/>
                  <a:pt x="91" y="1"/>
                  <a:pt x="91" y="2"/>
                </a:cubicBezTo>
                <a:cubicBezTo>
                  <a:pt x="91" y="2"/>
                  <a:pt x="91" y="2"/>
                  <a:pt x="91" y="2"/>
                </a:cubicBezTo>
                <a:cubicBezTo>
                  <a:pt x="91" y="3"/>
                  <a:pt x="90" y="4"/>
                  <a:pt x="89" y="4"/>
                </a:cubicBezTo>
                <a:cubicBezTo>
                  <a:pt x="89" y="4"/>
                  <a:pt x="89" y="4"/>
                  <a:pt x="89" y="4"/>
                </a:cubicBezTo>
                <a:cubicBezTo>
                  <a:pt x="88" y="4"/>
                  <a:pt x="87" y="3"/>
                  <a:pt x="87" y="2"/>
                </a:cubicBezTo>
                <a:close/>
                <a:moveTo>
                  <a:pt x="70" y="2"/>
                </a:moveTo>
                <a:cubicBezTo>
                  <a:pt x="70" y="1"/>
                  <a:pt x="71" y="0"/>
                  <a:pt x="72" y="0"/>
                </a:cubicBezTo>
                <a:cubicBezTo>
                  <a:pt x="72" y="0"/>
                  <a:pt x="72" y="0"/>
                  <a:pt x="72" y="0"/>
                </a:cubicBezTo>
                <a:cubicBezTo>
                  <a:pt x="73" y="0"/>
                  <a:pt x="74" y="1"/>
                  <a:pt x="74" y="2"/>
                </a:cubicBezTo>
                <a:cubicBezTo>
                  <a:pt x="74" y="2"/>
                  <a:pt x="74" y="2"/>
                  <a:pt x="74" y="2"/>
                </a:cubicBezTo>
                <a:cubicBezTo>
                  <a:pt x="74" y="3"/>
                  <a:pt x="73" y="4"/>
                  <a:pt x="72" y="4"/>
                </a:cubicBezTo>
                <a:cubicBezTo>
                  <a:pt x="72" y="4"/>
                  <a:pt x="72" y="4"/>
                  <a:pt x="72" y="4"/>
                </a:cubicBezTo>
                <a:cubicBezTo>
                  <a:pt x="71" y="4"/>
                  <a:pt x="70" y="3"/>
                  <a:pt x="70" y="2"/>
                </a:cubicBezTo>
                <a:close/>
                <a:moveTo>
                  <a:pt x="52" y="2"/>
                </a:moveTo>
                <a:cubicBezTo>
                  <a:pt x="52" y="1"/>
                  <a:pt x="53" y="0"/>
                  <a:pt x="54" y="0"/>
                </a:cubicBezTo>
                <a:cubicBezTo>
                  <a:pt x="54" y="0"/>
                  <a:pt x="54" y="0"/>
                  <a:pt x="54" y="0"/>
                </a:cubicBezTo>
                <a:cubicBezTo>
                  <a:pt x="55" y="0"/>
                  <a:pt x="56" y="1"/>
                  <a:pt x="56" y="2"/>
                </a:cubicBezTo>
                <a:cubicBezTo>
                  <a:pt x="56" y="2"/>
                  <a:pt x="56" y="2"/>
                  <a:pt x="56" y="2"/>
                </a:cubicBezTo>
                <a:cubicBezTo>
                  <a:pt x="56" y="3"/>
                  <a:pt x="55" y="4"/>
                  <a:pt x="54" y="4"/>
                </a:cubicBezTo>
                <a:cubicBezTo>
                  <a:pt x="54" y="4"/>
                  <a:pt x="54" y="4"/>
                  <a:pt x="54" y="4"/>
                </a:cubicBezTo>
                <a:cubicBezTo>
                  <a:pt x="53" y="4"/>
                  <a:pt x="52" y="3"/>
                  <a:pt x="52" y="2"/>
                </a:cubicBezTo>
                <a:close/>
                <a:moveTo>
                  <a:pt x="35" y="2"/>
                </a:moveTo>
                <a:cubicBezTo>
                  <a:pt x="35" y="1"/>
                  <a:pt x="36" y="0"/>
                  <a:pt x="37" y="0"/>
                </a:cubicBezTo>
                <a:cubicBezTo>
                  <a:pt x="37" y="0"/>
                  <a:pt x="37" y="0"/>
                  <a:pt x="37" y="0"/>
                </a:cubicBezTo>
                <a:cubicBezTo>
                  <a:pt x="38" y="0"/>
                  <a:pt x="39" y="1"/>
                  <a:pt x="39" y="2"/>
                </a:cubicBezTo>
                <a:cubicBezTo>
                  <a:pt x="39" y="2"/>
                  <a:pt x="39" y="2"/>
                  <a:pt x="39" y="2"/>
                </a:cubicBezTo>
                <a:cubicBezTo>
                  <a:pt x="39" y="3"/>
                  <a:pt x="38" y="4"/>
                  <a:pt x="37" y="4"/>
                </a:cubicBezTo>
                <a:cubicBezTo>
                  <a:pt x="37" y="4"/>
                  <a:pt x="37" y="4"/>
                  <a:pt x="37" y="4"/>
                </a:cubicBezTo>
                <a:cubicBezTo>
                  <a:pt x="36" y="4"/>
                  <a:pt x="35" y="3"/>
                  <a:pt x="35" y="2"/>
                </a:cubicBezTo>
                <a:close/>
                <a:moveTo>
                  <a:pt x="18" y="2"/>
                </a:moveTo>
                <a:cubicBezTo>
                  <a:pt x="18" y="1"/>
                  <a:pt x="19" y="0"/>
                  <a:pt x="20" y="0"/>
                </a:cubicBezTo>
                <a:cubicBezTo>
                  <a:pt x="20" y="0"/>
                  <a:pt x="20" y="0"/>
                  <a:pt x="20" y="0"/>
                </a:cubicBezTo>
                <a:cubicBezTo>
                  <a:pt x="21" y="0"/>
                  <a:pt x="22" y="1"/>
                  <a:pt x="22" y="2"/>
                </a:cubicBezTo>
                <a:cubicBezTo>
                  <a:pt x="22" y="2"/>
                  <a:pt x="22" y="2"/>
                  <a:pt x="22" y="2"/>
                </a:cubicBezTo>
                <a:cubicBezTo>
                  <a:pt x="22" y="3"/>
                  <a:pt x="21" y="4"/>
                  <a:pt x="20" y="4"/>
                </a:cubicBezTo>
                <a:cubicBezTo>
                  <a:pt x="20" y="4"/>
                  <a:pt x="20" y="4"/>
                  <a:pt x="20" y="4"/>
                </a:cubicBezTo>
                <a:cubicBezTo>
                  <a:pt x="19" y="4"/>
                  <a:pt x="18" y="3"/>
                  <a:pt x="18" y="2"/>
                </a:cubicBezTo>
                <a:close/>
                <a:moveTo>
                  <a:pt x="0" y="2"/>
                </a:moveTo>
                <a:cubicBezTo>
                  <a:pt x="0" y="1"/>
                  <a:pt x="1" y="0"/>
                  <a:pt x="2" y="0"/>
                </a:cubicBezTo>
                <a:cubicBezTo>
                  <a:pt x="2" y="0"/>
                  <a:pt x="2" y="0"/>
                  <a:pt x="2" y="0"/>
                </a:cubicBezTo>
                <a:cubicBezTo>
                  <a:pt x="3" y="0"/>
                  <a:pt x="4" y="1"/>
                  <a:pt x="4" y="2"/>
                </a:cubicBezTo>
                <a:cubicBezTo>
                  <a:pt x="4" y="2"/>
                  <a:pt x="4" y="2"/>
                  <a:pt x="4" y="2"/>
                </a:cubicBezTo>
                <a:cubicBezTo>
                  <a:pt x="4" y="3"/>
                  <a:pt x="3" y="4"/>
                  <a:pt x="2" y="4"/>
                </a:cubicBezTo>
                <a:cubicBezTo>
                  <a:pt x="2" y="4"/>
                  <a:pt x="2" y="4"/>
                  <a:pt x="2" y="4"/>
                </a:cubicBezTo>
                <a:cubicBezTo>
                  <a:pt x="1" y="4"/>
                  <a:pt x="0" y="3"/>
                  <a:pt x="0" y="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361" name="Freeform 27"/>
          <p:cNvSpPr>
            <a:spLocks noEditPoints="1"/>
          </p:cNvSpPr>
          <p:nvPr/>
        </p:nvSpPr>
        <p:spPr bwMode="auto">
          <a:xfrm>
            <a:off x="4730750" y="4964113"/>
            <a:ext cx="30163" cy="496887"/>
          </a:xfrm>
          <a:custGeom>
            <a:avLst/>
            <a:gdLst>
              <a:gd name="T0" fmla="*/ 0 w 4"/>
              <a:gd name="T1" fmla="*/ 483274 h 73"/>
              <a:gd name="T2" fmla="*/ 15082 w 4"/>
              <a:gd name="T3" fmla="*/ 469660 h 73"/>
              <a:gd name="T4" fmla="*/ 15082 w 4"/>
              <a:gd name="T5" fmla="*/ 469660 h 73"/>
              <a:gd name="T6" fmla="*/ 30163 w 4"/>
              <a:gd name="T7" fmla="*/ 483274 h 73"/>
              <a:gd name="T8" fmla="*/ 30163 w 4"/>
              <a:gd name="T9" fmla="*/ 483274 h 73"/>
              <a:gd name="T10" fmla="*/ 15082 w 4"/>
              <a:gd name="T11" fmla="*/ 496887 h 73"/>
              <a:gd name="T12" fmla="*/ 15082 w 4"/>
              <a:gd name="T13" fmla="*/ 496887 h 73"/>
              <a:gd name="T14" fmla="*/ 0 w 4"/>
              <a:gd name="T15" fmla="*/ 483274 h 73"/>
              <a:gd name="T16" fmla="*/ 0 w 4"/>
              <a:gd name="T17" fmla="*/ 367560 h 73"/>
              <a:gd name="T18" fmla="*/ 15082 w 4"/>
              <a:gd name="T19" fmla="*/ 347140 h 73"/>
              <a:gd name="T20" fmla="*/ 15082 w 4"/>
              <a:gd name="T21" fmla="*/ 347140 h 73"/>
              <a:gd name="T22" fmla="*/ 30163 w 4"/>
              <a:gd name="T23" fmla="*/ 367560 h 73"/>
              <a:gd name="T24" fmla="*/ 30163 w 4"/>
              <a:gd name="T25" fmla="*/ 367560 h 73"/>
              <a:gd name="T26" fmla="*/ 15082 w 4"/>
              <a:gd name="T27" fmla="*/ 381174 h 73"/>
              <a:gd name="T28" fmla="*/ 15082 w 4"/>
              <a:gd name="T29" fmla="*/ 381174 h 73"/>
              <a:gd name="T30" fmla="*/ 0 w 4"/>
              <a:gd name="T31" fmla="*/ 367560 h 73"/>
              <a:gd name="T32" fmla="*/ 0 w 4"/>
              <a:gd name="T33" fmla="*/ 245040 h 73"/>
              <a:gd name="T34" fmla="*/ 15082 w 4"/>
              <a:gd name="T35" fmla="*/ 231427 h 73"/>
              <a:gd name="T36" fmla="*/ 15082 w 4"/>
              <a:gd name="T37" fmla="*/ 231427 h 73"/>
              <a:gd name="T38" fmla="*/ 30163 w 4"/>
              <a:gd name="T39" fmla="*/ 245040 h 73"/>
              <a:gd name="T40" fmla="*/ 30163 w 4"/>
              <a:gd name="T41" fmla="*/ 245040 h 73"/>
              <a:gd name="T42" fmla="*/ 15082 w 4"/>
              <a:gd name="T43" fmla="*/ 258654 h 73"/>
              <a:gd name="T44" fmla="*/ 15082 w 4"/>
              <a:gd name="T45" fmla="*/ 258654 h 73"/>
              <a:gd name="T46" fmla="*/ 0 w 4"/>
              <a:gd name="T47" fmla="*/ 245040 h 73"/>
              <a:gd name="T48" fmla="*/ 0 w 4"/>
              <a:gd name="T49" fmla="*/ 129327 h 73"/>
              <a:gd name="T50" fmla="*/ 15082 w 4"/>
              <a:gd name="T51" fmla="*/ 115713 h 73"/>
              <a:gd name="T52" fmla="*/ 15082 w 4"/>
              <a:gd name="T53" fmla="*/ 115713 h 73"/>
              <a:gd name="T54" fmla="*/ 30163 w 4"/>
              <a:gd name="T55" fmla="*/ 129327 h 73"/>
              <a:gd name="T56" fmla="*/ 30163 w 4"/>
              <a:gd name="T57" fmla="*/ 129327 h 73"/>
              <a:gd name="T58" fmla="*/ 15082 w 4"/>
              <a:gd name="T59" fmla="*/ 142940 h 73"/>
              <a:gd name="T60" fmla="*/ 15082 w 4"/>
              <a:gd name="T61" fmla="*/ 142940 h 73"/>
              <a:gd name="T62" fmla="*/ 0 w 4"/>
              <a:gd name="T63" fmla="*/ 129327 h 73"/>
              <a:gd name="T64" fmla="*/ 0 w 4"/>
              <a:gd name="T65" fmla="*/ 13613 h 73"/>
              <a:gd name="T66" fmla="*/ 15082 w 4"/>
              <a:gd name="T67" fmla="*/ 0 h 73"/>
              <a:gd name="T68" fmla="*/ 15082 w 4"/>
              <a:gd name="T69" fmla="*/ 0 h 73"/>
              <a:gd name="T70" fmla="*/ 30163 w 4"/>
              <a:gd name="T71" fmla="*/ 13613 h 73"/>
              <a:gd name="T72" fmla="*/ 30163 w 4"/>
              <a:gd name="T73" fmla="*/ 13613 h 73"/>
              <a:gd name="T74" fmla="*/ 15082 w 4"/>
              <a:gd name="T75" fmla="*/ 27227 h 73"/>
              <a:gd name="T76" fmla="*/ 15082 w 4"/>
              <a:gd name="T77" fmla="*/ 27227 h 73"/>
              <a:gd name="T78" fmla="*/ 0 w 4"/>
              <a:gd name="T79" fmla="*/ 13613 h 7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
              <a:gd name="T121" fmla="*/ 0 h 73"/>
              <a:gd name="T122" fmla="*/ 4 w 4"/>
              <a:gd name="T123" fmla="*/ 73 h 7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 h="73">
                <a:moveTo>
                  <a:pt x="0" y="71"/>
                </a:moveTo>
                <a:cubicBezTo>
                  <a:pt x="0" y="70"/>
                  <a:pt x="1" y="69"/>
                  <a:pt x="2" y="69"/>
                </a:cubicBezTo>
                <a:cubicBezTo>
                  <a:pt x="2" y="69"/>
                  <a:pt x="2" y="69"/>
                  <a:pt x="2" y="69"/>
                </a:cubicBezTo>
                <a:cubicBezTo>
                  <a:pt x="3" y="69"/>
                  <a:pt x="4" y="70"/>
                  <a:pt x="4" y="71"/>
                </a:cubicBezTo>
                <a:cubicBezTo>
                  <a:pt x="4" y="71"/>
                  <a:pt x="4" y="71"/>
                  <a:pt x="4" y="71"/>
                </a:cubicBezTo>
                <a:cubicBezTo>
                  <a:pt x="4" y="72"/>
                  <a:pt x="3" y="73"/>
                  <a:pt x="2" y="73"/>
                </a:cubicBezTo>
                <a:cubicBezTo>
                  <a:pt x="2" y="73"/>
                  <a:pt x="2" y="73"/>
                  <a:pt x="2" y="73"/>
                </a:cubicBezTo>
                <a:cubicBezTo>
                  <a:pt x="1" y="73"/>
                  <a:pt x="0" y="72"/>
                  <a:pt x="0" y="71"/>
                </a:cubicBezTo>
                <a:close/>
                <a:moveTo>
                  <a:pt x="0" y="54"/>
                </a:moveTo>
                <a:cubicBezTo>
                  <a:pt x="0" y="52"/>
                  <a:pt x="1" y="51"/>
                  <a:pt x="2" y="51"/>
                </a:cubicBezTo>
                <a:cubicBezTo>
                  <a:pt x="2" y="51"/>
                  <a:pt x="2" y="51"/>
                  <a:pt x="2" y="51"/>
                </a:cubicBezTo>
                <a:cubicBezTo>
                  <a:pt x="3" y="51"/>
                  <a:pt x="4" y="52"/>
                  <a:pt x="4" y="54"/>
                </a:cubicBezTo>
                <a:cubicBezTo>
                  <a:pt x="4" y="54"/>
                  <a:pt x="4" y="54"/>
                  <a:pt x="4" y="54"/>
                </a:cubicBezTo>
                <a:cubicBezTo>
                  <a:pt x="4" y="55"/>
                  <a:pt x="3" y="56"/>
                  <a:pt x="2" y="56"/>
                </a:cubicBezTo>
                <a:cubicBezTo>
                  <a:pt x="2" y="56"/>
                  <a:pt x="2" y="56"/>
                  <a:pt x="2" y="56"/>
                </a:cubicBezTo>
                <a:cubicBezTo>
                  <a:pt x="1" y="56"/>
                  <a:pt x="0" y="55"/>
                  <a:pt x="0" y="54"/>
                </a:cubicBezTo>
                <a:close/>
                <a:moveTo>
                  <a:pt x="0" y="36"/>
                </a:moveTo>
                <a:cubicBezTo>
                  <a:pt x="0" y="35"/>
                  <a:pt x="1" y="34"/>
                  <a:pt x="2" y="34"/>
                </a:cubicBezTo>
                <a:cubicBezTo>
                  <a:pt x="2" y="34"/>
                  <a:pt x="2" y="34"/>
                  <a:pt x="2" y="34"/>
                </a:cubicBezTo>
                <a:cubicBezTo>
                  <a:pt x="3" y="34"/>
                  <a:pt x="4" y="35"/>
                  <a:pt x="4" y="36"/>
                </a:cubicBezTo>
                <a:cubicBezTo>
                  <a:pt x="4" y="36"/>
                  <a:pt x="4" y="36"/>
                  <a:pt x="4" y="36"/>
                </a:cubicBezTo>
                <a:cubicBezTo>
                  <a:pt x="4" y="37"/>
                  <a:pt x="3" y="38"/>
                  <a:pt x="2" y="38"/>
                </a:cubicBezTo>
                <a:cubicBezTo>
                  <a:pt x="2" y="38"/>
                  <a:pt x="2" y="38"/>
                  <a:pt x="2" y="38"/>
                </a:cubicBezTo>
                <a:cubicBezTo>
                  <a:pt x="1" y="38"/>
                  <a:pt x="0" y="37"/>
                  <a:pt x="0" y="36"/>
                </a:cubicBezTo>
                <a:close/>
                <a:moveTo>
                  <a:pt x="0" y="19"/>
                </a:moveTo>
                <a:cubicBezTo>
                  <a:pt x="0" y="18"/>
                  <a:pt x="1" y="17"/>
                  <a:pt x="2" y="17"/>
                </a:cubicBezTo>
                <a:cubicBezTo>
                  <a:pt x="2" y="17"/>
                  <a:pt x="2" y="17"/>
                  <a:pt x="2" y="17"/>
                </a:cubicBezTo>
                <a:cubicBezTo>
                  <a:pt x="3" y="17"/>
                  <a:pt x="4" y="18"/>
                  <a:pt x="4" y="19"/>
                </a:cubicBezTo>
                <a:cubicBezTo>
                  <a:pt x="4" y="19"/>
                  <a:pt x="4" y="19"/>
                  <a:pt x="4" y="19"/>
                </a:cubicBezTo>
                <a:cubicBezTo>
                  <a:pt x="4" y="20"/>
                  <a:pt x="3" y="21"/>
                  <a:pt x="2" y="21"/>
                </a:cubicBezTo>
                <a:cubicBezTo>
                  <a:pt x="2" y="21"/>
                  <a:pt x="2" y="21"/>
                  <a:pt x="2" y="21"/>
                </a:cubicBezTo>
                <a:cubicBezTo>
                  <a:pt x="1" y="21"/>
                  <a:pt x="0" y="20"/>
                  <a:pt x="0" y="19"/>
                </a:cubicBezTo>
                <a:close/>
                <a:moveTo>
                  <a:pt x="0" y="2"/>
                </a:moveTo>
                <a:cubicBezTo>
                  <a:pt x="0" y="0"/>
                  <a:pt x="1" y="0"/>
                  <a:pt x="2" y="0"/>
                </a:cubicBezTo>
                <a:cubicBezTo>
                  <a:pt x="2" y="0"/>
                  <a:pt x="2" y="0"/>
                  <a:pt x="2" y="0"/>
                </a:cubicBezTo>
                <a:cubicBezTo>
                  <a:pt x="3" y="0"/>
                  <a:pt x="4" y="0"/>
                  <a:pt x="4" y="2"/>
                </a:cubicBezTo>
                <a:cubicBezTo>
                  <a:pt x="4" y="2"/>
                  <a:pt x="4" y="2"/>
                  <a:pt x="4" y="2"/>
                </a:cubicBezTo>
                <a:cubicBezTo>
                  <a:pt x="4" y="3"/>
                  <a:pt x="3" y="4"/>
                  <a:pt x="2" y="4"/>
                </a:cubicBezTo>
                <a:cubicBezTo>
                  <a:pt x="2" y="4"/>
                  <a:pt x="2" y="4"/>
                  <a:pt x="2" y="4"/>
                </a:cubicBezTo>
                <a:cubicBezTo>
                  <a:pt x="1" y="4"/>
                  <a:pt x="0" y="3"/>
                  <a:pt x="0" y="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362" name="Freeform 28"/>
          <p:cNvSpPr>
            <a:spLocks noEditPoints="1"/>
          </p:cNvSpPr>
          <p:nvPr/>
        </p:nvSpPr>
        <p:spPr bwMode="auto">
          <a:xfrm>
            <a:off x="5973763" y="2417763"/>
            <a:ext cx="26987" cy="3203575"/>
          </a:xfrm>
          <a:custGeom>
            <a:avLst/>
            <a:gdLst>
              <a:gd name="T0" fmla="*/ 26987 w 4"/>
              <a:gd name="T1" fmla="*/ 3190001 h 472"/>
              <a:gd name="T2" fmla="*/ 0 w 4"/>
              <a:gd name="T3" fmla="*/ 3190001 h 472"/>
              <a:gd name="T4" fmla="*/ 26987 w 4"/>
              <a:gd name="T5" fmla="*/ 3067830 h 472"/>
              <a:gd name="T6" fmla="*/ 0 w 4"/>
              <a:gd name="T7" fmla="*/ 3067830 h 472"/>
              <a:gd name="T8" fmla="*/ 26987 w 4"/>
              <a:gd name="T9" fmla="*/ 2952447 h 472"/>
              <a:gd name="T10" fmla="*/ 0 w 4"/>
              <a:gd name="T11" fmla="*/ 2952447 h 472"/>
              <a:gd name="T12" fmla="*/ 26987 w 4"/>
              <a:gd name="T13" fmla="*/ 2837064 h 472"/>
              <a:gd name="T14" fmla="*/ 0 w 4"/>
              <a:gd name="T15" fmla="*/ 2837064 h 472"/>
              <a:gd name="T16" fmla="*/ 26987 w 4"/>
              <a:gd name="T17" fmla="*/ 2714894 h 472"/>
              <a:gd name="T18" fmla="*/ 0 w 4"/>
              <a:gd name="T19" fmla="*/ 2714894 h 472"/>
              <a:gd name="T20" fmla="*/ 26987 w 4"/>
              <a:gd name="T21" fmla="*/ 2599511 h 472"/>
              <a:gd name="T22" fmla="*/ 0 w 4"/>
              <a:gd name="T23" fmla="*/ 2599511 h 472"/>
              <a:gd name="T24" fmla="*/ 26987 w 4"/>
              <a:gd name="T25" fmla="*/ 2484128 h 472"/>
              <a:gd name="T26" fmla="*/ 0 w 4"/>
              <a:gd name="T27" fmla="*/ 2484128 h 472"/>
              <a:gd name="T28" fmla="*/ 26987 w 4"/>
              <a:gd name="T29" fmla="*/ 2361958 h 472"/>
              <a:gd name="T30" fmla="*/ 0 w 4"/>
              <a:gd name="T31" fmla="*/ 2361958 h 472"/>
              <a:gd name="T32" fmla="*/ 26987 w 4"/>
              <a:gd name="T33" fmla="*/ 2246575 h 472"/>
              <a:gd name="T34" fmla="*/ 0 w 4"/>
              <a:gd name="T35" fmla="*/ 2246575 h 472"/>
              <a:gd name="T36" fmla="*/ 26987 w 4"/>
              <a:gd name="T37" fmla="*/ 2131192 h 472"/>
              <a:gd name="T38" fmla="*/ 0 w 4"/>
              <a:gd name="T39" fmla="*/ 2131192 h 472"/>
              <a:gd name="T40" fmla="*/ 26987 w 4"/>
              <a:gd name="T41" fmla="*/ 2009022 h 472"/>
              <a:gd name="T42" fmla="*/ 0 w 4"/>
              <a:gd name="T43" fmla="*/ 2009022 h 472"/>
              <a:gd name="T44" fmla="*/ 26987 w 4"/>
              <a:gd name="T45" fmla="*/ 1893639 h 472"/>
              <a:gd name="T46" fmla="*/ 0 w 4"/>
              <a:gd name="T47" fmla="*/ 1893639 h 472"/>
              <a:gd name="T48" fmla="*/ 26987 w 4"/>
              <a:gd name="T49" fmla="*/ 1778256 h 472"/>
              <a:gd name="T50" fmla="*/ 0 w 4"/>
              <a:gd name="T51" fmla="*/ 1778256 h 472"/>
              <a:gd name="T52" fmla="*/ 26987 w 4"/>
              <a:gd name="T53" fmla="*/ 1656085 h 472"/>
              <a:gd name="T54" fmla="*/ 0 w 4"/>
              <a:gd name="T55" fmla="*/ 1656085 h 472"/>
              <a:gd name="T56" fmla="*/ 26987 w 4"/>
              <a:gd name="T57" fmla="*/ 1540702 h 472"/>
              <a:gd name="T58" fmla="*/ 0 w 4"/>
              <a:gd name="T59" fmla="*/ 1540702 h 472"/>
              <a:gd name="T60" fmla="*/ 26987 w 4"/>
              <a:gd name="T61" fmla="*/ 1425319 h 472"/>
              <a:gd name="T62" fmla="*/ 0 w 4"/>
              <a:gd name="T63" fmla="*/ 1425319 h 472"/>
              <a:gd name="T64" fmla="*/ 26987 w 4"/>
              <a:gd name="T65" fmla="*/ 1309936 h 472"/>
              <a:gd name="T66" fmla="*/ 0 w 4"/>
              <a:gd name="T67" fmla="*/ 1309936 h 472"/>
              <a:gd name="T68" fmla="*/ 26987 w 4"/>
              <a:gd name="T69" fmla="*/ 1187766 h 472"/>
              <a:gd name="T70" fmla="*/ 0 w 4"/>
              <a:gd name="T71" fmla="*/ 1187766 h 472"/>
              <a:gd name="T72" fmla="*/ 26987 w 4"/>
              <a:gd name="T73" fmla="*/ 1072383 h 472"/>
              <a:gd name="T74" fmla="*/ 0 w 4"/>
              <a:gd name="T75" fmla="*/ 1072383 h 472"/>
              <a:gd name="T76" fmla="*/ 26987 w 4"/>
              <a:gd name="T77" fmla="*/ 957000 h 472"/>
              <a:gd name="T78" fmla="*/ 0 w 4"/>
              <a:gd name="T79" fmla="*/ 957000 h 472"/>
              <a:gd name="T80" fmla="*/ 26987 w 4"/>
              <a:gd name="T81" fmla="*/ 834830 h 472"/>
              <a:gd name="T82" fmla="*/ 0 w 4"/>
              <a:gd name="T83" fmla="*/ 834830 h 472"/>
              <a:gd name="T84" fmla="*/ 26987 w 4"/>
              <a:gd name="T85" fmla="*/ 719447 h 472"/>
              <a:gd name="T86" fmla="*/ 0 w 4"/>
              <a:gd name="T87" fmla="*/ 719447 h 472"/>
              <a:gd name="T88" fmla="*/ 26987 w 4"/>
              <a:gd name="T89" fmla="*/ 604064 h 472"/>
              <a:gd name="T90" fmla="*/ 0 w 4"/>
              <a:gd name="T91" fmla="*/ 604064 h 472"/>
              <a:gd name="T92" fmla="*/ 26987 w 4"/>
              <a:gd name="T93" fmla="*/ 481894 h 472"/>
              <a:gd name="T94" fmla="*/ 0 w 4"/>
              <a:gd name="T95" fmla="*/ 481894 h 472"/>
              <a:gd name="T96" fmla="*/ 26987 w 4"/>
              <a:gd name="T97" fmla="*/ 366511 h 472"/>
              <a:gd name="T98" fmla="*/ 0 w 4"/>
              <a:gd name="T99" fmla="*/ 366511 h 472"/>
              <a:gd name="T100" fmla="*/ 26987 w 4"/>
              <a:gd name="T101" fmla="*/ 251128 h 472"/>
              <a:gd name="T102" fmla="*/ 0 w 4"/>
              <a:gd name="T103" fmla="*/ 251128 h 472"/>
              <a:gd name="T104" fmla="*/ 26987 w 4"/>
              <a:gd name="T105" fmla="*/ 128957 h 472"/>
              <a:gd name="T106" fmla="*/ 0 w 4"/>
              <a:gd name="T107" fmla="*/ 128957 h 472"/>
              <a:gd name="T108" fmla="*/ 26987 w 4"/>
              <a:gd name="T109" fmla="*/ 13574 h 472"/>
              <a:gd name="T110" fmla="*/ 0 w 4"/>
              <a:gd name="T111" fmla="*/ 13574 h 47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
              <a:gd name="T169" fmla="*/ 0 h 472"/>
              <a:gd name="T170" fmla="*/ 4 w 4"/>
              <a:gd name="T171" fmla="*/ 472 h 47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 h="472">
                <a:moveTo>
                  <a:pt x="0" y="470"/>
                </a:moveTo>
                <a:cubicBezTo>
                  <a:pt x="0" y="469"/>
                  <a:pt x="1" y="468"/>
                  <a:pt x="2" y="468"/>
                </a:cubicBezTo>
                <a:cubicBezTo>
                  <a:pt x="2" y="468"/>
                  <a:pt x="2" y="468"/>
                  <a:pt x="2" y="468"/>
                </a:cubicBezTo>
                <a:cubicBezTo>
                  <a:pt x="4" y="468"/>
                  <a:pt x="4" y="469"/>
                  <a:pt x="4" y="470"/>
                </a:cubicBezTo>
                <a:cubicBezTo>
                  <a:pt x="4" y="470"/>
                  <a:pt x="4" y="470"/>
                  <a:pt x="4" y="470"/>
                </a:cubicBezTo>
                <a:cubicBezTo>
                  <a:pt x="4" y="471"/>
                  <a:pt x="4" y="472"/>
                  <a:pt x="2" y="472"/>
                </a:cubicBezTo>
                <a:cubicBezTo>
                  <a:pt x="2" y="472"/>
                  <a:pt x="2" y="472"/>
                  <a:pt x="2" y="472"/>
                </a:cubicBezTo>
                <a:cubicBezTo>
                  <a:pt x="1" y="472"/>
                  <a:pt x="0" y="471"/>
                  <a:pt x="0" y="470"/>
                </a:cubicBezTo>
                <a:close/>
                <a:moveTo>
                  <a:pt x="0" y="452"/>
                </a:moveTo>
                <a:cubicBezTo>
                  <a:pt x="0" y="451"/>
                  <a:pt x="1" y="450"/>
                  <a:pt x="2" y="450"/>
                </a:cubicBezTo>
                <a:cubicBezTo>
                  <a:pt x="2" y="450"/>
                  <a:pt x="2" y="450"/>
                  <a:pt x="2" y="450"/>
                </a:cubicBezTo>
                <a:cubicBezTo>
                  <a:pt x="4" y="450"/>
                  <a:pt x="4" y="451"/>
                  <a:pt x="4" y="452"/>
                </a:cubicBezTo>
                <a:cubicBezTo>
                  <a:pt x="4" y="452"/>
                  <a:pt x="4" y="452"/>
                  <a:pt x="4" y="452"/>
                </a:cubicBezTo>
                <a:cubicBezTo>
                  <a:pt x="4" y="453"/>
                  <a:pt x="4" y="454"/>
                  <a:pt x="2" y="454"/>
                </a:cubicBezTo>
                <a:cubicBezTo>
                  <a:pt x="2" y="454"/>
                  <a:pt x="2" y="454"/>
                  <a:pt x="2" y="454"/>
                </a:cubicBezTo>
                <a:cubicBezTo>
                  <a:pt x="1" y="454"/>
                  <a:pt x="0" y="453"/>
                  <a:pt x="0" y="452"/>
                </a:cubicBezTo>
                <a:close/>
                <a:moveTo>
                  <a:pt x="0" y="435"/>
                </a:moveTo>
                <a:cubicBezTo>
                  <a:pt x="0" y="434"/>
                  <a:pt x="1" y="433"/>
                  <a:pt x="2" y="433"/>
                </a:cubicBezTo>
                <a:cubicBezTo>
                  <a:pt x="2" y="433"/>
                  <a:pt x="2" y="433"/>
                  <a:pt x="2" y="433"/>
                </a:cubicBezTo>
                <a:cubicBezTo>
                  <a:pt x="4" y="433"/>
                  <a:pt x="4" y="434"/>
                  <a:pt x="4" y="435"/>
                </a:cubicBezTo>
                <a:cubicBezTo>
                  <a:pt x="4" y="435"/>
                  <a:pt x="4" y="435"/>
                  <a:pt x="4" y="435"/>
                </a:cubicBezTo>
                <a:cubicBezTo>
                  <a:pt x="4" y="436"/>
                  <a:pt x="4" y="437"/>
                  <a:pt x="2" y="437"/>
                </a:cubicBezTo>
                <a:cubicBezTo>
                  <a:pt x="2" y="437"/>
                  <a:pt x="2" y="437"/>
                  <a:pt x="2" y="437"/>
                </a:cubicBezTo>
                <a:cubicBezTo>
                  <a:pt x="1" y="437"/>
                  <a:pt x="0" y="436"/>
                  <a:pt x="0" y="435"/>
                </a:cubicBezTo>
                <a:close/>
                <a:moveTo>
                  <a:pt x="0" y="418"/>
                </a:moveTo>
                <a:cubicBezTo>
                  <a:pt x="0" y="417"/>
                  <a:pt x="1" y="416"/>
                  <a:pt x="2" y="416"/>
                </a:cubicBezTo>
                <a:cubicBezTo>
                  <a:pt x="2" y="416"/>
                  <a:pt x="2" y="416"/>
                  <a:pt x="2" y="416"/>
                </a:cubicBezTo>
                <a:cubicBezTo>
                  <a:pt x="4" y="416"/>
                  <a:pt x="4" y="417"/>
                  <a:pt x="4" y="418"/>
                </a:cubicBezTo>
                <a:cubicBezTo>
                  <a:pt x="4" y="418"/>
                  <a:pt x="4" y="418"/>
                  <a:pt x="4" y="418"/>
                </a:cubicBezTo>
                <a:cubicBezTo>
                  <a:pt x="4" y="419"/>
                  <a:pt x="4" y="420"/>
                  <a:pt x="2" y="420"/>
                </a:cubicBezTo>
                <a:cubicBezTo>
                  <a:pt x="2" y="420"/>
                  <a:pt x="2" y="420"/>
                  <a:pt x="2" y="420"/>
                </a:cubicBezTo>
                <a:cubicBezTo>
                  <a:pt x="1" y="420"/>
                  <a:pt x="0" y="419"/>
                  <a:pt x="0" y="418"/>
                </a:cubicBezTo>
                <a:close/>
                <a:moveTo>
                  <a:pt x="0" y="400"/>
                </a:moveTo>
                <a:cubicBezTo>
                  <a:pt x="0" y="399"/>
                  <a:pt x="1" y="398"/>
                  <a:pt x="2" y="398"/>
                </a:cubicBezTo>
                <a:cubicBezTo>
                  <a:pt x="2" y="398"/>
                  <a:pt x="2" y="398"/>
                  <a:pt x="2" y="398"/>
                </a:cubicBezTo>
                <a:cubicBezTo>
                  <a:pt x="4" y="398"/>
                  <a:pt x="4" y="399"/>
                  <a:pt x="4" y="400"/>
                </a:cubicBezTo>
                <a:cubicBezTo>
                  <a:pt x="4" y="400"/>
                  <a:pt x="4" y="400"/>
                  <a:pt x="4" y="400"/>
                </a:cubicBezTo>
                <a:cubicBezTo>
                  <a:pt x="4" y="401"/>
                  <a:pt x="4" y="402"/>
                  <a:pt x="2" y="402"/>
                </a:cubicBezTo>
                <a:cubicBezTo>
                  <a:pt x="2" y="402"/>
                  <a:pt x="2" y="402"/>
                  <a:pt x="2" y="402"/>
                </a:cubicBezTo>
                <a:cubicBezTo>
                  <a:pt x="1" y="402"/>
                  <a:pt x="0" y="401"/>
                  <a:pt x="0" y="400"/>
                </a:cubicBezTo>
                <a:close/>
                <a:moveTo>
                  <a:pt x="0" y="383"/>
                </a:moveTo>
                <a:cubicBezTo>
                  <a:pt x="0" y="382"/>
                  <a:pt x="1" y="381"/>
                  <a:pt x="2" y="381"/>
                </a:cubicBezTo>
                <a:cubicBezTo>
                  <a:pt x="2" y="381"/>
                  <a:pt x="2" y="381"/>
                  <a:pt x="2" y="381"/>
                </a:cubicBezTo>
                <a:cubicBezTo>
                  <a:pt x="4" y="381"/>
                  <a:pt x="4" y="382"/>
                  <a:pt x="4" y="383"/>
                </a:cubicBezTo>
                <a:cubicBezTo>
                  <a:pt x="4" y="383"/>
                  <a:pt x="4" y="383"/>
                  <a:pt x="4" y="383"/>
                </a:cubicBezTo>
                <a:cubicBezTo>
                  <a:pt x="4" y="384"/>
                  <a:pt x="4" y="385"/>
                  <a:pt x="2" y="385"/>
                </a:cubicBezTo>
                <a:cubicBezTo>
                  <a:pt x="2" y="385"/>
                  <a:pt x="2" y="385"/>
                  <a:pt x="2" y="385"/>
                </a:cubicBezTo>
                <a:cubicBezTo>
                  <a:pt x="1" y="385"/>
                  <a:pt x="0" y="384"/>
                  <a:pt x="0" y="383"/>
                </a:cubicBezTo>
                <a:close/>
                <a:moveTo>
                  <a:pt x="0" y="366"/>
                </a:moveTo>
                <a:cubicBezTo>
                  <a:pt x="0" y="365"/>
                  <a:pt x="1" y="364"/>
                  <a:pt x="2" y="364"/>
                </a:cubicBezTo>
                <a:cubicBezTo>
                  <a:pt x="2" y="364"/>
                  <a:pt x="2" y="364"/>
                  <a:pt x="2" y="364"/>
                </a:cubicBezTo>
                <a:cubicBezTo>
                  <a:pt x="4" y="364"/>
                  <a:pt x="4" y="365"/>
                  <a:pt x="4" y="366"/>
                </a:cubicBezTo>
                <a:cubicBezTo>
                  <a:pt x="4" y="366"/>
                  <a:pt x="4" y="366"/>
                  <a:pt x="4" y="366"/>
                </a:cubicBezTo>
                <a:cubicBezTo>
                  <a:pt x="4" y="367"/>
                  <a:pt x="4" y="368"/>
                  <a:pt x="2" y="368"/>
                </a:cubicBezTo>
                <a:cubicBezTo>
                  <a:pt x="2" y="368"/>
                  <a:pt x="2" y="368"/>
                  <a:pt x="2" y="368"/>
                </a:cubicBezTo>
                <a:cubicBezTo>
                  <a:pt x="1" y="368"/>
                  <a:pt x="0" y="367"/>
                  <a:pt x="0" y="366"/>
                </a:cubicBezTo>
                <a:close/>
                <a:moveTo>
                  <a:pt x="0" y="348"/>
                </a:moveTo>
                <a:cubicBezTo>
                  <a:pt x="0" y="347"/>
                  <a:pt x="1" y="346"/>
                  <a:pt x="2" y="346"/>
                </a:cubicBezTo>
                <a:cubicBezTo>
                  <a:pt x="2" y="346"/>
                  <a:pt x="2" y="346"/>
                  <a:pt x="2" y="346"/>
                </a:cubicBezTo>
                <a:cubicBezTo>
                  <a:pt x="4" y="346"/>
                  <a:pt x="4" y="347"/>
                  <a:pt x="4" y="348"/>
                </a:cubicBezTo>
                <a:cubicBezTo>
                  <a:pt x="4" y="348"/>
                  <a:pt x="4" y="348"/>
                  <a:pt x="4" y="348"/>
                </a:cubicBezTo>
                <a:cubicBezTo>
                  <a:pt x="4" y="350"/>
                  <a:pt x="4" y="350"/>
                  <a:pt x="2" y="350"/>
                </a:cubicBezTo>
                <a:cubicBezTo>
                  <a:pt x="2" y="350"/>
                  <a:pt x="2" y="350"/>
                  <a:pt x="2" y="350"/>
                </a:cubicBezTo>
                <a:cubicBezTo>
                  <a:pt x="1" y="350"/>
                  <a:pt x="0" y="350"/>
                  <a:pt x="0" y="348"/>
                </a:cubicBezTo>
                <a:close/>
                <a:moveTo>
                  <a:pt x="0" y="331"/>
                </a:moveTo>
                <a:cubicBezTo>
                  <a:pt x="0" y="330"/>
                  <a:pt x="1" y="329"/>
                  <a:pt x="2" y="329"/>
                </a:cubicBezTo>
                <a:cubicBezTo>
                  <a:pt x="2" y="329"/>
                  <a:pt x="2" y="329"/>
                  <a:pt x="2" y="329"/>
                </a:cubicBezTo>
                <a:cubicBezTo>
                  <a:pt x="4" y="329"/>
                  <a:pt x="4" y="330"/>
                  <a:pt x="4" y="331"/>
                </a:cubicBezTo>
                <a:cubicBezTo>
                  <a:pt x="4" y="331"/>
                  <a:pt x="4" y="331"/>
                  <a:pt x="4" y="331"/>
                </a:cubicBezTo>
                <a:cubicBezTo>
                  <a:pt x="4" y="332"/>
                  <a:pt x="4" y="333"/>
                  <a:pt x="2" y="333"/>
                </a:cubicBezTo>
                <a:cubicBezTo>
                  <a:pt x="2" y="333"/>
                  <a:pt x="2" y="333"/>
                  <a:pt x="2" y="333"/>
                </a:cubicBezTo>
                <a:cubicBezTo>
                  <a:pt x="1" y="333"/>
                  <a:pt x="0" y="332"/>
                  <a:pt x="0" y="331"/>
                </a:cubicBezTo>
                <a:close/>
                <a:moveTo>
                  <a:pt x="0" y="314"/>
                </a:moveTo>
                <a:cubicBezTo>
                  <a:pt x="0" y="313"/>
                  <a:pt x="1" y="312"/>
                  <a:pt x="2" y="312"/>
                </a:cubicBezTo>
                <a:cubicBezTo>
                  <a:pt x="2" y="312"/>
                  <a:pt x="2" y="312"/>
                  <a:pt x="2" y="312"/>
                </a:cubicBezTo>
                <a:cubicBezTo>
                  <a:pt x="4" y="312"/>
                  <a:pt x="4" y="313"/>
                  <a:pt x="4" y="314"/>
                </a:cubicBezTo>
                <a:cubicBezTo>
                  <a:pt x="4" y="314"/>
                  <a:pt x="4" y="314"/>
                  <a:pt x="4" y="314"/>
                </a:cubicBezTo>
                <a:cubicBezTo>
                  <a:pt x="4" y="315"/>
                  <a:pt x="4" y="316"/>
                  <a:pt x="2" y="316"/>
                </a:cubicBezTo>
                <a:cubicBezTo>
                  <a:pt x="2" y="316"/>
                  <a:pt x="2" y="316"/>
                  <a:pt x="2" y="316"/>
                </a:cubicBezTo>
                <a:cubicBezTo>
                  <a:pt x="1" y="316"/>
                  <a:pt x="0" y="315"/>
                  <a:pt x="0" y="314"/>
                </a:cubicBezTo>
                <a:close/>
                <a:moveTo>
                  <a:pt x="0" y="296"/>
                </a:moveTo>
                <a:cubicBezTo>
                  <a:pt x="0" y="295"/>
                  <a:pt x="1" y="294"/>
                  <a:pt x="2" y="294"/>
                </a:cubicBezTo>
                <a:cubicBezTo>
                  <a:pt x="2" y="294"/>
                  <a:pt x="2" y="294"/>
                  <a:pt x="2" y="294"/>
                </a:cubicBezTo>
                <a:cubicBezTo>
                  <a:pt x="4" y="294"/>
                  <a:pt x="4" y="295"/>
                  <a:pt x="4" y="296"/>
                </a:cubicBezTo>
                <a:cubicBezTo>
                  <a:pt x="4" y="296"/>
                  <a:pt x="4" y="296"/>
                  <a:pt x="4" y="296"/>
                </a:cubicBezTo>
                <a:cubicBezTo>
                  <a:pt x="4" y="298"/>
                  <a:pt x="4" y="298"/>
                  <a:pt x="2" y="298"/>
                </a:cubicBezTo>
                <a:cubicBezTo>
                  <a:pt x="2" y="298"/>
                  <a:pt x="2" y="298"/>
                  <a:pt x="2" y="298"/>
                </a:cubicBezTo>
                <a:cubicBezTo>
                  <a:pt x="1" y="298"/>
                  <a:pt x="0" y="298"/>
                  <a:pt x="0" y="296"/>
                </a:cubicBezTo>
                <a:close/>
                <a:moveTo>
                  <a:pt x="0" y="279"/>
                </a:moveTo>
                <a:cubicBezTo>
                  <a:pt x="0" y="278"/>
                  <a:pt x="1" y="277"/>
                  <a:pt x="2" y="277"/>
                </a:cubicBezTo>
                <a:cubicBezTo>
                  <a:pt x="2" y="277"/>
                  <a:pt x="2" y="277"/>
                  <a:pt x="2" y="277"/>
                </a:cubicBezTo>
                <a:cubicBezTo>
                  <a:pt x="4" y="277"/>
                  <a:pt x="4" y="278"/>
                  <a:pt x="4" y="279"/>
                </a:cubicBezTo>
                <a:cubicBezTo>
                  <a:pt x="4" y="279"/>
                  <a:pt x="4" y="279"/>
                  <a:pt x="4" y="279"/>
                </a:cubicBezTo>
                <a:cubicBezTo>
                  <a:pt x="4" y="280"/>
                  <a:pt x="4" y="281"/>
                  <a:pt x="2" y="281"/>
                </a:cubicBezTo>
                <a:cubicBezTo>
                  <a:pt x="2" y="281"/>
                  <a:pt x="2" y="281"/>
                  <a:pt x="2" y="281"/>
                </a:cubicBezTo>
                <a:cubicBezTo>
                  <a:pt x="1" y="281"/>
                  <a:pt x="0" y="280"/>
                  <a:pt x="0" y="279"/>
                </a:cubicBezTo>
                <a:close/>
                <a:moveTo>
                  <a:pt x="0" y="262"/>
                </a:moveTo>
                <a:cubicBezTo>
                  <a:pt x="0" y="261"/>
                  <a:pt x="1" y="260"/>
                  <a:pt x="2" y="260"/>
                </a:cubicBezTo>
                <a:cubicBezTo>
                  <a:pt x="2" y="260"/>
                  <a:pt x="2" y="260"/>
                  <a:pt x="2" y="260"/>
                </a:cubicBezTo>
                <a:cubicBezTo>
                  <a:pt x="4" y="260"/>
                  <a:pt x="4" y="261"/>
                  <a:pt x="4" y="262"/>
                </a:cubicBezTo>
                <a:cubicBezTo>
                  <a:pt x="4" y="262"/>
                  <a:pt x="4" y="262"/>
                  <a:pt x="4" y="262"/>
                </a:cubicBezTo>
                <a:cubicBezTo>
                  <a:pt x="4" y="263"/>
                  <a:pt x="4" y="264"/>
                  <a:pt x="2" y="264"/>
                </a:cubicBezTo>
                <a:cubicBezTo>
                  <a:pt x="2" y="264"/>
                  <a:pt x="2" y="264"/>
                  <a:pt x="2" y="264"/>
                </a:cubicBezTo>
                <a:cubicBezTo>
                  <a:pt x="1" y="264"/>
                  <a:pt x="0" y="263"/>
                  <a:pt x="0" y="262"/>
                </a:cubicBezTo>
                <a:close/>
                <a:moveTo>
                  <a:pt x="0" y="244"/>
                </a:moveTo>
                <a:cubicBezTo>
                  <a:pt x="0" y="243"/>
                  <a:pt x="1" y="242"/>
                  <a:pt x="2" y="242"/>
                </a:cubicBezTo>
                <a:cubicBezTo>
                  <a:pt x="2" y="242"/>
                  <a:pt x="2" y="242"/>
                  <a:pt x="2" y="242"/>
                </a:cubicBezTo>
                <a:cubicBezTo>
                  <a:pt x="4" y="242"/>
                  <a:pt x="4" y="243"/>
                  <a:pt x="4" y="244"/>
                </a:cubicBezTo>
                <a:cubicBezTo>
                  <a:pt x="4" y="244"/>
                  <a:pt x="4" y="244"/>
                  <a:pt x="4" y="244"/>
                </a:cubicBezTo>
                <a:cubicBezTo>
                  <a:pt x="4" y="246"/>
                  <a:pt x="4" y="246"/>
                  <a:pt x="2" y="246"/>
                </a:cubicBezTo>
                <a:cubicBezTo>
                  <a:pt x="2" y="246"/>
                  <a:pt x="2" y="246"/>
                  <a:pt x="2" y="246"/>
                </a:cubicBezTo>
                <a:cubicBezTo>
                  <a:pt x="1" y="246"/>
                  <a:pt x="0" y="246"/>
                  <a:pt x="0" y="244"/>
                </a:cubicBezTo>
                <a:close/>
                <a:moveTo>
                  <a:pt x="0" y="227"/>
                </a:moveTo>
                <a:cubicBezTo>
                  <a:pt x="0" y="226"/>
                  <a:pt x="1" y="225"/>
                  <a:pt x="2" y="225"/>
                </a:cubicBezTo>
                <a:cubicBezTo>
                  <a:pt x="2" y="225"/>
                  <a:pt x="2" y="225"/>
                  <a:pt x="2" y="225"/>
                </a:cubicBezTo>
                <a:cubicBezTo>
                  <a:pt x="4" y="225"/>
                  <a:pt x="4" y="226"/>
                  <a:pt x="4" y="227"/>
                </a:cubicBezTo>
                <a:cubicBezTo>
                  <a:pt x="4" y="227"/>
                  <a:pt x="4" y="227"/>
                  <a:pt x="4" y="227"/>
                </a:cubicBezTo>
                <a:cubicBezTo>
                  <a:pt x="4" y="228"/>
                  <a:pt x="4" y="229"/>
                  <a:pt x="2" y="229"/>
                </a:cubicBezTo>
                <a:cubicBezTo>
                  <a:pt x="2" y="229"/>
                  <a:pt x="2" y="229"/>
                  <a:pt x="2" y="229"/>
                </a:cubicBezTo>
                <a:cubicBezTo>
                  <a:pt x="1" y="229"/>
                  <a:pt x="0" y="228"/>
                  <a:pt x="0" y="227"/>
                </a:cubicBezTo>
                <a:close/>
                <a:moveTo>
                  <a:pt x="0" y="210"/>
                </a:moveTo>
                <a:cubicBezTo>
                  <a:pt x="0" y="209"/>
                  <a:pt x="1" y="208"/>
                  <a:pt x="2" y="208"/>
                </a:cubicBezTo>
                <a:cubicBezTo>
                  <a:pt x="2" y="208"/>
                  <a:pt x="2" y="208"/>
                  <a:pt x="2" y="208"/>
                </a:cubicBezTo>
                <a:cubicBezTo>
                  <a:pt x="4" y="208"/>
                  <a:pt x="4" y="209"/>
                  <a:pt x="4" y="210"/>
                </a:cubicBezTo>
                <a:cubicBezTo>
                  <a:pt x="4" y="210"/>
                  <a:pt x="4" y="210"/>
                  <a:pt x="4" y="210"/>
                </a:cubicBezTo>
                <a:cubicBezTo>
                  <a:pt x="4" y="211"/>
                  <a:pt x="4" y="212"/>
                  <a:pt x="2" y="212"/>
                </a:cubicBezTo>
                <a:cubicBezTo>
                  <a:pt x="2" y="212"/>
                  <a:pt x="2" y="212"/>
                  <a:pt x="2" y="212"/>
                </a:cubicBezTo>
                <a:cubicBezTo>
                  <a:pt x="1" y="212"/>
                  <a:pt x="0" y="211"/>
                  <a:pt x="0" y="210"/>
                </a:cubicBezTo>
                <a:close/>
                <a:moveTo>
                  <a:pt x="0" y="193"/>
                </a:moveTo>
                <a:cubicBezTo>
                  <a:pt x="0" y="191"/>
                  <a:pt x="1" y="191"/>
                  <a:pt x="2" y="191"/>
                </a:cubicBezTo>
                <a:cubicBezTo>
                  <a:pt x="2" y="191"/>
                  <a:pt x="2" y="191"/>
                  <a:pt x="2" y="191"/>
                </a:cubicBezTo>
                <a:cubicBezTo>
                  <a:pt x="4" y="191"/>
                  <a:pt x="4" y="191"/>
                  <a:pt x="4" y="193"/>
                </a:cubicBezTo>
                <a:cubicBezTo>
                  <a:pt x="4" y="193"/>
                  <a:pt x="4" y="193"/>
                  <a:pt x="4" y="193"/>
                </a:cubicBezTo>
                <a:cubicBezTo>
                  <a:pt x="4" y="194"/>
                  <a:pt x="4" y="195"/>
                  <a:pt x="2" y="195"/>
                </a:cubicBezTo>
                <a:cubicBezTo>
                  <a:pt x="2" y="195"/>
                  <a:pt x="2" y="195"/>
                  <a:pt x="2" y="195"/>
                </a:cubicBezTo>
                <a:cubicBezTo>
                  <a:pt x="1" y="195"/>
                  <a:pt x="0" y="194"/>
                  <a:pt x="0" y="193"/>
                </a:cubicBezTo>
                <a:close/>
                <a:moveTo>
                  <a:pt x="0" y="175"/>
                </a:moveTo>
                <a:cubicBezTo>
                  <a:pt x="0" y="174"/>
                  <a:pt x="1" y="173"/>
                  <a:pt x="2" y="173"/>
                </a:cubicBezTo>
                <a:cubicBezTo>
                  <a:pt x="2" y="173"/>
                  <a:pt x="2" y="173"/>
                  <a:pt x="2" y="173"/>
                </a:cubicBezTo>
                <a:cubicBezTo>
                  <a:pt x="4" y="173"/>
                  <a:pt x="4" y="174"/>
                  <a:pt x="4" y="175"/>
                </a:cubicBezTo>
                <a:cubicBezTo>
                  <a:pt x="4" y="175"/>
                  <a:pt x="4" y="175"/>
                  <a:pt x="4" y="175"/>
                </a:cubicBezTo>
                <a:cubicBezTo>
                  <a:pt x="4" y="176"/>
                  <a:pt x="4" y="177"/>
                  <a:pt x="2" y="177"/>
                </a:cubicBezTo>
                <a:cubicBezTo>
                  <a:pt x="2" y="177"/>
                  <a:pt x="2" y="177"/>
                  <a:pt x="2" y="177"/>
                </a:cubicBezTo>
                <a:cubicBezTo>
                  <a:pt x="1" y="177"/>
                  <a:pt x="0" y="176"/>
                  <a:pt x="0" y="175"/>
                </a:cubicBezTo>
                <a:close/>
                <a:moveTo>
                  <a:pt x="0" y="158"/>
                </a:moveTo>
                <a:cubicBezTo>
                  <a:pt x="0" y="157"/>
                  <a:pt x="1" y="156"/>
                  <a:pt x="2" y="156"/>
                </a:cubicBezTo>
                <a:cubicBezTo>
                  <a:pt x="2" y="156"/>
                  <a:pt x="2" y="156"/>
                  <a:pt x="2" y="156"/>
                </a:cubicBezTo>
                <a:cubicBezTo>
                  <a:pt x="4" y="156"/>
                  <a:pt x="4" y="157"/>
                  <a:pt x="4" y="158"/>
                </a:cubicBezTo>
                <a:cubicBezTo>
                  <a:pt x="4" y="158"/>
                  <a:pt x="4" y="158"/>
                  <a:pt x="4" y="158"/>
                </a:cubicBezTo>
                <a:cubicBezTo>
                  <a:pt x="4" y="159"/>
                  <a:pt x="4" y="160"/>
                  <a:pt x="2" y="160"/>
                </a:cubicBezTo>
                <a:cubicBezTo>
                  <a:pt x="2" y="160"/>
                  <a:pt x="2" y="160"/>
                  <a:pt x="2" y="160"/>
                </a:cubicBezTo>
                <a:cubicBezTo>
                  <a:pt x="1" y="160"/>
                  <a:pt x="0" y="159"/>
                  <a:pt x="0" y="158"/>
                </a:cubicBezTo>
                <a:close/>
                <a:moveTo>
                  <a:pt x="0" y="141"/>
                </a:moveTo>
                <a:cubicBezTo>
                  <a:pt x="0" y="139"/>
                  <a:pt x="1" y="139"/>
                  <a:pt x="2" y="139"/>
                </a:cubicBezTo>
                <a:cubicBezTo>
                  <a:pt x="2" y="139"/>
                  <a:pt x="2" y="139"/>
                  <a:pt x="2" y="139"/>
                </a:cubicBezTo>
                <a:cubicBezTo>
                  <a:pt x="4" y="139"/>
                  <a:pt x="4" y="139"/>
                  <a:pt x="4" y="141"/>
                </a:cubicBezTo>
                <a:cubicBezTo>
                  <a:pt x="4" y="141"/>
                  <a:pt x="4" y="141"/>
                  <a:pt x="4" y="141"/>
                </a:cubicBezTo>
                <a:cubicBezTo>
                  <a:pt x="4" y="142"/>
                  <a:pt x="4" y="143"/>
                  <a:pt x="2" y="143"/>
                </a:cubicBezTo>
                <a:cubicBezTo>
                  <a:pt x="2" y="143"/>
                  <a:pt x="2" y="143"/>
                  <a:pt x="2" y="143"/>
                </a:cubicBezTo>
                <a:cubicBezTo>
                  <a:pt x="1" y="143"/>
                  <a:pt x="0" y="142"/>
                  <a:pt x="0" y="141"/>
                </a:cubicBezTo>
                <a:close/>
                <a:moveTo>
                  <a:pt x="0" y="123"/>
                </a:moveTo>
                <a:cubicBezTo>
                  <a:pt x="0" y="122"/>
                  <a:pt x="1" y="121"/>
                  <a:pt x="2" y="121"/>
                </a:cubicBezTo>
                <a:cubicBezTo>
                  <a:pt x="2" y="121"/>
                  <a:pt x="2" y="121"/>
                  <a:pt x="2" y="121"/>
                </a:cubicBezTo>
                <a:cubicBezTo>
                  <a:pt x="4" y="121"/>
                  <a:pt x="4" y="122"/>
                  <a:pt x="4" y="123"/>
                </a:cubicBezTo>
                <a:cubicBezTo>
                  <a:pt x="4" y="123"/>
                  <a:pt x="4" y="123"/>
                  <a:pt x="4" y="123"/>
                </a:cubicBezTo>
                <a:cubicBezTo>
                  <a:pt x="4" y="124"/>
                  <a:pt x="4" y="125"/>
                  <a:pt x="2" y="125"/>
                </a:cubicBezTo>
                <a:cubicBezTo>
                  <a:pt x="2" y="125"/>
                  <a:pt x="2" y="125"/>
                  <a:pt x="2" y="125"/>
                </a:cubicBezTo>
                <a:cubicBezTo>
                  <a:pt x="1" y="125"/>
                  <a:pt x="0" y="124"/>
                  <a:pt x="0" y="123"/>
                </a:cubicBezTo>
                <a:close/>
                <a:moveTo>
                  <a:pt x="0" y="106"/>
                </a:moveTo>
                <a:cubicBezTo>
                  <a:pt x="0" y="105"/>
                  <a:pt x="1" y="104"/>
                  <a:pt x="2" y="104"/>
                </a:cubicBezTo>
                <a:cubicBezTo>
                  <a:pt x="2" y="104"/>
                  <a:pt x="2" y="104"/>
                  <a:pt x="2" y="104"/>
                </a:cubicBezTo>
                <a:cubicBezTo>
                  <a:pt x="4" y="104"/>
                  <a:pt x="4" y="105"/>
                  <a:pt x="4" y="106"/>
                </a:cubicBezTo>
                <a:cubicBezTo>
                  <a:pt x="4" y="106"/>
                  <a:pt x="4" y="106"/>
                  <a:pt x="4" y="106"/>
                </a:cubicBezTo>
                <a:cubicBezTo>
                  <a:pt x="4" y="107"/>
                  <a:pt x="4" y="108"/>
                  <a:pt x="2" y="108"/>
                </a:cubicBezTo>
                <a:cubicBezTo>
                  <a:pt x="2" y="108"/>
                  <a:pt x="2" y="108"/>
                  <a:pt x="2" y="108"/>
                </a:cubicBezTo>
                <a:cubicBezTo>
                  <a:pt x="1" y="108"/>
                  <a:pt x="0" y="107"/>
                  <a:pt x="0" y="106"/>
                </a:cubicBezTo>
                <a:close/>
                <a:moveTo>
                  <a:pt x="0" y="89"/>
                </a:moveTo>
                <a:cubicBezTo>
                  <a:pt x="0" y="87"/>
                  <a:pt x="1" y="87"/>
                  <a:pt x="2" y="87"/>
                </a:cubicBezTo>
                <a:cubicBezTo>
                  <a:pt x="2" y="87"/>
                  <a:pt x="2" y="87"/>
                  <a:pt x="2" y="87"/>
                </a:cubicBezTo>
                <a:cubicBezTo>
                  <a:pt x="4" y="87"/>
                  <a:pt x="4" y="87"/>
                  <a:pt x="4" y="89"/>
                </a:cubicBezTo>
                <a:cubicBezTo>
                  <a:pt x="4" y="89"/>
                  <a:pt x="4" y="89"/>
                  <a:pt x="4" y="89"/>
                </a:cubicBezTo>
                <a:cubicBezTo>
                  <a:pt x="4" y="90"/>
                  <a:pt x="4" y="91"/>
                  <a:pt x="2" y="91"/>
                </a:cubicBezTo>
                <a:cubicBezTo>
                  <a:pt x="2" y="91"/>
                  <a:pt x="2" y="91"/>
                  <a:pt x="2" y="91"/>
                </a:cubicBezTo>
                <a:cubicBezTo>
                  <a:pt x="1" y="91"/>
                  <a:pt x="0" y="90"/>
                  <a:pt x="0" y="89"/>
                </a:cubicBezTo>
                <a:close/>
                <a:moveTo>
                  <a:pt x="0" y="71"/>
                </a:moveTo>
                <a:cubicBezTo>
                  <a:pt x="0" y="70"/>
                  <a:pt x="1" y="69"/>
                  <a:pt x="2" y="69"/>
                </a:cubicBezTo>
                <a:cubicBezTo>
                  <a:pt x="2" y="69"/>
                  <a:pt x="2" y="69"/>
                  <a:pt x="2" y="69"/>
                </a:cubicBezTo>
                <a:cubicBezTo>
                  <a:pt x="4" y="69"/>
                  <a:pt x="4" y="70"/>
                  <a:pt x="4" y="71"/>
                </a:cubicBezTo>
                <a:cubicBezTo>
                  <a:pt x="4" y="71"/>
                  <a:pt x="4" y="71"/>
                  <a:pt x="4" y="71"/>
                </a:cubicBezTo>
                <a:cubicBezTo>
                  <a:pt x="4" y="72"/>
                  <a:pt x="4" y="73"/>
                  <a:pt x="2" y="73"/>
                </a:cubicBezTo>
                <a:cubicBezTo>
                  <a:pt x="2" y="73"/>
                  <a:pt x="2" y="73"/>
                  <a:pt x="2" y="73"/>
                </a:cubicBezTo>
                <a:cubicBezTo>
                  <a:pt x="1" y="73"/>
                  <a:pt x="0" y="72"/>
                  <a:pt x="0" y="71"/>
                </a:cubicBezTo>
                <a:close/>
                <a:moveTo>
                  <a:pt x="0" y="54"/>
                </a:moveTo>
                <a:cubicBezTo>
                  <a:pt x="0" y="53"/>
                  <a:pt x="1" y="52"/>
                  <a:pt x="2" y="52"/>
                </a:cubicBezTo>
                <a:cubicBezTo>
                  <a:pt x="2" y="52"/>
                  <a:pt x="2" y="52"/>
                  <a:pt x="2" y="52"/>
                </a:cubicBezTo>
                <a:cubicBezTo>
                  <a:pt x="4" y="52"/>
                  <a:pt x="4" y="53"/>
                  <a:pt x="4" y="54"/>
                </a:cubicBezTo>
                <a:cubicBezTo>
                  <a:pt x="4" y="54"/>
                  <a:pt x="4" y="54"/>
                  <a:pt x="4" y="54"/>
                </a:cubicBezTo>
                <a:cubicBezTo>
                  <a:pt x="4" y="55"/>
                  <a:pt x="4" y="56"/>
                  <a:pt x="2" y="56"/>
                </a:cubicBezTo>
                <a:cubicBezTo>
                  <a:pt x="2" y="56"/>
                  <a:pt x="2" y="56"/>
                  <a:pt x="2" y="56"/>
                </a:cubicBezTo>
                <a:cubicBezTo>
                  <a:pt x="1" y="56"/>
                  <a:pt x="0" y="55"/>
                  <a:pt x="0" y="54"/>
                </a:cubicBezTo>
                <a:close/>
                <a:moveTo>
                  <a:pt x="0" y="37"/>
                </a:moveTo>
                <a:cubicBezTo>
                  <a:pt x="0" y="36"/>
                  <a:pt x="1" y="35"/>
                  <a:pt x="2" y="35"/>
                </a:cubicBezTo>
                <a:cubicBezTo>
                  <a:pt x="2" y="35"/>
                  <a:pt x="2" y="35"/>
                  <a:pt x="2" y="35"/>
                </a:cubicBezTo>
                <a:cubicBezTo>
                  <a:pt x="4" y="35"/>
                  <a:pt x="4" y="36"/>
                  <a:pt x="4" y="37"/>
                </a:cubicBezTo>
                <a:cubicBezTo>
                  <a:pt x="4" y="37"/>
                  <a:pt x="4" y="37"/>
                  <a:pt x="4" y="37"/>
                </a:cubicBezTo>
                <a:cubicBezTo>
                  <a:pt x="4" y="38"/>
                  <a:pt x="4" y="39"/>
                  <a:pt x="2" y="39"/>
                </a:cubicBezTo>
                <a:cubicBezTo>
                  <a:pt x="2" y="39"/>
                  <a:pt x="2" y="39"/>
                  <a:pt x="2" y="39"/>
                </a:cubicBezTo>
                <a:cubicBezTo>
                  <a:pt x="1" y="39"/>
                  <a:pt x="0" y="38"/>
                  <a:pt x="0" y="37"/>
                </a:cubicBezTo>
                <a:close/>
                <a:moveTo>
                  <a:pt x="0" y="19"/>
                </a:moveTo>
                <a:cubicBezTo>
                  <a:pt x="0" y="18"/>
                  <a:pt x="1" y="17"/>
                  <a:pt x="2" y="17"/>
                </a:cubicBezTo>
                <a:cubicBezTo>
                  <a:pt x="2" y="17"/>
                  <a:pt x="2" y="17"/>
                  <a:pt x="2" y="17"/>
                </a:cubicBezTo>
                <a:cubicBezTo>
                  <a:pt x="4" y="17"/>
                  <a:pt x="4" y="18"/>
                  <a:pt x="4" y="19"/>
                </a:cubicBezTo>
                <a:cubicBezTo>
                  <a:pt x="4" y="19"/>
                  <a:pt x="4" y="19"/>
                  <a:pt x="4" y="19"/>
                </a:cubicBezTo>
                <a:cubicBezTo>
                  <a:pt x="4" y="20"/>
                  <a:pt x="4" y="21"/>
                  <a:pt x="2" y="21"/>
                </a:cubicBezTo>
                <a:cubicBezTo>
                  <a:pt x="2" y="21"/>
                  <a:pt x="2" y="21"/>
                  <a:pt x="2" y="21"/>
                </a:cubicBezTo>
                <a:cubicBezTo>
                  <a:pt x="1" y="21"/>
                  <a:pt x="0" y="20"/>
                  <a:pt x="0" y="19"/>
                </a:cubicBezTo>
                <a:close/>
                <a:moveTo>
                  <a:pt x="0" y="2"/>
                </a:moveTo>
                <a:cubicBezTo>
                  <a:pt x="0" y="1"/>
                  <a:pt x="1" y="0"/>
                  <a:pt x="2" y="0"/>
                </a:cubicBezTo>
                <a:cubicBezTo>
                  <a:pt x="2" y="0"/>
                  <a:pt x="2" y="0"/>
                  <a:pt x="2" y="0"/>
                </a:cubicBezTo>
                <a:cubicBezTo>
                  <a:pt x="4" y="0"/>
                  <a:pt x="4" y="1"/>
                  <a:pt x="4" y="2"/>
                </a:cubicBezTo>
                <a:cubicBezTo>
                  <a:pt x="4" y="2"/>
                  <a:pt x="4" y="2"/>
                  <a:pt x="4" y="2"/>
                </a:cubicBezTo>
                <a:cubicBezTo>
                  <a:pt x="4" y="3"/>
                  <a:pt x="4" y="4"/>
                  <a:pt x="2" y="4"/>
                </a:cubicBezTo>
                <a:cubicBezTo>
                  <a:pt x="2" y="4"/>
                  <a:pt x="2" y="4"/>
                  <a:pt x="2" y="4"/>
                </a:cubicBezTo>
                <a:cubicBezTo>
                  <a:pt x="1" y="4"/>
                  <a:pt x="0" y="3"/>
                  <a:pt x="0" y="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28765" name="Freeform 29"/>
          <p:cNvSpPr>
            <a:spLocks/>
          </p:cNvSpPr>
          <p:nvPr/>
        </p:nvSpPr>
        <p:spPr bwMode="auto">
          <a:xfrm>
            <a:off x="3419475" y="2620963"/>
            <a:ext cx="1274762" cy="808037"/>
          </a:xfrm>
          <a:custGeom>
            <a:avLst/>
            <a:gdLst>
              <a:gd name="T0" fmla="*/ 1228725 w 197"/>
              <a:gd name="T1" fmla="*/ 697586 h 139"/>
              <a:gd name="T2" fmla="*/ 1122693 w 197"/>
              <a:gd name="T3" fmla="*/ 808037 h 139"/>
              <a:gd name="T4" fmla="*/ 112269 w 197"/>
              <a:gd name="T5" fmla="*/ 808037 h 139"/>
              <a:gd name="T6" fmla="*/ 0 w 197"/>
              <a:gd name="T7" fmla="*/ 697586 h 139"/>
              <a:gd name="T8" fmla="*/ 0 w 197"/>
              <a:gd name="T9" fmla="*/ 104638 h 139"/>
              <a:gd name="T10" fmla="*/ 112269 w 197"/>
              <a:gd name="T11" fmla="*/ 0 h 139"/>
              <a:gd name="T12" fmla="*/ 1122693 w 197"/>
              <a:gd name="T13" fmla="*/ 0 h 139"/>
              <a:gd name="T14" fmla="*/ 1228725 w 197"/>
              <a:gd name="T15" fmla="*/ 104638 h 139"/>
              <a:gd name="T16" fmla="*/ 1228725 w 197"/>
              <a:gd name="T17" fmla="*/ 697586 h 13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7"/>
              <a:gd name="T28" fmla="*/ 0 h 139"/>
              <a:gd name="T29" fmla="*/ 197 w 197"/>
              <a:gd name="T30" fmla="*/ 139 h 13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7" h="139">
                <a:moveTo>
                  <a:pt x="197" y="120"/>
                </a:moveTo>
                <a:cubicBezTo>
                  <a:pt x="197" y="130"/>
                  <a:pt x="189" y="139"/>
                  <a:pt x="180" y="139"/>
                </a:cubicBezTo>
                <a:cubicBezTo>
                  <a:pt x="18" y="139"/>
                  <a:pt x="18" y="139"/>
                  <a:pt x="18" y="139"/>
                </a:cubicBezTo>
                <a:cubicBezTo>
                  <a:pt x="8" y="139"/>
                  <a:pt x="0" y="130"/>
                  <a:pt x="0" y="120"/>
                </a:cubicBezTo>
                <a:cubicBezTo>
                  <a:pt x="0" y="18"/>
                  <a:pt x="0" y="18"/>
                  <a:pt x="0" y="18"/>
                </a:cubicBezTo>
                <a:cubicBezTo>
                  <a:pt x="0" y="8"/>
                  <a:pt x="8" y="0"/>
                  <a:pt x="18" y="0"/>
                </a:cubicBezTo>
                <a:cubicBezTo>
                  <a:pt x="180" y="0"/>
                  <a:pt x="180" y="0"/>
                  <a:pt x="180" y="0"/>
                </a:cubicBezTo>
                <a:cubicBezTo>
                  <a:pt x="189" y="0"/>
                  <a:pt x="197" y="8"/>
                  <a:pt x="197" y="18"/>
                </a:cubicBezTo>
                <a:lnTo>
                  <a:pt x="197" y="12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en-US" dirty="0"/>
          </a:p>
        </p:txBody>
      </p:sp>
      <p:sp>
        <p:nvSpPr>
          <p:cNvPr id="628766" name="Freeform 30"/>
          <p:cNvSpPr>
            <a:spLocks/>
          </p:cNvSpPr>
          <p:nvPr/>
        </p:nvSpPr>
        <p:spPr bwMode="auto">
          <a:xfrm>
            <a:off x="5940425" y="2781299"/>
            <a:ext cx="990600" cy="530225"/>
          </a:xfrm>
          <a:custGeom>
            <a:avLst/>
            <a:gdLst>
              <a:gd name="T0" fmla="*/ 990600 w 133"/>
              <a:gd name="T1" fmla="*/ 367789 h 101"/>
              <a:gd name="T2" fmla="*/ 863982 w 133"/>
              <a:gd name="T3" fmla="*/ 453008 h 101"/>
              <a:gd name="T4" fmla="*/ 126618 w 133"/>
              <a:gd name="T5" fmla="*/ 453008 h 101"/>
              <a:gd name="T6" fmla="*/ 0 w 133"/>
              <a:gd name="T7" fmla="*/ 367789 h 101"/>
              <a:gd name="T8" fmla="*/ 0 w 133"/>
              <a:gd name="T9" fmla="*/ 85219 h 101"/>
              <a:gd name="T10" fmla="*/ 126618 w 133"/>
              <a:gd name="T11" fmla="*/ 0 h 101"/>
              <a:gd name="T12" fmla="*/ 863982 w 133"/>
              <a:gd name="T13" fmla="*/ 0 h 101"/>
              <a:gd name="T14" fmla="*/ 990600 w 133"/>
              <a:gd name="T15" fmla="*/ 85219 h 101"/>
              <a:gd name="T16" fmla="*/ 990600 w 133"/>
              <a:gd name="T17" fmla="*/ 367789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3"/>
              <a:gd name="T28" fmla="*/ 0 h 101"/>
              <a:gd name="T29" fmla="*/ 133 w 133"/>
              <a:gd name="T30" fmla="*/ 101 h 10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3" h="101">
                <a:moveTo>
                  <a:pt x="133" y="82"/>
                </a:moveTo>
                <a:cubicBezTo>
                  <a:pt x="133" y="92"/>
                  <a:pt x="125" y="101"/>
                  <a:pt x="116" y="101"/>
                </a:cubicBezTo>
                <a:cubicBezTo>
                  <a:pt x="17" y="101"/>
                  <a:pt x="17" y="101"/>
                  <a:pt x="17" y="101"/>
                </a:cubicBezTo>
                <a:cubicBezTo>
                  <a:pt x="8" y="101"/>
                  <a:pt x="0" y="92"/>
                  <a:pt x="0" y="82"/>
                </a:cubicBezTo>
                <a:cubicBezTo>
                  <a:pt x="0" y="19"/>
                  <a:pt x="0" y="19"/>
                  <a:pt x="0" y="19"/>
                </a:cubicBezTo>
                <a:cubicBezTo>
                  <a:pt x="0" y="8"/>
                  <a:pt x="8" y="0"/>
                  <a:pt x="17" y="0"/>
                </a:cubicBezTo>
                <a:cubicBezTo>
                  <a:pt x="116" y="0"/>
                  <a:pt x="116" y="0"/>
                  <a:pt x="116" y="0"/>
                </a:cubicBezTo>
                <a:cubicBezTo>
                  <a:pt x="125" y="0"/>
                  <a:pt x="133" y="8"/>
                  <a:pt x="133" y="19"/>
                </a:cubicBezTo>
                <a:lnTo>
                  <a:pt x="133" y="82"/>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lang="en-US" dirty="0"/>
          </a:p>
        </p:txBody>
      </p:sp>
      <p:sp>
        <p:nvSpPr>
          <p:cNvPr id="628767" name="Rectangle 31"/>
          <p:cNvSpPr>
            <a:spLocks noChangeArrowheads="1"/>
          </p:cNvSpPr>
          <p:nvPr/>
        </p:nvSpPr>
        <p:spPr bwMode="auto">
          <a:xfrm>
            <a:off x="3504621" y="2665413"/>
            <a:ext cx="110447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i="1" dirty="0">
                <a:solidFill>
                  <a:srgbClr val="000000"/>
                </a:solidFill>
                <a:cs typeface="Calibri" panose="020F0502020204030204" pitchFamily="34" charset="0"/>
              </a:rPr>
              <a:t>Feasible and </a:t>
            </a:r>
          </a:p>
          <a:p>
            <a:pPr algn="ctr"/>
            <a:r>
              <a:rPr lang="en-US" sz="1600" i="1" dirty="0">
                <a:solidFill>
                  <a:srgbClr val="000000"/>
                </a:solidFill>
                <a:cs typeface="Calibri" panose="020F0502020204030204" pitchFamily="34" charset="0"/>
              </a:rPr>
              <a:t>efficient</a:t>
            </a:r>
          </a:p>
          <a:p>
            <a:pPr algn="ctr"/>
            <a:r>
              <a:rPr lang="en-US" sz="1600" i="1" dirty="0">
                <a:solidFill>
                  <a:srgbClr val="000000"/>
                </a:solidFill>
                <a:cs typeface="Calibri" panose="020F0502020204030204" pitchFamily="34" charset="0"/>
              </a:rPr>
              <a:t>in production</a:t>
            </a:r>
            <a:endParaRPr lang="en-US" sz="1600" i="1" dirty="0">
              <a:cs typeface="Calibri" panose="020F0502020204030204" pitchFamily="34" charset="0"/>
            </a:endParaRPr>
          </a:p>
        </p:txBody>
      </p:sp>
      <p:sp>
        <p:nvSpPr>
          <p:cNvPr id="628768" name="Freeform 32"/>
          <p:cNvSpPr>
            <a:spLocks/>
          </p:cNvSpPr>
          <p:nvPr/>
        </p:nvSpPr>
        <p:spPr bwMode="auto">
          <a:xfrm>
            <a:off x="1835150" y="4365104"/>
            <a:ext cx="938213" cy="787401"/>
          </a:xfrm>
          <a:custGeom>
            <a:avLst/>
            <a:gdLst>
              <a:gd name="T0" fmla="*/ 1398588 w 197"/>
              <a:gd name="T1" fmla="*/ 449062 h 95"/>
              <a:gd name="T2" fmla="*/ 1270798 w 197"/>
              <a:gd name="T3" fmla="*/ 554038 h 95"/>
              <a:gd name="T4" fmla="*/ 127790 w 197"/>
              <a:gd name="T5" fmla="*/ 554038 h 95"/>
              <a:gd name="T6" fmla="*/ 0 w 197"/>
              <a:gd name="T7" fmla="*/ 449062 h 95"/>
              <a:gd name="T8" fmla="*/ 0 w 197"/>
              <a:gd name="T9" fmla="*/ 110808 h 95"/>
              <a:gd name="T10" fmla="*/ 127790 w 197"/>
              <a:gd name="T11" fmla="*/ 0 h 95"/>
              <a:gd name="T12" fmla="*/ 1270798 w 197"/>
              <a:gd name="T13" fmla="*/ 0 h 95"/>
              <a:gd name="T14" fmla="*/ 1398588 w 197"/>
              <a:gd name="T15" fmla="*/ 110808 h 95"/>
              <a:gd name="T16" fmla="*/ 1398588 w 197"/>
              <a:gd name="T17" fmla="*/ 449062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7"/>
              <a:gd name="T28" fmla="*/ 0 h 95"/>
              <a:gd name="T29" fmla="*/ 197 w 197"/>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7" h="95">
                <a:moveTo>
                  <a:pt x="197" y="77"/>
                </a:moveTo>
                <a:cubicBezTo>
                  <a:pt x="197" y="87"/>
                  <a:pt x="189" y="95"/>
                  <a:pt x="179" y="95"/>
                </a:cubicBezTo>
                <a:cubicBezTo>
                  <a:pt x="18" y="95"/>
                  <a:pt x="18" y="95"/>
                  <a:pt x="18" y="95"/>
                </a:cubicBezTo>
                <a:cubicBezTo>
                  <a:pt x="8" y="95"/>
                  <a:pt x="0" y="87"/>
                  <a:pt x="0" y="77"/>
                </a:cubicBezTo>
                <a:cubicBezTo>
                  <a:pt x="0" y="19"/>
                  <a:pt x="0" y="19"/>
                  <a:pt x="0" y="19"/>
                </a:cubicBezTo>
                <a:cubicBezTo>
                  <a:pt x="0" y="8"/>
                  <a:pt x="8" y="0"/>
                  <a:pt x="18" y="0"/>
                </a:cubicBezTo>
                <a:cubicBezTo>
                  <a:pt x="179" y="0"/>
                  <a:pt x="179" y="0"/>
                  <a:pt x="179" y="0"/>
                </a:cubicBezTo>
                <a:cubicBezTo>
                  <a:pt x="189" y="0"/>
                  <a:pt x="197" y="8"/>
                  <a:pt x="197" y="19"/>
                </a:cubicBezTo>
                <a:lnTo>
                  <a:pt x="197" y="77"/>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28769" name="Line 33"/>
          <p:cNvSpPr>
            <a:spLocks noChangeShapeType="1"/>
          </p:cNvSpPr>
          <p:nvPr/>
        </p:nvSpPr>
        <p:spPr bwMode="auto">
          <a:xfrm>
            <a:off x="6254750" y="2514599"/>
            <a:ext cx="26988" cy="266699"/>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628770" name="Rectangle 34"/>
          <p:cNvSpPr>
            <a:spLocks noChangeArrowheads="1"/>
          </p:cNvSpPr>
          <p:nvPr/>
        </p:nvSpPr>
        <p:spPr bwMode="auto">
          <a:xfrm>
            <a:off x="6000750" y="2809874"/>
            <a:ext cx="88106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600" i="1" dirty="0">
                <a:solidFill>
                  <a:srgbClr val="000000"/>
                </a:solidFill>
                <a:cs typeface="Calibri" panose="020F0502020204030204" pitchFamily="34" charset="0"/>
              </a:rPr>
              <a:t>Not feasible</a:t>
            </a:r>
            <a:endParaRPr lang="en-US" sz="1600" i="1" dirty="0">
              <a:cs typeface="Calibri" panose="020F0502020204030204" pitchFamily="34" charset="0"/>
            </a:endParaRPr>
          </a:p>
        </p:txBody>
      </p:sp>
      <p:sp>
        <p:nvSpPr>
          <p:cNvPr id="14369" name="Freeform 36"/>
          <p:cNvSpPr>
            <a:spLocks noEditPoints="1"/>
          </p:cNvSpPr>
          <p:nvPr/>
        </p:nvSpPr>
        <p:spPr bwMode="auto">
          <a:xfrm>
            <a:off x="3732213" y="4137025"/>
            <a:ext cx="28575" cy="1323975"/>
          </a:xfrm>
          <a:custGeom>
            <a:avLst/>
            <a:gdLst>
              <a:gd name="T0" fmla="*/ 14288 w 4"/>
              <a:gd name="T1" fmla="*/ 1296817 h 195"/>
              <a:gd name="T2" fmla="*/ 28575 w 4"/>
              <a:gd name="T3" fmla="*/ 1310396 h 195"/>
              <a:gd name="T4" fmla="*/ 14288 w 4"/>
              <a:gd name="T5" fmla="*/ 1323975 h 195"/>
              <a:gd name="T6" fmla="*/ 0 w 4"/>
              <a:gd name="T7" fmla="*/ 1310396 h 195"/>
              <a:gd name="T8" fmla="*/ 14288 w 4"/>
              <a:gd name="T9" fmla="*/ 1181393 h 195"/>
              <a:gd name="T10" fmla="*/ 28575 w 4"/>
              <a:gd name="T11" fmla="*/ 1194972 h 195"/>
              <a:gd name="T12" fmla="*/ 14288 w 4"/>
              <a:gd name="T13" fmla="*/ 1208552 h 195"/>
              <a:gd name="T14" fmla="*/ 0 w 4"/>
              <a:gd name="T15" fmla="*/ 1194972 h 195"/>
              <a:gd name="T16" fmla="*/ 14288 w 4"/>
              <a:gd name="T17" fmla="*/ 1059180 h 195"/>
              <a:gd name="T18" fmla="*/ 28575 w 4"/>
              <a:gd name="T19" fmla="*/ 1072759 h 195"/>
              <a:gd name="T20" fmla="*/ 14288 w 4"/>
              <a:gd name="T21" fmla="*/ 1086339 h 195"/>
              <a:gd name="T22" fmla="*/ 0 w 4"/>
              <a:gd name="T23" fmla="*/ 1072759 h 195"/>
              <a:gd name="T24" fmla="*/ 14288 w 4"/>
              <a:gd name="T25" fmla="*/ 943757 h 195"/>
              <a:gd name="T26" fmla="*/ 28575 w 4"/>
              <a:gd name="T27" fmla="*/ 957336 h 195"/>
              <a:gd name="T28" fmla="*/ 14288 w 4"/>
              <a:gd name="T29" fmla="*/ 970915 h 195"/>
              <a:gd name="T30" fmla="*/ 0 w 4"/>
              <a:gd name="T31" fmla="*/ 957336 h 195"/>
              <a:gd name="T32" fmla="*/ 14288 w 4"/>
              <a:gd name="T33" fmla="*/ 828333 h 195"/>
              <a:gd name="T34" fmla="*/ 28575 w 4"/>
              <a:gd name="T35" fmla="*/ 841912 h 195"/>
              <a:gd name="T36" fmla="*/ 14288 w 4"/>
              <a:gd name="T37" fmla="*/ 855491 h 195"/>
              <a:gd name="T38" fmla="*/ 0 w 4"/>
              <a:gd name="T39" fmla="*/ 841912 h 195"/>
              <a:gd name="T40" fmla="*/ 14288 w 4"/>
              <a:gd name="T41" fmla="*/ 706120 h 195"/>
              <a:gd name="T42" fmla="*/ 28575 w 4"/>
              <a:gd name="T43" fmla="*/ 719699 h 195"/>
              <a:gd name="T44" fmla="*/ 14288 w 4"/>
              <a:gd name="T45" fmla="*/ 733278 h 195"/>
              <a:gd name="T46" fmla="*/ 0 w 4"/>
              <a:gd name="T47" fmla="*/ 719699 h 195"/>
              <a:gd name="T48" fmla="*/ 14288 w 4"/>
              <a:gd name="T49" fmla="*/ 590697 h 195"/>
              <a:gd name="T50" fmla="*/ 28575 w 4"/>
              <a:gd name="T51" fmla="*/ 604276 h 195"/>
              <a:gd name="T52" fmla="*/ 14288 w 4"/>
              <a:gd name="T53" fmla="*/ 617855 h 195"/>
              <a:gd name="T54" fmla="*/ 0 w 4"/>
              <a:gd name="T55" fmla="*/ 604276 h 195"/>
              <a:gd name="T56" fmla="*/ 14288 w 4"/>
              <a:gd name="T57" fmla="*/ 475273 h 195"/>
              <a:gd name="T58" fmla="*/ 28575 w 4"/>
              <a:gd name="T59" fmla="*/ 488852 h 195"/>
              <a:gd name="T60" fmla="*/ 14288 w 4"/>
              <a:gd name="T61" fmla="*/ 502432 h 195"/>
              <a:gd name="T62" fmla="*/ 0 w 4"/>
              <a:gd name="T63" fmla="*/ 488852 h 195"/>
              <a:gd name="T64" fmla="*/ 14288 w 4"/>
              <a:gd name="T65" fmla="*/ 353060 h 195"/>
              <a:gd name="T66" fmla="*/ 28575 w 4"/>
              <a:gd name="T67" fmla="*/ 366639 h 195"/>
              <a:gd name="T68" fmla="*/ 14288 w 4"/>
              <a:gd name="T69" fmla="*/ 380218 h 195"/>
              <a:gd name="T70" fmla="*/ 0 w 4"/>
              <a:gd name="T71" fmla="*/ 366639 h 195"/>
              <a:gd name="T72" fmla="*/ 14288 w 4"/>
              <a:gd name="T73" fmla="*/ 237637 h 195"/>
              <a:gd name="T74" fmla="*/ 28575 w 4"/>
              <a:gd name="T75" fmla="*/ 251216 h 195"/>
              <a:gd name="T76" fmla="*/ 14288 w 4"/>
              <a:gd name="T77" fmla="*/ 264795 h 195"/>
              <a:gd name="T78" fmla="*/ 0 w 4"/>
              <a:gd name="T79" fmla="*/ 251216 h 195"/>
              <a:gd name="T80" fmla="*/ 14288 w 4"/>
              <a:gd name="T81" fmla="*/ 122213 h 195"/>
              <a:gd name="T82" fmla="*/ 28575 w 4"/>
              <a:gd name="T83" fmla="*/ 135792 h 195"/>
              <a:gd name="T84" fmla="*/ 14288 w 4"/>
              <a:gd name="T85" fmla="*/ 149372 h 195"/>
              <a:gd name="T86" fmla="*/ 0 w 4"/>
              <a:gd name="T87" fmla="*/ 135792 h 195"/>
              <a:gd name="T88" fmla="*/ 14288 w 4"/>
              <a:gd name="T89" fmla="*/ 0 h 195"/>
              <a:gd name="T90" fmla="*/ 28575 w 4"/>
              <a:gd name="T91" fmla="*/ 13579 h 195"/>
              <a:gd name="T92" fmla="*/ 14288 w 4"/>
              <a:gd name="T93" fmla="*/ 27158 h 195"/>
              <a:gd name="T94" fmla="*/ 0 w 4"/>
              <a:gd name="T95" fmla="*/ 13579 h 19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
              <a:gd name="T145" fmla="*/ 0 h 195"/>
              <a:gd name="T146" fmla="*/ 4 w 4"/>
              <a:gd name="T147" fmla="*/ 195 h 19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 h="195">
                <a:moveTo>
                  <a:pt x="0" y="193"/>
                </a:moveTo>
                <a:cubicBezTo>
                  <a:pt x="0" y="192"/>
                  <a:pt x="1" y="191"/>
                  <a:pt x="2" y="191"/>
                </a:cubicBezTo>
                <a:cubicBezTo>
                  <a:pt x="2" y="191"/>
                  <a:pt x="2" y="191"/>
                  <a:pt x="2" y="191"/>
                </a:cubicBezTo>
                <a:cubicBezTo>
                  <a:pt x="3" y="191"/>
                  <a:pt x="4" y="192"/>
                  <a:pt x="4" y="193"/>
                </a:cubicBezTo>
                <a:cubicBezTo>
                  <a:pt x="4" y="193"/>
                  <a:pt x="4" y="193"/>
                  <a:pt x="4" y="193"/>
                </a:cubicBezTo>
                <a:cubicBezTo>
                  <a:pt x="4" y="194"/>
                  <a:pt x="3" y="195"/>
                  <a:pt x="2" y="195"/>
                </a:cubicBezTo>
                <a:cubicBezTo>
                  <a:pt x="2" y="195"/>
                  <a:pt x="2" y="195"/>
                  <a:pt x="2" y="195"/>
                </a:cubicBezTo>
                <a:cubicBezTo>
                  <a:pt x="1" y="195"/>
                  <a:pt x="0" y="194"/>
                  <a:pt x="0" y="193"/>
                </a:cubicBezTo>
                <a:close/>
                <a:moveTo>
                  <a:pt x="0" y="176"/>
                </a:moveTo>
                <a:cubicBezTo>
                  <a:pt x="0" y="174"/>
                  <a:pt x="1" y="174"/>
                  <a:pt x="2" y="174"/>
                </a:cubicBezTo>
                <a:cubicBezTo>
                  <a:pt x="2" y="174"/>
                  <a:pt x="2" y="174"/>
                  <a:pt x="2" y="174"/>
                </a:cubicBezTo>
                <a:cubicBezTo>
                  <a:pt x="3" y="174"/>
                  <a:pt x="4" y="174"/>
                  <a:pt x="4" y="176"/>
                </a:cubicBezTo>
                <a:cubicBezTo>
                  <a:pt x="4" y="176"/>
                  <a:pt x="4" y="176"/>
                  <a:pt x="4" y="176"/>
                </a:cubicBezTo>
                <a:cubicBezTo>
                  <a:pt x="4" y="177"/>
                  <a:pt x="3" y="178"/>
                  <a:pt x="2" y="178"/>
                </a:cubicBezTo>
                <a:cubicBezTo>
                  <a:pt x="2" y="178"/>
                  <a:pt x="2" y="178"/>
                  <a:pt x="2" y="178"/>
                </a:cubicBezTo>
                <a:cubicBezTo>
                  <a:pt x="1" y="178"/>
                  <a:pt x="0" y="177"/>
                  <a:pt x="0" y="176"/>
                </a:cubicBezTo>
                <a:close/>
                <a:moveTo>
                  <a:pt x="0" y="158"/>
                </a:moveTo>
                <a:cubicBezTo>
                  <a:pt x="0" y="157"/>
                  <a:pt x="1" y="156"/>
                  <a:pt x="2" y="156"/>
                </a:cubicBezTo>
                <a:cubicBezTo>
                  <a:pt x="2" y="156"/>
                  <a:pt x="2" y="156"/>
                  <a:pt x="2" y="156"/>
                </a:cubicBezTo>
                <a:cubicBezTo>
                  <a:pt x="3" y="156"/>
                  <a:pt x="4" y="157"/>
                  <a:pt x="4" y="158"/>
                </a:cubicBezTo>
                <a:cubicBezTo>
                  <a:pt x="4" y="158"/>
                  <a:pt x="4" y="158"/>
                  <a:pt x="4" y="158"/>
                </a:cubicBezTo>
                <a:cubicBezTo>
                  <a:pt x="4" y="159"/>
                  <a:pt x="3" y="160"/>
                  <a:pt x="2" y="160"/>
                </a:cubicBezTo>
                <a:cubicBezTo>
                  <a:pt x="2" y="160"/>
                  <a:pt x="2" y="160"/>
                  <a:pt x="2" y="160"/>
                </a:cubicBezTo>
                <a:cubicBezTo>
                  <a:pt x="1" y="160"/>
                  <a:pt x="0" y="159"/>
                  <a:pt x="0" y="158"/>
                </a:cubicBezTo>
                <a:close/>
                <a:moveTo>
                  <a:pt x="0" y="141"/>
                </a:moveTo>
                <a:cubicBezTo>
                  <a:pt x="0" y="140"/>
                  <a:pt x="1" y="139"/>
                  <a:pt x="2" y="139"/>
                </a:cubicBezTo>
                <a:cubicBezTo>
                  <a:pt x="2" y="139"/>
                  <a:pt x="2" y="139"/>
                  <a:pt x="2" y="139"/>
                </a:cubicBezTo>
                <a:cubicBezTo>
                  <a:pt x="3" y="139"/>
                  <a:pt x="4" y="140"/>
                  <a:pt x="4" y="141"/>
                </a:cubicBezTo>
                <a:cubicBezTo>
                  <a:pt x="4" y="141"/>
                  <a:pt x="4" y="141"/>
                  <a:pt x="4" y="141"/>
                </a:cubicBezTo>
                <a:cubicBezTo>
                  <a:pt x="4" y="142"/>
                  <a:pt x="3" y="143"/>
                  <a:pt x="2" y="143"/>
                </a:cubicBezTo>
                <a:cubicBezTo>
                  <a:pt x="2" y="143"/>
                  <a:pt x="2" y="143"/>
                  <a:pt x="2" y="143"/>
                </a:cubicBezTo>
                <a:cubicBezTo>
                  <a:pt x="1" y="143"/>
                  <a:pt x="0" y="142"/>
                  <a:pt x="0" y="141"/>
                </a:cubicBezTo>
                <a:close/>
                <a:moveTo>
                  <a:pt x="0" y="124"/>
                </a:moveTo>
                <a:cubicBezTo>
                  <a:pt x="0" y="122"/>
                  <a:pt x="1" y="122"/>
                  <a:pt x="2" y="122"/>
                </a:cubicBezTo>
                <a:cubicBezTo>
                  <a:pt x="2" y="122"/>
                  <a:pt x="2" y="122"/>
                  <a:pt x="2" y="122"/>
                </a:cubicBezTo>
                <a:cubicBezTo>
                  <a:pt x="3" y="122"/>
                  <a:pt x="4" y="122"/>
                  <a:pt x="4" y="124"/>
                </a:cubicBezTo>
                <a:cubicBezTo>
                  <a:pt x="4" y="124"/>
                  <a:pt x="4" y="124"/>
                  <a:pt x="4" y="124"/>
                </a:cubicBezTo>
                <a:cubicBezTo>
                  <a:pt x="4" y="125"/>
                  <a:pt x="3" y="126"/>
                  <a:pt x="2" y="126"/>
                </a:cubicBezTo>
                <a:cubicBezTo>
                  <a:pt x="2" y="126"/>
                  <a:pt x="2" y="126"/>
                  <a:pt x="2" y="126"/>
                </a:cubicBezTo>
                <a:cubicBezTo>
                  <a:pt x="1" y="126"/>
                  <a:pt x="0" y="125"/>
                  <a:pt x="0" y="124"/>
                </a:cubicBezTo>
                <a:close/>
                <a:moveTo>
                  <a:pt x="0" y="106"/>
                </a:moveTo>
                <a:cubicBezTo>
                  <a:pt x="0" y="105"/>
                  <a:pt x="1" y="104"/>
                  <a:pt x="2" y="104"/>
                </a:cubicBezTo>
                <a:cubicBezTo>
                  <a:pt x="2" y="104"/>
                  <a:pt x="2" y="104"/>
                  <a:pt x="2" y="104"/>
                </a:cubicBezTo>
                <a:cubicBezTo>
                  <a:pt x="3" y="104"/>
                  <a:pt x="4" y="105"/>
                  <a:pt x="4" y="106"/>
                </a:cubicBezTo>
                <a:cubicBezTo>
                  <a:pt x="4" y="106"/>
                  <a:pt x="4" y="106"/>
                  <a:pt x="4" y="106"/>
                </a:cubicBezTo>
                <a:cubicBezTo>
                  <a:pt x="4" y="107"/>
                  <a:pt x="3" y="108"/>
                  <a:pt x="2" y="108"/>
                </a:cubicBezTo>
                <a:cubicBezTo>
                  <a:pt x="2" y="108"/>
                  <a:pt x="2" y="108"/>
                  <a:pt x="2" y="108"/>
                </a:cubicBezTo>
                <a:cubicBezTo>
                  <a:pt x="1" y="108"/>
                  <a:pt x="0" y="107"/>
                  <a:pt x="0" y="106"/>
                </a:cubicBezTo>
                <a:close/>
                <a:moveTo>
                  <a:pt x="0" y="89"/>
                </a:moveTo>
                <a:cubicBezTo>
                  <a:pt x="0" y="88"/>
                  <a:pt x="1" y="87"/>
                  <a:pt x="2" y="87"/>
                </a:cubicBezTo>
                <a:cubicBezTo>
                  <a:pt x="2" y="87"/>
                  <a:pt x="2" y="87"/>
                  <a:pt x="2" y="87"/>
                </a:cubicBezTo>
                <a:cubicBezTo>
                  <a:pt x="3" y="87"/>
                  <a:pt x="4" y="88"/>
                  <a:pt x="4" y="89"/>
                </a:cubicBezTo>
                <a:cubicBezTo>
                  <a:pt x="4" y="89"/>
                  <a:pt x="4" y="89"/>
                  <a:pt x="4" y="89"/>
                </a:cubicBezTo>
                <a:cubicBezTo>
                  <a:pt x="4" y="90"/>
                  <a:pt x="3" y="91"/>
                  <a:pt x="2" y="91"/>
                </a:cubicBezTo>
                <a:cubicBezTo>
                  <a:pt x="2" y="91"/>
                  <a:pt x="2" y="91"/>
                  <a:pt x="2" y="91"/>
                </a:cubicBezTo>
                <a:cubicBezTo>
                  <a:pt x="1" y="91"/>
                  <a:pt x="0" y="90"/>
                  <a:pt x="0" y="89"/>
                </a:cubicBezTo>
                <a:close/>
                <a:moveTo>
                  <a:pt x="0" y="72"/>
                </a:moveTo>
                <a:cubicBezTo>
                  <a:pt x="0" y="70"/>
                  <a:pt x="1" y="70"/>
                  <a:pt x="2" y="70"/>
                </a:cubicBezTo>
                <a:cubicBezTo>
                  <a:pt x="2" y="70"/>
                  <a:pt x="2" y="70"/>
                  <a:pt x="2" y="70"/>
                </a:cubicBezTo>
                <a:cubicBezTo>
                  <a:pt x="3" y="70"/>
                  <a:pt x="4" y="70"/>
                  <a:pt x="4" y="72"/>
                </a:cubicBezTo>
                <a:cubicBezTo>
                  <a:pt x="4" y="72"/>
                  <a:pt x="4" y="72"/>
                  <a:pt x="4" y="72"/>
                </a:cubicBezTo>
                <a:cubicBezTo>
                  <a:pt x="4" y="73"/>
                  <a:pt x="3" y="74"/>
                  <a:pt x="2" y="74"/>
                </a:cubicBezTo>
                <a:cubicBezTo>
                  <a:pt x="2" y="74"/>
                  <a:pt x="2" y="74"/>
                  <a:pt x="2" y="74"/>
                </a:cubicBezTo>
                <a:cubicBezTo>
                  <a:pt x="1" y="74"/>
                  <a:pt x="0" y="73"/>
                  <a:pt x="0" y="72"/>
                </a:cubicBezTo>
                <a:close/>
                <a:moveTo>
                  <a:pt x="0" y="54"/>
                </a:moveTo>
                <a:cubicBezTo>
                  <a:pt x="0" y="53"/>
                  <a:pt x="1" y="52"/>
                  <a:pt x="2" y="52"/>
                </a:cubicBezTo>
                <a:cubicBezTo>
                  <a:pt x="2" y="52"/>
                  <a:pt x="2" y="52"/>
                  <a:pt x="2" y="52"/>
                </a:cubicBezTo>
                <a:cubicBezTo>
                  <a:pt x="3" y="52"/>
                  <a:pt x="4" y="53"/>
                  <a:pt x="4" y="54"/>
                </a:cubicBezTo>
                <a:cubicBezTo>
                  <a:pt x="4" y="54"/>
                  <a:pt x="4" y="54"/>
                  <a:pt x="4" y="54"/>
                </a:cubicBezTo>
                <a:cubicBezTo>
                  <a:pt x="4" y="55"/>
                  <a:pt x="3" y="56"/>
                  <a:pt x="2" y="56"/>
                </a:cubicBezTo>
                <a:cubicBezTo>
                  <a:pt x="2" y="56"/>
                  <a:pt x="2" y="56"/>
                  <a:pt x="2" y="56"/>
                </a:cubicBezTo>
                <a:cubicBezTo>
                  <a:pt x="1" y="56"/>
                  <a:pt x="0" y="55"/>
                  <a:pt x="0" y="54"/>
                </a:cubicBezTo>
                <a:close/>
                <a:moveTo>
                  <a:pt x="0" y="37"/>
                </a:moveTo>
                <a:cubicBezTo>
                  <a:pt x="0" y="36"/>
                  <a:pt x="1" y="35"/>
                  <a:pt x="2" y="35"/>
                </a:cubicBezTo>
                <a:cubicBezTo>
                  <a:pt x="2" y="35"/>
                  <a:pt x="2" y="35"/>
                  <a:pt x="2" y="35"/>
                </a:cubicBezTo>
                <a:cubicBezTo>
                  <a:pt x="3" y="35"/>
                  <a:pt x="4" y="36"/>
                  <a:pt x="4" y="37"/>
                </a:cubicBezTo>
                <a:cubicBezTo>
                  <a:pt x="4" y="37"/>
                  <a:pt x="4" y="37"/>
                  <a:pt x="4" y="37"/>
                </a:cubicBezTo>
                <a:cubicBezTo>
                  <a:pt x="4" y="38"/>
                  <a:pt x="3" y="39"/>
                  <a:pt x="2" y="39"/>
                </a:cubicBezTo>
                <a:cubicBezTo>
                  <a:pt x="2" y="39"/>
                  <a:pt x="2" y="39"/>
                  <a:pt x="2" y="39"/>
                </a:cubicBezTo>
                <a:cubicBezTo>
                  <a:pt x="1" y="39"/>
                  <a:pt x="0" y="38"/>
                  <a:pt x="0" y="37"/>
                </a:cubicBezTo>
                <a:close/>
                <a:moveTo>
                  <a:pt x="0" y="20"/>
                </a:moveTo>
                <a:cubicBezTo>
                  <a:pt x="0" y="19"/>
                  <a:pt x="1" y="18"/>
                  <a:pt x="2" y="18"/>
                </a:cubicBezTo>
                <a:cubicBezTo>
                  <a:pt x="2" y="18"/>
                  <a:pt x="2" y="18"/>
                  <a:pt x="2" y="18"/>
                </a:cubicBezTo>
                <a:cubicBezTo>
                  <a:pt x="3" y="18"/>
                  <a:pt x="4" y="19"/>
                  <a:pt x="4" y="20"/>
                </a:cubicBezTo>
                <a:cubicBezTo>
                  <a:pt x="4" y="20"/>
                  <a:pt x="4" y="20"/>
                  <a:pt x="4" y="20"/>
                </a:cubicBezTo>
                <a:cubicBezTo>
                  <a:pt x="4" y="21"/>
                  <a:pt x="3" y="22"/>
                  <a:pt x="2" y="22"/>
                </a:cubicBezTo>
                <a:cubicBezTo>
                  <a:pt x="2" y="22"/>
                  <a:pt x="2" y="22"/>
                  <a:pt x="2" y="22"/>
                </a:cubicBezTo>
                <a:cubicBezTo>
                  <a:pt x="1" y="22"/>
                  <a:pt x="0" y="21"/>
                  <a:pt x="0" y="20"/>
                </a:cubicBezTo>
                <a:close/>
                <a:moveTo>
                  <a:pt x="0" y="2"/>
                </a:moveTo>
                <a:cubicBezTo>
                  <a:pt x="0" y="1"/>
                  <a:pt x="1" y="0"/>
                  <a:pt x="2" y="0"/>
                </a:cubicBezTo>
                <a:cubicBezTo>
                  <a:pt x="2" y="0"/>
                  <a:pt x="2" y="0"/>
                  <a:pt x="2" y="0"/>
                </a:cubicBezTo>
                <a:cubicBezTo>
                  <a:pt x="3" y="0"/>
                  <a:pt x="4" y="1"/>
                  <a:pt x="4" y="2"/>
                </a:cubicBezTo>
                <a:cubicBezTo>
                  <a:pt x="4" y="2"/>
                  <a:pt x="4" y="2"/>
                  <a:pt x="4" y="2"/>
                </a:cubicBezTo>
                <a:cubicBezTo>
                  <a:pt x="4" y="3"/>
                  <a:pt x="3" y="4"/>
                  <a:pt x="2" y="4"/>
                </a:cubicBezTo>
                <a:cubicBezTo>
                  <a:pt x="2" y="4"/>
                  <a:pt x="2" y="4"/>
                  <a:pt x="2" y="4"/>
                </a:cubicBezTo>
                <a:cubicBezTo>
                  <a:pt x="1" y="4"/>
                  <a:pt x="0" y="3"/>
                  <a:pt x="0" y="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370" name="Line 37"/>
          <p:cNvSpPr>
            <a:spLocks noChangeShapeType="1"/>
          </p:cNvSpPr>
          <p:nvPr/>
        </p:nvSpPr>
        <p:spPr bwMode="auto">
          <a:xfrm flipV="1">
            <a:off x="3744913" y="5527675"/>
            <a:ext cx="0" cy="18891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4371" name="Line 38"/>
          <p:cNvSpPr>
            <a:spLocks noChangeShapeType="1"/>
          </p:cNvSpPr>
          <p:nvPr/>
        </p:nvSpPr>
        <p:spPr bwMode="auto">
          <a:xfrm>
            <a:off x="1498600" y="4075113"/>
            <a:ext cx="190500"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4372" name="Rectangle 39"/>
          <p:cNvSpPr>
            <a:spLocks noChangeArrowheads="1"/>
          </p:cNvSpPr>
          <p:nvPr/>
        </p:nvSpPr>
        <p:spPr bwMode="auto">
          <a:xfrm>
            <a:off x="6129338" y="5354638"/>
            <a:ext cx="3492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PPF</a:t>
            </a:r>
            <a:endParaRPr lang="en-US" sz="1400" i="1" dirty="0"/>
          </a:p>
        </p:txBody>
      </p:sp>
      <p:sp>
        <p:nvSpPr>
          <p:cNvPr id="14373" name="Oval 40"/>
          <p:cNvSpPr>
            <a:spLocks noChangeArrowheads="1"/>
          </p:cNvSpPr>
          <p:nvPr/>
        </p:nvSpPr>
        <p:spPr bwMode="auto">
          <a:xfrm>
            <a:off x="3673475" y="4006850"/>
            <a:ext cx="141288" cy="1349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374" name="Oval 41"/>
          <p:cNvSpPr>
            <a:spLocks noChangeArrowheads="1"/>
          </p:cNvSpPr>
          <p:nvPr/>
        </p:nvSpPr>
        <p:spPr bwMode="auto">
          <a:xfrm>
            <a:off x="3673475" y="4725988"/>
            <a:ext cx="141288" cy="13811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375" name="Oval 42"/>
          <p:cNvSpPr>
            <a:spLocks noChangeArrowheads="1"/>
          </p:cNvSpPr>
          <p:nvPr/>
        </p:nvSpPr>
        <p:spPr bwMode="auto">
          <a:xfrm>
            <a:off x="4675188" y="4725988"/>
            <a:ext cx="142875" cy="13811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376" name="Freeform 43"/>
          <p:cNvSpPr>
            <a:spLocks/>
          </p:cNvSpPr>
          <p:nvPr/>
        </p:nvSpPr>
        <p:spPr bwMode="auto">
          <a:xfrm>
            <a:off x="1498600" y="1230313"/>
            <a:ext cx="5978525" cy="4486275"/>
          </a:xfrm>
          <a:custGeom>
            <a:avLst/>
            <a:gdLst>
              <a:gd name="T0" fmla="*/ 5978525 w 1992"/>
              <a:gd name="T1" fmla="*/ 4486275 h 1561"/>
              <a:gd name="T2" fmla="*/ 0 w 1992"/>
              <a:gd name="T3" fmla="*/ 4486275 h 1561"/>
              <a:gd name="T4" fmla="*/ 0 w 1992"/>
              <a:gd name="T5" fmla="*/ 0 h 1561"/>
              <a:gd name="T6" fmla="*/ 0 60000 65536"/>
              <a:gd name="T7" fmla="*/ 0 60000 65536"/>
              <a:gd name="T8" fmla="*/ 0 60000 65536"/>
              <a:gd name="T9" fmla="*/ 0 w 1992"/>
              <a:gd name="T10" fmla="*/ 0 h 1561"/>
              <a:gd name="T11" fmla="*/ 1992 w 1992"/>
              <a:gd name="T12" fmla="*/ 1561 h 1561"/>
            </a:gdLst>
            <a:ahLst/>
            <a:cxnLst>
              <a:cxn ang="T6">
                <a:pos x="T0" y="T1"/>
              </a:cxn>
              <a:cxn ang="T7">
                <a:pos x="T2" y="T3"/>
              </a:cxn>
              <a:cxn ang="T8">
                <a:pos x="T4" y="T5"/>
              </a:cxn>
            </a:cxnLst>
            <a:rect l="T9" t="T10" r="T11" b="T12"/>
            <a:pathLst>
              <a:path w="1992" h="1561">
                <a:moveTo>
                  <a:pt x="1992" y="1561"/>
                </a:moveTo>
                <a:lnTo>
                  <a:pt x="0" y="1561"/>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4377" name="Rectangle 44"/>
          <p:cNvSpPr>
            <a:spLocks noChangeArrowheads="1"/>
          </p:cNvSpPr>
          <p:nvPr/>
        </p:nvSpPr>
        <p:spPr bwMode="auto">
          <a:xfrm>
            <a:off x="7010400" y="5867400"/>
            <a:ext cx="18081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small jets</a:t>
            </a:r>
            <a:endParaRPr lang="en-US" sz="1400" b="1" dirty="0"/>
          </a:p>
        </p:txBody>
      </p:sp>
      <p:sp>
        <p:nvSpPr>
          <p:cNvPr id="628781" name="Rectangle 45"/>
          <p:cNvSpPr>
            <a:spLocks noChangeArrowheads="1"/>
          </p:cNvSpPr>
          <p:nvPr/>
        </p:nvSpPr>
        <p:spPr bwMode="auto">
          <a:xfrm>
            <a:off x="1835150" y="4437112"/>
            <a:ext cx="9175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sz="1600" i="1" dirty="0">
                <a:solidFill>
                  <a:srgbClr val="000000"/>
                </a:solidFill>
                <a:cs typeface="Calibri" panose="020F0502020204030204" pitchFamily="34" charset="0"/>
              </a:rPr>
              <a:t>Feasible  but not efficient</a:t>
            </a:r>
            <a:endParaRPr lang="en-US" sz="1600" i="1" dirty="0">
              <a:cs typeface="Calibri" panose="020F0502020204030204" pitchFamily="34" charset="0"/>
            </a:endParaRPr>
          </a:p>
        </p:txBody>
      </p:sp>
      <p:sp>
        <p:nvSpPr>
          <p:cNvPr id="43" name="Line 16"/>
          <p:cNvSpPr>
            <a:spLocks noChangeShapeType="1"/>
          </p:cNvSpPr>
          <p:nvPr/>
        </p:nvSpPr>
        <p:spPr bwMode="auto">
          <a:xfrm>
            <a:off x="2773363" y="4641850"/>
            <a:ext cx="900112" cy="15240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cxnSp>
        <p:nvCxnSpPr>
          <p:cNvPr id="3" name="Straight Arrow Connector 2"/>
          <p:cNvCxnSpPr/>
          <p:nvPr/>
        </p:nvCxnSpPr>
        <p:spPr>
          <a:xfrm>
            <a:off x="3924300" y="4087813"/>
            <a:ext cx="750888" cy="554037"/>
          </a:xfrm>
          <a:prstGeom prst="straightConnector1">
            <a:avLst/>
          </a:prstGeom>
          <a:ln>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49" name="Rectangle 34"/>
          <p:cNvSpPr>
            <a:spLocks noChangeArrowheads="1"/>
          </p:cNvSpPr>
          <p:nvPr/>
        </p:nvSpPr>
        <p:spPr bwMode="auto">
          <a:xfrm>
            <a:off x="4067944" y="3934217"/>
            <a:ext cx="88106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400" i="1" dirty="0" smtClean="0">
                <a:solidFill>
                  <a:srgbClr val="000000"/>
                </a:solidFill>
                <a:latin typeface="Myriad Pro"/>
              </a:rPr>
              <a:t>Societal</a:t>
            </a:r>
          </a:p>
          <a:p>
            <a:pPr algn="ctr"/>
            <a:r>
              <a:rPr lang="en-US" sz="1400" i="1" dirty="0" smtClean="0">
                <a:solidFill>
                  <a:srgbClr val="000000"/>
                </a:solidFill>
                <a:latin typeface="Myriad Pro"/>
              </a:rPr>
              <a:t>choice</a:t>
            </a:r>
            <a:endParaRPr lang="en-US" sz="1400" i="1" dirty="0">
              <a:latin typeface="Myriad Pro"/>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628768"/>
                                        </p:tgtEl>
                                        <p:attrNameLst>
                                          <p:attrName>style.visibility</p:attrName>
                                        </p:attrNameLst>
                                      </p:cBhvr>
                                      <p:to>
                                        <p:strVal val="visible"/>
                                      </p:to>
                                    </p:set>
                                  </p:childTnLst>
                                </p:cTn>
                              </p:par>
                              <p:par>
                                <p:cTn id="11" presetID="22" presetClass="entr" presetSubtype="8" fill="hold" grpId="0" nodeType="withEffect">
                                  <p:stCondLst>
                                    <p:cond delay="0"/>
                                  </p:stCondLst>
                                  <p:childTnLst>
                                    <p:set>
                                      <p:cBhvr>
                                        <p:cTn id="12" dur="1" fill="hold">
                                          <p:stCondLst>
                                            <p:cond delay="0"/>
                                          </p:stCondLst>
                                        </p:cTn>
                                        <p:tgtEl>
                                          <p:spTgt spid="628781"/>
                                        </p:tgtEl>
                                        <p:attrNameLst>
                                          <p:attrName>style.visibility</p:attrName>
                                        </p:attrNameLst>
                                      </p:cBhvr>
                                      <p:to>
                                        <p:strVal val="visible"/>
                                      </p:to>
                                    </p:set>
                                    <p:animEffect transition="in" filter="wipe(left)">
                                      <p:cBhvr>
                                        <p:cTn id="13" dur="500"/>
                                        <p:tgtEl>
                                          <p:spTgt spid="628781"/>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43"/>
                                        </p:tgtEl>
                                        <p:attrNameLst>
                                          <p:attrName>style.visibility</p:attrName>
                                        </p:attrNameLst>
                                      </p:cBhvr>
                                      <p:to>
                                        <p:strVal val="visible"/>
                                      </p:to>
                                    </p:set>
                                  </p:childTnLst>
                                </p:cTn>
                              </p:par>
                            </p:childTnLst>
                          </p:cTn>
                        </p:par>
                        <p:par>
                          <p:cTn id="16" fill="hold">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6287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8752"/>
                                        </p:tgtEl>
                                        <p:attrNameLst>
                                          <p:attrName>style.visibility</p:attrName>
                                        </p:attrNameLst>
                                      </p:cBhvr>
                                      <p:to>
                                        <p:strVal val="visible"/>
                                      </p:to>
                                    </p:set>
                                  </p:childTnLst>
                                </p:cTn>
                              </p:par>
                              <p:par>
                                <p:cTn id="21" presetID="22" presetClass="entr" presetSubtype="8" fill="hold" grpId="0" nodeType="withEffect">
                                  <p:stCondLst>
                                    <p:cond delay="0"/>
                                  </p:stCondLst>
                                  <p:childTnLst>
                                    <p:set>
                                      <p:cBhvr>
                                        <p:cTn id="22" dur="1" fill="hold">
                                          <p:stCondLst>
                                            <p:cond delay="0"/>
                                          </p:stCondLst>
                                        </p:cTn>
                                        <p:tgtEl>
                                          <p:spTgt spid="628767"/>
                                        </p:tgtEl>
                                        <p:attrNameLst>
                                          <p:attrName>style.visibility</p:attrName>
                                        </p:attrNameLst>
                                      </p:cBhvr>
                                      <p:to>
                                        <p:strVal val="visible"/>
                                      </p:to>
                                    </p:set>
                                    <p:animEffect transition="in" filter="wipe(left)">
                                      <p:cBhvr>
                                        <p:cTn id="23" dur="500"/>
                                        <p:tgtEl>
                                          <p:spTgt spid="628767"/>
                                        </p:tgtEl>
                                      </p:cBhvr>
                                    </p:animEffect>
                                  </p:childTnLst>
                                </p:cTn>
                              </p:par>
                            </p:childTnLst>
                          </p:cTn>
                        </p:par>
                        <p:par>
                          <p:cTn id="24" fill="hold">
                            <p:stCondLst>
                              <p:cond delay="1500"/>
                            </p:stCondLst>
                            <p:childTnLst>
                              <p:par>
                                <p:cTn id="25" presetID="1" presetClass="entr" presetSubtype="0" fill="hold" grpId="0" nodeType="afterEffect">
                                  <p:stCondLst>
                                    <p:cond delay="0"/>
                                  </p:stCondLst>
                                  <p:childTnLst>
                                    <p:set>
                                      <p:cBhvr>
                                        <p:cTn id="26" dur="1" fill="hold">
                                          <p:stCondLst>
                                            <p:cond delay="0"/>
                                          </p:stCondLst>
                                        </p:cTn>
                                        <p:tgtEl>
                                          <p:spTgt spid="628766"/>
                                        </p:tgtEl>
                                        <p:attrNameLst>
                                          <p:attrName>style.visibility</p:attrName>
                                        </p:attrNameLst>
                                      </p:cBhvr>
                                      <p:to>
                                        <p:strVal val="visible"/>
                                      </p:to>
                                    </p:set>
                                  </p:childTnLst>
                                </p:cTn>
                              </p:par>
                              <p:par>
                                <p:cTn id="27" presetID="22" presetClass="entr" presetSubtype="8" fill="hold" grpId="0" nodeType="withEffect">
                                  <p:stCondLst>
                                    <p:cond delay="0"/>
                                  </p:stCondLst>
                                  <p:childTnLst>
                                    <p:set>
                                      <p:cBhvr>
                                        <p:cTn id="28" dur="1" fill="hold">
                                          <p:stCondLst>
                                            <p:cond delay="0"/>
                                          </p:stCondLst>
                                        </p:cTn>
                                        <p:tgtEl>
                                          <p:spTgt spid="628770"/>
                                        </p:tgtEl>
                                        <p:attrNameLst>
                                          <p:attrName>style.visibility</p:attrName>
                                        </p:attrNameLst>
                                      </p:cBhvr>
                                      <p:to>
                                        <p:strVal val="visible"/>
                                      </p:to>
                                    </p:set>
                                    <p:animEffect transition="in" filter="wipe(left)">
                                      <p:cBhvr>
                                        <p:cTn id="29" dur="500"/>
                                        <p:tgtEl>
                                          <p:spTgt spid="628770"/>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6287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52" grpId="0" animBg="1"/>
      <p:bldP spid="628765" grpId="0" animBg="1"/>
      <p:bldP spid="628766" grpId="0" animBg="1"/>
      <p:bldP spid="628767" grpId="0"/>
      <p:bldP spid="628768" grpId="0" animBg="1"/>
      <p:bldP spid="628769" grpId="0" animBg="1"/>
      <p:bldP spid="628770" grpId="0"/>
      <p:bldP spid="628781" grpId="0"/>
      <p:bldP spid="43" grpId="0" animBg="1"/>
      <p:bldP spid="49"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 name="Picture 6" descr="dreamstimefree_792065.jpg"/>
          <p:cNvPicPr>
            <a:picLocks noChangeAspect="1"/>
          </p:cNvPicPr>
          <p:nvPr/>
        </p:nvPicPr>
        <p:blipFill>
          <a:blip r:embed="rId3" cstate="screen">
            <a:duotone>
              <a:schemeClr val="accent5">
                <a:shade val="45000"/>
                <a:satMod val="135000"/>
              </a:schemeClr>
              <a:prstClr val="white"/>
            </a:duotone>
            <a:lum bright="1000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Content Placeholder 2"/>
          <p:cNvSpPr>
            <a:spLocks noGrp="1"/>
          </p:cNvSpPr>
          <p:nvPr>
            <p:ph idx="1"/>
          </p:nvPr>
        </p:nvSpPr>
        <p:spPr>
          <a:xfrm>
            <a:off x="467544" y="908720"/>
            <a:ext cx="8390706" cy="5217442"/>
          </a:xfrm>
        </p:spPr>
        <p:txBody>
          <a:bodyPr>
            <a:normAutofit/>
          </a:bodyPr>
          <a:lstStyle/>
          <a:p>
            <a:pPr eaLnBrk="1" hangingPunct="1">
              <a:buFont typeface="Times" pitchFamily="18" charset="0"/>
              <a:buNone/>
            </a:pPr>
            <a:r>
              <a:rPr lang="en-US" sz="3600" b="1" dirty="0" smtClean="0">
                <a:solidFill>
                  <a:schemeClr val="accent1">
                    <a:lumMod val="75000"/>
                  </a:schemeClr>
                </a:solidFill>
              </a:rPr>
              <a:t>The PPF model answers questions like:</a:t>
            </a:r>
          </a:p>
          <a:p>
            <a:pPr eaLnBrk="1" hangingPunct="1">
              <a:buFont typeface="Times" pitchFamily="18" charset="0"/>
              <a:buNone/>
            </a:pPr>
            <a:endParaRPr lang="en-US" sz="2000" dirty="0" smtClean="0">
              <a:solidFill>
                <a:srgbClr val="00B0F0"/>
              </a:solidFill>
            </a:endParaRPr>
          </a:p>
          <a:p>
            <a:pPr lvl="1" eaLnBrk="1" hangingPunct="1"/>
            <a:r>
              <a:rPr lang="en-US" sz="3600" dirty="0" smtClean="0"/>
              <a:t>How much can we produce?</a:t>
            </a:r>
          </a:p>
          <a:p>
            <a:pPr lvl="1" eaLnBrk="1" hangingPunct="1"/>
            <a:endParaRPr lang="en-US" sz="1500" dirty="0" smtClean="0"/>
          </a:p>
          <a:p>
            <a:pPr lvl="1" eaLnBrk="1" hangingPunct="1"/>
            <a:r>
              <a:rPr lang="en-US" sz="3600" dirty="0" smtClean="0"/>
              <a:t>What will it cost us to increase production of a certain good?</a:t>
            </a:r>
          </a:p>
          <a:p>
            <a:pPr lvl="1" eaLnBrk="1" hangingPunct="1"/>
            <a:endParaRPr lang="en-US" sz="1400" dirty="0" smtClean="0"/>
          </a:p>
          <a:p>
            <a:pPr lvl="1" eaLnBrk="1" hangingPunct="1"/>
            <a:r>
              <a:rPr lang="en-US" sz="3600" dirty="0" smtClean="0"/>
              <a:t>Does it make sense to import the good from somewhere else?</a:t>
            </a:r>
          </a:p>
          <a:p>
            <a:pPr eaLnBrk="1" hangingPunct="1"/>
            <a:endParaRPr lang="en-US" sz="4400" dirty="0" smtClean="0"/>
          </a:p>
        </p:txBody>
      </p:sp>
      <p:sp>
        <p:nvSpPr>
          <p:cNvPr id="4" name="Title 3"/>
          <p:cNvSpPr>
            <a:spLocks noGrp="1"/>
          </p:cNvSpPr>
          <p:nvPr>
            <p:ph type="title"/>
          </p:nvPr>
        </p:nvSpPr>
        <p:spPr>
          <a:xfrm>
            <a:off x="827584" y="60325"/>
            <a:ext cx="8078787" cy="555625"/>
          </a:xfrm>
        </p:spPr>
        <p:txBody>
          <a:bodyPr/>
          <a:lstStyle/>
          <a:p>
            <a:r>
              <a:rPr lang="en-US" dirty="0">
                <a:solidFill>
                  <a:schemeClr val="tx2"/>
                </a:solidFill>
              </a:rPr>
              <a:t>Trade-offs: The Production Possibility Frontier</a:t>
            </a:r>
            <a:endParaRPr lang="en-SG" dirty="0">
              <a:solidFill>
                <a:schemeClr val="tx2"/>
              </a:solidFill>
            </a:endParaRPr>
          </a:p>
        </p:txBody>
      </p:sp>
    </p:spTree>
    <p:extLst>
      <p:ext uri="{BB962C8B-B14F-4D97-AF65-F5344CB8AC3E}">
        <p14:creationId xmlns:p14="http://schemas.microsoft.com/office/powerpoint/2010/main" val="33833116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Opportunity Cost</a:t>
            </a:r>
            <a:endParaRPr lang="en-US" dirty="0"/>
          </a:p>
        </p:txBody>
      </p:sp>
      <p:sp>
        <p:nvSpPr>
          <p:cNvPr id="3" name="Content Placeholder 2"/>
          <p:cNvSpPr>
            <a:spLocks noGrp="1"/>
          </p:cNvSpPr>
          <p:nvPr>
            <p:ph idx="1"/>
          </p:nvPr>
        </p:nvSpPr>
        <p:spPr/>
        <p:txBody>
          <a:bodyPr/>
          <a:lstStyle/>
          <a:p>
            <a:r>
              <a:rPr lang="en-US" dirty="0" smtClean="0">
                <a:solidFill>
                  <a:srgbClr val="990033"/>
                </a:solidFill>
              </a:rPr>
              <a:t>Opportunity Cost: </a:t>
            </a:r>
            <a:r>
              <a:rPr lang="en-US" b="0" dirty="0"/>
              <a:t>what must be given up in order to get </a:t>
            </a:r>
            <a:r>
              <a:rPr lang="en-US" b="0" dirty="0" smtClean="0"/>
              <a:t>a good.</a:t>
            </a:r>
            <a:endParaRPr lang="en-US" dirty="0"/>
          </a:p>
        </p:txBody>
      </p:sp>
      <p:sp>
        <p:nvSpPr>
          <p:cNvPr id="6" name="Slide Number Placeholder 3"/>
          <p:cNvSpPr txBox="1">
            <a:spLocks/>
          </p:cNvSpPr>
          <p:nvPr/>
        </p:nvSpPr>
        <p:spPr bwMode="auto">
          <a:xfrm>
            <a:off x="8763000" y="7010400"/>
            <a:ext cx="609600" cy="381000"/>
          </a:xfrm>
          <a:prstGeom prst="rect">
            <a:avLst/>
          </a:prstGeom>
          <a:noFill/>
          <a:ln w="19050">
            <a:noFill/>
            <a:prstDash val="sysDot"/>
            <a:miter lim="800000"/>
            <a:headEnd/>
            <a:tailEnd/>
          </a:ln>
          <a:effectLst/>
        </p:spPr>
        <p:txBody>
          <a:bodyPr vert="horz" wrap="square" lIns="91440" tIns="45720" rIns="91440" bIns="45720" numCol="1" anchor="ctr" anchorCtr="1"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90BD5B-5194-49F5-ADD4-EEB529C4A3FA}" type="slidenum">
              <a:rPr kumimoji="0" lang="en-US" sz="1400" b="0" i="0" u="none" strike="noStrike" kern="1200" cap="none" spc="0" normalizeH="0" baseline="0" noProof="0" smtClean="0">
                <a:ln>
                  <a:noFill/>
                </a:ln>
                <a:solidFill>
                  <a:srgbClr val="969696"/>
                </a:solidFill>
                <a:effectLst/>
                <a:uLnTx/>
                <a:uFillTx/>
                <a:latin typeface="Arial" pitchFamily="34" charset="0"/>
                <a:cs typeface="Arial"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7</a:t>
            </a:fld>
            <a:endParaRPr kumimoji="0" lang="en-US" sz="1400" b="0" i="0" u="none" strike="noStrike" kern="1200" cap="none" spc="0" normalizeH="0" baseline="0" noProof="0" dirty="0">
              <a:ln>
                <a:noFill/>
              </a:ln>
              <a:solidFill>
                <a:srgbClr val="969696"/>
              </a:solidFill>
              <a:effectLst/>
              <a:uLnTx/>
              <a:uFillTx/>
              <a:latin typeface="Arial" pitchFamily="34" charset="0"/>
              <a:cs typeface="Arial" pitchFamily="34" charset="0"/>
            </a:endParaRPr>
          </a:p>
        </p:txBody>
      </p:sp>
      <p:sp>
        <p:nvSpPr>
          <p:cNvPr id="48" name="TextBox 47"/>
          <p:cNvSpPr txBox="1"/>
          <p:nvPr/>
        </p:nvSpPr>
        <p:spPr>
          <a:xfrm>
            <a:off x="1312849" y="4293096"/>
            <a:ext cx="3547183" cy="1384995"/>
          </a:xfrm>
          <a:prstGeom prst="rect">
            <a:avLst/>
          </a:prstGeom>
          <a:noFill/>
          <a:effectLst/>
        </p:spPr>
        <p:txBody>
          <a:bodyPr wrap="square" rtlCol="0">
            <a:spAutoFit/>
          </a:bodyPr>
          <a:lstStyle/>
          <a:p>
            <a:r>
              <a:rPr lang="en-US" sz="2800" b="1" i="1" dirty="0" smtClean="0">
                <a:solidFill>
                  <a:schemeClr val="tx1">
                    <a:lumMod val="75000"/>
                    <a:lumOff val="25000"/>
                  </a:schemeClr>
                </a:solidFill>
              </a:rPr>
              <a:t>Each </a:t>
            </a:r>
            <a:r>
              <a:rPr lang="en-US" sz="2800" b="1" i="1" dirty="0">
                <a:solidFill>
                  <a:schemeClr val="tx1">
                    <a:lumMod val="75000"/>
                    <a:lumOff val="25000"/>
                  </a:schemeClr>
                </a:solidFill>
              </a:rPr>
              <a:t>Dreamliner has an opportunity cost of </a:t>
            </a:r>
            <a:endParaRPr lang="en-US" sz="2800" b="1" i="1" dirty="0" smtClean="0">
              <a:solidFill>
                <a:schemeClr val="tx1">
                  <a:lumMod val="75000"/>
                  <a:lumOff val="25000"/>
                </a:schemeClr>
              </a:solidFill>
            </a:endParaRPr>
          </a:p>
          <a:p>
            <a:r>
              <a:rPr lang="en-US" sz="2800" b="1" i="1" dirty="0" smtClean="0">
                <a:solidFill>
                  <a:schemeClr val="tx1">
                    <a:lumMod val="75000"/>
                    <a:lumOff val="25000"/>
                  </a:schemeClr>
                </a:solidFill>
              </a:rPr>
              <a:t>1 1/3 </a:t>
            </a:r>
            <a:r>
              <a:rPr lang="en-US" sz="2800" b="1" i="1" dirty="0">
                <a:solidFill>
                  <a:schemeClr val="tx1">
                    <a:lumMod val="75000"/>
                    <a:lumOff val="25000"/>
                  </a:schemeClr>
                </a:solidFill>
              </a:rPr>
              <a:t>of a </a:t>
            </a:r>
            <a:r>
              <a:rPr lang="en-US" sz="2800" b="1" i="1" dirty="0" smtClean="0">
                <a:solidFill>
                  <a:schemeClr val="tx1">
                    <a:lumMod val="75000"/>
                    <a:lumOff val="25000"/>
                  </a:schemeClr>
                </a:solidFill>
              </a:rPr>
              <a:t>small jet.</a:t>
            </a:r>
            <a:endParaRPr lang="en-US" sz="2800" b="1" i="1" dirty="0">
              <a:solidFill>
                <a:schemeClr val="tx1">
                  <a:lumMod val="75000"/>
                  <a:lumOff val="25000"/>
                </a:schemeClr>
              </a:solidFill>
              <a:latin typeface="Arial" pitchFamily="34" charset="0"/>
              <a:cs typeface="Arial"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4162037213"/>
              </p:ext>
            </p:extLst>
          </p:nvPr>
        </p:nvGraphicFramePr>
        <p:xfrm>
          <a:off x="5334000" y="2286000"/>
          <a:ext cx="3124200" cy="2644100"/>
        </p:xfrm>
        <a:graphic>
          <a:graphicData uri="http://schemas.openxmlformats.org/drawingml/2006/table">
            <a:tbl>
              <a:tblPr/>
              <a:tblGrid>
                <a:gridCol w="1600200"/>
                <a:gridCol w="1524000"/>
              </a:tblGrid>
              <a:tr h="449540">
                <a:tc gridSpan="2">
                  <a:txBody>
                    <a:bodyPr/>
                    <a:lstStyle/>
                    <a:p>
                      <a:pPr marL="0" marR="0">
                        <a:spcBef>
                          <a:spcPts val="0"/>
                        </a:spcBef>
                        <a:spcAft>
                          <a:spcPts val="0"/>
                        </a:spcAft>
                      </a:pPr>
                      <a:r>
                        <a:rPr lang="en-US" sz="1600" b="1" dirty="0" smtClean="0">
                          <a:latin typeface="Century Gothic"/>
                          <a:ea typeface="Batang"/>
                        </a:rPr>
                        <a:t>Production </a:t>
                      </a:r>
                      <a:r>
                        <a:rPr lang="en-US" sz="1600" b="1" dirty="0">
                          <a:latin typeface="Century Gothic"/>
                          <a:ea typeface="Batang"/>
                        </a:rPr>
                        <a:t>Possibilities</a:t>
                      </a:r>
                      <a:endParaRPr lang="en-US" sz="2000" dirty="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hMerge="1">
                  <a:txBody>
                    <a:bodyPr/>
                    <a:lstStyle/>
                    <a:p>
                      <a:endParaRPr lang="en-US"/>
                    </a:p>
                  </a:txBody>
                  <a:tcPr/>
                </a:tc>
              </a:tr>
              <a:tr h="224770">
                <a:tc>
                  <a:txBody>
                    <a:bodyPr/>
                    <a:lstStyle/>
                    <a:p>
                      <a:pPr marL="0" marR="0" algn="ctr">
                        <a:spcBef>
                          <a:spcPts val="0"/>
                        </a:spcBef>
                        <a:spcAft>
                          <a:spcPts val="0"/>
                        </a:spcAft>
                      </a:pPr>
                      <a:r>
                        <a:rPr lang="en-US" sz="1600" b="1" dirty="0" err="1" smtClean="0">
                          <a:solidFill>
                            <a:schemeClr val="tx2">
                              <a:lumMod val="75000"/>
                            </a:schemeClr>
                          </a:solidFill>
                          <a:latin typeface="Century Gothic" pitchFamily="34" charset="0"/>
                          <a:ea typeface="Batang"/>
                        </a:rPr>
                        <a:t>Dreamliners</a:t>
                      </a:r>
                      <a:endParaRPr lang="en-US" sz="1600" b="1" dirty="0">
                        <a:solidFill>
                          <a:schemeClr val="tx2">
                            <a:lumMod val="75000"/>
                          </a:schemeClr>
                        </a:solidFill>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ctr">
                        <a:spcBef>
                          <a:spcPts val="0"/>
                        </a:spcBef>
                        <a:spcAft>
                          <a:spcPts val="0"/>
                        </a:spcAft>
                      </a:pPr>
                      <a:r>
                        <a:rPr lang="en-US" sz="1600" b="1" dirty="0" smtClean="0">
                          <a:solidFill>
                            <a:schemeClr val="tx2">
                              <a:lumMod val="75000"/>
                            </a:schemeClr>
                          </a:solidFill>
                          <a:latin typeface="Century Gothic"/>
                          <a:ea typeface="Batang"/>
                        </a:rPr>
                        <a:t>Small Jets</a:t>
                      </a:r>
                      <a:endParaRPr lang="en-US" sz="2000" dirty="0">
                        <a:solidFill>
                          <a:schemeClr val="tx2">
                            <a:lumMod val="75000"/>
                          </a:schemeClr>
                        </a:solidFill>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r>
              <a:tr h="224770">
                <a:tc>
                  <a:txBody>
                    <a:bodyPr/>
                    <a:lstStyle/>
                    <a:p>
                      <a:pPr marL="0" marR="0" algn="l">
                        <a:spcBef>
                          <a:spcPts val="0"/>
                        </a:spcBef>
                        <a:spcAft>
                          <a:spcPts val="0"/>
                        </a:spcAft>
                      </a:pPr>
                      <a:r>
                        <a:rPr lang="en-US" sz="1600" b="1" dirty="0" smtClean="0">
                          <a:latin typeface="Century Gothic" pitchFamily="34" charset="0"/>
                          <a:ea typeface="Batang"/>
                        </a:rPr>
                        <a:t>30</a:t>
                      </a:r>
                      <a:endParaRPr lang="en-US" sz="1600" b="1" dirty="0">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a:latin typeface="Century Gothic" pitchFamily="34" charset="0"/>
                          <a:ea typeface="Batang"/>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r>
              <a:tr h="224770">
                <a:tc>
                  <a:txBody>
                    <a:bodyPr/>
                    <a:lstStyle/>
                    <a:p>
                      <a:pPr marL="0" marR="0" algn="l">
                        <a:spcBef>
                          <a:spcPts val="0"/>
                        </a:spcBef>
                        <a:spcAft>
                          <a:spcPts val="0"/>
                        </a:spcAft>
                      </a:pPr>
                      <a:r>
                        <a:rPr lang="en-US" sz="1600" b="1" dirty="0" smtClean="0">
                          <a:latin typeface="Century Gothic" pitchFamily="34" charset="0"/>
                          <a:ea typeface="Batang"/>
                        </a:rPr>
                        <a:t>15</a:t>
                      </a:r>
                      <a:endParaRPr lang="en-US" sz="1600" b="1" dirty="0">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smtClean="0">
                          <a:latin typeface="Century Gothic" pitchFamily="34" charset="0"/>
                          <a:ea typeface="Batang"/>
                        </a:rPr>
                        <a:t>20</a:t>
                      </a:r>
                      <a:endParaRPr lang="en-US" sz="1600" b="1" dirty="0">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r>
              <a:tr h="22477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solidFill>
                            <a:schemeClr val="accent1">
                              <a:lumMod val="75000"/>
                            </a:schemeClr>
                          </a:solidFill>
                          <a:latin typeface="Century Gothic" pitchFamily="34" charset="0"/>
                          <a:ea typeface="Batang"/>
                        </a:rPr>
                        <a:t> 14.25</a:t>
                      </a:r>
                      <a:endParaRPr lang="en-US" sz="1600" b="1" dirty="0">
                        <a:solidFill>
                          <a:schemeClr val="accent1">
                            <a:lumMod val="75000"/>
                          </a:schemeClr>
                        </a:solidFill>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smtClean="0">
                          <a:solidFill>
                            <a:schemeClr val="accent1">
                              <a:lumMod val="75000"/>
                            </a:schemeClr>
                          </a:solidFill>
                          <a:latin typeface="Century Gothic" pitchFamily="34" charset="0"/>
                          <a:ea typeface="Batang"/>
                        </a:rPr>
                        <a:t> 21</a:t>
                      </a:r>
                      <a:endParaRPr lang="en-US" sz="1600" b="1" dirty="0">
                        <a:solidFill>
                          <a:schemeClr val="accent1">
                            <a:lumMod val="75000"/>
                          </a:schemeClr>
                        </a:solidFill>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r>
              <a:tr h="224770">
                <a:tc>
                  <a:txBody>
                    <a:bodyPr/>
                    <a:lstStyle/>
                    <a:p>
                      <a:pPr marL="0" marR="0" algn="l">
                        <a:spcBef>
                          <a:spcPts val="0"/>
                        </a:spcBef>
                        <a:spcAft>
                          <a:spcPts val="0"/>
                        </a:spcAft>
                      </a:pPr>
                      <a:r>
                        <a:rPr lang="en-US" sz="1600" b="1" dirty="0" smtClean="0">
                          <a:solidFill>
                            <a:schemeClr val="accent1">
                              <a:lumMod val="75000"/>
                            </a:schemeClr>
                          </a:solidFill>
                          <a:latin typeface="Century Gothic" pitchFamily="34" charset="0"/>
                          <a:ea typeface="Batang"/>
                        </a:rPr>
                        <a:t> 13.5</a:t>
                      </a:r>
                      <a:endParaRPr lang="en-US" sz="1600" b="1" dirty="0">
                        <a:solidFill>
                          <a:schemeClr val="accent1">
                            <a:lumMod val="75000"/>
                          </a:schemeClr>
                        </a:solidFill>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smtClean="0">
                          <a:solidFill>
                            <a:schemeClr val="accent1">
                              <a:lumMod val="75000"/>
                            </a:schemeClr>
                          </a:solidFill>
                          <a:latin typeface="Century Gothic" pitchFamily="34" charset="0"/>
                          <a:ea typeface="Batang"/>
                        </a:rPr>
                        <a:t> 22</a:t>
                      </a:r>
                      <a:endParaRPr lang="en-US" sz="1600" b="1" dirty="0">
                        <a:solidFill>
                          <a:schemeClr val="accent1">
                            <a:lumMod val="75000"/>
                          </a:schemeClr>
                        </a:solidFill>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r>
              <a:tr h="224770">
                <a:tc>
                  <a:txBody>
                    <a:bodyPr/>
                    <a:lstStyle/>
                    <a:p>
                      <a:pPr marL="0" marR="0" algn="l">
                        <a:spcBef>
                          <a:spcPts val="0"/>
                        </a:spcBef>
                        <a:spcAft>
                          <a:spcPts val="0"/>
                        </a:spcAft>
                      </a:pPr>
                      <a:r>
                        <a:rPr lang="en-US" sz="1600" b="1" dirty="0" smtClean="0">
                          <a:solidFill>
                            <a:schemeClr val="accent1">
                              <a:lumMod val="75000"/>
                            </a:schemeClr>
                          </a:solidFill>
                          <a:latin typeface="Century Gothic" pitchFamily="34" charset="0"/>
                          <a:ea typeface="Batang"/>
                        </a:rPr>
                        <a:t> 12.75</a:t>
                      </a:r>
                      <a:endParaRPr lang="en-US" sz="1600" b="1" dirty="0">
                        <a:solidFill>
                          <a:schemeClr val="accent1">
                            <a:lumMod val="75000"/>
                          </a:schemeClr>
                        </a:solidFill>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smtClean="0">
                          <a:solidFill>
                            <a:schemeClr val="accent1">
                              <a:lumMod val="75000"/>
                            </a:schemeClr>
                          </a:solidFill>
                          <a:latin typeface="Century Gothic" pitchFamily="34" charset="0"/>
                          <a:ea typeface="Batang"/>
                        </a:rPr>
                        <a:t> 23</a:t>
                      </a:r>
                      <a:endParaRPr lang="en-US" sz="1600" b="1" dirty="0">
                        <a:solidFill>
                          <a:schemeClr val="accent1">
                            <a:lumMod val="75000"/>
                          </a:schemeClr>
                        </a:solidFill>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r>
              <a:tr h="224770">
                <a:tc>
                  <a:txBody>
                    <a:bodyPr/>
                    <a:lstStyle/>
                    <a:p>
                      <a:pPr marL="0" marR="0" algn="l">
                        <a:spcBef>
                          <a:spcPts val="0"/>
                        </a:spcBef>
                        <a:spcAft>
                          <a:spcPts val="0"/>
                        </a:spcAft>
                      </a:pPr>
                      <a:r>
                        <a:rPr lang="en-US" sz="1600" b="1" dirty="0" smtClean="0">
                          <a:solidFill>
                            <a:schemeClr val="accent1">
                              <a:lumMod val="75000"/>
                            </a:schemeClr>
                          </a:solidFill>
                          <a:latin typeface="Century Gothic" pitchFamily="34" charset="0"/>
                          <a:ea typeface="Batang"/>
                        </a:rPr>
                        <a:t> 12</a:t>
                      </a:r>
                      <a:endParaRPr lang="en-US" sz="1600" b="1" dirty="0">
                        <a:solidFill>
                          <a:schemeClr val="accent1">
                            <a:lumMod val="75000"/>
                          </a:schemeClr>
                        </a:solidFill>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smtClean="0">
                          <a:solidFill>
                            <a:schemeClr val="accent1">
                              <a:lumMod val="75000"/>
                            </a:schemeClr>
                          </a:solidFill>
                          <a:latin typeface="Century Gothic" pitchFamily="34" charset="0"/>
                          <a:ea typeface="Batang"/>
                        </a:rPr>
                        <a:t> 24</a:t>
                      </a:r>
                      <a:endParaRPr lang="en-US" sz="1600" b="1" dirty="0">
                        <a:solidFill>
                          <a:schemeClr val="accent1">
                            <a:lumMod val="75000"/>
                          </a:schemeClr>
                        </a:solidFill>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r>
              <a:tr h="224770">
                <a:tc>
                  <a:txBody>
                    <a:bodyPr/>
                    <a:lstStyle/>
                    <a:p>
                      <a:pPr marL="0" marR="0" algn="l">
                        <a:spcBef>
                          <a:spcPts val="0"/>
                        </a:spcBef>
                        <a:spcAft>
                          <a:spcPts val="0"/>
                        </a:spcAft>
                      </a:pPr>
                      <a:r>
                        <a:rPr lang="en-US" sz="1600" b="1" dirty="0" smtClean="0">
                          <a:latin typeface="Century Gothic" pitchFamily="34" charset="0"/>
                          <a:ea typeface="Batang"/>
                        </a:rPr>
                        <a:t>9</a:t>
                      </a:r>
                      <a:endParaRPr lang="en-US" sz="1600" b="1" dirty="0">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smtClean="0">
                          <a:latin typeface="Century Gothic" pitchFamily="34" charset="0"/>
                          <a:ea typeface="Batang"/>
                        </a:rPr>
                        <a:t>28</a:t>
                      </a:r>
                      <a:endParaRPr lang="en-US" sz="1600" b="1" dirty="0">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r>
              <a:tr h="224770">
                <a:tc>
                  <a:txBody>
                    <a:bodyPr/>
                    <a:lstStyle/>
                    <a:p>
                      <a:pPr marL="0" marR="0" algn="l">
                        <a:spcBef>
                          <a:spcPts val="0"/>
                        </a:spcBef>
                        <a:spcAft>
                          <a:spcPts val="0"/>
                        </a:spcAft>
                      </a:pPr>
                      <a:r>
                        <a:rPr lang="en-US" sz="1600" b="1" dirty="0" smtClean="0">
                          <a:latin typeface="Century Gothic" pitchFamily="34" charset="0"/>
                          <a:ea typeface="Batang"/>
                        </a:rPr>
                        <a:t>0</a:t>
                      </a:r>
                      <a:endParaRPr lang="en-US" sz="1600" b="1" dirty="0">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smtClean="0">
                          <a:latin typeface="Century Gothic" pitchFamily="34" charset="0"/>
                          <a:ea typeface="Batang"/>
                        </a:rPr>
                        <a:t>40</a:t>
                      </a:r>
                      <a:endParaRPr lang="en-US" sz="1600" b="1" dirty="0">
                        <a:latin typeface="Century Gothic" pitchFamily="34" charset="0"/>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r>
            </a:tbl>
          </a:graphicData>
        </a:graphic>
      </p:graphicFrame>
      <p:sp>
        <p:nvSpPr>
          <p:cNvPr id="7" name="TextBox 6"/>
          <p:cNvSpPr txBox="1"/>
          <p:nvPr/>
        </p:nvSpPr>
        <p:spPr>
          <a:xfrm>
            <a:off x="1288410" y="2060848"/>
            <a:ext cx="3697560" cy="1384995"/>
          </a:xfrm>
          <a:prstGeom prst="rect">
            <a:avLst/>
          </a:prstGeom>
          <a:noFill/>
          <a:effectLst/>
        </p:spPr>
        <p:txBody>
          <a:bodyPr wrap="square" rtlCol="0">
            <a:spAutoFit/>
          </a:bodyPr>
          <a:lstStyle/>
          <a:p>
            <a:r>
              <a:rPr lang="en-US" sz="2800" b="1" i="1" dirty="0" smtClean="0">
                <a:solidFill>
                  <a:schemeClr val="tx1">
                    <a:lumMod val="75000"/>
                    <a:lumOff val="25000"/>
                  </a:schemeClr>
                </a:solidFill>
              </a:rPr>
              <a:t>Each </a:t>
            </a:r>
            <a:r>
              <a:rPr lang="en-US" sz="2800" b="1" i="1" dirty="0">
                <a:solidFill>
                  <a:schemeClr val="tx1">
                    <a:lumMod val="75000"/>
                    <a:lumOff val="25000"/>
                  </a:schemeClr>
                </a:solidFill>
              </a:rPr>
              <a:t>small jet has an opportunity cost of </a:t>
            </a:r>
            <a:endParaRPr lang="en-US" sz="2800" b="1" i="1" dirty="0" smtClean="0">
              <a:solidFill>
                <a:schemeClr val="tx1">
                  <a:lumMod val="75000"/>
                  <a:lumOff val="25000"/>
                </a:schemeClr>
              </a:solidFill>
            </a:endParaRPr>
          </a:p>
          <a:p>
            <a:r>
              <a:rPr lang="en-US" sz="2800" b="1" i="1" dirty="0" smtClean="0">
                <a:solidFill>
                  <a:schemeClr val="tx1">
                    <a:lumMod val="75000"/>
                    <a:lumOff val="25000"/>
                  </a:schemeClr>
                </a:solidFill>
              </a:rPr>
              <a:t>3/4 </a:t>
            </a:r>
            <a:r>
              <a:rPr lang="en-US" sz="2800" b="1" i="1" dirty="0">
                <a:solidFill>
                  <a:schemeClr val="tx1">
                    <a:lumMod val="75000"/>
                    <a:lumOff val="25000"/>
                  </a:schemeClr>
                </a:solidFill>
              </a:rPr>
              <a:t>of a </a:t>
            </a:r>
            <a:r>
              <a:rPr lang="en-US" sz="2800" b="1" i="1" dirty="0" smtClean="0">
                <a:solidFill>
                  <a:schemeClr val="tx1">
                    <a:lumMod val="75000"/>
                    <a:lumOff val="25000"/>
                  </a:schemeClr>
                </a:solidFill>
              </a:rPr>
              <a:t>Dreamliner.</a:t>
            </a:r>
            <a:endParaRPr lang="en-US" sz="2800" b="1" i="1" dirty="0">
              <a:solidFill>
                <a:schemeClr val="tx1">
                  <a:lumMod val="75000"/>
                  <a:lumOff val="25000"/>
                </a:schemeClr>
              </a:solidFill>
              <a:latin typeface="Arial" pitchFamily="34" charset="0"/>
              <a:cs typeface="Arial" pitchFamily="34" charset="0"/>
            </a:endParaRPr>
          </a:p>
        </p:txBody>
      </p:sp>
      <p:sp>
        <p:nvSpPr>
          <p:cNvPr id="8" name="Line 41"/>
          <p:cNvSpPr>
            <a:spLocks noChangeShapeType="1"/>
          </p:cNvSpPr>
          <p:nvPr/>
        </p:nvSpPr>
        <p:spPr bwMode="auto">
          <a:xfrm>
            <a:off x="6156176" y="3356992"/>
            <a:ext cx="0" cy="216024"/>
          </a:xfrm>
          <a:prstGeom prst="line">
            <a:avLst/>
          </a:prstGeom>
          <a:noFill/>
          <a:ln w="11113">
            <a:solidFill>
              <a:srgbClr val="8C0051"/>
            </a:solidFill>
            <a:miter lim="800000"/>
            <a:headEnd/>
            <a:tailEnd type="stealth" w="lg" len="lg"/>
          </a:ln>
          <a:extLst>
            <a:ext uri="{909E8E84-426E-40DD-AFC4-6F175D3DCCD1}">
              <a14:hiddenFill xmlns:a14="http://schemas.microsoft.com/office/drawing/2010/main">
                <a:noFill/>
              </a14:hiddenFill>
            </a:ext>
          </a:extLst>
        </p:spPr>
        <p:txBody>
          <a:bodyPr/>
          <a:lstStyle/>
          <a:p>
            <a:endParaRPr lang="en-US" dirty="0"/>
          </a:p>
        </p:txBody>
      </p:sp>
      <p:sp>
        <p:nvSpPr>
          <p:cNvPr id="9" name="Line 41"/>
          <p:cNvSpPr>
            <a:spLocks noChangeShapeType="1"/>
          </p:cNvSpPr>
          <p:nvPr/>
        </p:nvSpPr>
        <p:spPr bwMode="auto">
          <a:xfrm>
            <a:off x="7524328" y="3356992"/>
            <a:ext cx="0" cy="216024"/>
          </a:xfrm>
          <a:prstGeom prst="line">
            <a:avLst/>
          </a:prstGeom>
          <a:noFill/>
          <a:ln w="11113">
            <a:solidFill>
              <a:srgbClr val="8C0051"/>
            </a:solidFill>
            <a:miter lim="800000"/>
            <a:headEnd/>
            <a:tailEnd type="stealth" w="lg" len="lg"/>
          </a:ln>
          <a:extLst>
            <a:ext uri="{909E8E84-426E-40DD-AFC4-6F175D3DCCD1}">
              <a14:hiddenFill xmlns:a14="http://schemas.microsoft.com/office/drawing/2010/main">
                <a:noFill/>
              </a14:hiddenFill>
            </a:ext>
          </a:extLst>
        </p:spPr>
        <p:txBody>
          <a:bodyPr/>
          <a:lstStyle/>
          <a:p>
            <a:endParaRPr lang="en-US" dirty="0"/>
          </a:p>
        </p:txBody>
      </p:sp>
    </p:spTree>
    <p:extLst>
      <p:ext uri="{BB962C8B-B14F-4D97-AF65-F5344CB8AC3E}">
        <p14:creationId xmlns:p14="http://schemas.microsoft.com/office/powerpoint/2010/main" val="7031290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par>
                          <p:cTn id="14" fill="hold">
                            <p:stCondLst>
                              <p:cond delay="2000"/>
                            </p:stCondLst>
                            <p:childTnLst>
                              <p:par>
                                <p:cTn id="15" presetID="10" presetClass="entr" presetSubtype="0" fill="hold" grpId="0" nodeType="after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7" grpId="0"/>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1" name="Rectangle 11"/>
          <p:cNvSpPr>
            <a:spLocks noGrp="1" noRot="1" noChangeArrowheads="1"/>
          </p:cNvSpPr>
          <p:nvPr>
            <p:ph type="title"/>
          </p:nvPr>
        </p:nvSpPr>
        <p:spPr>
          <a:xfrm>
            <a:off x="957709" y="67120"/>
            <a:ext cx="8078787" cy="555625"/>
          </a:xfrm>
        </p:spPr>
        <p:txBody>
          <a:bodyPr/>
          <a:lstStyle/>
          <a:p>
            <a:pPr>
              <a:defRPr/>
            </a:pPr>
            <a:r>
              <a:rPr lang="en-US" sz="2800" dirty="0" smtClean="0"/>
              <a:t>Increasing Opportunity Cost</a:t>
            </a:r>
            <a:endParaRPr lang="en-US" sz="2800" b="0" dirty="0" smtClean="0"/>
          </a:p>
        </p:txBody>
      </p:sp>
      <p:sp>
        <p:nvSpPr>
          <p:cNvPr id="15364" name="Rectangle 14"/>
          <p:cNvSpPr>
            <a:spLocks noChangeArrowheads="1"/>
          </p:cNvSpPr>
          <p:nvPr/>
        </p:nvSpPr>
        <p:spPr bwMode="auto">
          <a:xfrm>
            <a:off x="3513510" y="3030240"/>
            <a:ext cx="111125"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A</a:t>
            </a:r>
            <a:endParaRPr lang="en-US" sz="1400" dirty="0"/>
          </a:p>
        </p:txBody>
      </p:sp>
      <p:sp>
        <p:nvSpPr>
          <p:cNvPr id="15365" name="Rectangle 15"/>
          <p:cNvSpPr>
            <a:spLocks noChangeArrowheads="1"/>
          </p:cNvSpPr>
          <p:nvPr/>
        </p:nvSpPr>
        <p:spPr bwMode="auto">
          <a:xfrm>
            <a:off x="5555035" y="5670252"/>
            <a:ext cx="3492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PPF</a:t>
            </a:r>
            <a:endParaRPr lang="en-US" sz="1400" i="1" dirty="0"/>
          </a:p>
        </p:txBody>
      </p:sp>
      <p:sp>
        <p:nvSpPr>
          <p:cNvPr id="15366" name="Line 16"/>
          <p:cNvSpPr>
            <a:spLocks noChangeShapeType="1"/>
          </p:cNvSpPr>
          <p:nvPr/>
        </p:nvSpPr>
        <p:spPr bwMode="auto">
          <a:xfrm>
            <a:off x="1410072" y="2288877"/>
            <a:ext cx="155575" cy="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67" name="Line 17"/>
          <p:cNvSpPr>
            <a:spLocks noChangeShapeType="1"/>
          </p:cNvSpPr>
          <p:nvPr/>
        </p:nvSpPr>
        <p:spPr bwMode="auto">
          <a:xfrm>
            <a:off x="1410072" y="3360440"/>
            <a:ext cx="155575" cy="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68" name="Line 18"/>
          <p:cNvSpPr>
            <a:spLocks noChangeShapeType="1"/>
          </p:cNvSpPr>
          <p:nvPr/>
        </p:nvSpPr>
        <p:spPr bwMode="auto">
          <a:xfrm>
            <a:off x="1410072" y="3893840"/>
            <a:ext cx="155575" cy="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69" name="Line 19"/>
          <p:cNvSpPr>
            <a:spLocks noChangeShapeType="1"/>
          </p:cNvSpPr>
          <p:nvPr/>
        </p:nvSpPr>
        <p:spPr bwMode="auto">
          <a:xfrm>
            <a:off x="1410072" y="4432002"/>
            <a:ext cx="155575" cy="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70" name="Line 20"/>
          <p:cNvSpPr>
            <a:spLocks noChangeShapeType="1"/>
          </p:cNvSpPr>
          <p:nvPr/>
        </p:nvSpPr>
        <p:spPr bwMode="auto">
          <a:xfrm>
            <a:off x="1410072" y="4973340"/>
            <a:ext cx="155575" cy="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71" name="Line 21"/>
          <p:cNvSpPr>
            <a:spLocks noChangeShapeType="1"/>
          </p:cNvSpPr>
          <p:nvPr/>
        </p:nvSpPr>
        <p:spPr bwMode="auto">
          <a:xfrm>
            <a:off x="1410072" y="5506740"/>
            <a:ext cx="155575" cy="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72" name="Line 22"/>
          <p:cNvSpPr>
            <a:spLocks noChangeShapeType="1"/>
          </p:cNvSpPr>
          <p:nvPr/>
        </p:nvSpPr>
        <p:spPr bwMode="auto">
          <a:xfrm flipV="1">
            <a:off x="2416547" y="5873452"/>
            <a:ext cx="0" cy="1730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73" name="Line 23"/>
          <p:cNvSpPr>
            <a:spLocks noChangeShapeType="1"/>
          </p:cNvSpPr>
          <p:nvPr/>
        </p:nvSpPr>
        <p:spPr bwMode="auto">
          <a:xfrm flipV="1">
            <a:off x="3418260" y="5873452"/>
            <a:ext cx="0" cy="1730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74" name="Line 24"/>
          <p:cNvSpPr>
            <a:spLocks noChangeShapeType="1"/>
          </p:cNvSpPr>
          <p:nvPr/>
        </p:nvSpPr>
        <p:spPr bwMode="auto">
          <a:xfrm flipV="1">
            <a:off x="4421560" y="5873452"/>
            <a:ext cx="0" cy="1730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75" name="Line 25"/>
          <p:cNvSpPr>
            <a:spLocks noChangeShapeType="1"/>
          </p:cNvSpPr>
          <p:nvPr/>
        </p:nvSpPr>
        <p:spPr bwMode="auto">
          <a:xfrm flipV="1">
            <a:off x="5426447" y="5873452"/>
            <a:ext cx="0" cy="1730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76" name="Line 26"/>
          <p:cNvSpPr>
            <a:spLocks noChangeShapeType="1"/>
          </p:cNvSpPr>
          <p:nvPr/>
        </p:nvSpPr>
        <p:spPr bwMode="auto">
          <a:xfrm flipV="1">
            <a:off x="6428160" y="5873452"/>
            <a:ext cx="0" cy="1730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377" name="Rectangle 27"/>
          <p:cNvSpPr>
            <a:spLocks noChangeArrowheads="1"/>
          </p:cNvSpPr>
          <p:nvPr/>
        </p:nvSpPr>
        <p:spPr bwMode="auto">
          <a:xfrm>
            <a:off x="2300660" y="6079827"/>
            <a:ext cx="180975"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10</a:t>
            </a:r>
            <a:endParaRPr lang="en-US" sz="1400" dirty="0"/>
          </a:p>
        </p:txBody>
      </p:sp>
      <p:sp>
        <p:nvSpPr>
          <p:cNvPr id="15378" name="Rectangle 28"/>
          <p:cNvSpPr>
            <a:spLocks noChangeArrowheads="1"/>
          </p:cNvSpPr>
          <p:nvPr/>
        </p:nvSpPr>
        <p:spPr bwMode="auto">
          <a:xfrm>
            <a:off x="3305547" y="6079827"/>
            <a:ext cx="180975"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20</a:t>
            </a:r>
            <a:endParaRPr lang="en-US" sz="1400" dirty="0"/>
          </a:p>
        </p:txBody>
      </p:sp>
      <p:sp>
        <p:nvSpPr>
          <p:cNvPr id="15379" name="Rectangle 29"/>
          <p:cNvSpPr>
            <a:spLocks noChangeArrowheads="1"/>
          </p:cNvSpPr>
          <p:nvPr/>
        </p:nvSpPr>
        <p:spPr bwMode="auto">
          <a:xfrm>
            <a:off x="4307260" y="6079827"/>
            <a:ext cx="179387"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30</a:t>
            </a:r>
            <a:endParaRPr lang="en-US" sz="1400" dirty="0"/>
          </a:p>
        </p:txBody>
      </p:sp>
      <p:sp>
        <p:nvSpPr>
          <p:cNvPr id="15380" name="Rectangle 30"/>
          <p:cNvSpPr>
            <a:spLocks noChangeArrowheads="1"/>
          </p:cNvSpPr>
          <p:nvPr/>
        </p:nvSpPr>
        <p:spPr bwMode="auto">
          <a:xfrm>
            <a:off x="5312147" y="6079827"/>
            <a:ext cx="179388"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40</a:t>
            </a:r>
            <a:endParaRPr lang="en-US" sz="1400" dirty="0"/>
          </a:p>
        </p:txBody>
      </p:sp>
      <p:sp>
        <p:nvSpPr>
          <p:cNvPr id="15381" name="Rectangle 31"/>
          <p:cNvSpPr>
            <a:spLocks noChangeArrowheads="1"/>
          </p:cNvSpPr>
          <p:nvPr/>
        </p:nvSpPr>
        <p:spPr bwMode="auto">
          <a:xfrm>
            <a:off x="6318622" y="6079827"/>
            <a:ext cx="180975"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50</a:t>
            </a:r>
            <a:endParaRPr lang="en-US" sz="1400" dirty="0"/>
          </a:p>
        </p:txBody>
      </p:sp>
      <p:sp>
        <p:nvSpPr>
          <p:cNvPr id="15382" name="Rectangle 32"/>
          <p:cNvSpPr>
            <a:spLocks noChangeArrowheads="1"/>
          </p:cNvSpPr>
          <p:nvPr/>
        </p:nvSpPr>
        <p:spPr bwMode="auto">
          <a:xfrm>
            <a:off x="1198935" y="6079827"/>
            <a:ext cx="90487"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0</a:t>
            </a:r>
            <a:endParaRPr lang="en-US" sz="1400" dirty="0"/>
          </a:p>
        </p:txBody>
      </p:sp>
      <p:sp>
        <p:nvSpPr>
          <p:cNvPr id="15383" name="Rectangle 33"/>
          <p:cNvSpPr>
            <a:spLocks noChangeArrowheads="1"/>
          </p:cNvSpPr>
          <p:nvPr/>
        </p:nvSpPr>
        <p:spPr bwMode="auto">
          <a:xfrm>
            <a:off x="1083047" y="2144415"/>
            <a:ext cx="1793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35</a:t>
            </a:r>
            <a:endParaRPr lang="en-US" sz="1400" dirty="0"/>
          </a:p>
        </p:txBody>
      </p:sp>
      <p:sp>
        <p:nvSpPr>
          <p:cNvPr id="15384" name="Rectangle 34"/>
          <p:cNvSpPr>
            <a:spLocks noChangeArrowheads="1"/>
          </p:cNvSpPr>
          <p:nvPr/>
        </p:nvSpPr>
        <p:spPr bwMode="auto">
          <a:xfrm>
            <a:off x="1083047" y="2684165"/>
            <a:ext cx="179388"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30</a:t>
            </a:r>
            <a:endParaRPr lang="en-US" sz="1400" dirty="0"/>
          </a:p>
        </p:txBody>
      </p:sp>
      <p:sp>
        <p:nvSpPr>
          <p:cNvPr id="15385" name="Rectangle 35"/>
          <p:cNvSpPr>
            <a:spLocks noChangeArrowheads="1"/>
          </p:cNvSpPr>
          <p:nvPr/>
        </p:nvSpPr>
        <p:spPr bwMode="auto">
          <a:xfrm>
            <a:off x="1083047" y="3219152"/>
            <a:ext cx="1793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25</a:t>
            </a:r>
            <a:endParaRPr lang="en-US" sz="1400" dirty="0"/>
          </a:p>
        </p:txBody>
      </p:sp>
      <p:sp>
        <p:nvSpPr>
          <p:cNvPr id="15386" name="Rectangle 36"/>
          <p:cNvSpPr>
            <a:spLocks noChangeArrowheads="1"/>
          </p:cNvSpPr>
          <p:nvPr/>
        </p:nvSpPr>
        <p:spPr bwMode="auto">
          <a:xfrm>
            <a:off x="1083047" y="3752552"/>
            <a:ext cx="179388"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20</a:t>
            </a:r>
            <a:endParaRPr lang="en-US" sz="1400" dirty="0"/>
          </a:p>
        </p:txBody>
      </p:sp>
      <p:sp>
        <p:nvSpPr>
          <p:cNvPr id="15387" name="Rectangle 37"/>
          <p:cNvSpPr>
            <a:spLocks noChangeArrowheads="1"/>
          </p:cNvSpPr>
          <p:nvPr/>
        </p:nvSpPr>
        <p:spPr bwMode="auto">
          <a:xfrm>
            <a:off x="1083047" y="4293890"/>
            <a:ext cx="1793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15</a:t>
            </a:r>
            <a:endParaRPr lang="en-US" sz="1400" dirty="0"/>
          </a:p>
        </p:txBody>
      </p:sp>
      <p:sp>
        <p:nvSpPr>
          <p:cNvPr id="15388" name="Rectangle 38"/>
          <p:cNvSpPr>
            <a:spLocks noChangeArrowheads="1"/>
          </p:cNvSpPr>
          <p:nvPr/>
        </p:nvSpPr>
        <p:spPr bwMode="auto">
          <a:xfrm>
            <a:off x="1083047" y="4830465"/>
            <a:ext cx="179388"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10</a:t>
            </a:r>
            <a:endParaRPr lang="en-US" sz="1400" dirty="0"/>
          </a:p>
        </p:txBody>
      </p:sp>
      <p:sp>
        <p:nvSpPr>
          <p:cNvPr id="15389" name="Rectangle 39"/>
          <p:cNvSpPr>
            <a:spLocks noChangeArrowheads="1"/>
          </p:cNvSpPr>
          <p:nvPr/>
        </p:nvSpPr>
        <p:spPr bwMode="auto">
          <a:xfrm>
            <a:off x="1198935" y="5363865"/>
            <a:ext cx="90487"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5</a:t>
            </a:r>
            <a:endParaRPr lang="en-US" sz="1400" dirty="0"/>
          </a:p>
        </p:txBody>
      </p:sp>
      <p:sp>
        <p:nvSpPr>
          <p:cNvPr id="15390" name="Freeform 40"/>
          <p:cNvSpPr>
            <a:spLocks/>
          </p:cNvSpPr>
          <p:nvPr/>
        </p:nvSpPr>
        <p:spPr bwMode="auto">
          <a:xfrm>
            <a:off x="1410072" y="2822277"/>
            <a:ext cx="4016375" cy="3224213"/>
          </a:xfrm>
          <a:custGeom>
            <a:avLst/>
            <a:gdLst>
              <a:gd name="T0" fmla="*/ 0 w 644"/>
              <a:gd name="T1" fmla="*/ 0 h 484"/>
              <a:gd name="T2" fmla="*/ 4016375 w 644"/>
              <a:gd name="T3" fmla="*/ 3224213 h 484"/>
              <a:gd name="T4" fmla="*/ 0 60000 65536"/>
              <a:gd name="T5" fmla="*/ 0 60000 65536"/>
              <a:gd name="T6" fmla="*/ 0 w 644"/>
              <a:gd name="T7" fmla="*/ 0 h 484"/>
              <a:gd name="T8" fmla="*/ 644 w 644"/>
              <a:gd name="T9" fmla="*/ 484 h 484"/>
            </a:gdLst>
            <a:ahLst/>
            <a:cxnLst>
              <a:cxn ang="T4">
                <a:pos x="T0" y="T1"/>
              </a:cxn>
              <a:cxn ang="T5">
                <a:pos x="T2" y="T3"/>
              </a:cxn>
            </a:cxnLst>
            <a:rect l="T6" t="T7" r="T8" b="T9"/>
            <a:pathLst>
              <a:path w="644" h="484">
                <a:moveTo>
                  <a:pt x="0" y="0"/>
                </a:moveTo>
                <a:cubicBezTo>
                  <a:pt x="226" y="52"/>
                  <a:pt x="644" y="97"/>
                  <a:pt x="644" y="484"/>
                </a:cubicBezTo>
              </a:path>
            </a:pathLst>
          </a:custGeom>
          <a:noFill/>
          <a:ln w="30163" cap="flat">
            <a:solidFill>
              <a:srgbClr val="0076A3"/>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604201" name="Line 41"/>
          <p:cNvSpPr>
            <a:spLocks noChangeShapeType="1"/>
          </p:cNvSpPr>
          <p:nvPr/>
        </p:nvSpPr>
        <p:spPr bwMode="auto">
          <a:xfrm>
            <a:off x="1410072" y="2827040"/>
            <a:ext cx="1903413" cy="0"/>
          </a:xfrm>
          <a:prstGeom prst="line">
            <a:avLst/>
          </a:prstGeom>
          <a:noFill/>
          <a:ln w="11113">
            <a:solidFill>
              <a:srgbClr val="8C0051"/>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604202" name="Freeform 42"/>
          <p:cNvSpPr>
            <a:spLocks/>
          </p:cNvSpPr>
          <p:nvPr/>
        </p:nvSpPr>
        <p:spPr bwMode="auto">
          <a:xfrm>
            <a:off x="3275385" y="2782590"/>
            <a:ext cx="142875" cy="93662"/>
          </a:xfrm>
          <a:custGeom>
            <a:avLst/>
            <a:gdLst>
              <a:gd name="T0" fmla="*/ 24848 w 23"/>
              <a:gd name="T1" fmla="*/ 46831 h 14"/>
              <a:gd name="T2" fmla="*/ 0 w 23"/>
              <a:gd name="T3" fmla="*/ 0 h 14"/>
              <a:gd name="T4" fmla="*/ 0 w 23"/>
              <a:gd name="T5" fmla="*/ 0 h 14"/>
              <a:gd name="T6" fmla="*/ 68332 w 23"/>
              <a:gd name="T7" fmla="*/ 26761 h 14"/>
              <a:gd name="T8" fmla="*/ 142875 w 23"/>
              <a:gd name="T9" fmla="*/ 46831 h 14"/>
              <a:gd name="T10" fmla="*/ 68332 w 23"/>
              <a:gd name="T11" fmla="*/ 60211 h 14"/>
              <a:gd name="T12" fmla="*/ 0 w 23"/>
              <a:gd name="T13" fmla="*/ 93662 h 14"/>
              <a:gd name="T14" fmla="*/ 0 w 23"/>
              <a:gd name="T15" fmla="*/ 93662 h 14"/>
              <a:gd name="T16" fmla="*/ 24848 w 23"/>
              <a:gd name="T17" fmla="*/ 46831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14"/>
              <a:gd name="T29" fmla="*/ 23 w 23"/>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14">
                <a:moveTo>
                  <a:pt x="4" y="7"/>
                </a:moveTo>
                <a:cubicBezTo>
                  <a:pt x="0" y="0"/>
                  <a:pt x="0" y="0"/>
                  <a:pt x="0" y="0"/>
                </a:cubicBezTo>
                <a:cubicBezTo>
                  <a:pt x="0" y="0"/>
                  <a:pt x="0" y="0"/>
                  <a:pt x="0" y="0"/>
                </a:cubicBezTo>
                <a:cubicBezTo>
                  <a:pt x="11" y="4"/>
                  <a:pt x="11" y="4"/>
                  <a:pt x="11" y="4"/>
                </a:cubicBezTo>
                <a:cubicBezTo>
                  <a:pt x="15" y="5"/>
                  <a:pt x="19" y="6"/>
                  <a:pt x="23" y="7"/>
                </a:cubicBezTo>
                <a:cubicBezTo>
                  <a:pt x="19" y="8"/>
                  <a:pt x="15" y="9"/>
                  <a:pt x="11" y="9"/>
                </a:cubicBezTo>
                <a:cubicBezTo>
                  <a:pt x="0" y="14"/>
                  <a:pt x="0" y="14"/>
                  <a:pt x="0" y="14"/>
                </a:cubicBezTo>
                <a:cubicBezTo>
                  <a:pt x="0" y="14"/>
                  <a:pt x="0" y="14"/>
                  <a:pt x="0" y="14"/>
                </a:cubicBezTo>
                <a:lnTo>
                  <a:pt x="4" y="7"/>
                </a:lnTo>
                <a:close/>
              </a:path>
            </a:pathLst>
          </a:custGeom>
          <a:solidFill>
            <a:srgbClr val="8C00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4203" name="Line 43"/>
          <p:cNvSpPr>
            <a:spLocks noChangeShapeType="1"/>
          </p:cNvSpPr>
          <p:nvPr/>
        </p:nvSpPr>
        <p:spPr bwMode="auto">
          <a:xfrm>
            <a:off x="3418260" y="2827040"/>
            <a:ext cx="0" cy="347662"/>
          </a:xfrm>
          <a:prstGeom prst="line">
            <a:avLst/>
          </a:prstGeom>
          <a:noFill/>
          <a:ln w="11113">
            <a:solidFill>
              <a:srgbClr val="8C0051"/>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604204" name="Freeform 44"/>
          <p:cNvSpPr>
            <a:spLocks/>
          </p:cNvSpPr>
          <p:nvPr/>
        </p:nvSpPr>
        <p:spPr bwMode="auto">
          <a:xfrm>
            <a:off x="3376985" y="3135015"/>
            <a:ext cx="85725" cy="152400"/>
          </a:xfrm>
          <a:custGeom>
            <a:avLst/>
            <a:gdLst>
              <a:gd name="T0" fmla="*/ 42863 w 14"/>
              <a:gd name="T1" fmla="*/ 26504 h 23"/>
              <a:gd name="T2" fmla="*/ 85725 w 14"/>
              <a:gd name="T3" fmla="*/ 0 h 23"/>
              <a:gd name="T4" fmla="*/ 85725 w 14"/>
              <a:gd name="T5" fmla="*/ 0 h 23"/>
              <a:gd name="T6" fmla="*/ 61232 w 14"/>
              <a:gd name="T7" fmla="*/ 72887 h 23"/>
              <a:gd name="T8" fmla="*/ 42863 w 14"/>
              <a:gd name="T9" fmla="*/ 152400 h 23"/>
              <a:gd name="T10" fmla="*/ 24493 w 14"/>
              <a:gd name="T11" fmla="*/ 72887 h 23"/>
              <a:gd name="T12" fmla="*/ 0 w 14"/>
              <a:gd name="T13" fmla="*/ 0 h 23"/>
              <a:gd name="T14" fmla="*/ 0 w 14"/>
              <a:gd name="T15" fmla="*/ 0 h 23"/>
              <a:gd name="T16" fmla="*/ 42863 w 14"/>
              <a:gd name="T17" fmla="*/ 26504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23"/>
              <a:gd name="T29" fmla="*/ 14 w 14"/>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23">
                <a:moveTo>
                  <a:pt x="7" y="4"/>
                </a:moveTo>
                <a:cubicBezTo>
                  <a:pt x="14" y="0"/>
                  <a:pt x="14" y="0"/>
                  <a:pt x="14" y="0"/>
                </a:cubicBezTo>
                <a:cubicBezTo>
                  <a:pt x="14" y="0"/>
                  <a:pt x="14" y="0"/>
                  <a:pt x="14" y="0"/>
                </a:cubicBezTo>
                <a:cubicBezTo>
                  <a:pt x="10" y="11"/>
                  <a:pt x="10" y="11"/>
                  <a:pt x="10" y="11"/>
                </a:cubicBezTo>
                <a:cubicBezTo>
                  <a:pt x="9" y="15"/>
                  <a:pt x="8" y="19"/>
                  <a:pt x="7" y="23"/>
                </a:cubicBezTo>
                <a:cubicBezTo>
                  <a:pt x="6" y="19"/>
                  <a:pt x="5" y="15"/>
                  <a:pt x="4" y="11"/>
                </a:cubicBezTo>
                <a:cubicBezTo>
                  <a:pt x="0" y="0"/>
                  <a:pt x="0" y="0"/>
                  <a:pt x="0" y="0"/>
                </a:cubicBezTo>
                <a:cubicBezTo>
                  <a:pt x="0" y="0"/>
                  <a:pt x="0" y="0"/>
                  <a:pt x="0" y="0"/>
                </a:cubicBezTo>
                <a:lnTo>
                  <a:pt x="7" y="4"/>
                </a:lnTo>
                <a:close/>
              </a:path>
            </a:pathLst>
          </a:custGeom>
          <a:solidFill>
            <a:srgbClr val="8C00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4205" name="Line 45"/>
          <p:cNvSpPr>
            <a:spLocks noChangeShapeType="1"/>
          </p:cNvSpPr>
          <p:nvPr/>
        </p:nvSpPr>
        <p:spPr bwMode="auto">
          <a:xfrm>
            <a:off x="3418260" y="3360440"/>
            <a:ext cx="1901825" cy="0"/>
          </a:xfrm>
          <a:prstGeom prst="line">
            <a:avLst/>
          </a:prstGeom>
          <a:noFill/>
          <a:ln w="11113">
            <a:solidFill>
              <a:srgbClr val="8C0051"/>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604206" name="Freeform 46"/>
          <p:cNvSpPr>
            <a:spLocks/>
          </p:cNvSpPr>
          <p:nvPr/>
        </p:nvSpPr>
        <p:spPr bwMode="auto">
          <a:xfrm>
            <a:off x="5281985" y="3315990"/>
            <a:ext cx="144462" cy="92075"/>
          </a:xfrm>
          <a:custGeom>
            <a:avLst/>
            <a:gdLst>
              <a:gd name="T0" fmla="*/ 25124 w 23"/>
              <a:gd name="T1" fmla="*/ 46038 h 14"/>
              <a:gd name="T2" fmla="*/ 0 w 23"/>
              <a:gd name="T3" fmla="*/ 0 h 14"/>
              <a:gd name="T4" fmla="*/ 0 w 23"/>
              <a:gd name="T5" fmla="*/ 0 h 14"/>
              <a:gd name="T6" fmla="*/ 69091 w 23"/>
              <a:gd name="T7" fmla="*/ 26307 h 14"/>
              <a:gd name="T8" fmla="*/ 144462 w 23"/>
              <a:gd name="T9" fmla="*/ 46038 h 14"/>
              <a:gd name="T10" fmla="*/ 69091 w 23"/>
              <a:gd name="T11" fmla="*/ 65768 h 14"/>
              <a:gd name="T12" fmla="*/ 0 w 23"/>
              <a:gd name="T13" fmla="*/ 92075 h 14"/>
              <a:gd name="T14" fmla="*/ 0 w 23"/>
              <a:gd name="T15" fmla="*/ 92075 h 14"/>
              <a:gd name="T16" fmla="*/ 25124 w 23"/>
              <a:gd name="T17" fmla="*/ 46038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14"/>
              <a:gd name="T29" fmla="*/ 23 w 23"/>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14">
                <a:moveTo>
                  <a:pt x="4" y="7"/>
                </a:moveTo>
                <a:cubicBezTo>
                  <a:pt x="0" y="0"/>
                  <a:pt x="0" y="0"/>
                  <a:pt x="0" y="0"/>
                </a:cubicBezTo>
                <a:cubicBezTo>
                  <a:pt x="0" y="0"/>
                  <a:pt x="0" y="0"/>
                  <a:pt x="0" y="0"/>
                </a:cubicBezTo>
                <a:cubicBezTo>
                  <a:pt x="11" y="4"/>
                  <a:pt x="11" y="4"/>
                  <a:pt x="11" y="4"/>
                </a:cubicBezTo>
                <a:cubicBezTo>
                  <a:pt x="15" y="5"/>
                  <a:pt x="19" y="6"/>
                  <a:pt x="23" y="7"/>
                </a:cubicBezTo>
                <a:cubicBezTo>
                  <a:pt x="19" y="8"/>
                  <a:pt x="15" y="9"/>
                  <a:pt x="11" y="10"/>
                </a:cubicBezTo>
                <a:cubicBezTo>
                  <a:pt x="0" y="14"/>
                  <a:pt x="0" y="14"/>
                  <a:pt x="0" y="14"/>
                </a:cubicBezTo>
                <a:cubicBezTo>
                  <a:pt x="0" y="14"/>
                  <a:pt x="0" y="14"/>
                  <a:pt x="0" y="14"/>
                </a:cubicBezTo>
                <a:lnTo>
                  <a:pt x="4" y="7"/>
                </a:lnTo>
                <a:close/>
              </a:path>
            </a:pathLst>
          </a:custGeom>
          <a:solidFill>
            <a:srgbClr val="8C00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4207" name="Line 47"/>
          <p:cNvSpPr>
            <a:spLocks noChangeShapeType="1"/>
          </p:cNvSpPr>
          <p:nvPr/>
        </p:nvSpPr>
        <p:spPr bwMode="auto">
          <a:xfrm>
            <a:off x="5426447" y="3360440"/>
            <a:ext cx="0" cy="2573337"/>
          </a:xfrm>
          <a:prstGeom prst="line">
            <a:avLst/>
          </a:prstGeom>
          <a:noFill/>
          <a:ln w="11113">
            <a:solidFill>
              <a:srgbClr val="8C0051"/>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604208" name="Freeform 48"/>
          <p:cNvSpPr>
            <a:spLocks/>
          </p:cNvSpPr>
          <p:nvPr/>
        </p:nvSpPr>
        <p:spPr bwMode="auto">
          <a:xfrm>
            <a:off x="5367710" y="5825827"/>
            <a:ext cx="119062" cy="209550"/>
          </a:xfrm>
          <a:custGeom>
            <a:avLst/>
            <a:gdLst>
              <a:gd name="T0" fmla="*/ 56398 w 19"/>
              <a:gd name="T1" fmla="*/ 40558 h 31"/>
              <a:gd name="T2" fmla="*/ 119062 w 19"/>
              <a:gd name="T3" fmla="*/ 0 h 31"/>
              <a:gd name="T4" fmla="*/ 119062 w 19"/>
              <a:gd name="T5" fmla="*/ 0 h 31"/>
              <a:gd name="T6" fmla="*/ 81463 w 19"/>
              <a:gd name="T7" fmla="*/ 101395 h 31"/>
              <a:gd name="T8" fmla="*/ 56398 w 19"/>
              <a:gd name="T9" fmla="*/ 209550 h 31"/>
              <a:gd name="T10" fmla="*/ 37599 w 19"/>
              <a:gd name="T11" fmla="*/ 101395 h 31"/>
              <a:gd name="T12" fmla="*/ 0 w 19"/>
              <a:gd name="T13" fmla="*/ 0 h 31"/>
              <a:gd name="T14" fmla="*/ 0 w 19"/>
              <a:gd name="T15" fmla="*/ 0 h 31"/>
              <a:gd name="T16" fmla="*/ 56398 w 19"/>
              <a:gd name="T17" fmla="*/ 40558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1"/>
              <a:gd name="T29" fmla="*/ 19 w 19"/>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1">
                <a:moveTo>
                  <a:pt x="9" y="6"/>
                </a:moveTo>
                <a:cubicBezTo>
                  <a:pt x="19" y="0"/>
                  <a:pt x="19" y="0"/>
                  <a:pt x="19" y="0"/>
                </a:cubicBezTo>
                <a:cubicBezTo>
                  <a:pt x="19" y="0"/>
                  <a:pt x="19" y="0"/>
                  <a:pt x="19" y="0"/>
                </a:cubicBezTo>
                <a:cubicBezTo>
                  <a:pt x="13" y="15"/>
                  <a:pt x="13" y="15"/>
                  <a:pt x="13" y="15"/>
                </a:cubicBezTo>
                <a:cubicBezTo>
                  <a:pt x="12" y="21"/>
                  <a:pt x="10" y="26"/>
                  <a:pt x="9" y="31"/>
                </a:cubicBezTo>
                <a:cubicBezTo>
                  <a:pt x="8" y="26"/>
                  <a:pt x="7" y="21"/>
                  <a:pt x="6" y="15"/>
                </a:cubicBezTo>
                <a:cubicBezTo>
                  <a:pt x="0" y="0"/>
                  <a:pt x="0" y="0"/>
                  <a:pt x="0" y="0"/>
                </a:cubicBezTo>
                <a:cubicBezTo>
                  <a:pt x="0" y="0"/>
                  <a:pt x="0" y="0"/>
                  <a:pt x="0" y="0"/>
                </a:cubicBezTo>
                <a:lnTo>
                  <a:pt x="9" y="6"/>
                </a:lnTo>
                <a:close/>
              </a:path>
            </a:pathLst>
          </a:custGeom>
          <a:solidFill>
            <a:srgbClr val="8C0051"/>
          </a:solidFill>
          <a:ln w="3175" cap="flat">
            <a:solidFill>
              <a:srgbClr val="FFFFFF"/>
            </a:solidFill>
            <a:prstDash val="solid"/>
            <a:miter lim="800000"/>
            <a:headEnd/>
            <a:tailEnd/>
          </a:ln>
        </p:spPr>
        <p:txBody>
          <a:bodyPr/>
          <a:lstStyle/>
          <a:p>
            <a:endParaRPr lang="en-US" dirty="0"/>
          </a:p>
        </p:txBody>
      </p:sp>
      <p:sp>
        <p:nvSpPr>
          <p:cNvPr id="15399" name="Freeform 49"/>
          <p:cNvSpPr>
            <a:spLocks/>
          </p:cNvSpPr>
          <p:nvPr/>
        </p:nvSpPr>
        <p:spPr bwMode="auto">
          <a:xfrm>
            <a:off x="1410072" y="1453852"/>
            <a:ext cx="5837238" cy="4592638"/>
          </a:xfrm>
          <a:custGeom>
            <a:avLst/>
            <a:gdLst>
              <a:gd name="T0" fmla="*/ 5837238 w 2212"/>
              <a:gd name="T1" fmla="*/ 4592638 h 1628"/>
              <a:gd name="T2" fmla="*/ 0 w 2212"/>
              <a:gd name="T3" fmla="*/ 4592638 h 1628"/>
              <a:gd name="T4" fmla="*/ 0 w 2212"/>
              <a:gd name="T5" fmla="*/ 0 h 1628"/>
              <a:gd name="T6" fmla="*/ 0 60000 65536"/>
              <a:gd name="T7" fmla="*/ 0 60000 65536"/>
              <a:gd name="T8" fmla="*/ 0 60000 65536"/>
              <a:gd name="T9" fmla="*/ 0 w 2212"/>
              <a:gd name="T10" fmla="*/ 0 h 1628"/>
              <a:gd name="T11" fmla="*/ 2212 w 2212"/>
              <a:gd name="T12" fmla="*/ 1628 h 1628"/>
            </a:gdLst>
            <a:ahLst/>
            <a:cxnLst>
              <a:cxn ang="T6">
                <a:pos x="T0" y="T1"/>
              </a:cxn>
              <a:cxn ang="T7">
                <a:pos x="T2" y="T3"/>
              </a:cxn>
              <a:cxn ang="T8">
                <a:pos x="T4" y="T5"/>
              </a:cxn>
            </a:cxnLst>
            <a:rect l="T9" t="T10" r="T11" b="T12"/>
            <a:pathLst>
              <a:path w="2212" h="1628">
                <a:moveTo>
                  <a:pt x="2212" y="1628"/>
                </a:moveTo>
                <a:lnTo>
                  <a:pt x="0" y="1628"/>
                </a:lnTo>
                <a:lnTo>
                  <a:pt x="0"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604210" name="Line 50"/>
          <p:cNvSpPr>
            <a:spLocks noChangeShapeType="1"/>
          </p:cNvSpPr>
          <p:nvPr/>
        </p:nvSpPr>
        <p:spPr bwMode="auto">
          <a:xfrm flipV="1">
            <a:off x="3430960" y="2401590"/>
            <a:ext cx="549275" cy="57785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604211" name="Line 51"/>
          <p:cNvSpPr>
            <a:spLocks noChangeShapeType="1"/>
          </p:cNvSpPr>
          <p:nvPr/>
        </p:nvSpPr>
        <p:spPr bwMode="auto">
          <a:xfrm flipV="1">
            <a:off x="4502522" y="3081040"/>
            <a:ext cx="269875" cy="27940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5402" name="Oval 52"/>
          <p:cNvSpPr>
            <a:spLocks noChangeArrowheads="1"/>
          </p:cNvSpPr>
          <p:nvPr/>
        </p:nvSpPr>
        <p:spPr bwMode="auto">
          <a:xfrm>
            <a:off x="3349997" y="3287415"/>
            <a:ext cx="136525" cy="1460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4213" name="Line 53"/>
          <p:cNvSpPr>
            <a:spLocks noChangeShapeType="1"/>
          </p:cNvSpPr>
          <p:nvPr/>
        </p:nvSpPr>
        <p:spPr bwMode="auto">
          <a:xfrm flipV="1">
            <a:off x="2589585" y="2434927"/>
            <a:ext cx="0" cy="373063"/>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604214" name="Freeform 54"/>
          <p:cNvSpPr>
            <a:spLocks/>
          </p:cNvSpPr>
          <p:nvPr/>
        </p:nvSpPr>
        <p:spPr bwMode="auto">
          <a:xfrm>
            <a:off x="1772022" y="1801515"/>
            <a:ext cx="1746250" cy="639762"/>
          </a:xfrm>
          <a:custGeom>
            <a:avLst/>
            <a:gdLst>
              <a:gd name="T0" fmla="*/ 1746250 w 280"/>
              <a:gd name="T1" fmla="*/ 533135 h 96"/>
              <a:gd name="T2" fmla="*/ 1646464 w 280"/>
              <a:gd name="T3" fmla="*/ 639762 h 96"/>
              <a:gd name="T4" fmla="*/ 99786 w 280"/>
              <a:gd name="T5" fmla="*/ 639762 h 96"/>
              <a:gd name="T6" fmla="*/ 0 w 280"/>
              <a:gd name="T7" fmla="*/ 533135 h 96"/>
              <a:gd name="T8" fmla="*/ 0 w 280"/>
              <a:gd name="T9" fmla="*/ 106627 h 96"/>
              <a:gd name="T10" fmla="*/ 99786 w 280"/>
              <a:gd name="T11" fmla="*/ 0 h 96"/>
              <a:gd name="T12" fmla="*/ 1646464 w 280"/>
              <a:gd name="T13" fmla="*/ 0 h 96"/>
              <a:gd name="T14" fmla="*/ 1746250 w 280"/>
              <a:gd name="T15" fmla="*/ 106627 h 96"/>
              <a:gd name="T16" fmla="*/ 1746250 w 280"/>
              <a:gd name="T17" fmla="*/ 533135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0"/>
              <a:gd name="T28" fmla="*/ 0 h 96"/>
              <a:gd name="T29" fmla="*/ 280 w 280"/>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0" h="96">
                <a:moveTo>
                  <a:pt x="280" y="80"/>
                </a:moveTo>
                <a:cubicBezTo>
                  <a:pt x="280" y="88"/>
                  <a:pt x="273" y="96"/>
                  <a:pt x="264" y="96"/>
                </a:cubicBezTo>
                <a:cubicBezTo>
                  <a:pt x="16" y="96"/>
                  <a:pt x="16" y="96"/>
                  <a:pt x="16" y="96"/>
                </a:cubicBezTo>
                <a:cubicBezTo>
                  <a:pt x="7" y="96"/>
                  <a:pt x="0" y="88"/>
                  <a:pt x="0" y="80"/>
                </a:cubicBezTo>
                <a:cubicBezTo>
                  <a:pt x="0" y="16"/>
                  <a:pt x="0" y="16"/>
                  <a:pt x="0" y="16"/>
                </a:cubicBezTo>
                <a:cubicBezTo>
                  <a:pt x="0" y="7"/>
                  <a:pt x="7" y="0"/>
                  <a:pt x="16" y="0"/>
                </a:cubicBezTo>
                <a:cubicBezTo>
                  <a:pt x="264" y="0"/>
                  <a:pt x="264" y="0"/>
                  <a:pt x="264" y="0"/>
                </a:cubicBezTo>
                <a:cubicBezTo>
                  <a:pt x="273" y="0"/>
                  <a:pt x="280" y="7"/>
                  <a:pt x="280" y="16"/>
                </a:cubicBezTo>
                <a:lnTo>
                  <a:pt x="280" y="8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4215" name="Freeform 55"/>
          <p:cNvSpPr>
            <a:spLocks/>
          </p:cNvSpPr>
          <p:nvPr/>
        </p:nvSpPr>
        <p:spPr bwMode="auto">
          <a:xfrm>
            <a:off x="3761160" y="1795165"/>
            <a:ext cx="1917700" cy="639762"/>
          </a:xfrm>
          <a:custGeom>
            <a:avLst/>
            <a:gdLst>
              <a:gd name="T0" fmla="*/ 1839912 w 295"/>
              <a:gd name="T1" fmla="*/ 533135 h 96"/>
              <a:gd name="T2" fmla="*/ 1740120 w 295"/>
              <a:gd name="T3" fmla="*/ 639762 h 96"/>
              <a:gd name="T4" fmla="*/ 99792 w 295"/>
              <a:gd name="T5" fmla="*/ 639762 h 96"/>
              <a:gd name="T6" fmla="*/ 0 w 295"/>
              <a:gd name="T7" fmla="*/ 533135 h 96"/>
              <a:gd name="T8" fmla="*/ 0 w 295"/>
              <a:gd name="T9" fmla="*/ 106627 h 96"/>
              <a:gd name="T10" fmla="*/ 99792 w 295"/>
              <a:gd name="T11" fmla="*/ 0 h 96"/>
              <a:gd name="T12" fmla="*/ 1740120 w 295"/>
              <a:gd name="T13" fmla="*/ 0 h 96"/>
              <a:gd name="T14" fmla="*/ 1839912 w 295"/>
              <a:gd name="T15" fmla="*/ 106627 h 96"/>
              <a:gd name="T16" fmla="*/ 1839912 w 295"/>
              <a:gd name="T17" fmla="*/ 533135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5"/>
              <a:gd name="T28" fmla="*/ 0 h 96"/>
              <a:gd name="T29" fmla="*/ 295 w 295"/>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5" h="96">
                <a:moveTo>
                  <a:pt x="295" y="80"/>
                </a:moveTo>
                <a:cubicBezTo>
                  <a:pt x="295" y="89"/>
                  <a:pt x="288" y="96"/>
                  <a:pt x="279" y="96"/>
                </a:cubicBezTo>
                <a:cubicBezTo>
                  <a:pt x="16" y="96"/>
                  <a:pt x="16" y="96"/>
                  <a:pt x="16" y="96"/>
                </a:cubicBezTo>
                <a:cubicBezTo>
                  <a:pt x="8" y="96"/>
                  <a:pt x="0" y="89"/>
                  <a:pt x="0" y="80"/>
                </a:cubicBezTo>
                <a:cubicBezTo>
                  <a:pt x="0" y="16"/>
                  <a:pt x="0" y="16"/>
                  <a:pt x="0" y="16"/>
                </a:cubicBezTo>
                <a:cubicBezTo>
                  <a:pt x="0" y="8"/>
                  <a:pt x="8" y="0"/>
                  <a:pt x="16" y="0"/>
                </a:cubicBezTo>
                <a:cubicBezTo>
                  <a:pt x="279" y="0"/>
                  <a:pt x="279" y="0"/>
                  <a:pt x="279" y="0"/>
                </a:cubicBezTo>
                <a:cubicBezTo>
                  <a:pt x="288" y="0"/>
                  <a:pt x="295" y="8"/>
                  <a:pt x="295" y="16"/>
                </a:cubicBezTo>
                <a:lnTo>
                  <a:pt x="295" y="8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4216" name="Freeform 56"/>
          <p:cNvSpPr>
            <a:spLocks/>
          </p:cNvSpPr>
          <p:nvPr/>
        </p:nvSpPr>
        <p:spPr bwMode="auto">
          <a:xfrm>
            <a:off x="4644504" y="2561927"/>
            <a:ext cx="1901825" cy="649288"/>
          </a:xfrm>
          <a:custGeom>
            <a:avLst/>
            <a:gdLst>
              <a:gd name="T0" fmla="*/ 1847850 w 271"/>
              <a:gd name="T1" fmla="*/ 476250 h 96"/>
              <a:gd name="T2" fmla="*/ 1738751 w 271"/>
              <a:gd name="T3" fmla="*/ 571500 h 96"/>
              <a:gd name="T4" fmla="*/ 109098 w 271"/>
              <a:gd name="T5" fmla="*/ 571500 h 96"/>
              <a:gd name="T6" fmla="*/ 0 w 271"/>
              <a:gd name="T7" fmla="*/ 476250 h 96"/>
              <a:gd name="T8" fmla="*/ 0 w 271"/>
              <a:gd name="T9" fmla="*/ 95250 h 96"/>
              <a:gd name="T10" fmla="*/ 109098 w 271"/>
              <a:gd name="T11" fmla="*/ 0 h 96"/>
              <a:gd name="T12" fmla="*/ 1738751 w 271"/>
              <a:gd name="T13" fmla="*/ 0 h 96"/>
              <a:gd name="T14" fmla="*/ 1847850 w 271"/>
              <a:gd name="T15" fmla="*/ 95250 h 96"/>
              <a:gd name="T16" fmla="*/ 1847850 w 271"/>
              <a:gd name="T17" fmla="*/ 476250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1"/>
              <a:gd name="T28" fmla="*/ 0 h 96"/>
              <a:gd name="T29" fmla="*/ 271 w 271"/>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1" h="96">
                <a:moveTo>
                  <a:pt x="271" y="80"/>
                </a:moveTo>
                <a:cubicBezTo>
                  <a:pt x="271" y="89"/>
                  <a:pt x="264" y="96"/>
                  <a:pt x="255" y="96"/>
                </a:cubicBezTo>
                <a:cubicBezTo>
                  <a:pt x="16" y="96"/>
                  <a:pt x="16" y="96"/>
                  <a:pt x="16" y="96"/>
                </a:cubicBezTo>
                <a:cubicBezTo>
                  <a:pt x="7" y="96"/>
                  <a:pt x="0" y="89"/>
                  <a:pt x="0" y="80"/>
                </a:cubicBezTo>
                <a:cubicBezTo>
                  <a:pt x="0" y="16"/>
                  <a:pt x="0" y="16"/>
                  <a:pt x="0" y="16"/>
                </a:cubicBezTo>
                <a:cubicBezTo>
                  <a:pt x="0" y="8"/>
                  <a:pt x="7" y="0"/>
                  <a:pt x="16" y="0"/>
                </a:cubicBezTo>
                <a:cubicBezTo>
                  <a:pt x="255" y="0"/>
                  <a:pt x="255" y="0"/>
                  <a:pt x="255" y="0"/>
                </a:cubicBezTo>
                <a:cubicBezTo>
                  <a:pt x="264" y="0"/>
                  <a:pt x="271" y="8"/>
                  <a:pt x="271" y="16"/>
                </a:cubicBezTo>
                <a:lnTo>
                  <a:pt x="271" y="8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4217" name="Rectangle 57"/>
          <p:cNvSpPr>
            <a:spLocks noChangeArrowheads="1"/>
          </p:cNvSpPr>
          <p:nvPr/>
        </p:nvSpPr>
        <p:spPr bwMode="auto">
          <a:xfrm>
            <a:off x="1841872" y="1885652"/>
            <a:ext cx="156368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sz="1600" i="1" dirty="0">
                <a:solidFill>
                  <a:srgbClr val="000000"/>
                </a:solidFill>
                <a:cs typeface="Calibri" panose="020F0502020204030204" pitchFamily="34" charset="0"/>
              </a:rPr>
              <a:t>Producing the first </a:t>
            </a:r>
          </a:p>
          <a:p>
            <a:pPr algn="ctr"/>
            <a:r>
              <a:rPr lang="en-US" sz="1600" i="1" dirty="0">
                <a:solidFill>
                  <a:srgbClr val="000000"/>
                </a:solidFill>
                <a:cs typeface="Calibri" panose="020F0502020204030204" pitchFamily="34" charset="0"/>
              </a:rPr>
              <a:t>20 small jets . . .</a:t>
            </a:r>
            <a:endParaRPr lang="en-US" sz="1600" i="1" dirty="0">
              <a:cs typeface="Calibri" panose="020F0502020204030204" pitchFamily="34" charset="0"/>
            </a:endParaRPr>
          </a:p>
        </p:txBody>
      </p:sp>
      <p:sp>
        <p:nvSpPr>
          <p:cNvPr id="604219" name="Line 59"/>
          <p:cNvSpPr>
            <a:spLocks noChangeShapeType="1"/>
          </p:cNvSpPr>
          <p:nvPr/>
        </p:nvSpPr>
        <p:spPr bwMode="auto">
          <a:xfrm>
            <a:off x="5423272" y="4640560"/>
            <a:ext cx="255588" cy="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604220" name="Freeform 60"/>
          <p:cNvSpPr>
            <a:spLocks/>
          </p:cNvSpPr>
          <p:nvPr/>
        </p:nvSpPr>
        <p:spPr bwMode="auto">
          <a:xfrm>
            <a:off x="5575672" y="4335760"/>
            <a:ext cx="2093168" cy="533400"/>
          </a:xfrm>
          <a:custGeom>
            <a:avLst/>
            <a:gdLst>
              <a:gd name="T0" fmla="*/ 1905000 w 227"/>
              <a:gd name="T1" fmla="*/ 467242 h 129"/>
              <a:gd name="T2" fmla="*/ 1770727 w 227"/>
              <a:gd name="T3" fmla="*/ 533400 h 129"/>
              <a:gd name="T4" fmla="*/ 134273 w 227"/>
              <a:gd name="T5" fmla="*/ 533400 h 129"/>
              <a:gd name="T6" fmla="*/ 0 w 227"/>
              <a:gd name="T7" fmla="*/ 467242 h 129"/>
              <a:gd name="T8" fmla="*/ 0 w 227"/>
              <a:gd name="T9" fmla="*/ 66158 h 129"/>
              <a:gd name="T10" fmla="*/ 134273 w 227"/>
              <a:gd name="T11" fmla="*/ 0 h 129"/>
              <a:gd name="T12" fmla="*/ 1770727 w 227"/>
              <a:gd name="T13" fmla="*/ 0 h 129"/>
              <a:gd name="T14" fmla="*/ 1905000 w 227"/>
              <a:gd name="T15" fmla="*/ 66158 h 129"/>
              <a:gd name="T16" fmla="*/ 1905000 w 227"/>
              <a:gd name="T17" fmla="*/ 467242 h 1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7"/>
              <a:gd name="T28" fmla="*/ 0 h 129"/>
              <a:gd name="T29" fmla="*/ 227 w 227"/>
              <a:gd name="T30" fmla="*/ 129 h 1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7" h="129">
                <a:moveTo>
                  <a:pt x="227" y="113"/>
                </a:moveTo>
                <a:cubicBezTo>
                  <a:pt x="227" y="122"/>
                  <a:pt x="220" y="129"/>
                  <a:pt x="211" y="129"/>
                </a:cubicBezTo>
                <a:cubicBezTo>
                  <a:pt x="16" y="129"/>
                  <a:pt x="16" y="129"/>
                  <a:pt x="16" y="129"/>
                </a:cubicBezTo>
                <a:cubicBezTo>
                  <a:pt x="7" y="129"/>
                  <a:pt x="0" y="122"/>
                  <a:pt x="0" y="113"/>
                </a:cubicBezTo>
                <a:cubicBezTo>
                  <a:pt x="0" y="16"/>
                  <a:pt x="0" y="16"/>
                  <a:pt x="0" y="16"/>
                </a:cubicBezTo>
                <a:cubicBezTo>
                  <a:pt x="0" y="8"/>
                  <a:pt x="7" y="0"/>
                  <a:pt x="16" y="0"/>
                </a:cubicBezTo>
                <a:cubicBezTo>
                  <a:pt x="211" y="0"/>
                  <a:pt x="211" y="0"/>
                  <a:pt x="211" y="0"/>
                </a:cubicBezTo>
                <a:cubicBezTo>
                  <a:pt x="220" y="0"/>
                  <a:pt x="227" y="8"/>
                  <a:pt x="227" y="16"/>
                </a:cubicBezTo>
                <a:lnTo>
                  <a:pt x="227" y="113"/>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4222" name="Rectangle 62"/>
          <p:cNvSpPr>
            <a:spLocks noChangeArrowheads="1"/>
          </p:cNvSpPr>
          <p:nvPr/>
        </p:nvSpPr>
        <p:spPr bwMode="auto">
          <a:xfrm>
            <a:off x="5664572" y="4387576"/>
            <a:ext cx="18819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sz="1600" dirty="0">
                <a:solidFill>
                  <a:srgbClr val="000000"/>
                </a:solidFill>
                <a:cs typeface="Calibri" panose="020F0502020204030204" pitchFamily="34" charset="0"/>
              </a:rPr>
              <a:t>…</a:t>
            </a:r>
            <a:r>
              <a:rPr lang="en-US" sz="1600" i="1" dirty="0">
                <a:solidFill>
                  <a:srgbClr val="000000"/>
                </a:solidFill>
                <a:cs typeface="Calibri" panose="020F0502020204030204" pitchFamily="34" charset="0"/>
              </a:rPr>
              <a:t>requires giving up </a:t>
            </a:r>
          </a:p>
          <a:p>
            <a:pPr algn="ctr"/>
            <a:r>
              <a:rPr lang="en-US" sz="1600" i="1" dirty="0">
                <a:solidFill>
                  <a:srgbClr val="000000"/>
                </a:solidFill>
                <a:cs typeface="Calibri" panose="020F0502020204030204" pitchFamily="34" charset="0"/>
              </a:rPr>
              <a:t>25 more Dreamliners.</a:t>
            </a:r>
          </a:p>
        </p:txBody>
      </p:sp>
      <p:sp>
        <p:nvSpPr>
          <p:cNvPr id="604226" name="Rectangle 66"/>
          <p:cNvSpPr>
            <a:spLocks noChangeArrowheads="1"/>
          </p:cNvSpPr>
          <p:nvPr/>
        </p:nvSpPr>
        <p:spPr bwMode="auto">
          <a:xfrm>
            <a:off x="3823072" y="1885652"/>
            <a:ext cx="172799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sz="1600" i="1" dirty="0">
                <a:solidFill>
                  <a:srgbClr val="000000"/>
                </a:solidFill>
                <a:cs typeface="Calibri" panose="020F0502020204030204" pitchFamily="34" charset="0"/>
              </a:rPr>
              <a:t>…requires giving up </a:t>
            </a:r>
          </a:p>
          <a:p>
            <a:pPr algn="ctr"/>
            <a:r>
              <a:rPr lang="en-US" sz="1600" i="1" dirty="0">
                <a:solidFill>
                  <a:srgbClr val="000000"/>
                </a:solidFill>
                <a:cs typeface="Calibri" panose="020F0502020204030204" pitchFamily="34" charset="0"/>
              </a:rPr>
              <a:t>5 Dreamliners.</a:t>
            </a:r>
            <a:endParaRPr lang="en-US" sz="1600" i="1" dirty="0">
              <a:cs typeface="Calibri" panose="020F0502020204030204" pitchFamily="34" charset="0"/>
            </a:endParaRPr>
          </a:p>
        </p:txBody>
      </p:sp>
      <p:sp>
        <p:nvSpPr>
          <p:cNvPr id="604228" name="Rectangle 68"/>
          <p:cNvSpPr>
            <a:spLocks noChangeArrowheads="1"/>
          </p:cNvSpPr>
          <p:nvPr/>
        </p:nvSpPr>
        <p:spPr bwMode="auto">
          <a:xfrm>
            <a:off x="4757272" y="2647652"/>
            <a:ext cx="181351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i="1" dirty="0">
                <a:solidFill>
                  <a:srgbClr val="000000"/>
                </a:solidFill>
                <a:ea typeface="Microsoft Yi Baiti" panose="03000500000000000000" pitchFamily="66" charset="0"/>
                <a:cs typeface="Calibri" panose="020F0502020204030204" pitchFamily="34" charset="0"/>
              </a:rPr>
              <a:t>But producing </a:t>
            </a:r>
          </a:p>
          <a:p>
            <a:pPr algn="ctr"/>
            <a:r>
              <a:rPr lang="en-US" sz="1600" i="1" dirty="0">
                <a:solidFill>
                  <a:srgbClr val="000000"/>
                </a:solidFill>
                <a:ea typeface="Microsoft Yi Baiti" panose="03000500000000000000" pitchFamily="66" charset="0"/>
                <a:cs typeface="Calibri" panose="020F0502020204030204" pitchFamily="34" charset="0"/>
              </a:rPr>
              <a:t>20 more small jets . . .</a:t>
            </a:r>
            <a:endParaRPr lang="en-US" sz="1600" i="1" dirty="0">
              <a:ea typeface="Microsoft Yi Baiti" panose="03000500000000000000" pitchFamily="66" charset="0"/>
              <a:cs typeface="Calibri" panose="020F0502020204030204" pitchFamily="34" charset="0"/>
            </a:endParaRPr>
          </a:p>
        </p:txBody>
      </p:sp>
      <p:sp>
        <p:nvSpPr>
          <p:cNvPr id="15413" name="Oval 70"/>
          <p:cNvSpPr>
            <a:spLocks noChangeArrowheads="1"/>
          </p:cNvSpPr>
          <p:nvPr/>
        </p:nvSpPr>
        <p:spPr bwMode="auto">
          <a:xfrm>
            <a:off x="1635497" y="3346152"/>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14" name="Oval 71"/>
          <p:cNvSpPr>
            <a:spLocks noChangeArrowheads="1"/>
          </p:cNvSpPr>
          <p:nvPr/>
        </p:nvSpPr>
        <p:spPr bwMode="auto">
          <a:xfrm>
            <a:off x="1748210" y="3346152"/>
            <a:ext cx="23812"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15" name="Oval 72"/>
          <p:cNvSpPr>
            <a:spLocks noChangeArrowheads="1"/>
          </p:cNvSpPr>
          <p:nvPr/>
        </p:nvSpPr>
        <p:spPr bwMode="auto">
          <a:xfrm>
            <a:off x="1862510" y="3346152"/>
            <a:ext cx="23812"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16" name="Oval 73"/>
          <p:cNvSpPr>
            <a:spLocks noChangeArrowheads="1"/>
          </p:cNvSpPr>
          <p:nvPr/>
        </p:nvSpPr>
        <p:spPr bwMode="auto">
          <a:xfrm>
            <a:off x="1978397" y="3346152"/>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17" name="Oval 74"/>
          <p:cNvSpPr>
            <a:spLocks noChangeArrowheads="1"/>
          </p:cNvSpPr>
          <p:nvPr/>
        </p:nvSpPr>
        <p:spPr bwMode="auto">
          <a:xfrm>
            <a:off x="2091110" y="3346152"/>
            <a:ext cx="23812"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18" name="Oval 75"/>
          <p:cNvSpPr>
            <a:spLocks noChangeArrowheads="1"/>
          </p:cNvSpPr>
          <p:nvPr/>
        </p:nvSpPr>
        <p:spPr bwMode="auto">
          <a:xfrm>
            <a:off x="2210172" y="3346152"/>
            <a:ext cx="23813"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19" name="Oval 76"/>
          <p:cNvSpPr>
            <a:spLocks noChangeArrowheads="1"/>
          </p:cNvSpPr>
          <p:nvPr/>
        </p:nvSpPr>
        <p:spPr bwMode="auto">
          <a:xfrm>
            <a:off x="2321297" y="3346152"/>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20" name="Oval 77"/>
          <p:cNvSpPr>
            <a:spLocks noChangeArrowheads="1"/>
          </p:cNvSpPr>
          <p:nvPr/>
        </p:nvSpPr>
        <p:spPr bwMode="auto">
          <a:xfrm>
            <a:off x="2434010" y="3346152"/>
            <a:ext cx="23812"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21" name="Oval 78"/>
          <p:cNvSpPr>
            <a:spLocks noChangeArrowheads="1"/>
          </p:cNvSpPr>
          <p:nvPr/>
        </p:nvSpPr>
        <p:spPr bwMode="auto">
          <a:xfrm>
            <a:off x="2553072" y="3346152"/>
            <a:ext cx="23813"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22" name="Oval 79"/>
          <p:cNvSpPr>
            <a:spLocks noChangeArrowheads="1"/>
          </p:cNvSpPr>
          <p:nvPr/>
        </p:nvSpPr>
        <p:spPr bwMode="auto">
          <a:xfrm>
            <a:off x="2664197" y="3346152"/>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23" name="Oval 80"/>
          <p:cNvSpPr>
            <a:spLocks noChangeArrowheads="1"/>
          </p:cNvSpPr>
          <p:nvPr/>
        </p:nvSpPr>
        <p:spPr bwMode="auto">
          <a:xfrm>
            <a:off x="2783260" y="3346152"/>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24" name="Oval 81"/>
          <p:cNvSpPr>
            <a:spLocks noChangeArrowheads="1"/>
          </p:cNvSpPr>
          <p:nvPr/>
        </p:nvSpPr>
        <p:spPr bwMode="auto">
          <a:xfrm>
            <a:off x="2895972" y="3346152"/>
            <a:ext cx="23813"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25" name="Oval 82"/>
          <p:cNvSpPr>
            <a:spLocks noChangeArrowheads="1"/>
          </p:cNvSpPr>
          <p:nvPr/>
        </p:nvSpPr>
        <p:spPr bwMode="auto">
          <a:xfrm>
            <a:off x="3007097" y="3346152"/>
            <a:ext cx="26988"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26" name="Oval 83"/>
          <p:cNvSpPr>
            <a:spLocks noChangeArrowheads="1"/>
          </p:cNvSpPr>
          <p:nvPr/>
        </p:nvSpPr>
        <p:spPr bwMode="auto">
          <a:xfrm>
            <a:off x="3126160" y="3346152"/>
            <a:ext cx="23812"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27" name="Oval 84"/>
          <p:cNvSpPr>
            <a:spLocks noChangeArrowheads="1"/>
          </p:cNvSpPr>
          <p:nvPr/>
        </p:nvSpPr>
        <p:spPr bwMode="auto">
          <a:xfrm>
            <a:off x="3238872" y="3346152"/>
            <a:ext cx="23813"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28" name="Oval 85"/>
          <p:cNvSpPr>
            <a:spLocks noChangeArrowheads="1"/>
          </p:cNvSpPr>
          <p:nvPr/>
        </p:nvSpPr>
        <p:spPr bwMode="auto">
          <a:xfrm>
            <a:off x="3405560" y="5644852"/>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29" name="Oval 86"/>
          <p:cNvSpPr>
            <a:spLocks noChangeArrowheads="1"/>
          </p:cNvSpPr>
          <p:nvPr/>
        </p:nvSpPr>
        <p:spPr bwMode="auto">
          <a:xfrm>
            <a:off x="3405560" y="5527377"/>
            <a:ext cx="25400" cy="25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30" name="Oval 87"/>
          <p:cNvSpPr>
            <a:spLocks noChangeArrowheads="1"/>
          </p:cNvSpPr>
          <p:nvPr/>
        </p:nvSpPr>
        <p:spPr bwMode="auto">
          <a:xfrm>
            <a:off x="3405560" y="5767090"/>
            <a:ext cx="25400" cy="25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31" name="Oval 88"/>
          <p:cNvSpPr>
            <a:spLocks noChangeArrowheads="1"/>
          </p:cNvSpPr>
          <p:nvPr/>
        </p:nvSpPr>
        <p:spPr bwMode="auto">
          <a:xfrm>
            <a:off x="3405560" y="5405140"/>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32" name="Oval 89"/>
          <p:cNvSpPr>
            <a:spLocks noChangeArrowheads="1"/>
          </p:cNvSpPr>
          <p:nvPr/>
        </p:nvSpPr>
        <p:spPr bwMode="auto">
          <a:xfrm>
            <a:off x="3405560" y="5287665"/>
            <a:ext cx="25400" cy="25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33" name="Oval 90"/>
          <p:cNvSpPr>
            <a:spLocks noChangeArrowheads="1"/>
          </p:cNvSpPr>
          <p:nvPr/>
        </p:nvSpPr>
        <p:spPr bwMode="auto">
          <a:xfrm>
            <a:off x="3405560" y="5165427"/>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34" name="Oval 91"/>
          <p:cNvSpPr>
            <a:spLocks noChangeArrowheads="1"/>
          </p:cNvSpPr>
          <p:nvPr/>
        </p:nvSpPr>
        <p:spPr bwMode="auto">
          <a:xfrm>
            <a:off x="3405560" y="5047952"/>
            <a:ext cx="25400" cy="25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35" name="Oval 92"/>
          <p:cNvSpPr>
            <a:spLocks noChangeArrowheads="1"/>
          </p:cNvSpPr>
          <p:nvPr/>
        </p:nvSpPr>
        <p:spPr bwMode="auto">
          <a:xfrm>
            <a:off x="3405560" y="4925715"/>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36" name="Oval 93"/>
          <p:cNvSpPr>
            <a:spLocks noChangeArrowheads="1"/>
          </p:cNvSpPr>
          <p:nvPr/>
        </p:nvSpPr>
        <p:spPr bwMode="auto">
          <a:xfrm>
            <a:off x="3405560" y="4808240"/>
            <a:ext cx="25400" cy="25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37" name="Oval 94"/>
          <p:cNvSpPr>
            <a:spLocks noChangeArrowheads="1"/>
          </p:cNvSpPr>
          <p:nvPr/>
        </p:nvSpPr>
        <p:spPr bwMode="auto">
          <a:xfrm>
            <a:off x="3405560" y="4686002"/>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38" name="Oval 95"/>
          <p:cNvSpPr>
            <a:spLocks noChangeArrowheads="1"/>
          </p:cNvSpPr>
          <p:nvPr/>
        </p:nvSpPr>
        <p:spPr bwMode="auto">
          <a:xfrm>
            <a:off x="3405560" y="4573290"/>
            <a:ext cx="25400"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39" name="Oval 96"/>
          <p:cNvSpPr>
            <a:spLocks noChangeArrowheads="1"/>
          </p:cNvSpPr>
          <p:nvPr/>
        </p:nvSpPr>
        <p:spPr bwMode="auto">
          <a:xfrm>
            <a:off x="3405560" y="4455815"/>
            <a:ext cx="25400" cy="25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40" name="Oval 97"/>
          <p:cNvSpPr>
            <a:spLocks noChangeArrowheads="1"/>
          </p:cNvSpPr>
          <p:nvPr/>
        </p:nvSpPr>
        <p:spPr bwMode="auto">
          <a:xfrm>
            <a:off x="3405560" y="4333577"/>
            <a:ext cx="25400" cy="25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41" name="Oval 98"/>
          <p:cNvSpPr>
            <a:spLocks noChangeArrowheads="1"/>
          </p:cNvSpPr>
          <p:nvPr/>
        </p:nvSpPr>
        <p:spPr bwMode="auto">
          <a:xfrm>
            <a:off x="3405560" y="4212927"/>
            <a:ext cx="25400" cy="269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42" name="Oval 99"/>
          <p:cNvSpPr>
            <a:spLocks noChangeArrowheads="1"/>
          </p:cNvSpPr>
          <p:nvPr/>
        </p:nvSpPr>
        <p:spPr bwMode="auto">
          <a:xfrm>
            <a:off x="3405560" y="4093865"/>
            <a:ext cx="25400" cy="25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43" name="Oval 100"/>
          <p:cNvSpPr>
            <a:spLocks noChangeArrowheads="1"/>
          </p:cNvSpPr>
          <p:nvPr/>
        </p:nvSpPr>
        <p:spPr bwMode="auto">
          <a:xfrm>
            <a:off x="3405560" y="3973215"/>
            <a:ext cx="25400" cy="269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44" name="Oval 101"/>
          <p:cNvSpPr>
            <a:spLocks noChangeArrowheads="1"/>
          </p:cNvSpPr>
          <p:nvPr/>
        </p:nvSpPr>
        <p:spPr bwMode="auto">
          <a:xfrm>
            <a:off x="3405560" y="3854152"/>
            <a:ext cx="25400" cy="25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45" name="Oval 102"/>
          <p:cNvSpPr>
            <a:spLocks noChangeArrowheads="1"/>
          </p:cNvSpPr>
          <p:nvPr/>
        </p:nvSpPr>
        <p:spPr bwMode="auto">
          <a:xfrm>
            <a:off x="3405560" y="3733502"/>
            <a:ext cx="25400" cy="269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46" name="Oval 103"/>
          <p:cNvSpPr>
            <a:spLocks noChangeArrowheads="1"/>
          </p:cNvSpPr>
          <p:nvPr/>
        </p:nvSpPr>
        <p:spPr bwMode="auto">
          <a:xfrm>
            <a:off x="3405560" y="3614440"/>
            <a:ext cx="25400" cy="25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47" name="Oval 104"/>
          <p:cNvSpPr>
            <a:spLocks noChangeArrowheads="1"/>
          </p:cNvSpPr>
          <p:nvPr/>
        </p:nvSpPr>
        <p:spPr bwMode="auto">
          <a:xfrm>
            <a:off x="3405560" y="3493790"/>
            <a:ext cx="25400" cy="269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48" name="Rectangle 105"/>
          <p:cNvSpPr>
            <a:spLocks noChangeArrowheads="1"/>
          </p:cNvSpPr>
          <p:nvPr/>
        </p:nvSpPr>
        <p:spPr bwMode="auto">
          <a:xfrm>
            <a:off x="958999" y="1045865"/>
            <a:ext cx="2028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Dreamliners</a:t>
            </a:r>
            <a:endParaRPr lang="en-US" sz="1400" b="1" dirty="0"/>
          </a:p>
        </p:txBody>
      </p:sp>
      <p:sp>
        <p:nvSpPr>
          <p:cNvPr id="15449" name="Rectangle 106"/>
          <p:cNvSpPr>
            <a:spLocks noChangeArrowheads="1"/>
          </p:cNvSpPr>
          <p:nvPr/>
        </p:nvSpPr>
        <p:spPr bwMode="auto">
          <a:xfrm>
            <a:off x="6642472" y="6381452"/>
            <a:ext cx="18081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small jets</a:t>
            </a:r>
            <a:endParaRPr lang="en-US" sz="1400" b="1" dirty="0"/>
          </a:p>
        </p:txBody>
      </p:sp>
      <p:sp>
        <p:nvSpPr>
          <p:cNvPr id="2" name="TextBox 1"/>
          <p:cNvSpPr txBox="1"/>
          <p:nvPr/>
        </p:nvSpPr>
        <p:spPr>
          <a:xfrm>
            <a:off x="6588224" y="692696"/>
            <a:ext cx="2470770" cy="3554819"/>
          </a:xfrm>
          <a:prstGeom prst="rect">
            <a:avLst/>
          </a:prstGeom>
          <a:noFill/>
        </p:spPr>
        <p:txBody>
          <a:bodyPr wrap="square" rtlCol="0">
            <a:spAutoFit/>
          </a:bodyPr>
          <a:lstStyle/>
          <a:p>
            <a:pPr>
              <a:spcAft>
                <a:spcPts val="600"/>
              </a:spcAft>
            </a:pPr>
            <a:r>
              <a:rPr lang="en-US" sz="2000" dirty="0" smtClean="0"/>
              <a:t>As quantity produced of a good grows large, </a:t>
            </a:r>
            <a:r>
              <a:rPr lang="en-US" sz="2000" dirty="0"/>
              <a:t>the opportunity cost of </a:t>
            </a:r>
            <a:r>
              <a:rPr lang="en-US" sz="2000" dirty="0" smtClean="0"/>
              <a:t>producing one more unit </a:t>
            </a:r>
            <a:r>
              <a:rPr lang="en-US" sz="2000" dirty="0"/>
              <a:t>increases. </a:t>
            </a:r>
            <a:endParaRPr lang="en-US" sz="2000" dirty="0" smtClean="0"/>
          </a:p>
          <a:p>
            <a:r>
              <a:rPr lang="en-US" sz="2000" dirty="0" smtClean="0"/>
              <a:t>This happens because less and less suitable resources are reallocated to </a:t>
            </a:r>
            <a:r>
              <a:rPr lang="en-US" sz="2000" dirty="0"/>
              <a:t>produce </a:t>
            </a:r>
            <a:r>
              <a:rPr lang="en-US" sz="2000" dirty="0" smtClean="0"/>
              <a:t>that one good</a:t>
            </a:r>
            <a:endParaRPr lang="en-SG"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217"/>
                                        </p:tgtEl>
                                        <p:attrNameLst>
                                          <p:attrName>style.visibility</p:attrName>
                                        </p:attrNameLst>
                                      </p:cBhvr>
                                      <p:to>
                                        <p:strVal val="visible"/>
                                      </p:to>
                                    </p:set>
                                    <p:animEffect transition="in" filter="wipe(left)">
                                      <p:cBhvr>
                                        <p:cTn id="7" dur="500"/>
                                        <p:tgtEl>
                                          <p:spTgt spid="60421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04214"/>
                                        </p:tgtEl>
                                        <p:attrNameLst>
                                          <p:attrName>style.visibility</p:attrName>
                                        </p:attrNameLst>
                                      </p:cBhvr>
                                      <p:to>
                                        <p:strVal val="visible"/>
                                      </p:to>
                                    </p:set>
                                    <p:animEffect transition="in" filter="wipe(left)">
                                      <p:cBhvr>
                                        <p:cTn id="10" dur="500"/>
                                        <p:tgtEl>
                                          <p:spTgt spid="60421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04213"/>
                                        </p:tgtEl>
                                        <p:attrNameLst>
                                          <p:attrName>style.visibility</p:attrName>
                                        </p:attrNameLst>
                                      </p:cBhvr>
                                      <p:to>
                                        <p:strVal val="visible"/>
                                      </p:to>
                                    </p:set>
                                    <p:animEffect transition="in" filter="wipe(left)">
                                      <p:cBhvr>
                                        <p:cTn id="13" dur="500"/>
                                        <p:tgtEl>
                                          <p:spTgt spid="6042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04201"/>
                                        </p:tgtEl>
                                        <p:attrNameLst>
                                          <p:attrName>style.visibility</p:attrName>
                                        </p:attrNameLst>
                                      </p:cBhvr>
                                      <p:to>
                                        <p:strVal val="visible"/>
                                      </p:to>
                                    </p:set>
                                    <p:animEffect transition="in" filter="wipe(left)">
                                      <p:cBhvr>
                                        <p:cTn id="16" dur="500"/>
                                        <p:tgtEl>
                                          <p:spTgt spid="604201"/>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6042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04215"/>
                                        </p:tgtEl>
                                        <p:attrNameLst>
                                          <p:attrName>style.visibility</p:attrName>
                                        </p:attrNameLst>
                                      </p:cBhvr>
                                      <p:to>
                                        <p:strVal val="visible"/>
                                      </p:to>
                                    </p:set>
                                    <p:animEffect transition="in" filter="wipe(left)">
                                      <p:cBhvr>
                                        <p:cTn id="23" dur="500"/>
                                        <p:tgtEl>
                                          <p:spTgt spid="604215"/>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604226"/>
                                        </p:tgtEl>
                                        <p:attrNameLst>
                                          <p:attrName>style.visibility</p:attrName>
                                        </p:attrNameLst>
                                      </p:cBhvr>
                                      <p:to>
                                        <p:strVal val="visible"/>
                                      </p:to>
                                    </p:set>
                                    <p:animEffect transition="in" filter="wipe(left)">
                                      <p:cBhvr>
                                        <p:cTn id="26" dur="500"/>
                                        <p:tgtEl>
                                          <p:spTgt spid="604226"/>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604210"/>
                                        </p:tgtEl>
                                        <p:attrNameLst>
                                          <p:attrName>style.visibility</p:attrName>
                                        </p:attrNameLst>
                                      </p:cBhvr>
                                      <p:to>
                                        <p:strVal val="visible"/>
                                      </p:to>
                                    </p:set>
                                    <p:animEffect transition="in" filter="wipe(left)">
                                      <p:cBhvr>
                                        <p:cTn id="29" dur="500"/>
                                        <p:tgtEl>
                                          <p:spTgt spid="604210"/>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604204"/>
                                        </p:tgtEl>
                                        <p:attrNameLst>
                                          <p:attrName>style.visibility</p:attrName>
                                        </p:attrNameLst>
                                      </p:cBhvr>
                                      <p:to>
                                        <p:strVal val="visible"/>
                                      </p:to>
                                    </p:set>
                                  </p:childTnLst>
                                </p:cTn>
                              </p:par>
                              <p:par>
                                <p:cTn id="32" presetID="22" presetClass="entr" presetSubtype="1" fill="hold" grpId="0" nodeType="withEffect">
                                  <p:stCondLst>
                                    <p:cond delay="0"/>
                                  </p:stCondLst>
                                  <p:childTnLst>
                                    <p:set>
                                      <p:cBhvr>
                                        <p:cTn id="33" dur="1" fill="hold">
                                          <p:stCondLst>
                                            <p:cond delay="0"/>
                                          </p:stCondLst>
                                        </p:cTn>
                                        <p:tgtEl>
                                          <p:spTgt spid="604203"/>
                                        </p:tgtEl>
                                        <p:attrNameLst>
                                          <p:attrName>style.visibility</p:attrName>
                                        </p:attrNameLst>
                                      </p:cBhvr>
                                      <p:to>
                                        <p:strVal val="visible"/>
                                      </p:to>
                                    </p:set>
                                    <p:animEffect transition="in" filter="wipe(up)">
                                      <p:cBhvr>
                                        <p:cTn id="34" dur="500"/>
                                        <p:tgtEl>
                                          <p:spTgt spid="60420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04216"/>
                                        </p:tgtEl>
                                        <p:attrNameLst>
                                          <p:attrName>style.visibility</p:attrName>
                                        </p:attrNameLst>
                                      </p:cBhvr>
                                      <p:to>
                                        <p:strVal val="visible"/>
                                      </p:to>
                                    </p:set>
                                    <p:animEffect transition="in" filter="wipe(left)">
                                      <p:cBhvr>
                                        <p:cTn id="39" dur="500"/>
                                        <p:tgtEl>
                                          <p:spTgt spid="604216"/>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604228"/>
                                        </p:tgtEl>
                                        <p:attrNameLst>
                                          <p:attrName>style.visibility</p:attrName>
                                        </p:attrNameLst>
                                      </p:cBhvr>
                                      <p:to>
                                        <p:strVal val="visible"/>
                                      </p:to>
                                    </p:set>
                                    <p:animEffect transition="in" filter="wipe(left)">
                                      <p:cBhvr>
                                        <p:cTn id="42" dur="500"/>
                                        <p:tgtEl>
                                          <p:spTgt spid="604228"/>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604211"/>
                                        </p:tgtEl>
                                        <p:attrNameLst>
                                          <p:attrName>style.visibility</p:attrName>
                                        </p:attrNameLst>
                                      </p:cBhvr>
                                      <p:to>
                                        <p:strVal val="visible"/>
                                      </p:to>
                                    </p:set>
                                    <p:animEffect transition="in" filter="wipe(left)">
                                      <p:cBhvr>
                                        <p:cTn id="45" dur="500"/>
                                        <p:tgtEl>
                                          <p:spTgt spid="604211"/>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604205"/>
                                        </p:tgtEl>
                                        <p:attrNameLst>
                                          <p:attrName>style.visibility</p:attrName>
                                        </p:attrNameLst>
                                      </p:cBhvr>
                                      <p:to>
                                        <p:strVal val="visible"/>
                                      </p:to>
                                    </p:set>
                                    <p:animEffect transition="in" filter="wipe(left)">
                                      <p:cBhvr>
                                        <p:cTn id="48" dur="500"/>
                                        <p:tgtEl>
                                          <p:spTgt spid="604205"/>
                                        </p:tgtEl>
                                      </p:cBhvr>
                                    </p:animEffect>
                                  </p:childTnLst>
                                </p:cTn>
                              </p:par>
                              <p:par>
                                <p:cTn id="49" presetID="1" presetClass="entr" presetSubtype="0" fill="hold" grpId="0" nodeType="withEffect">
                                  <p:stCondLst>
                                    <p:cond delay="0"/>
                                  </p:stCondLst>
                                  <p:childTnLst>
                                    <p:set>
                                      <p:cBhvr>
                                        <p:cTn id="50" dur="1" fill="hold">
                                          <p:stCondLst>
                                            <p:cond delay="0"/>
                                          </p:stCondLst>
                                        </p:cTn>
                                        <p:tgtEl>
                                          <p:spTgt spid="60420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604220"/>
                                        </p:tgtEl>
                                        <p:attrNameLst>
                                          <p:attrName>style.visibility</p:attrName>
                                        </p:attrNameLst>
                                      </p:cBhvr>
                                      <p:to>
                                        <p:strVal val="visible"/>
                                      </p:to>
                                    </p:set>
                                    <p:animEffect transition="in" filter="wipe(left)">
                                      <p:cBhvr>
                                        <p:cTn id="55" dur="500"/>
                                        <p:tgtEl>
                                          <p:spTgt spid="6042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604222"/>
                                        </p:tgtEl>
                                        <p:attrNameLst>
                                          <p:attrName>style.visibility</p:attrName>
                                        </p:attrNameLst>
                                      </p:cBhvr>
                                      <p:to>
                                        <p:strVal val="visible"/>
                                      </p:to>
                                    </p:set>
                                    <p:animEffect transition="in" filter="wipe(left)">
                                      <p:cBhvr>
                                        <p:cTn id="58" dur="500"/>
                                        <p:tgtEl>
                                          <p:spTgt spid="604222"/>
                                        </p:tgtEl>
                                      </p:cBhvr>
                                    </p:animEffect>
                                  </p:childTnLst>
                                </p:cTn>
                              </p:par>
                              <p:par>
                                <p:cTn id="59" presetID="1" presetClass="entr" presetSubtype="0" fill="hold" grpId="0" nodeType="withEffect">
                                  <p:stCondLst>
                                    <p:cond delay="0"/>
                                  </p:stCondLst>
                                  <p:childTnLst>
                                    <p:set>
                                      <p:cBhvr>
                                        <p:cTn id="60" dur="1" fill="hold">
                                          <p:stCondLst>
                                            <p:cond delay="0"/>
                                          </p:stCondLst>
                                        </p:cTn>
                                        <p:tgtEl>
                                          <p:spTgt spid="604219"/>
                                        </p:tgtEl>
                                        <p:attrNameLst>
                                          <p:attrName>style.visibility</p:attrName>
                                        </p:attrNameLst>
                                      </p:cBhvr>
                                      <p:to>
                                        <p:strVal val="visible"/>
                                      </p:to>
                                    </p:set>
                                  </p:childTnLst>
                                </p:cTn>
                              </p:par>
                              <p:par>
                                <p:cTn id="61" presetID="22" presetClass="entr" presetSubtype="1" fill="hold" grpId="0" nodeType="withEffect">
                                  <p:stCondLst>
                                    <p:cond delay="0"/>
                                  </p:stCondLst>
                                  <p:childTnLst>
                                    <p:set>
                                      <p:cBhvr>
                                        <p:cTn id="62" dur="1" fill="hold">
                                          <p:stCondLst>
                                            <p:cond delay="0"/>
                                          </p:stCondLst>
                                        </p:cTn>
                                        <p:tgtEl>
                                          <p:spTgt spid="604207"/>
                                        </p:tgtEl>
                                        <p:attrNameLst>
                                          <p:attrName>style.visibility</p:attrName>
                                        </p:attrNameLst>
                                      </p:cBhvr>
                                      <p:to>
                                        <p:strVal val="visible"/>
                                      </p:to>
                                    </p:set>
                                    <p:animEffect transition="in" filter="wipe(up)">
                                      <p:cBhvr>
                                        <p:cTn id="63" dur="500"/>
                                        <p:tgtEl>
                                          <p:spTgt spid="604207"/>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604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1" grpId="0" animBg="1"/>
      <p:bldP spid="604202" grpId="0" animBg="1"/>
      <p:bldP spid="604203" grpId="0" animBg="1"/>
      <p:bldP spid="604204" grpId="0" animBg="1"/>
      <p:bldP spid="604205" grpId="0" animBg="1"/>
      <p:bldP spid="604206" grpId="0" animBg="1"/>
      <p:bldP spid="604207" grpId="0" animBg="1"/>
      <p:bldP spid="604208" grpId="0" animBg="1"/>
      <p:bldP spid="604210" grpId="0" animBg="1"/>
      <p:bldP spid="604211" grpId="0" animBg="1"/>
      <p:bldP spid="604213" grpId="0" animBg="1"/>
      <p:bldP spid="604214" grpId="0" animBg="1"/>
      <p:bldP spid="604215" grpId="0" animBg="1"/>
      <p:bldP spid="604216" grpId="0" animBg="1"/>
      <p:bldP spid="604217" grpId="0"/>
      <p:bldP spid="604219" grpId="0" animBg="1"/>
      <p:bldP spid="604220" grpId="0" animBg="1"/>
      <p:bldP spid="604222" grpId="0"/>
      <p:bldP spid="604226" grpId="0"/>
      <p:bldP spid="6042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47" name="Freeform 35"/>
          <p:cNvSpPr>
            <a:spLocks/>
          </p:cNvSpPr>
          <p:nvPr/>
        </p:nvSpPr>
        <p:spPr bwMode="auto">
          <a:xfrm>
            <a:off x="1689493" y="2269046"/>
            <a:ext cx="4856163" cy="3746500"/>
          </a:xfrm>
          <a:custGeom>
            <a:avLst/>
            <a:gdLst>
              <a:gd name="T0" fmla="*/ 0 w 752"/>
              <a:gd name="T1" fmla="*/ 0 h 509"/>
              <a:gd name="T2" fmla="*/ 4856163 w 752"/>
              <a:gd name="T3" fmla="*/ 3746500 h 509"/>
              <a:gd name="T4" fmla="*/ 0 60000 65536"/>
              <a:gd name="T5" fmla="*/ 0 60000 65536"/>
              <a:gd name="T6" fmla="*/ 0 w 752"/>
              <a:gd name="T7" fmla="*/ 0 h 509"/>
              <a:gd name="T8" fmla="*/ 752 w 752"/>
              <a:gd name="T9" fmla="*/ 509 h 509"/>
            </a:gdLst>
            <a:ahLst/>
            <a:cxnLst>
              <a:cxn ang="T4">
                <a:pos x="T0" y="T1"/>
              </a:cxn>
              <a:cxn ang="T5">
                <a:pos x="T2" y="T3"/>
              </a:cxn>
            </a:cxnLst>
            <a:rect l="T6" t="T7" r="T8" b="T9"/>
            <a:pathLst>
              <a:path w="752" h="509">
                <a:moveTo>
                  <a:pt x="0" y="0"/>
                </a:moveTo>
                <a:cubicBezTo>
                  <a:pt x="317" y="16"/>
                  <a:pt x="752" y="92"/>
                  <a:pt x="752" y="509"/>
                </a:cubicBezTo>
              </a:path>
            </a:pathLst>
          </a:custGeom>
          <a:noFill/>
          <a:ln w="28575" cap="flat">
            <a:solidFill>
              <a:srgbClr val="0076A3"/>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704514" name="Rectangle 2"/>
          <p:cNvSpPr>
            <a:spLocks noGrp="1" noRot="1" noChangeArrowheads="1"/>
          </p:cNvSpPr>
          <p:nvPr>
            <p:ph type="title"/>
          </p:nvPr>
        </p:nvSpPr>
        <p:spPr>
          <a:xfrm>
            <a:off x="900113" y="64286"/>
            <a:ext cx="8005762" cy="555625"/>
          </a:xfrm>
        </p:spPr>
        <p:txBody>
          <a:bodyPr/>
          <a:lstStyle/>
          <a:p>
            <a:pPr>
              <a:defRPr/>
            </a:pPr>
            <a:r>
              <a:rPr lang="en-US" sz="2800" dirty="0" smtClean="0"/>
              <a:t>Economic Growth</a:t>
            </a:r>
            <a:endParaRPr lang="en-US" sz="2800" b="0" dirty="0" smtClean="0"/>
          </a:p>
        </p:txBody>
      </p:sp>
      <p:sp>
        <p:nvSpPr>
          <p:cNvPr id="704518" name="Rectangle 6"/>
          <p:cNvSpPr>
            <a:spLocks noChangeArrowheads="1"/>
          </p:cNvSpPr>
          <p:nvPr/>
        </p:nvSpPr>
        <p:spPr bwMode="auto">
          <a:xfrm>
            <a:off x="3640804" y="2840868"/>
            <a:ext cx="109537"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A</a:t>
            </a:r>
            <a:endParaRPr lang="en-US" sz="1400" dirty="0"/>
          </a:p>
        </p:txBody>
      </p:sp>
      <p:sp>
        <p:nvSpPr>
          <p:cNvPr id="704519" name="Line 7"/>
          <p:cNvSpPr>
            <a:spLocks noChangeShapeType="1"/>
          </p:cNvSpPr>
          <p:nvPr/>
        </p:nvSpPr>
        <p:spPr bwMode="auto">
          <a:xfrm>
            <a:off x="1684731" y="2102359"/>
            <a:ext cx="155575"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20" name="Line 8"/>
          <p:cNvSpPr>
            <a:spLocks noChangeShapeType="1"/>
          </p:cNvSpPr>
          <p:nvPr/>
        </p:nvSpPr>
        <p:spPr bwMode="auto">
          <a:xfrm>
            <a:off x="1684731" y="3213609"/>
            <a:ext cx="155575"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21" name="Line 9"/>
          <p:cNvSpPr>
            <a:spLocks noChangeShapeType="1"/>
          </p:cNvSpPr>
          <p:nvPr/>
        </p:nvSpPr>
        <p:spPr bwMode="auto">
          <a:xfrm>
            <a:off x="1684731" y="3764471"/>
            <a:ext cx="155575"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22" name="Line 10"/>
          <p:cNvSpPr>
            <a:spLocks noChangeShapeType="1"/>
          </p:cNvSpPr>
          <p:nvPr/>
        </p:nvSpPr>
        <p:spPr bwMode="auto">
          <a:xfrm>
            <a:off x="1684731" y="4320096"/>
            <a:ext cx="155575"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23" name="Line 11"/>
          <p:cNvSpPr>
            <a:spLocks noChangeShapeType="1"/>
          </p:cNvSpPr>
          <p:nvPr/>
        </p:nvSpPr>
        <p:spPr bwMode="auto">
          <a:xfrm>
            <a:off x="1684731" y="4870959"/>
            <a:ext cx="155575"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24" name="Line 12"/>
          <p:cNvSpPr>
            <a:spLocks noChangeShapeType="1"/>
          </p:cNvSpPr>
          <p:nvPr/>
        </p:nvSpPr>
        <p:spPr bwMode="auto">
          <a:xfrm>
            <a:off x="1684731" y="5423409"/>
            <a:ext cx="155575"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25" name="Line 13"/>
          <p:cNvSpPr>
            <a:spLocks noChangeShapeType="1"/>
          </p:cNvSpPr>
          <p:nvPr/>
        </p:nvSpPr>
        <p:spPr bwMode="auto">
          <a:xfrm flipV="1">
            <a:off x="2654693" y="5805996"/>
            <a:ext cx="0" cy="1746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26" name="Line 14"/>
          <p:cNvSpPr>
            <a:spLocks noChangeShapeType="1"/>
          </p:cNvSpPr>
          <p:nvPr/>
        </p:nvSpPr>
        <p:spPr bwMode="auto">
          <a:xfrm flipV="1">
            <a:off x="3621481" y="5805996"/>
            <a:ext cx="0" cy="1746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27" name="Line 15"/>
          <p:cNvSpPr>
            <a:spLocks noChangeShapeType="1"/>
          </p:cNvSpPr>
          <p:nvPr/>
        </p:nvSpPr>
        <p:spPr bwMode="auto">
          <a:xfrm flipV="1">
            <a:off x="4110431" y="5805996"/>
            <a:ext cx="0" cy="1746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28" name="Line 16"/>
          <p:cNvSpPr>
            <a:spLocks noChangeShapeType="1"/>
          </p:cNvSpPr>
          <p:nvPr/>
        </p:nvSpPr>
        <p:spPr bwMode="auto">
          <a:xfrm flipV="1">
            <a:off x="4597793" y="5805996"/>
            <a:ext cx="0" cy="1746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29" name="Line 17"/>
          <p:cNvSpPr>
            <a:spLocks noChangeShapeType="1"/>
          </p:cNvSpPr>
          <p:nvPr/>
        </p:nvSpPr>
        <p:spPr bwMode="auto">
          <a:xfrm flipV="1">
            <a:off x="5564581" y="5805996"/>
            <a:ext cx="0" cy="1746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30" name="Line 18"/>
          <p:cNvSpPr>
            <a:spLocks noChangeShapeType="1"/>
          </p:cNvSpPr>
          <p:nvPr/>
        </p:nvSpPr>
        <p:spPr bwMode="auto">
          <a:xfrm flipV="1">
            <a:off x="6540893" y="5805996"/>
            <a:ext cx="0" cy="1746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31" name="Rectangle 19"/>
          <p:cNvSpPr>
            <a:spLocks noChangeArrowheads="1"/>
          </p:cNvSpPr>
          <p:nvPr/>
        </p:nvSpPr>
        <p:spPr bwMode="auto">
          <a:xfrm>
            <a:off x="2534043" y="6025071"/>
            <a:ext cx="180975"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10</a:t>
            </a:r>
            <a:endParaRPr lang="en-US" sz="1400" dirty="0"/>
          </a:p>
        </p:txBody>
      </p:sp>
      <p:sp>
        <p:nvSpPr>
          <p:cNvPr id="704532" name="Rectangle 20"/>
          <p:cNvSpPr>
            <a:spLocks noChangeArrowheads="1"/>
          </p:cNvSpPr>
          <p:nvPr/>
        </p:nvSpPr>
        <p:spPr bwMode="auto">
          <a:xfrm>
            <a:off x="3504006" y="6025071"/>
            <a:ext cx="180975"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20</a:t>
            </a:r>
            <a:endParaRPr lang="en-US" sz="1400" dirty="0"/>
          </a:p>
        </p:txBody>
      </p:sp>
      <p:sp>
        <p:nvSpPr>
          <p:cNvPr id="704533" name="Rectangle 21"/>
          <p:cNvSpPr>
            <a:spLocks noChangeArrowheads="1"/>
          </p:cNvSpPr>
          <p:nvPr/>
        </p:nvSpPr>
        <p:spPr bwMode="auto">
          <a:xfrm>
            <a:off x="3992956" y="6025071"/>
            <a:ext cx="180975"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25</a:t>
            </a:r>
            <a:endParaRPr lang="en-US" sz="1400" dirty="0"/>
          </a:p>
        </p:txBody>
      </p:sp>
      <p:sp>
        <p:nvSpPr>
          <p:cNvPr id="704534" name="Rectangle 22"/>
          <p:cNvSpPr>
            <a:spLocks noChangeArrowheads="1"/>
          </p:cNvSpPr>
          <p:nvPr/>
        </p:nvSpPr>
        <p:spPr bwMode="auto">
          <a:xfrm>
            <a:off x="4477143" y="6025071"/>
            <a:ext cx="180975"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30</a:t>
            </a:r>
            <a:endParaRPr lang="en-US" sz="1400" dirty="0"/>
          </a:p>
        </p:txBody>
      </p:sp>
      <p:sp>
        <p:nvSpPr>
          <p:cNvPr id="704535" name="Rectangle 23"/>
          <p:cNvSpPr>
            <a:spLocks noChangeArrowheads="1"/>
          </p:cNvSpPr>
          <p:nvPr/>
        </p:nvSpPr>
        <p:spPr bwMode="auto">
          <a:xfrm>
            <a:off x="5447106" y="6025071"/>
            <a:ext cx="180975"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40</a:t>
            </a:r>
            <a:endParaRPr lang="en-US" sz="1400" dirty="0"/>
          </a:p>
        </p:txBody>
      </p:sp>
      <p:sp>
        <p:nvSpPr>
          <p:cNvPr id="704536" name="Rectangle 24"/>
          <p:cNvSpPr>
            <a:spLocks noChangeArrowheads="1"/>
          </p:cNvSpPr>
          <p:nvPr/>
        </p:nvSpPr>
        <p:spPr bwMode="auto">
          <a:xfrm>
            <a:off x="6417068" y="6025071"/>
            <a:ext cx="180975"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50</a:t>
            </a:r>
            <a:endParaRPr lang="en-US" sz="1400" dirty="0"/>
          </a:p>
        </p:txBody>
      </p:sp>
      <p:sp>
        <p:nvSpPr>
          <p:cNvPr id="704537" name="Rectangle 25"/>
          <p:cNvSpPr>
            <a:spLocks noChangeArrowheads="1"/>
          </p:cNvSpPr>
          <p:nvPr/>
        </p:nvSpPr>
        <p:spPr bwMode="auto">
          <a:xfrm>
            <a:off x="1446606" y="6025071"/>
            <a:ext cx="90487"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0</a:t>
            </a:r>
            <a:endParaRPr lang="en-US" sz="1400" dirty="0"/>
          </a:p>
        </p:txBody>
      </p:sp>
      <p:sp>
        <p:nvSpPr>
          <p:cNvPr id="704538" name="Rectangle 26"/>
          <p:cNvSpPr>
            <a:spLocks noChangeArrowheads="1"/>
          </p:cNvSpPr>
          <p:nvPr/>
        </p:nvSpPr>
        <p:spPr bwMode="auto">
          <a:xfrm>
            <a:off x="1329131" y="1937259"/>
            <a:ext cx="1793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35</a:t>
            </a:r>
            <a:endParaRPr lang="en-US" sz="1400" dirty="0"/>
          </a:p>
        </p:txBody>
      </p:sp>
      <p:sp>
        <p:nvSpPr>
          <p:cNvPr id="704539" name="Rectangle 27"/>
          <p:cNvSpPr>
            <a:spLocks noChangeArrowheads="1"/>
          </p:cNvSpPr>
          <p:nvPr/>
        </p:nvSpPr>
        <p:spPr bwMode="auto">
          <a:xfrm>
            <a:off x="1329131" y="2496059"/>
            <a:ext cx="179387"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30</a:t>
            </a:r>
            <a:endParaRPr lang="en-US" sz="1400" dirty="0"/>
          </a:p>
        </p:txBody>
      </p:sp>
      <p:sp>
        <p:nvSpPr>
          <p:cNvPr id="704540" name="Rectangle 28"/>
          <p:cNvSpPr>
            <a:spLocks noChangeArrowheads="1"/>
          </p:cNvSpPr>
          <p:nvPr/>
        </p:nvSpPr>
        <p:spPr bwMode="auto">
          <a:xfrm>
            <a:off x="1329131" y="3050096"/>
            <a:ext cx="1996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smtClean="0">
                <a:solidFill>
                  <a:srgbClr val="000000"/>
                </a:solidFill>
                <a:latin typeface="Myriad Pro"/>
              </a:rPr>
              <a:t>25</a:t>
            </a:r>
            <a:endParaRPr lang="en-US" sz="1400" dirty="0"/>
          </a:p>
        </p:txBody>
      </p:sp>
      <p:sp>
        <p:nvSpPr>
          <p:cNvPr id="704541" name="Rectangle 29"/>
          <p:cNvSpPr>
            <a:spLocks noChangeArrowheads="1"/>
          </p:cNvSpPr>
          <p:nvPr/>
        </p:nvSpPr>
        <p:spPr bwMode="auto">
          <a:xfrm>
            <a:off x="1329131" y="3602546"/>
            <a:ext cx="1793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20</a:t>
            </a:r>
            <a:endParaRPr lang="en-US" sz="1400" dirty="0"/>
          </a:p>
        </p:txBody>
      </p:sp>
      <p:sp>
        <p:nvSpPr>
          <p:cNvPr id="704542" name="Rectangle 30"/>
          <p:cNvSpPr>
            <a:spLocks noChangeArrowheads="1"/>
          </p:cNvSpPr>
          <p:nvPr/>
        </p:nvSpPr>
        <p:spPr bwMode="auto">
          <a:xfrm>
            <a:off x="1329131" y="4158171"/>
            <a:ext cx="179387" cy="21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15</a:t>
            </a:r>
            <a:endParaRPr lang="en-US" sz="1400" dirty="0"/>
          </a:p>
        </p:txBody>
      </p:sp>
      <p:sp>
        <p:nvSpPr>
          <p:cNvPr id="704543" name="Rectangle 31"/>
          <p:cNvSpPr>
            <a:spLocks noChangeArrowheads="1"/>
          </p:cNvSpPr>
          <p:nvPr/>
        </p:nvSpPr>
        <p:spPr bwMode="auto">
          <a:xfrm>
            <a:off x="1329131" y="4705859"/>
            <a:ext cx="1793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10</a:t>
            </a:r>
            <a:endParaRPr lang="en-US" sz="1400" dirty="0"/>
          </a:p>
        </p:txBody>
      </p:sp>
      <p:sp>
        <p:nvSpPr>
          <p:cNvPr id="704544" name="Rectangle 32"/>
          <p:cNvSpPr>
            <a:spLocks noChangeArrowheads="1"/>
          </p:cNvSpPr>
          <p:nvPr/>
        </p:nvSpPr>
        <p:spPr bwMode="auto">
          <a:xfrm>
            <a:off x="1446606" y="5264659"/>
            <a:ext cx="90487"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5</a:t>
            </a:r>
            <a:endParaRPr lang="en-US" sz="1400" dirty="0"/>
          </a:p>
        </p:txBody>
      </p:sp>
      <p:sp>
        <p:nvSpPr>
          <p:cNvPr id="704545" name="Rectangle 33"/>
          <p:cNvSpPr>
            <a:spLocks noChangeArrowheads="1"/>
          </p:cNvSpPr>
          <p:nvPr/>
        </p:nvSpPr>
        <p:spPr bwMode="auto">
          <a:xfrm>
            <a:off x="4167084" y="2335225"/>
            <a:ext cx="87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E</a:t>
            </a:r>
            <a:endParaRPr lang="en-US" sz="1400" dirty="0"/>
          </a:p>
        </p:txBody>
      </p:sp>
      <p:sp>
        <p:nvSpPr>
          <p:cNvPr id="704546" name="Freeform 34"/>
          <p:cNvSpPr>
            <a:spLocks/>
          </p:cNvSpPr>
          <p:nvPr/>
        </p:nvSpPr>
        <p:spPr bwMode="auto">
          <a:xfrm>
            <a:off x="1689493" y="2650046"/>
            <a:ext cx="3879850" cy="3325813"/>
          </a:xfrm>
          <a:custGeom>
            <a:avLst/>
            <a:gdLst>
              <a:gd name="T0" fmla="*/ 0 w 601"/>
              <a:gd name="T1" fmla="*/ 0 h 452"/>
              <a:gd name="T2" fmla="*/ 3879850 w 601"/>
              <a:gd name="T3" fmla="*/ 3325813 h 452"/>
              <a:gd name="T4" fmla="*/ 0 60000 65536"/>
              <a:gd name="T5" fmla="*/ 0 60000 65536"/>
              <a:gd name="T6" fmla="*/ 0 w 601"/>
              <a:gd name="T7" fmla="*/ 0 h 452"/>
              <a:gd name="T8" fmla="*/ 601 w 601"/>
              <a:gd name="T9" fmla="*/ 452 h 452"/>
            </a:gdLst>
            <a:ahLst/>
            <a:cxnLst>
              <a:cxn ang="T4">
                <a:pos x="T0" y="T1"/>
              </a:cxn>
              <a:cxn ang="T5">
                <a:pos x="T2" y="T3"/>
              </a:cxn>
            </a:cxnLst>
            <a:rect l="T6" t="T7" r="T8" b="T9"/>
            <a:pathLst>
              <a:path w="601" h="452">
                <a:moveTo>
                  <a:pt x="0" y="0"/>
                </a:moveTo>
                <a:cubicBezTo>
                  <a:pt x="211" y="49"/>
                  <a:pt x="601" y="90"/>
                  <a:pt x="601" y="452"/>
                </a:cubicBezTo>
              </a:path>
            </a:pathLst>
          </a:custGeom>
          <a:noFill/>
          <a:ln w="38100" cap="flat">
            <a:solidFill>
              <a:srgbClr val="00206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704548" name="Freeform 36"/>
          <p:cNvSpPr>
            <a:spLocks/>
          </p:cNvSpPr>
          <p:nvPr/>
        </p:nvSpPr>
        <p:spPr bwMode="auto">
          <a:xfrm>
            <a:off x="1684731" y="1248284"/>
            <a:ext cx="5719762" cy="4732337"/>
          </a:xfrm>
          <a:custGeom>
            <a:avLst/>
            <a:gdLst>
              <a:gd name="T0" fmla="*/ 5719762 w 2093"/>
              <a:gd name="T1" fmla="*/ 4732337 h 1518"/>
              <a:gd name="T2" fmla="*/ 0 w 2093"/>
              <a:gd name="T3" fmla="*/ 4732337 h 1518"/>
              <a:gd name="T4" fmla="*/ 0 w 2093"/>
              <a:gd name="T5" fmla="*/ 0 h 1518"/>
              <a:gd name="T6" fmla="*/ 0 60000 65536"/>
              <a:gd name="T7" fmla="*/ 0 60000 65536"/>
              <a:gd name="T8" fmla="*/ 0 60000 65536"/>
              <a:gd name="T9" fmla="*/ 0 w 2093"/>
              <a:gd name="T10" fmla="*/ 0 h 1518"/>
              <a:gd name="T11" fmla="*/ 2093 w 2093"/>
              <a:gd name="T12" fmla="*/ 1518 h 1518"/>
            </a:gdLst>
            <a:ahLst/>
            <a:cxnLst>
              <a:cxn ang="T6">
                <a:pos x="T0" y="T1"/>
              </a:cxn>
              <a:cxn ang="T7">
                <a:pos x="T2" y="T3"/>
              </a:cxn>
              <a:cxn ang="T8">
                <a:pos x="T4" y="T5"/>
              </a:cxn>
            </a:cxnLst>
            <a:rect l="T9" t="T10" r="T11" b="T12"/>
            <a:pathLst>
              <a:path w="2093" h="1518">
                <a:moveTo>
                  <a:pt x="2093" y="1518"/>
                </a:moveTo>
                <a:lnTo>
                  <a:pt x="0" y="1518"/>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704549" name="Oval 37"/>
          <p:cNvSpPr>
            <a:spLocks noChangeArrowheads="1"/>
          </p:cNvSpPr>
          <p:nvPr/>
        </p:nvSpPr>
        <p:spPr bwMode="auto">
          <a:xfrm>
            <a:off x="3556393" y="3140584"/>
            <a:ext cx="131763" cy="14763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04550" name="Oval 38"/>
          <p:cNvSpPr>
            <a:spLocks noChangeArrowheads="1"/>
          </p:cNvSpPr>
          <p:nvPr/>
        </p:nvSpPr>
        <p:spPr bwMode="auto">
          <a:xfrm>
            <a:off x="4047323" y="2633092"/>
            <a:ext cx="128588" cy="1460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04551" name="Rectangle 39"/>
          <p:cNvSpPr>
            <a:spLocks noChangeArrowheads="1"/>
          </p:cNvSpPr>
          <p:nvPr/>
        </p:nvSpPr>
        <p:spPr bwMode="auto">
          <a:xfrm>
            <a:off x="6636143" y="5320666"/>
            <a:ext cx="3587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New</a:t>
            </a:r>
            <a:endParaRPr lang="en-US" sz="1400" i="1" dirty="0"/>
          </a:p>
        </p:txBody>
      </p:sp>
      <p:sp>
        <p:nvSpPr>
          <p:cNvPr id="704552" name="Rectangle 40"/>
          <p:cNvSpPr>
            <a:spLocks noChangeArrowheads="1"/>
          </p:cNvSpPr>
          <p:nvPr/>
        </p:nvSpPr>
        <p:spPr bwMode="auto">
          <a:xfrm>
            <a:off x="6636143" y="5617084"/>
            <a:ext cx="3492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PPF</a:t>
            </a:r>
            <a:endParaRPr lang="en-US" sz="1400" i="1" dirty="0"/>
          </a:p>
        </p:txBody>
      </p:sp>
      <p:sp>
        <p:nvSpPr>
          <p:cNvPr id="704553" name="Rectangle 41"/>
          <p:cNvSpPr>
            <a:spLocks noChangeArrowheads="1"/>
          </p:cNvSpPr>
          <p:nvPr/>
        </p:nvSpPr>
        <p:spPr bwMode="auto">
          <a:xfrm>
            <a:off x="5575693" y="5317046"/>
            <a:ext cx="6175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Original</a:t>
            </a:r>
            <a:endParaRPr lang="en-US" sz="1400" i="1" dirty="0"/>
          </a:p>
        </p:txBody>
      </p:sp>
      <p:sp>
        <p:nvSpPr>
          <p:cNvPr id="704554" name="Rectangle 42"/>
          <p:cNvSpPr>
            <a:spLocks noChangeArrowheads="1"/>
          </p:cNvSpPr>
          <p:nvPr/>
        </p:nvSpPr>
        <p:spPr bwMode="auto">
          <a:xfrm>
            <a:off x="5661418" y="5631371"/>
            <a:ext cx="3492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PPF</a:t>
            </a:r>
            <a:endParaRPr lang="en-US" sz="1400" i="1" dirty="0"/>
          </a:p>
        </p:txBody>
      </p:sp>
      <p:sp>
        <p:nvSpPr>
          <p:cNvPr id="704555" name="Line 43"/>
          <p:cNvSpPr>
            <a:spLocks noChangeShapeType="1"/>
          </p:cNvSpPr>
          <p:nvPr/>
        </p:nvSpPr>
        <p:spPr bwMode="auto">
          <a:xfrm>
            <a:off x="5196281" y="4142296"/>
            <a:ext cx="420687"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04556" name="Freeform 44"/>
          <p:cNvSpPr>
            <a:spLocks/>
          </p:cNvSpPr>
          <p:nvPr/>
        </p:nvSpPr>
        <p:spPr bwMode="auto">
          <a:xfrm>
            <a:off x="5564581" y="4061334"/>
            <a:ext cx="227012" cy="152400"/>
          </a:xfrm>
          <a:custGeom>
            <a:avLst/>
            <a:gdLst>
              <a:gd name="T0" fmla="*/ 38916 w 35"/>
              <a:gd name="T1" fmla="*/ 79829 h 21"/>
              <a:gd name="T2" fmla="*/ 0 w 35"/>
              <a:gd name="T3" fmla="*/ 0 h 21"/>
              <a:gd name="T4" fmla="*/ 0 w 35"/>
              <a:gd name="T5" fmla="*/ 0 h 21"/>
              <a:gd name="T6" fmla="*/ 110263 w 35"/>
              <a:gd name="T7" fmla="*/ 50800 h 21"/>
              <a:gd name="T8" fmla="*/ 227012 w 35"/>
              <a:gd name="T9" fmla="*/ 79829 h 21"/>
              <a:gd name="T10" fmla="*/ 110263 w 35"/>
              <a:gd name="T11" fmla="*/ 108857 h 21"/>
              <a:gd name="T12" fmla="*/ 0 w 35"/>
              <a:gd name="T13" fmla="*/ 152400 h 21"/>
              <a:gd name="T14" fmla="*/ 0 w 35"/>
              <a:gd name="T15" fmla="*/ 152400 h 21"/>
              <a:gd name="T16" fmla="*/ 38916 w 35"/>
              <a:gd name="T17" fmla="*/ 79829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
              <a:gd name="T28" fmla="*/ 0 h 21"/>
              <a:gd name="T29" fmla="*/ 35 w 35"/>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 h="21">
                <a:moveTo>
                  <a:pt x="6" y="11"/>
                </a:moveTo>
                <a:cubicBezTo>
                  <a:pt x="0" y="0"/>
                  <a:pt x="0" y="0"/>
                  <a:pt x="0" y="0"/>
                </a:cubicBezTo>
                <a:cubicBezTo>
                  <a:pt x="0" y="0"/>
                  <a:pt x="0" y="0"/>
                  <a:pt x="0" y="0"/>
                </a:cubicBezTo>
                <a:cubicBezTo>
                  <a:pt x="17" y="7"/>
                  <a:pt x="17" y="7"/>
                  <a:pt x="17" y="7"/>
                </a:cubicBezTo>
                <a:cubicBezTo>
                  <a:pt x="23" y="8"/>
                  <a:pt x="29" y="9"/>
                  <a:pt x="35" y="11"/>
                </a:cubicBezTo>
                <a:cubicBezTo>
                  <a:pt x="29" y="12"/>
                  <a:pt x="23" y="13"/>
                  <a:pt x="17" y="15"/>
                </a:cubicBezTo>
                <a:cubicBezTo>
                  <a:pt x="0" y="21"/>
                  <a:pt x="0" y="21"/>
                  <a:pt x="0" y="21"/>
                </a:cubicBezTo>
                <a:cubicBezTo>
                  <a:pt x="0" y="21"/>
                  <a:pt x="0" y="21"/>
                  <a:pt x="0" y="21"/>
                </a:cubicBezTo>
                <a:lnTo>
                  <a:pt x="6"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04633" name="Rectangle 121"/>
          <p:cNvSpPr>
            <a:spLocks noChangeArrowheads="1"/>
          </p:cNvSpPr>
          <p:nvPr/>
        </p:nvSpPr>
        <p:spPr bwMode="auto">
          <a:xfrm>
            <a:off x="1373581" y="891096"/>
            <a:ext cx="2028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Dreamliners</a:t>
            </a:r>
            <a:endParaRPr lang="en-US" sz="1400" b="1" dirty="0"/>
          </a:p>
        </p:txBody>
      </p:sp>
      <p:sp>
        <p:nvSpPr>
          <p:cNvPr id="704634" name="Rectangle 122"/>
          <p:cNvSpPr>
            <a:spLocks noChangeArrowheads="1"/>
          </p:cNvSpPr>
          <p:nvPr/>
        </p:nvSpPr>
        <p:spPr bwMode="auto">
          <a:xfrm>
            <a:off x="6918718" y="6220334"/>
            <a:ext cx="18081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small jets</a:t>
            </a:r>
            <a:endParaRPr lang="en-US" sz="1400" b="1" dirty="0"/>
          </a:p>
        </p:txBody>
      </p:sp>
      <p:cxnSp>
        <p:nvCxnSpPr>
          <p:cNvPr id="3" name="Straight Connector 2"/>
          <p:cNvCxnSpPr/>
          <p:nvPr/>
        </p:nvCxnSpPr>
        <p:spPr>
          <a:xfrm>
            <a:off x="1701685" y="3208214"/>
            <a:ext cx="190500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V="1">
            <a:off x="3621862" y="3250185"/>
            <a:ext cx="0" cy="276225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5236042" y="891096"/>
            <a:ext cx="3685356" cy="2055341"/>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rgbClr val="0033CC"/>
                </a:solidFill>
                <a:latin typeface="Tahoma" pitchFamily="34" charset="0"/>
              </a:rPr>
              <a:t>Economic growth results in an </a:t>
            </a:r>
            <a:r>
              <a:rPr lang="en-US" sz="2400" i="1" dirty="0" smtClean="0">
                <a:solidFill>
                  <a:srgbClr val="0033CC"/>
                </a:solidFill>
                <a:latin typeface="Tahoma" pitchFamily="34" charset="0"/>
              </a:rPr>
              <a:t>outward shift </a:t>
            </a:r>
            <a:r>
              <a:rPr lang="en-US" sz="2400" dirty="0" smtClean="0">
                <a:solidFill>
                  <a:srgbClr val="0033CC"/>
                </a:solidFill>
                <a:latin typeface="Tahoma" pitchFamily="34" charset="0"/>
              </a:rPr>
              <a:t>of the PPF because production possibilities are expanded</a:t>
            </a:r>
            <a:r>
              <a:rPr lang="en-US" sz="2800" dirty="0" smtClean="0">
                <a:solidFill>
                  <a:srgbClr val="0033CC"/>
                </a:solidFill>
                <a:latin typeface="Tahoma" pitchFamily="34" charset="0"/>
              </a:rPr>
              <a:t>.</a:t>
            </a:r>
            <a:endParaRPr lang="en-US" sz="2400" dirty="0"/>
          </a:p>
        </p:txBody>
      </p:sp>
      <p:sp>
        <p:nvSpPr>
          <p:cNvPr id="128" name="Rounded Rectangle 127"/>
          <p:cNvSpPr/>
          <p:nvPr/>
        </p:nvSpPr>
        <p:spPr>
          <a:xfrm>
            <a:off x="6598042" y="3140968"/>
            <a:ext cx="2444685" cy="1948979"/>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sz="2400" dirty="0" smtClean="0">
                <a:solidFill>
                  <a:srgbClr val="0033CC"/>
                </a:solidFill>
                <a:latin typeface="Tahoma" pitchFamily="34" charset="0"/>
              </a:rPr>
              <a:t>The economy can now produce more of everything.</a:t>
            </a:r>
            <a:endParaRPr lang="en-US" sz="2400" dirty="0">
              <a:solidFill>
                <a:srgbClr val="0033CC"/>
              </a:solidFill>
              <a:latin typeface="Tahoma" pitchFamily="34" charset="0"/>
            </a:endParaRPr>
          </a:p>
        </p:txBody>
      </p:sp>
      <p:cxnSp>
        <p:nvCxnSpPr>
          <p:cNvPr id="130" name="Straight Connector 129"/>
          <p:cNvCxnSpPr/>
          <p:nvPr/>
        </p:nvCxnSpPr>
        <p:spPr>
          <a:xfrm>
            <a:off x="1701685" y="2691966"/>
            <a:ext cx="2408746"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V="1">
            <a:off x="4110381" y="2707196"/>
            <a:ext cx="0" cy="3251076"/>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59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704555"/>
                                        </p:tgtEl>
                                        <p:attrNameLst>
                                          <p:attrName>style.visibility</p:attrName>
                                        </p:attrNameLst>
                                      </p:cBhvr>
                                      <p:to>
                                        <p:strVal val="visible"/>
                                      </p:to>
                                    </p:set>
                                    <p:animEffect transition="in" filter="wipe(left)">
                                      <p:cBhvr>
                                        <p:cTn id="10" dur="500"/>
                                        <p:tgtEl>
                                          <p:spTgt spid="704555"/>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704556"/>
                                        </p:tgtEl>
                                        <p:attrNameLst>
                                          <p:attrName>style.visibility</p:attrName>
                                        </p:attrNameLst>
                                      </p:cBhvr>
                                      <p:to>
                                        <p:strVal val="visible"/>
                                      </p:to>
                                    </p:set>
                                    <p:animEffect transition="in" filter="wipe(down)">
                                      <p:cBhvr>
                                        <p:cTn id="14" dur="500"/>
                                        <p:tgtEl>
                                          <p:spTgt spid="70455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704547"/>
                                        </p:tgtEl>
                                        <p:attrNameLst>
                                          <p:attrName>style.visibility</p:attrName>
                                        </p:attrNameLst>
                                      </p:cBhvr>
                                      <p:to>
                                        <p:strVal val="visible"/>
                                      </p:to>
                                    </p:set>
                                    <p:animEffect transition="in" filter="wipe(left)">
                                      <p:cBhvr>
                                        <p:cTn id="18" dur="500"/>
                                        <p:tgtEl>
                                          <p:spTgt spid="704547"/>
                                        </p:tgtEl>
                                      </p:cBhvr>
                                    </p:animEffect>
                                  </p:childTnLst>
                                </p:cTn>
                              </p:par>
                            </p:childTnLst>
                          </p:cTn>
                        </p:par>
                        <p:par>
                          <p:cTn id="19" fill="hold">
                            <p:stCondLst>
                              <p:cond delay="1500"/>
                            </p:stCondLst>
                            <p:childTnLst>
                              <p:par>
                                <p:cTn id="20" presetID="1" presetClass="entr" presetSubtype="0" fill="hold" grpId="0" nodeType="afterEffect">
                                  <p:stCondLst>
                                    <p:cond delay="0"/>
                                  </p:stCondLst>
                                  <p:childTnLst>
                                    <p:set>
                                      <p:cBhvr>
                                        <p:cTn id="21" dur="1" fill="hold">
                                          <p:stCondLst>
                                            <p:cond delay="0"/>
                                          </p:stCondLst>
                                        </p:cTn>
                                        <p:tgtEl>
                                          <p:spTgt spid="704552"/>
                                        </p:tgtEl>
                                        <p:attrNameLst>
                                          <p:attrName>style.visibility</p:attrName>
                                        </p:attrNameLst>
                                      </p:cBhvr>
                                      <p:to>
                                        <p:strVal val="visible"/>
                                      </p:to>
                                    </p:set>
                                  </p:childTnLst>
                                </p:cTn>
                              </p:par>
                            </p:childTnLst>
                          </p:cTn>
                        </p:par>
                        <p:par>
                          <p:cTn id="22" fill="hold">
                            <p:stCondLst>
                              <p:cond delay="1500"/>
                            </p:stCondLst>
                            <p:childTnLst>
                              <p:par>
                                <p:cTn id="23" presetID="1" presetClass="entr" presetSubtype="0" fill="hold" grpId="0" nodeType="afterEffect">
                                  <p:stCondLst>
                                    <p:cond delay="0"/>
                                  </p:stCondLst>
                                  <p:childTnLst>
                                    <p:set>
                                      <p:cBhvr>
                                        <p:cTn id="24" dur="1" fill="hold">
                                          <p:stCondLst>
                                            <p:cond delay="0"/>
                                          </p:stCondLst>
                                        </p:cTn>
                                        <p:tgtEl>
                                          <p:spTgt spid="704551"/>
                                        </p:tgtEl>
                                        <p:attrNameLst>
                                          <p:attrName>style.visibility</p:attrName>
                                        </p:attrNameLst>
                                      </p:cBhvr>
                                      <p:to>
                                        <p:strVal val="visible"/>
                                      </p:to>
                                    </p:set>
                                  </p:childTnLst>
                                </p:cTn>
                              </p:par>
                            </p:childTnLst>
                          </p:cTn>
                        </p:par>
                        <p:par>
                          <p:cTn id="25" fill="hold">
                            <p:stCondLst>
                              <p:cond delay="1500"/>
                            </p:stCondLst>
                            <p:childTnLst>
                              <p:par>
                                <p:cTn id="26" presetID="1" presetClass="entr" presetSubtype="0" fill="hold" grpId="0" nodeType="afterEffect">
                                  <p:stCondLst>
                                    <p:cond delay="0"/>
                                  </p:stCondLst>
                                  <p:childTnLst>
                                    <p:set>
                                      <p:cBhvr>
                                        <p:cTn id="27" dur="1" fill="hold">
                                          <p:stCondLst>
                                            <p:cond delay="0"/>
                                          </p:stCondLst>
                                        </p:cTn>
                                        <p:tgtEl>
                                          <p:spTgt spid="128"/>
                                        </p:tgtEl>
                                        <p:attrNameLst>
                                          <p:attrName>style.visibility</p:attrName>
                                        </p:attrNameLst>
                                      </p:cBhvr>
                                      <p:to>
                                        <p:strVal val="visible"/>
                                      </p:to>
                                    </p:set>
                                  </p:childTnLst>
                                </p:cTn>
                              </p:par>
                            </p:childTnLst>
                          </p:cTn>
                        </p:par>
                        <p:par>
                          <p:cTn id="28" fill="hold">
                            <p:stCondLst>
                              <p:cond delay="1500"/>
                            </p:stCondLst>
                            <p:childTnLst>
                              <p:par>
                                <p:cTn id="29" presetID="1" presetClass="entr" presetSubtype="0" fill="hold" grpId="0" nodeType="afterEffect">
                                  <p:stCondLst>
                                    <p:cond delay="0"/>
                                  </p:stCondLst>
                                  <p:childTnLst>
                                    <p:set>
                                      <p:cBhvr>
                                        <p:cTn id="30" dur="1" fill="hold">
                                          <p:stCondLst>
                                            <p:cond delay="0"/>
                                          </p:stCondLst>
                                        </p:cTn>
                                        <p:tgtEl>
                                          <p:spTgt spid="704518"/>
                                        </p:tgtEl>
                                        <p:attrNameLst>
                                          <p:attrName>style.visibility</p:attrName>
                                        </p:attrNameLst>
                                      </p:cBhvr>
                                      <p:to>
                                        <p:strVal val="visible"/>
                                      </p:to>
                                    </p:se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704549"/>
                                        </p:tgtEl>
                                        <p:attrNameLst>
                                          <p:attrName>style.visibility</p:attrName>
                                        </p:attrNameLst>
                                      </p:cBhvr>
                                      <p:to>
                                        <p:strVal val="visible"/>
                                      </p:to>
                                    </p:set>
                                    <p:animEffect transition="in" filter="fade">
                                      <p:cBhvr>
                                        <p:cTn id="34" dur="500"/>
                                        <p:tgtEl>
                                          <p:spTgt spid="704549"/>
                                        </p:tgtEl>
                                      </p:cBhvr>
                                    </p:animEffect>
                                  </p:childTnLst>
                                </p:cTn>
                              </p:par>
                            </p:childTnLst>
                          </p:cTn>
                        </p:par>
                        <p:par>
                          <p:cTn id="35" fill="hold">
                            <p:stCondLst>
                              <p:cond delay="2000"/>
                            </p:stCondLst>
                            <p:childTnLst>
                              <p:par>
                                <p:cTn id="36" presetID="10" presetClass="entr" presetSubtype="0"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500"/>
                                        <p:tgtEl>
                                          <p:spTgt spid="3"/>
                                        </p:tgtEl>
                                      </p:cBhvr>
                                    </p:animEffect>
                                  </p:childTnLst>
                                </p:cTn>
                              </p:par>
                            </p:childTnLst>
                          </p:cTn>
                        </p:par>
                        <p:par>
                          <p:cTn id="39" fill="hold">
                            <p:stCondLst>
                              <p:cond delay="2500"/>
                            </p:stCondLst>
                            <p:childTnLst>
                              <p:par>
                                <p:cTn id="40" presetID="10" presetClass="entr" presetSubtype="0"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childTnLst>
                          </p:cTn>
                        </p:par>
                        <p:par>
                          <p:cTn id="43" fill="hold">
                            <p:stCondLst>
                              <p:cond delay="3000"/>
                            </p:stCondLst>
                            <p:childTnLst>
                              <p:par>
                                <p:cTn id="44" presetID="1" presetClass="entr" presetSubtype="0" fill="hold" grpId="0" nodeType="afterEffect">
                                  <p:stCondLst>
                                    <p:cond delay="0"/>
                                  </p:stCondLst>
                                  <p:childTnLst>
                                    <p:set>
                                      <p:cBhvr>
                                        <p:cTn id="45" dur="1" fill="hold">
                                          <p:stCondLst>
                                            <p:cond delay="0"/>
                                          </p:stCondLst>
                                        </p:cTn>
                                        <p:tgtEl>
                                          <p:spTgt spid="704545"/>
                                        </p:tgtEl>
                                        <p:attrNameLst>
                                          <p:attrName>style.visibility</p:attrName>
                                        </p:attrNameLst>
                                      </p:cBhvr>
                                      <p:to>
                                        <p:strVal val="visible"/>
                                      </p:to>
                                    </p:set>
                                  </p:childTnLst>
                                </p:cTn>
                              </p:par>
                            </p:childTnLst>
                          </p:cTn>
                        </p:par>
                        <p:par>
                          <p:cTn id="46" fill="hold">
                            <p:stCondLst>
                              <p:cond delay="3000"/>
                            </p:stCondLst>
                            <p:childTnLst>
                              <p:par>
                                <p:cTn id="47" presetID="1" presetClass="entr" presetSubtype="0" fill="hold" grpId="0" nodeType="afterEffect">
                                  <p:stCondLst>
                                    <p:cond delay="0"/>
                                  </p:stCondLst>
                                  <p:childTnLst>
                                    <p:set>
                                      <p:cBhvr>
                                        <p:cTn id="48" dur="1" fill="hold">
                                          <p:stCondLst>
                                            <p:cond delay="0"/>
                                          </p:stCondLst>
                                        </p:cTn>
                                        <p:tgtEl>
                                          <p:spTgt spid="704550"/>
                                        </p:tgtEl>
                                        <p:attrNameLst>
                                          <p:attrName>style.visibility</p:attrName>
                                        </p:attrNameLst>
                                      </p:cBhvr>
                                      <p:to>
                                        <p:strVal val="visible"/>
                                      </p:to>
                                    </p:set>
                                  </p:childTnLst>
                                </p:cTn>
                              </p:par>
                            </p:childTnLst>
                          </p:cTn>
                        </p:par>
                        <p:par>
                          <p:cTn id="49" fill="hold">
                            <p:stCondLst>
                              <p:cond delay="3000"/>
                            </p:stCondLst>
                            <p:childTnLst>
                              <p:par>
                                <p:cTn id="50" presetID="10" presetClass="entr" presetSubtype="0" fill="hold" nodeType="afterEffect">
                                  <p:stCondLst>
                                    <p:cond delay="0"/>
                                  </p:stCondLst>
                                  <p:childTnLst>
                                    <p:set>
                                      <p:cBhvr>
                                        <p:cTn id="51" dur="1" fill="hold">
                                          <p:stCondLst>
                                            <p:cond delay="0"/>
                                          </p:stCondLst>
                                        </p:cTn>
                                        <p:tgtEl>
                                          <p:spTgt spid="130"/>
                                        </p:tgtEl>
                                        <p:attrNameLst>
                                          <p:attrName>style.visibility</p:attrName>
                                        </p:attrNameLst>
                                      </p:cBhvr>
                                      <p:to>
                                        <p:strVal val="visible"/>
                                      </p:to>
                                    </p:set>
                                    <p:animEffect transition="in" filter="fade">
                                      <p:cBhvr>
                                        <p:cTn id="52" dur="500"/>
                                        <p:tgtEl>
                                          <p:spTgt spid="130"/>
                                        </p:tgtEl>
                                      </p:cBhvr>
                                    </p:animEffect>
                                  </p:childTnLst>
                                </p:cTn>
                              </p:par>
                            </p:childTnLst>
                          </p:cTn>
                        </p:par>
                        <p:par>
                          <p:cTn id="53" fill="hold">
                            <p:stCondLst>
                              <p:cond delay="3500"/>
                            </p:stCondLst>
                            <p:childTnLst>
                              <p:par>
                                <p:cTn id="54" presetID="10" presetClass="entr" presetSubtype="0" fill="hold" nodeType="afterEffect">
                                  <p:stCondLst>
                                    <p:cond delay="0"/>
                                  </p:stCondLst>
                                  <p:childTnLst>
                                    <p:set>
                                      <p:cBhvr>
                                        <p:cTn id="55" dur="1" fill="hold">
                                          <p:stCondLst>
                                            <p:cond delay="0"/>
                                          </p:stCondLst>
                                        </p:cTn>
                                        <p:tgtEl>
                                          <p:spTgt spid="132"/>
                                        </p:tgtEl>
                                        <p:attrNameLst>
                                          <p:attrName>style.visibility</p:attrName>
                                        </p:attrNameLst>
                                      </p:cBhvr>
                                      <p:to>
                                        <p:strVal val="visible"/>
                                      </p:to>
                                    </p:set>
                                    <p:animEffect transition="in" filter="fade">
                                      <p:cBhvr>
                                        <p:cTn id="56"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47" grpId="0" animBg="1"/>
      <p:bldP spid="704518" grpId="0"/>
      <p:bldP spid="704545" grpId="0"/>
      <p:bldP spid="704549" grpId="0" animBg="1"/>
      <p:bldP spid="704550" grpId="0" animBg="1"/>
      <p:bldP spid="704551" grpId="0"/>
      <p:bldP spid="704552" grpId="0"/>
      <p:bldP spid="704555" grpId="0" animBg="1"/>
      <p:bldP spid="704556" grpId="0" animBg="1"/>
      <p:bldP spid="6" grpId="0" animBg="1"/>
      <p:bldP spid="1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Rot="1" noChangeArrowheads="1"/>
          </p:cNvSpPr>
          <p:nvPr>
            <p:ph type="title"/>
          </p:nvPr>
        </p:nvSpPr>
        <p:spPr>
          <a:xfrm>
            <a:off x="899592" y="67120"/>
            <a:ext cx="7992888" cy="555625"/>
          </a:xfrm>
        </p:spPr>
        <p:txBody>
          <a:bodyPr/>
          <a:lstStyle/>
          <a:p>
            <a:pPr>
              <a:defRPr/>
            </a:pPr>
            <a:r>
              <a:rPr lang="en-US" sz="2800" dirty="0" smtClean="0"/>
              <a:t>Production Possibilities for Two Countries</a:t>
            </a:r>
          </a:p>
        </p:txBody>
      </p:sp>
      <p:sp>
        <p:nvSpPr>
          <p:cNvPr id="17411" name="Line 7"/>
          <p:cNvSpPr>
            <a:spLocks noChangeShapeType="1"/>
          </p:cNvSpPr>
          <p:nvPr/>
        </p:nvSpPr>
        <p:spPr bwMode="auto">
          <a:xfrm>
            <a:off x="1989138" y="4873625"/>
            <a:ext cx="157162" cy="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7412" name="Line 8"/>
          <p:cNvSpPr>
            <a:spLocks noChangeShapeType="1"/>
          </p:cNvSpPr>
          <p:nvPr/>
        </p:nvSpPr>
        <p:spPr bwMode="auto">
          <a:xfrm flipV="1">
            <a:off x="4772025" y="5675313"/>
            <a:ext cx="0" cy="17145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7413" name="Rectangle 9"/>
          <p:cNvSpPr>
            <a:spLocks noChangeArrowheads="1"/>
          </p:cNvSpPr>
          <p:nvPr/>
        </p:nvSpPr>
        <p:spPr bwMode="auto">
          <a:xfrm>
            <a:off x="4649788" y="5894388"/>
            <a:ext cx="19843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16</a:t>
            </a:r>
            <a:endParaRPr lang="en-US" sz="1400" dirty="0"/>
          </a:p>
        </p:txBody>
      </p:sp>
      <p:sp>
        <p:nvSpPr>
          <p:cNvPr id="17414" name="Rectangle 10"/>
          <p:cNvSpPr>
            <a:spLocks noChangeArrowheads="1"/>
          </p:cNvSpPr>
          <p:nvPr/>
        </p:nvSpPr>
        <p:spPr bwMode="auto">
          <a:xfrm>
            <a:off x="5840413" y="5894388"/>
            <a:ext cx="1809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40</a:t>
            </a:r>
            <a:endParaRPr lang="en-US" sz="1400" dirty="0"/>
          </a:p>
        </p:txBody>
      </p:sp>
      <p:sp>
        <p:nvSpPr>
          <p:cNvPr id="17415" name="Rectangle 11"/>
          <p:cNvSpPr>
            <a:spLocks noChangeArrowheads="1"/>
          </p:cNvSpPr>
          <p:nvPr/>
        </p:nvSpPr>
        <p:spPr bwMode="auto">
          <a:xfrm>
            <a:off x="1751013" y="5894388"/>
            <a:ext cx="90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0</a:t>
            </a:r>
            <a:endParaRPr lang="en-US" sz="1400" dirty="0"/>
          </a:p>
        </p:txBody>
      </p:sp>
      <p:sp>
        <p:nvSpPr>
          <p:cNvPr id="17416" name="Rectangle 12"/>
          <p:cNvSpPr>
            <a:spLocks noChangeArrowheads="1"/>
          </p:cNvSpPr>
          <p:nvPr/>
        </p:nvSpPr>
        <p:spPr bwMode="auto">
          <a:xfrm>
            <a:off x="1628775" y="2436813"/>
            <a:ext cx="1809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30</a:t>
            </a:r>
            <a:endParaRPr lang="en-US" sz="1400" dirty="0"/>
          </a:p>
        </p:txBody>
      </p:sp>
      <p:sp>
        <p:nvSpPr>
          <p:cNvPr id="17417" name="Rectangle 13"/>
          <p:cNvSpPr>
            <a:spLocks noChangeArrowheads="1"/>
          </p:cNvSpPr>
          <p:nvPr/>
        </p:nvSpPr>
        <p:spPr bwMode="auto">
          <a:xfrm>
            <a:off x="1751013" y="4714875"/>
            <a:ext cx="19843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18</a:t>
            </a:r>
            <a:endParaRPr lang="en-US" sz="1400" dirty="0"/>
          </a:p>
        </p:txBody>
      </p:sp>
      <p:sp>
        <p:nvSpPr>
          <p:cNvPr id="17418" name="Rectangle 14"/>
          <p:cNvSpPr>
            <a:spLocks noChangeArrowheads="1"/>
          </p:cNvSpPr>
          <p:nvPr/>
        </p:nvSpPr>
        <p:spPr bwMode="auto">
          <a:xfrm>
            <a:off x="2664199" y="764704"/>
            <a:ext cx="465672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400" dirty="0">
                <a:solidFill>
                  <a:srgbClr val="000000"/>
                </a:solidFill>
                <a:latin typeface="Myriad Pro"/>
              </a:rPr>
              <a:t>U.S. Production and Consumption</a:t>
            </a:r>
            <a:br>
              <a:rPr lang="en-US" sz="2400" dirty="0">
                <a:solidFill>
                  <a:srgbClr val="000000"/>
                </a:solidFill>
                <a:latin typeface="Myriad Pro"/>
              </a:rPr>
            </a:br>
            <a:r>
              <a:rPr lang="en-US" sz="2400" dirty="0">
                <a:solidFill>
                  <a:srgbClr val="000000"/>
                </a:solidFill>
                <a:latin typeface="Myriad Pro"/>
              </a:rPr>
              <a:t> Possibilities without trade</a:t>
            </a:r>
            <a:endParaRPr lang="en-US" sz="2400" dirty="0"/>
          </a:p>
        </p:txBody>
      </p:sp>
      <p:sp>
        <p:nvSpPr>
          <p:cNvPr id="17419" name="Line 15"/>
          <p:cNvSpPr>
            <a:spLocks noChangeShapeType="1"/>
          </p:cNvSpPr>
          <p:nvPr/>
        </p:nvSpPr>
        <p:spPr bwMode="auto">
          <a:xfrm>
            <a:off x="1989138" y="2592388"/>
            <a:ext cx="3973512" cy="3254375"/>
          </a:xfrm>
          <a:prstGeom prst="line">
            <a:avLst/>
          </a:prstGeom>
          <a:noFill/>
          <a:ln w="30163">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7420" name="Freeform 16"/>
          <p:cNvSpPr>
            <a:spLocks/>
          </p:cNvSpPr>
          <p:nvPr/>
        </p:nvSpPr>
        <p:spPr bwMode="auto">
          <a:xfrm>
            <a:off x="1989138" y="1755775"/>
            <a:ext cx="4962525" cy="4090988"/>
          </a:xfrm>
          <a:custGeom>
            <a:avLst/>
            <a:gdLst>
              <a:gd name="T0" fmla="*/ 4962525 w 1776"/>
              <a:gd name="T1" fmla="*/ 4090988 h 1339"/>
              <a:gd name="T2" fmla="*/ 0 w 1776"/>
              <a:gd name="T3" fmla="*/ 4090988 h 1339"/>
              <a:gd name="T4" fmla="*/ 0 w 1776"/>
              <a:gd name="T5" fmla="*/ 0 h 1339"/>
              <a:gd name="T6" fmla="*/ 0 60000 65536"/>
              <a:gd name="T7" fmla="*/ 0 60000 65536"/>
              <a:gd name="T8" fmla="*/ 0 60000 65536"/>
              <a:gd name="T9" fmla="*/ 0 w 1776"/>
              <a:gd name="T10" fmla="*/ 0 h 1339"/>
              <a:gd name="T11" fmla="*/ 1776 w 1776"/>
              <a:gd name="T12" fmla="*/ 1339 h 1339"/>
            </a:gdLst>
            <a:ahLst/>
            <a:cxnLst>
              <a:cxn ang="T6">
                <a:pos x="T0" y="T1"/>
              </a:cxn>
              <a:cxn ang="T7">
                <a:pos x="T2" y="T3"/>
              </a:cxn>
              <a:cxn ang="T8">
                <a:pos x="T4" y="T5"/>
              </a:cxn>
            </a:cxnLst>
            <a:rect l="T9" t="T10" r="T11" b="T12"/>
            <a:pathLst>
              <a:path w="1776" h="1339">
                <a:moveTo>
                  <a:pt x="1776" y="1339"/>
                </a:moveTo>
                <a:lnTo>
                  <a:pt x="0" y="1339"/>
                </a:lnTo>
                <a:lnTo>
                  <a:pt x="0"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421" name="Oval 17"/>
          <p:cNvSpPr>
            <a:spLocks noChangeArrowheads="1"/>
          </p:cNvSpPr>
          <p:nvPr/>
        </p:nvSpPr>
        <p:spPr bwMode="auto">
          <a:xfrm>
            <a:off x="4706938" y="4800600"/>
            <a:ext cx="131762" cy="1444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6226" name="Line 18"/>
          <p:cNvSpPr>
            <a:spLocks noChangeShapeType="1"/>
          </p:cNvSpPr>
          <p:nvPr/>
        </p:nvSpPr>
        <p:spPr bwMode="auto">
          <a:xfrm flipV="1">
            <a:off x="4772025" y="4192588"/>
            <a:ext cx="269875" cy="68103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606227" name="Freeform 19"/>
          <p:cNvSpPr>
            <a:spLocks/>
          </p:cNvSpPr>
          <p:nvPr/>
        </p:nvSpPr>
        <p:spPr bwMode="auto">
          <a:xfrm>
            <a:off x="4800600" y="3657600"/>
            <a:ext cx="1868488" cy="635496"/>
          </a:xfrm>
          <a:custGeom>
            <a:avLst/>
            <a:gdLst>
              <a:gd name="T0" fmla="*/ 1868488 w 283"/>
              <a:gd name="T1" fmla="*/ 473255 h 97"/>
              <a:gd name="T2" fmla="*/ 1762849 w 283"/>
              <a:gd name="T3" fmla="*/ 566738 h 97"/>
              <a:gd name="T4" fmla="*/ 105639 w 283"/>
              <a:gd name="T5" fmla="*/ 566738 h 97"/>
              <a:gd name="T6" fmla="*/ 0 w 283"/>
              <a:gd name="T7" fmla="*/ 473255 h 97"/>
              <a:gd name="T8" fmla="*/ 0 w 283"/>
              <a:gd name="T9" fmla="*/ 93483 h 97"/>
              <a:gd name="T10" fmla="*/ 105639 w 283"/>
              <a:gd name="T11" fmla="*/ 0 h 97"/>
              <a:gd name="T12" fmla="*/ 1762849 w 283"/>
              <a:gd name="T13" fmla="*/ 0 h 97"/>
              <a:gd name="T14" fmla="*/ 1868488 w 283"/>
              <a:gd name="T15" fmla="*/ 93483 h 97"/>
              <a:gd name="T16" fmla="*/ 1868488 w 283"/>
              <a:gd name="T17" fmla="*/ 473255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3"/>
              <a:gd name="T28" fmla="*/ 0 h 97"/>
              <a:gd name="T29" fmla="*/ 283 w 283"/>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3" h="97">
                <a:moveTo>
                  <a:pt x="283" y="81"/>
                </a:moveTo>
                <a:cubicBezTo>
                  <a:pt x="283" y="89"/>
                  <a:pt x="276" y="97"/>
                  <a:pt x="267" y="97"/>
                </a:cubicBezTo>
                <a:cubicBezTo>
                  <a:pt x="16" y="97"/>
                  <a:pt x="16" y="97"/>
                  <a:pt x="16" y="97"/>
                </a:cubicBezTo>
                <a:cubicBezTo>
                  <a:pt x="7" y="97"/>
                  <a:pt x="0" y="89"/>
                  <a:pt x="0" y="81"/>
                </a:cubicBezTo>
                <a:cubicBezTo>
                  <a:pt x="0" y="16"/>
                  <a:pt x="0" y="16"/>
                  <a:pt x="0" y="16"/>
                </a:cubicBezTo>
                <a:cubicBezTo>
                  <a:pt x="0" y="7"/>
                  <a:pt x="7" y="0"/>
                  <a:pt x="16" y="0"/>
                </a:cubicBezTo>
                <a:cubicBezTo>
                  <a:pt x="267" y="0"/>
                  <a:pt x="267" y="0"/>
                  <a:pt x="267" y="0"/>
                </a:cubicBezTo>
                <a:cubicBezTo>
                  <a:pt x="276" y="0"/>
                  <a:pt x="283" y="7"/>
                  <a:pt x="283" y="16"/>
                </a:cubicBezTo>
                <a:lnTo>
                  <a:pt x="283" y="81"/>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6228" name="Rectangle 20"/>
          <p:cNvSpPr>
            <a:spLocks noChangeArrowheads="1"/>
          </p:cNvSpPr>
          <p:nvPr/>
        </p:nvSpPr>
        <p:spPr bwMode="auto">
          <a:xfrm>
            <a:off x="4922075" y="3725863"/>
            <a:ext cx="14445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i="1" dirty="0">
                <a:solidFill>
                  <a:srgbClr val="000000"/>
                </a:solidFill>
                <a:cs typeface="Calibri" panose="020F0502020204030204" pitchFamily="34" charset="0"/>
              </a:rPr>
              <a:t>U.S. consumption</a:t>
            </a:r>
            <a:endParaRPr lang="en-US" sz="1600" i="1" dirty="0">
              <a:cs typeface="Calibri" panose="020F0502020204030204" pitchFamily="34" charset="0"/>
            </a:endParaRPr>
          </a:p>
        </p:txBody>
      </p:sp>
      <p:sp>
        <p:nvSpPr>
          <p:cNvPr id="606229" name="Rectangle 21"/>
          <p:cNvSpPr>
            <a:spLocks noChangeArrowheads="1"/>
          </p:cNvSpPr>
          <p:nvPr/>
        </p:nvSpPr>
        <p:spPr bwMode="auto">
          <a:xfrm>
            <a:off x="4921272" y="3973513"/>
            <a:ext cx="11445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i="1" dirty="0">
                <a:solidFill>
                  <a:srgbClr val="000000"/>
                </a:solidFill>
                <a:cs typeface="Calibri" panose="020F0502020204030204" pitchFamily="34" charset="0"/>
              </a:rPr>
              <a:t>without trade</a:t>
            </a:r>
            <a:endParaRPr lang="en-US" sz="1600" i="1" dirty="0">
              <a:cs typeface="Calibri" panose="020F0502020204030204" pitchFamily="34" charset="0"/>
            </a:endParaRPr>
          </a:p>
        </p:txBody>
      </p:sp>
      <p:sp>
        <p:nvSpPr>
          <p:cNvPr id="17426" name="Rectangle 22"/>
          <p:cNvSpPr>
            <a:spLocks noChangeArrowheads="1"/>
          </p:cNvSpPr>
          <p:nvPr/>
        </p:nvSpPr>
        <p:spPr bwMode="auto">
          <a:xfrm>
            <a:off x="6003925" y="5208588"/>
            <a:ext cx="3492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U.S</a:t>
            </a:r>
            <a:r>
              <a:rPr lang="en-US" sz="1400" i="1" dirty="0">
                <a:solidFill>
                  <a:srgbClr val="000000"/>
                </a:solidFill>
                <a:latin typeface="Myriad Pro"/>
              </a:rPr>
              <a:t>.</a:t>
            </a:r>
            <a:endParaRPr lang="en-US" sz="1400" i="1" dirty="0"/>
          </a:p>
        </p:txBody>
      </p:sp>
      <p:sp>
        <p:nvSpPr>
          <p:cNvPr id="17427" name="Rectangle 23"/>
          <p:cNvSpPr>
            <a:spLocks noChangeArrowheads="1"/>
          </p:cNvSpPr>
          <p:nvPr/>
        </p:nvSpPr>
        <p:spPr bwMode="auto">
          <a:xfrm>
            <a:off x="6003925" y="5457825"/>
            <a:ext cx="3492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PPF</a:t>
            </a:r>
            <a:endParaRPr lang="en-US" sz="1400" i="1" dirty="0"/>
          </a:p>
        </p:txBody>
      </p:sp>
      <p:sp>
        <p:nvSpPr>
          <p:cNvPr id="17428" name="Oval 24"/>
          <p:cNvSpPr>
            <a:spLocks noChangeArrowheads="1"/>
          </p:cNvSpPr>
          <p:nvPr/>
        </p:nvSpPr>
        <p:spPr bwMode="auto">
          <a:xfrm>
            <a:off x="2206625" y="4857750"/>
            <a:ext cx="25400"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29" name="Oval 25"/>
          <p:cNvSpPr>
            <a:spLocks noChangeArrowheads="1"/>
          </p:cNvSpPr>
          <p:nvPr/>
        </p:nvSpPr>
        <p:spPr bwMode="auto">
          <a:xfrm>
            <a:off x="2319338" y="4857750"/>
            <a:ext cx="23812"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30" name="Oval 26"/>
          <p:cNvSpPr>
            <a:spLocks noChangeArrowheads="1"/>
          </p:cNvSpPr>
          <p:nvPr/>
        </p:nvSpPr>
        <p:spPr bwMode="auto">
          <a:xfrm>
            <a:off x="2428875" y="4857750"/>
            <a:ext cx="25400"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31" name="Oval 27"/>
          <p:cNvSpPr>
            <a:spLocks noChangeArrowheads="1"/>
          </p:cNvSpPr>
          <p:nvPr/>
        </p:nvSpPr>
        <p:spPr bwMode="auto">
          <a:xfrm>
            <a:off x="2547938" y="4857750"/>
            <a:ext cx="28575"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32" name="Oval 28"/>
          <p:cNvSpPr>
            <a:spLocks noChangeArrowheads="1"/>
          </p:cNvSpPr>
          <p:nvPr/>
        </p:nvSpPr>
        <p:spPr bwMode="auto">
          <a:xfrm>
            <a:off x="2662238" y="4857750"/>
            <a:ext cx="25400"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33" name="Oval 29"/>
          <p:cNvSpPr>
            <a:spLocks noChangeArrowheads="1"/>
          </p:cNvSpPr>
          <p:nvPr/>
        </p:nvSpPr>
        <p:spPr bwMode="auto">
          <a:xfrm>
            <a:off x="2779713" y="4857750"/>
            <a:ext cx="26987"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34" name="Oval 30"/>
          <p:cNvSpPr>
            <a:spLocks noChangeArrowheads="1"/>
          </p:cNvSpPr>
          <p:nvPr/>
        </p:nvSpPr>
        <p:spPr bwMode="auto">
          <a:xfrm>
            <a:off x="2892425" y="4857750"/>
            <a:ext cx="26988"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35" name="Oval 31"/>
          <p:cNvSpPr>
            <a:spLocks noChangeArrowheads="1"/>
          </p:cNvSpPr>
          <p:nvPr/>
        </p:nvSpPr>
        <p:spPr bwMode="auto">
          <a:xfrm>
            <a:off x="3001963" y="4857750"/>
            <a:ext cx="28575"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36" name="Oval 32"/>
          <p:cNvSpPr>
            <a:spLocks noChangeArrowheads="1"/>
          </p:cNvSpPr>
          <p:nvPr/>
        </p:nvSpPr>
        <p:spPr bwMode="auto">
          <a:xfrm>
            <a:off x="3122613" y="4857750"/>
            <a:ext cx="25400"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37" name="Oval 33"/>
          <p:cNvSpPr>
            <a:spLocks noChangeArrowheads="1"/>
          </p:cNvSpPr>
          <p:nvPr/>
        </p:nvSpPr>
        <p:spPr bwMode="auto">
          <a:xfrm>
            <a:off x="3235325" y="4857750"/>
            <a:ext cx="26988"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38" name="Oval 34"/>
          <p:cNvSpPr>
            <a:spLocks noChangeArrowheads="1"/>
          </p:cNvSpPr>
          <p:nvPr/>
        </p:nvSpPr>
        <p:spPr bwMode="auto">
          <a:xfrm>
            <a:off x="3348038" y="4857750"/>
            <a:ext cx="26987"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39" name="Oval 35"/>
          <p:cNvSpPr>
            <a:spLocks noChangeArrowheads="1"/>
          </p:cNvSpPr>
          <p:nvPr/>
        </p:nvSpPr>
        <p:spPr bwMode="auto">
          <a:xfrm>
            <a:off x="3467100" y="4857750"/>
            <a:ext cx="25400"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40" name="Oval 36"/>
          <p:cNvSpPr>
            <a:spLocks noChangeArrowheads="1"/>
          </p:cNvSpPr>
          <p:nvPr/>
        </p:nvSpPr>
        <p:spPr bwMode="auto">
          <a:xfrm>
            <a:off x="3578225" y="4857750"/>
            <a:ext cx="25400"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41" name="Oval 37"/>
          <p:cNvSpPr>
            <a:spLocks noChangeArrowheads="1"/>
          </p:cNvSpPr>
          <p:nvPr/>
        </p:nvSpPr>
        <p:spPr bwMode="auto">
          <a:xfrm>
            <a:off x="3690938" y="4857750"/>
            <a:ext cx="28575"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42" name="Oval 38"/>
          <p:cNvSpPr>
            <a:spLocks noChangeArrowheads="1"/>
          </p:cNvSpPr>
          <p:nvPr/>
        </p:nvSpPr>
        <p:spPr bwMode="auto">
          <a:xfrm>
            <a:off x="3811588" y="4857750"/>
            <a:ext cx="23812"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43" name="Oval 39"/>
          <p:cNvSpPr>
            <a:spLocks noChangeArrowheads="1"/>
          </p:cNvSpPr>
          <p:nvPr/>
        </p:nvSpPr>
        <p:spPr bwMode="auto">
          <a:xfrm>
            <a:off x="3924300" y="4857750"/>
            <a:ext cx="23813"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44" name="Oval 40"/>
          <p:cNvSpPr>
            <a:spLocks noChangeArrowheads="1"/>
          </p:cNvSpPr>
          <p:nvPr/>
        </p:nvSpPr>
        <p:spPr bwMode="auto">
          <a:xfrm>
            <a:off x="4033838" y="4857750"/>
            <a:ext cx="25400"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45" name="Oval 41"/>
          <p:cNvSpPr>
            <a:spLocks noChangeArrowheads="1"/>
          </p:cNvSpPr>
          <p:nvPr/>
        </p:nvSpPr>
        <p:spPr bwMode="auto">
          <a:xfrm>
            <a:off x="4151313" y="4857750"/>
            <a:ext cx="28575"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46" name="Oval 42"/>
          <p:cNvSpPr>
            <a:spLocks noChangeArrowheads="1"/>
          </p:cNvSpPr>
          <p:nvPr/>
        </p:nvSpPr>
        <p:spPr bwMode="auto">
          <a:xfrm>
            <a:off x="4265613" y="4857750"/>
            <a:ext cx="26987"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47" name="Oval 43"/>
          <p:cNvSpPr>
            <a:spLocks noChangeArrowheads="1"/>
          </p:cNvSpPr>
          <p:nvPr/>
        </p:nvSpPr>
        <p:spPr bwMode="auto">
          <a:xfrm>
            <a:off x="4384675" y="4857750"/>
            <a:ext cx="26988"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48" name="Oval 44"/>
          <p:cNvSpPr>
            <a:spLocks noChangeArrowheads="1"/>
          </p:cNvSpPr>
          <p:nvPr/>
        </p:nvSpPr>
        <p:spPr bwMode="auto">
          <a:xfrm>
            <a:off x="4497388" y="4857750"/>
            <a:ext cx="26987"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49" name="Oval 45"/>
          <p:cNvSpPr>
            <a:spLocks noChangeArrowheads="1"/>
          </p:cNvSpPr>
          <p:nvPr/>
        </p:nvSpPr>
        <p:spPr bwMode="auto">
          <a:xfrm>
            <a:off x="4606925" y="4857750"/>
            <a:ext cx="26988"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50" name="Oval 46"/>
          <p:cNvSpPr>
            <a:spLocks noChangeArrowheads="1"/>
          </p:cNvSpPr>
          <p:nvPr/>
        </p:nvSpPr>
        <p:spPr bwMode="auto">
          <a:xfrm>
            <a:off x="4752975" y="4995863"/>
            <a:ext cx="26988" cy="269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51" name="Oval 47"/>
          <p:cNvSpPr>
            <a:spLocks noChangeArrowheads="1"/>
          </p:cNvSpPr>
          <p:nvPr/>
        </p:nvSpPr>
        <p:spPr bwMode="auto">
          <a:xfrm>
            <a:off x="4752975" y="5106988"/>
            <a:ext cx="26988" cy="3333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52" name="Oval 48"/>
          <p:cNvSpPr>
            <a:spLocks noChangeArrowheads="1"/>
          </p:cNvSpPr>
          <p:nvPr/>
        </p:nvSpPr>
        <p:spPr bwMode="auto">
          <a:xfrm>
            <a:off x="4752975" y="5233988"/>
            <a:ext cx="26988" cy="269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53" name="Oval 49"/>
          <p:cNvSpPr>
            <a:spLocks noChangeArrowheads="1"/>
          </p:cNvSpPr>
          <p:nvPr/>
        </p:nvSpPr>
        <p:spPr bwMode="auto">
          <a:xfrm>
            <a:off x="4752975" y="5348288"/>
            <a:ext cx="26988"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54" name="Oval 50"/>
          <p:cNvSpPr>
            <a:spLocks noChangeArrowheads="1"/>
          </p:cNvSpPr>
          <p:nvPr/>
        </p:nvSpPr>
        <p:spPr bwMode="auto">
          <a:xfrm>
            <a:off x="4752975" y="5472113"/>
            <a:ext cx="26988" cy="269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55" name="Oval 51"/>
          <p:cNvSpPr>
            <a:spLocks noChangeArrowheads="1"/>
          </p:cNvSpPr>
          <p:nvPr/>
        </p:nvSpPr>
        <p:spPr bwMode="auto">
          <a:xfrm>
            <a:off x="4752975" y="5584825"/>
            <a:ext cx="26988"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456" name="Rectangle 52"/>
          <p:cNvSpPr>
            <a:spLocks noChangeArrowheads="1"/>
          </p:cNvSpPr>
          <p:nvPr/>
        </p:nvSpPr>
        <p:spPr bwMode="auto">
          <a:xfrm>
            <a:off x="998017" y="1647824"/>
            <a:ext cx="99112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sz="1400" b="1" dirty="0">
                <a:solidFill>
                  <a:srgbClr val="000000"/>
                </a:solidFill>
                <a:latin typeface="Myriad Pro"/>
              </a:rPr>
              <a:t>Quantity of large jets</a:t>
            </a:r>
            <a:endParaRPr lang="en-US" sz="1400" b="1" dirty="0"/>
          </a:p>
        </p:txBody>
      </p:sp>
      <p:sp>
        <p:nvSpPr>
          <p:cNvPr id="17457" name="Rectangle 53"/>
          <p:cNvSpPr>
            <a:spLocks noChangeArrowheads="1"/>
          </p:cNvSpPr>
          <p:nvPr/>
        </p:nvSpPr>
        <p:spPr bwMode="auto">
          <a:xfrm>
            <a:off x="6678613" y="5969000"/>
            <a:ext cx="18081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small jets</a:t>
            </a:r>
            <a:endParaRPr lang="en-US" sz="1400"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6228"/>
                                        </p:tgtEl>
                                        <p:attrNameLst>
                                          <p:attrName>style.visibility</p:attrName>
                                        </p:attrNameLst>
                                      </p:cBhvr>
                                      <p:to>
                                        <p:strVal val="visible"/>
                                      </p:to>
                                    </p:set>
                                    <p:animEffect transition="in" filter="wipe(left)">
                                      <p:cBhvr>
                                        <p:cTn id="7" dur="500"/>
                                        <p:tgtEl>
                                          <p:spTgt spid="60622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06227"/>
                                        </p:tgtEl>
                                        <p:attrNameLst>
                                          <p:attrName>style.visibility</p:attrName>
                                        </p:attrNameLst>
                                      </p:cBhvr>
                                      <p:to>
                                        <p:strVal val="visible"/>
                                      </p:to>
                                    </p:set>
                                    <p:animEffect transition="in" filter="wipe(left)">
                                      <p:cBhvr>
                                        <p:cTn id="10" dur="500"/>
                                        <p:tgtEl>
                                          <p:spTgt spid="60622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06229"/>
                                        </p:tgtEl>
                                        <p:attrNameLst>
                                          <p:attrName>style.visibility</p:attrName>
                                        </p:attrNameLst>
                                      </p:cBhvr>
                                      <p:to>
                                        <p:strVal val="visible"/>
                                      </p:to>
                                    </p:set>
                                    <p:animEffect transition="in" filter="wipe(left)">
                                      <p:cBhvr>
                                        <p:cTn id="13" dur="500"/>
                                        <p:tgtEl>
                                          <p:spTgt spid="606229"/>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606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26" grpId="0" animBg="1"/>
      <p:bldP spid="606227" grpId="0" animBg="1"/>
      <p:bldP spid="606228" grpId="0"/>
      <p:bldP spid="6062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Rot="1" noChangeArrowheads="1"/>
          </p:cNvSpPr>
          <p:nvPr>
            <p:ph type="title"/>
          </p:nvPr>
        </p:nvSpPr>
        <p:spPr>
          <a:xfrm>
            <a:off x="971600" y="79312"/>
            <a:ext cx="7934275" cy="555625"/>
          </a:xfrm>
        </p:spPr>
        <p:txBody>
          <a:bodyPr/>
          <a:lstStyle/>
          <a:p>
            <a:pPr>
              <a:defRPr/>
            </a:pPr>
            <a:r>
              <a:rPr lang="en-US" sz="2800" dirty="0" smtClean="0"/>
              <a:t>Production Possibilities for Two Countries</a:t>
            </a:r>
          </a:p>
        </p:txBody>
      </p:sp>
      <p:sp>
        <p:nvSpPr>
          <p:cNvPr id="18435" name="Rectangle 7"/>
          <p:cNvSpPr>
            <a:spLocks noChangeArrowheads="1"/>
          </p:cNvSpPr>
          <p:nvPr/>
        </p:nvSpPr>
        <p:spPr bwMode="auto">
          <a:xfrm>
            <a:off x="4211638" y="6021388"/>
            <a:ext cx="19843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30</a:t>
            </a:r>
            <a:endParaRPr lang="en-US" sz="1400" dirty="0"/>
          </a:p>
        </p:txBody>
      </p:sp>
      <p:sp>
        <p:nvSpPr>
          <p:cNvPr id="18436" name="Line 8"/>
          <p:cNvSpPr>
            <a:spLocks noChangeShapeType="1"/>
          </p:cNvSpPr>
          <p:nvPr/>
        </p:nvSpPr>
        <p:spPr bwMode="auto">
          <a:xfrm flipV="1">
            <a:off x="2714625" y="5803900"/>
            <a:ext cx="0" cy="1793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8437" name="Rectangle 9"/>
          <p:cNvSpPr>
            <a:spLocks noChangeArrowheads="1"/>
          </p:cNvSpPr>
          <p:nvPr/>
        </p:nvSpPr>
        <p:spPr bwMode="auto">
          <a:xfrm>
            <a:off x="2652713" y="6034088"/>
            <a:ext cx="90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6</a:t>
            </a:r>
            <a:endParaRPr lang="en-US" sz="1400" dirty="0"/>
          </a:p>
        </p:txBody>
      </p:sp>
      <p:sp>
        <p:nvSpPr>
          <p:cNvPr id="18438" name="Rectangle 10"/>
          <p:cNvSpPr>
            <a:spLocks noChangeArrowheads="1"/>
          </p:cNvSpPr>
          <p:nvPr/>
        </p:nvSpPr>
        <p:spPr bwMode="auto">
          <a:xfrm>
            <a:off x="1920875" y="6034088"/>
            <a:ext cx="904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0</a:t>
            </a:r>
            <a:endParaRPr lang="en-US" sz="1400" dirty="0"/>
          </a:p>
        </p:txBody>
      </p:sp>
      <p:sp>
        <p:nvSpPr>
          <p:cNvPr id="18439" name="Rectangle 11"/>
          <p:cNvSpPr>
            <a:spLocks noChangeArrowheads="1"/>
          </p:cNvSpPr>
          <p:nvPr/>
        </p:nvSpPr>
        <p:spPr bwMode="auto">
          <a:xfrm>
            <a:off x="1835150" y="4581525"/>
            <a:ext cx="2000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10</a:t>
            </a:r>
            <a:endParaRPr lang="en-US" sz="1400" dirty="0"/>
          </a:p>
        </p:txBody>
      </p:sp>
      <p:sp>
        <p:nvSpPr>
          <p:cNvPr id="18440" name="Line 12"/>
          <p:cNvSpPr>
            <a:spLocks noChangeShapeType="1"/>
          </p:cNvSpPr>
          <p:nvPr/>
        </p:nvSpPr>
        <p:spPr bwMode="auto">
          <a:xfrm>
            <a:off x="2149475" y="5081588"/>
            <a:ext cx="150813" cy="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8441" name="Rectangle 13"/>
          <p:cNvSpPr>
            <a:spLocks noChangeArrowheads="1"/>
          </p:cNvSpPr>
          <p:nvPr/>
        </p:nvSpPr>
        <p:spPr bwMode="auto">
          <a:xfrm>
            <a:off x="1920875" y="4913313"/>
            <a:ext cx="904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8</a:t>
            </a:r>
            <a:endParaRPr lang="en-US" sz="1400" dirty="0"/>
          </a:p>
        </p:txBody>
      </p:sp>
      <p:sp>
        <p:nvSpPr>
          <p:cNvPr id="18442" name="Line 14"/>
          <p:cNvSpPr>
            <a:spLocks noChangeShapeType="1"/>
          </p:cNvSpPr>
          <p:nvPr/>
        </p:nvSpPr>
        <p:spPr bwMode="auto">
          <a:xfrm>
            <a:off x="2124075" y="4724400"/>
            <a:ext cx="2160588" cy="1252538"/>
          </a:xfrm>
          <a:prstGeom prst="line">
            <a:avLst/>
          </a:prstGeom>
          <a:noFill/>
          <a:ln w="30163">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8443" name="Freeform 15"/>
          <p:cNvSpPr>
            <a:spLocks/>
          </p:cNvSpPr>
          <p:nvPr/>
        </p:nvSpPr>
        <p:spPr bwMode="auto">
          <a:xfrm>
            <a:off x="2149475" y="1720850"/>
            <a:ext cx="4703763" cy="4262438"/>
          </a:xfrm>
          <a:custGeom>
            <a:avLst/>
            <a:gdLst>
              <a:gd name="T0" fmla="*/ 4703763 w 1776"/>
              <a:gd name="T1" fmla="*/ 4262438 h 1339"/>
              <a:gd name="T2" fmla="*/ 0 w 1776"/>
              <a:gd name="T3" fmla="*/ 4262438 h 1339"/>
              <a:gd name="T4" fmla="*/ 0 w 1776"/>
              <a:gd name="T5" fmla="*/ 0 h 1339"/>
              <a:gd name="T6" fmla="*/ 0 60000 65536"/>
              <a:gd name="T7" fmla="*/ 0 60000 65536"/>
              <a:gd name="T8" fmla="*/ 0 60000 65536"/>
              <a:gd name="T9" fmla="*/ 0 w 1776"/>
              <a:gd name="T10" fmla="*/ 0 h 1339"/>
              <a:gd name="T11" fmla="*/ 1776 w 1776"/>
              <a:gd name="T12" fmla="*/ 1339 h 1339"/>
            </a:gdLst>
            <a:ahLst/>
            <a:cxnLst>
              <a:cxn ang="T6">
                <a:pos x="T0" y="T1"/>
              </a:cxn>
              <a:cxn ang="T7">
                <a:pos x="T2" y="T3"/>
              </a:cxn>
              <a:cxn ang="T8">
                <a:pos x="T4" y="T5"/>
              </a:cxn>
            </a:cxnLst>
            <a:rect l="T9" t="T10" r="T11" b="T12"/>
            <a:pathLst>
              <a:path w="1776" h="1339">
                <a:moveTo>
                  <a:pt x="1776" y="1339"/>
                </a:moveTo>
                <a:lnTo>
                  <a:pt x="0" y="1339"/>
                </a:lnTo>
                <a:lnTo>
                  <a:pt x="0"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607248" name="Line 16"/>
          <p:cNvSpPr>
            <a:spLocks noChangeShapeType="1"/>
          </p:cNvSpPr>
          <p:nvPr/>
        </p:nvSpPr>
        <p:spPr bwMode="auto">
          <a:xfrm flipV="1">
            <a:off x="2714625" y="4375150"/>
            <a:ext cx="254000" cy="7064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8445" name="Oval 17"/>
          <p:cNvSpPr>
            <a:spLocks noChangeArrowheads="1"/>
          </p:cNvSpPr>
          <p:nvPr/>
        </p:nvSpPr>
        <p:spPr bwMode="auto">
          <a:xfrm>
            <a:off x="2649538" y="5005388"/>
            <a:ext cx="123825" cy="152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8446" name="Rectangle 18"/>
          <p:cNvSpPr>
            <a:spLocks noChangeArrowheads="1"/>
          </p:cNvSpPr>
          <p:nvPr/>
        </p:nvSpPr>
        <p:spPr bwMode="auto">
          <a:xfrm>
            <a:off x="3851275" y="5516563"/>
            <a:ext cx="4492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Brazil</a:t>
            </a:r>
            <a:endParaRPr lang="en-US" sz="1400" dirty="0"/>
          </a:p>
        </p:txBody>
      </p:sp>
      <p:sp>
        <p:nvSpPr>
          <p:cNvPr id="18447" name="Rectangle 19"/>
          <p:cNvSpPr>
            <a:spLocks noChangeArrowheads="1"/>
          </p:cNvSpPr>
          <p:nvPr/>
        </p:nvSpPr>
        <p:spPr bwMode="auto">
          <a:xfrm>
            <a:off x="4366766" y="5517232"/>
            <a:ext cx="3492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PPF</a:t>
            </a:r>
            <a:endParaRPr lang="en-US" sz="1400" i="1" dirty="0"/>
          </a:p>
        </p:txBody>
      </p:sp>
      <p:sp>
        <p:nvSpPr>
          <p:cNvPr id="18448" name="Oval 20"/>
          <p:cNvSpPr>
            <a:spLocks noChangeArrowheads="1"/>
          </p:cNvSpPr>
          <p:nvPr/>
        </p:nvSpPr>
        <p:spPr bwMode="auto">
          <a:xfrm>
            <a:off x="2347913" y="5065713"/>
            <a:ext cx="26987" cy="317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8449" name="Oval 21"/>
          <p:cNvSpPr>
            <a:spLocks noChangeArrowheads="1"/>
          </p:cNvSpPr>
          <p:nvPr/>
        </p:nvSpPr>
        <p:spPr bwMode="auto">
          <a:xfrm>
            <a:off x="2462213" y="5065713"/>
            <a:ext cx="23812" cy="317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8450" name="Oval 22"/>
          <p:cNvSpPr>
            <a:spLocks noChangeArrowheads="1"/>
          </p:cNvSpPr>
          <p:nvPr/>
        </p:nvSpPr>
        <p:spPr bwMode="auto">
          <a:xfrm>
            <a:off x="2576513" y="5065713"/>
            <a:ext cx="23812" cy="317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8451" name="Oval 23"/>
          <p:cNvSpPr>
            <a:spLocks noChangeArrowheads="1"/>
          </p:cNvSpPr>
          <p:nvPr/>
        </p:nvSpPr>
        <p:spPr bwMode="auto">
          <a:xfrm>
            <a:off x="2700338" y="5216525"/>
            <a:ext cx="23812" cy="301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8452" name="Oval 24"/>
          <p:cNvSpPr>
            <a:spLocks noChangeArrowheads="1"/>
          </p:cNvSpPr>
          <p:nvPr/>
        </p:nvSpPr>
        <p:spPr bwMode="auto">
          <a:xfrm>
            <a:off x="2700338" y="5346700"/>
            <a:ext cx="23812" cy="285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8453" name="Oval 25"/>
          <p:cNvSpPr>
            <a:spLocks noChangeArrowheads="1"/>
          </p:cNvSpPr>
          <p:nvPr/>
        </p:nvSpPr>
        <p:spPr bwMode="auto">
          <a:xfrm>
            <a:off x="2700338" y="5464175"/>
            <a:ext cx="23812" cy="317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8454" name="Oval 26"/>
          <p:cNvSpPr>
            <a:spLocks noChangeArrowheads="1"/>
          </p:cNvSpPr>
          <p:nvPr/>
        </p:nvSpPr>
        <p:spPr bwMode="auto">
          <a:xfrm>
            <a:off x="2700338" y="5595938"/>
            <a:ext cx="23812" cy="269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8455" name="Oval 27"/>
          <p:cNvSpPr>
            <a:spLocks noChangeArrowheads="1"/>
          </p:cNvSpPr>
          <p:nvPr/>
        </p:nvSpPr>
        <p:spPr bwMode="auto">
          <a:xfrm>
            <a:off x="2700338" y="5711825"/>
            <a:ext cx="23812" cy="333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8456" name="Rectangle 28"/>
          <p:cNvSpPr>
            <a:spLocks noChangeArrowheads="1"/>
          </p:cNvSpPr>
          <p:nvPr/>
        </p:nvSpPr>
        <p:spPr bwMode="auto">
          <a:xfrm>
            <a:off x="1106624" y="1505406"/>
            <a:ext cx="10826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sz="1400" b="1" dirty="0">
                <a:solidFill>
                  <a:srgbClr val="000000"/>
                </a:solidFill>
                <a:latin typeface="Myriad Pro"/>
              </a:rPr>
              <a:t>Quantity of large jets</a:t>
            </a:r>
            <a:endParaRPr lang="en-US" sz="1400" b="1" dirty="0"/>
          </a:p>
        </p:txBody>
      </p:sp>
      <p:sp>
        <p:nvSpPr>
          <p:cNvPr id="18457" name="Rectangle 29"/>
          <p:cNvSpPr>
            <a:spLocks noChangeArrowheads="1"/>
          </p:cNvSpPr>
          <p:nvPr/>
        </p:nvSpPr>
        <p:spPr bwMode="auto">
          <a:xfrm>
            <a:off x="5903118" y="6034088"/>
            <a:ext cx="18081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small jets</a:t>
            </a:r>
            <a:endParaRPr lang="en-US" sz="1400" b="1" dirty="0"/>
          </a:p>
        </p:txBody>
      </p:sp>
      <p:sp>
        <p:nvSpPr>
          <p:cNvPr id="18458" name="Rectangle 30"/>
          <p:cNvSpPr>
            <a:spLocks noChangeArrowheads="1"/>
          </p:cNvSpPr>
          <p:nvPr/>
        </p:nvSpPr>
        <p:spPr bwMode="auto">
          <a:xfrm>
            <a:off x="2339752" y="764704"/>
            <a:ext cx="524182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400" dirty="0">
                <a:solidFill>
                  <a:srgbClr val="000000"/>
                </a:solidFill>
                <a:latin typeface="Myriad Pro"/>
              </a:rPr>
              <a:t>Brazilian </a:t>
            </a:r>
            <a:r>
              <a:rPr lang="en-US" sz="2400" dirty="0" smtClean="0">
                <a:solidFill>
                  <a:srgbClr val="000000"/>
                </a:solidFill>
                <a:latin typeface="Myriad Pro"/>
              </a:rPr>
              <a:t>Production and Consumption</a:t>
            </a:r>
            <a:br>
              <a:rPr lang="en-US" sz="2400" dirty="0" smtClean="0">
                <a:solidFill>
                  <a:srgbClr val="000000"/>
                </a:solidFill>
                <a:latin typeface="Myriad Pro"/>
              </a:rPr>
            </a:br>
            <a:r>
              <a:rPr lang="en-US" sz="2400" dirty="0" smtClean="0">
                <a:solidFill>
                  <a:srgbClr val="000000"/>
                </a:solidFill>
                <a:latin typeface="Myriad Pro"/>
              </a:rPr>
              <a:t> Possibilities without trade</a:t>
            </a:r>
            <a:endParaRPr lang="en-US" sz="2400" dirty="0"/>
          </a:p>
        </p:txBody>
      </p:sp>
      <p:sp>
        <p:nvSpPr>
          <p:cNvPr id="607263" name="Freeform 31"/>
          <p:cNvSpPr>
            <a:spLocks/>
          </p:cNvSpPr>
          <p:nvPr/>
        </p:nvSpPr>
        <p:spPr bwMode="auto">
          <a:xfrm>
            <a:off x="2895600" y="3810000"/>
            <a:ext cx="1873250" cy="590550"/>
          </a:xfrm>
          <a:custGeom>
            <a:avLst/>
            <a:gdLst>
              <a:gd name="T0" fmla="*/ 1873250 w 283"/>
              <a:gd name="T1" fmla="*/ 493140 h 97"/>
              <a:gd name="T2" fmla="*/ 1767342 w 283"/>
              <a:gd name="T3" fmla="*/ 590550 h 97"/>
              <a:gd name="T4" fmla="*/ 105908 w 283"/>
              <a:gd name="T5" fmla="*/ 590550 h 97"/>
              <a:gd name="T6" fmla="*/ 0 w 283"/>
              <a:gd name="T7" fmla="*/ 493140 h 97"/>
              <a:gd name="T8" fmla="*/ 0 w 283"/>
              <a:gd name="T9" fmla="*/ 97410 h 97"/>
              <a:gd name="T10" fmla="*/ 105908 w 283"/>
              <a:gd name="T11" fmla="*/ 0 h 97"/>
              <a:gd name="T12" fmla="*/ 1767342 w 283"/>
              <a:gd name="T13" fmla="*/ 0 h 97"/>
              <a:gd name="T14" fmla="*/ 1873250 w 283"/>
              <a:gd name="T15" fmla="*/ 97410 h 97"/>
              <a:gd name="T16" fmla="*/ 1873250 w 283"/>
              <a:gd name="T17" fmla="*/ 493140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3"/>
              <a:gd name="T28" fmla="*/ 0 h 97"/>
              <a:gd name="T29" fmla="*/ 283 w 283"/>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3" h="97">
                <a:moveTo>
                  <a:pt x="283" y="81"/>
                </a:moveTo>
                <a:cubicBezTo>
                  <a:pt x="283" y="89"/>
                  <a:pt x="276" y="97"/>
                  <a:pt x="267" y="97"/>
                </a:cubicBezTo>
                <a:cubicBezTo>
                  <a:pt x="16" y="97"/>
                  <a:pt x="16" y="97"/>
                  <a:pt x="16" y="97"/>
                </a:cubicBezTo>
                <a:cubicBezTo>
                  <a:pt x="7" y="97"/>
                  <a:pt x="0" y="89"/>
                  <a:pt x="0" y="81"/>
                </a:cubicBezTo>
                <a:cubicBezTo>
                  <a:pt x="0" y="16"/>
                  <a:pt x="0" y="16"/>
                  <a:pt x="0" y="16"/>
                </a:cubicBezTo>
                <a:cubicBezTo>
                  <a:pt x="0" y="7"/>
                  <a:pt x="7" y="0"/>
                  <a:pt x="16" y="0"/>
                </a:cubicBezTo>
                <a:cubicBezTo>
                  <a:pt x="267" y="0"/>
                  <a:pt x="267" y="0"/>
                  <a:pt x="267" y="0"/>
                </a:cubicBezTo>
                <a:cubicBezTo>
                  <a:pt x="276" y="0"/>
                  <a:pt x="283" y="7"/>
                  <a:pt x="283" y="16"/>
                </a:cubicBezTo>
                <a:lnTo>
                  <a:pt x="283" y="81"/>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7264" name="Rectangle 32"/>
          <p:cNvSpPr>
            <a:spLocks noChangeArrowheads="1"/>
          </p:cNvSpPr>
          <p:nvPr/>
        </p:nvSpPr>
        <p:spPr bwMode="auto">
          <a:xfrm>
            <a:off x="3040063" y="3881438"/>
            <a:ext cx="15843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600" i="1" dirty="0">
                <a:solidFill>
                  <a:srgbClr val="000000"/>
                </a:solidFill>
                <a:cs typeface="Calibri" panose="020F0502020204030204" pitchFamily="34" charset="0"/>
              </a:rPr>
              <a:t>Brazil consumption</a:t>
            </a:r>
            <a:endParaRPr lang="en-US" sz="1600" i="1" dirty="0">
              <a:cs typeface="Calibri" panose="020F0502020204030204" pitchFamily="34" charset="0"/>
            </a:endParaRPr>
          </a:p>
        </p:txBody>
      </p:sp>
      <p:sp>
        <p:nvSpPr>
          <p:cNvPr id="607265" name="Rectangle 33"/>
          <p:cNvSpPr>
            <a:spLocks noChangeArrowheads="1"/>
          </p:cNvSpPr>
          <p:nvPr/>
        </p:nvSpPr>
        <p:spPr bwMode="auto">
          <a:xfrm>
            <a:off x="3089275" y="4138613"/>
            <a:ext cx="11445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600" i="1" dirty="0">
                <a:solidFill>
                  <a:srgbClr val="000000"/>
                </a:solidFill>
                <a:cs typeface="Calibri" panose="020F0502020204030204" pitchFamily="34" charset="0"/>
              </a:rPr>
              <a:t>without trade</a:t>
            </a:r>
            <a:endParaRPr lang="en-US" sz="1600" i="1" dirty="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7264"/>
                                        </p:tgtEl>
                                        <p:attrNameLst>
                                          <p:attrName>style.visibility</p:attrName>
                                        </p:attrNameLst>
                                      </p:cBhvr>
                                      <p:to>
                                        <p:strVal val="visible"/>
                                      </p:to>
                                    </p:set>
                                    <p:animEffect transition="in" filter="wipe(left)">
                                      <p:cBhvr>
                                        <p:cTn id="7" dur="500"/>
                                        <p:tgtEl>
                                          <p:spTgt spid="60726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07265"/>
                                        </p:tgtEl>
                                        <p:attrNameLst>
                                          <p:attrName>style.visibility</p:attrName>
                                        </p:attrNameLst>
                                      </p:cBhvr>
                                      <p:to>
                                        <p:strVal val="visible"/>
                                      </p:to>
                                    </p:set>
                                    <p:animEffect transition="in" filter="wipe(left)">
                                      <p:cBhvr>
                                        <p:cTn id="10" dur="500"/>
                                        <p:tgtEl>
                                          <p:spTgt spid="60726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07263"/>
                                        </p:tgtEl>
                                        <p:attrNameLst>
                                          <p:attrName>style.visibility</p:attrName>
                                        </p:attrNameLst>
                                      </p:cBhvr>
                                      <p:to>
                                        <p:strVal val="visible"/>
                                      </p:to>
                                    </p:set>
                                    <p:animEffect transition="in" filter="wipe(left)">
                                      <p:cBhvr>
                                        <p:cTn id="13" dur="500"/>
                                        <p:tgtEl>
                                          <p:spTgt spid="607263"/>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607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7248" grpId="0" animBg="1"/>
      <p:bldP spid="607263" grpId="0" animBg="1"/>
      <p:bldP spid="607264" grpId="0"/>
      <p:bldP spid="60726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Rot="1" noChangeArrowheads="1"/>
          </p:cNvSpPr>
          <p:nvPr>
            <p:ph type="title"/>
          </p:nvPr>
        </p:nvSpPr>
        <p:spPr>
          <a:xfrm>
            <a:off x="971600" y="60325"/>
            <a:ext cx="7920880" cy="555625"/>
          </a:xfrm>
        </p:spPr>
        <p:txBody>
          <a:bodyPr/>
          <a:lstStyle/>
          <a:p>
            <a:pPr>
              <a:defRPr/>
            </a:pPr>
            <a:r>
              <a:rPr lang="en-US" sz="2800" dirty="0" smtClean="0"/>
              <a:t>United States and Brazilian Opportunity Costs</a:t>
            </a:r>
          </a:p>
        </p:txBody>
      </p:sp>
      <p:graphicFrame>
        <p:nvGraphicFramePr>
          <p:cNvPr id="608259" name="Group 3"/>
          <p:cNvGraphicFramePr>
            <a:graphicFrameLocks noGrp="1"/>
          </p:cNvGraphicFramePr>
          <p:nvPr>
            <p:extLst>
              <p:ext uri="{D42A27DB-BD31-4B8C-83A1-F6EECF244321}">
                <p14:modId xmlns:p14="http://schemas.microsoft.com/office/powerpoint/2010/main" val="3679255125"/>
              </p:ext>
            </p:extLst>
          </p:nvPr>
        </p:nvGraphicFramePr>
        <p:xfrm>
          <a:off x="1547663" y="1412776"/>
          <a:ext cx="6840761" cy="4062414"/>
        </p:xfrm>
        <a:graphic>
          <a:graphicData uri="http://schemas.openxmlformats.org/drawingml/2006/table">
            <a:tbl>
              <a:tblPr/>
              <a:tblGrid>
                <a:gridCol w="1680187"/>
                <a:gridCol w="2064230"/>
                <a:gridCol w="796576"/>
                <a:gridCol w="2299768"/>
              </a:tblGrid>
              <a:tr h="1354138">
                <a:tc>
                  <a:txBody>
                    <a:bodyPr/>
                    <a:lstStyle/>
                    <a:p>
                      <a:pPr marL="0" marR="0" lvl="0" indent="0" algn="l"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endParaRPr kumimoji="0" lang="en-US" sz="2400" b="0" i="0" u="none" strike="noStrike" cap="none" normalizeH="0" baseline="0" dirty="0" smtClean="0">
                        <a:ln>
                          <a:noFill/>
                        </a:ln>
                        <a:solidFill>
                          <a:srgbClr val="0033CC"/>
                        </a:solidFill>
                        <a:effectLst/>
                        <a:latin typeface="Arial" pitchFamily="34" charset="0"/>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400" b="1" i="0" u="none" strike="noStrike" cap="none" normalizeH="0" baseline="0" dirty="0" smtClean="0">
                          <a:ln>
                            <a:noFill/>
                          </a:ln>
                          <a:solidFill>
                            <a:srgbClr val="0033CC"/>
                          </a:solidFill>
                          <a:effectLst/>
                          <a:latin typeface="Arial" pitchFamily="34" charset="0"/>
                        </a:rPr>
                        <a:t>U.S. Opportunity Cost</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endParaRPr kumimoji="0" lang="en-US" sz="2400" b="1" i="0" u="none" strike="noStrike" cap="none" normalizeH="0" baseline="0" dirty="0" smtClean="0">
                        <a:ln>
                          <a:noFill/>
                        </a:ln>
                        <a:solidFill>
                          <a:srgbClr val="0033CC"/>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400" b="1" i="0" u="none" strike="noStrike" cap="none" normalizeH="0" baseline="0" dirty="0" smtClean="0">
                          <a:ln>
                            <a:noFill/>
                          </a:ln>
                          <a:solidFill>
                            <a:srgbClr val="0033CC"/>
                          </a:solidFill>
                          <a:effectLst/>
                          <a:latin typeface="Arial" pitchFamily="34" charset="0"/>
                        </a:rPr>
                        <a:t>Brazilian Opportunity Cost</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r>
              <a:tr h="1354138">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400" b="1" i="0" u="none" strike="noStrike" cap="none" normalizeH="0" baseline="0" dirty="0" smtClean="0">
                          <a:ln>
                            <a:noFill/>
                          </a:ln>
                          <a:solidFill>
                            <a:srgbClr val="0033CC"/>
                          </a:solidFill>
                          <a:effectLst/>
                          <a:latin typeface="Arial" pitchFamily="34" charset="0"/>
                        </a:rPr>
                        <a:t>One small jet</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400" b="1" i="0" u="none" strike="noStrike" cap="none" normalizeH="0" baseline="0" dirty="0" smtClean="0">
                          <a:ln>
                            <a:noFill/>
                          </a:ln>
                          <a:solidFill>
                            <a:srgbClr val="0033CC"/>
                          </a:solidFill>
                          <a:effectLst/>
                          <a:latin typeface="Arial" pitchFamily="34" charset="0"/>
                        </a:rPr>
                        <a:t>3/4 large jet </a:t>
                      </a:r>
                      <a:endParaRPr kumimoji="0" lang="en-US" sz="2400" b="0" i="0" u="none" strike="noStrike" cap="none" normalizeH="0" baseline="0" dirty="0" smtClean="0">
                        <a:ln>
                          <a:noFill/>
                        </a:ln>
                        <a:solidFill>
                          <a:srgbClr val="0033CC"/>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400" b="1" i="0" u="none" strike="noStrike" cap="none" normalizeH="0" baseline="0" dirty="0" smtClean="0">
                          <a:ln>
                            <a:noFill/>
                          </a:ln>
                          <a:solidFill>
                            <a:srgbClr val="0033CC"/>
                          </a:solidFill>
                          <a:effectLst/>
                          <a:latin typeface="Arial" pitchFamily="34" charset="0"/>
                        </a:rPr>
                        <a:t>&gt;</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400" b="1" i="0" u="none" strike="noStrike" cap="none" normalizeH="0" baseline="0" dirty="0" smtClean="0">
                          <a:ln>
                            <a:noFill/>
                          </a:ln>
                          <a:solidFill>
                            <a:srgbClr val="0033CC"/>
                          </a:solidFill>
                          <a:effectLst/>
                          <a:latin typeface="Arial" pitchFamily="34" charset="0"/>
                        </a:rPr>
                        <a:t>1/3</a:t>
                      </a:r>
                      <a:r>
                        <a:rPr kumimoji="0" lang="en-US" sz="2400" b="0" i="0" u="none" strike="noStrike" cap="none" normalizeH="0" baseline="0" dirty="0" smtClean="0">
                          <a:ln>
                            <a:noFill/>
                          </a:ln>
                          <a:solidFill>
                            <a:srgbClr val="0033CC"/>
                          </a:solidFill>
                          <a:effectLst/>
                          <a:latin typeface="Arial" pitchFamily="34" charset="0"/>
                        </a:rPr>
                        <a:t> </a:t>
                      </a:r>
                      <a:r>
                        <a:rPr kumimoji="0" lang="en-US" sz="2400" b="1" i="0" u="none" strike="noStrike" cap="none" normalizeH="0" baseline="0" dirty="0" smtClean="0">
                          <a:ln>
                            <a:noFill/>
                          </a:ln>
                          <a:solidFill>
                            <a:srgbClr val="0033CC"/>
                          </a:solidFill>
                          <a:effectLst/>
                          <a:latin typeface="Arial" pitchFamily="34" charset="0"/>
                        </a:rPr>
                        <a:t>large jet</a:t>
                      </a:r>
                      <a:endParaRPr kumimoji="0" lang="en-US" sz="2400" b="0" i="0" u="none" strike="noStrike" cap="none" normalizeH="0" baseline="0" dirty="0" smtClean="0">
                        <a:ln>
                          <a:noFill/>
                        </a:ln>
                        <a:solidFill>
                          <a:srgbClr val="0033CC"/>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r>
              <a:tr h="1354138">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400" b="1" i="0" u="none" strike="noStrike" cap="none" normalizeH="0" baseline="0" dirty="0" smtClean="0">
                          <a:ln>
                            <a:noFill/>
                          </a:ln>
                          <a:solidFill>
                            <a:srgbClr val="0033CC"/>
                          </a:solidFill>
                          <a:effectLst/>
                          <a:latin typeface="Arial" pitchFamily="34" charset="0"/>
                        </a:rPr>
                        <a:t>One large jet</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400" b="1" i="0" u="none" strike="noStrike" cap="none" normalizeH="0" baseline="0" dirty="0" smtClean="0">
                          <a:ln>
                            <a:noFill/>
                          </a:ln>
                          <a:solidFill>
                            <a:srgbClr val="0033CC"/>
                          </a:solidFill>
                          <a:effectLst/>
                          <a:latin typeface="Arial" pitchFamily="34" charset="0"/>
                        </a:rPr>
                        <a:t>4/3 small jets </a:t>
                      </a:r>
                      <a:endParaRPr kumimoji="0" lang="en-US" sz="2400" b="0" i="0" u="none" strike="noStrike" cap="none" normalizeH="0" baseline="0" dirty="0" smtClean="0">
                        <a:ln>
                          <a:noFill/>
                        </a:ln>
                        <a:solidFill>
                          <a:srgbClr val="0033CC"/>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400" b="1" i="0" u="none" strike="noStrike" cap="none" normalizeH="0" baseline="0" dirty="0" smtClean="0">
                          <a:ln>
                            <a:noFill/>
                          </a:ln>
                          <a:solidFill>
                            <a:srgbClr val="0033CC"/>
                          </a:solidFill>
                          <a:effectLst/>
                          <a:latin typeface="Arial" pitchFamily="34" charset="0"/>
                        </a:rPr>
                        <a:t>&lt;</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400" b="1" i="0" u="none" strike="noStrike" cap="none" normalizeH="0" baseline="0" dirty="0" smtClean="0">
                          <a:ln>
                            <a:noFill/>
                          </a:ln>
                          <a:solidFill>
                            <a:srgbClr val="0033CC"/>
                          </a:solidFill>
                          <a:effectLst/>
                          <a:latin typeface="Arial" pitchFamily="34" charset="0"/>
                        </a:rPr>
                        <a:t>3</a:t>
                      </a:r>
                      <a:r>
                        <a:rPr kumimoji="0" lang="en-US" sz="2400" b="0" i="0" u="none" strike="noStrike" cap="none" normalizeH="0" baseline="0" dirty="0" smtClean="0">
                          <a:ln>
                            <a:noFill/>
                          </a:ln>
                          <a:solidFill>
                            <a:srgbClr val="0033CC"/>
                          </a:solidFill>
                          <a:effectLst/>
                          <a:latin typeface="Arial" pitchFamily="34" charset="0"/>
                        </a:rPr>
                        <a:t> </a:t>
                      </a:r>
                      <a:r>
                        <a:rPr kumimoji="0" lang="en-US" sz="2400" b="1" i="0" u="none" strike="noStrike" cap="none" normalizeH="0" baseline="0" dirty="0" smtClean="0">
                          <a:ln>
                            <a:noFill/>
                          </a:ln>
                          <a:solidFill>
                            <a:srgbClr val="0033CC"/>
                          </a:solidFill>
                          <a:effectLst/>
                          <a:latin typeface="Arial" pitchFamily="34" charset="0"/>
                        </a:rPr>
                        <a:t>small jets</a:t>
                      </a:r>
                      <a:endParaRPr kumimoji="0" lang="en-US" sz="2400" b="0" i="0" u="none" strike="noStrike" cap="none" normalizeH="0" baseline="0" dirty="0" smtClean="0">
                        <a:ln>
                          <a:noFill/>
                        </a:ln>
                        <a:solidFill>
                          <a:srgbClr val="0033CC"/>
                        </a:solidFill>
                        <a:effectLst/>
                        <a:latin typeface="Arial" pitchFamily="34"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chemeClr val="accent5">
                        <a:lumMod val="20000"/>
                        <a:lumOff val="80000"/>
                      </a:schemeClr>
                    </a:solidFill>
                  </a:tcPr>
                </a:tc>
              </a:tr>
            </a:tbl>
          </a:graphicData>
        </a:graphic>
      </p:graphicFrame>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Rot="1" noChangeArrowheads="1"/>
          </p:cNvSpPr>
          <p:nvPr>
            <p:ph type="title"/>
          </p:nvPr>
        </p:nvSpPr>
        <p:spPr>
          <a:xfrm>
            <a:off x="899592" y="60325"/>
            <a:ext cx="8064896" cy="555625"/>
          </a:xfrm>
        </p:spPr>
        <p:txBody>
          <a:bodyPr/>
          <a:lstStyle/>
          <a:p>
            <a:pPr>
              <a:defRPr/>
            </a:pPr>
            <a:r>
              <a:rPr lang="en-US" dirty="0" smtClean="0"/>
              <a:t>Specialize and Trade</a:t>
            </a:r>
          </a:p>
        </p:txBody>
      </p:sp>
      <p:sp>
        <p:nvSpPr>
          <p:cNvPr id="20483" name="Rectangle 3"/>
          <p:cNvSpPr>
            <a:spLocks noGrp="1" noChangeArrowheads="1"/>
          </p:cNvSpPr>
          <p:nvPr>
            <p:ph type="body" idx="1"/>
          </p:nvPr>
        </p:nvSpPr>
        <p:spPr>
          <a:xfrm>
            <a:off x="899592" y="1163885"/>
            <a:ext cx="7992888" cy="5217443"/>
          </a:xfrm>
        </p:spPr>
        <p:txBody>
          <a:bodyPr/>
          <a:lstStyle/>
          <a:p>
            <a:pPr marL="231775" indent="-231775">
              <a:spcBef>
                <a:spcPct val="50000"/>
              </a:spcBef>
            </a:pPr>
            <a:r>
              <a:rPr lang="en-US" sz="2600" dirty="0"/>
              <a:t>A country has a </a:t>
            </a:r>
            <a:r>
              <a:rPr lang="en-US" sz="2600" i="1" dirty="0">
                <a:solidFill>
                  <a:srgbClr val="990033"/>
                </a:solidFill>
              </a:rPr>
              <a:t>comparative advantage </a:t>
            </a:r>
            <a:r>
              <a:rPr lang="en-US" sz="2600" dirty="0"/>
              <a:t>in producing goods for which it has the lowest opportunity cost.</a:t>
            </a:r>
          </a:p>
          <a:p>
            <a:pPr marL="231775" indent="-231775">
              <a:spcBef>
                <a:spcPct val="50000"/>
              </a:spcBef>
            </a:pPr>
            <a:r>
              <a:rPr lang="en-US" sz="2600" dirty="0" smtClean="0"/>
              <a:t>Both countries are better off when they each specialize in what they are good at and then trade. </a:t>
            </a:r>
          </a:p>
          <a:p>
            <a:pPr marL="231775" indent="-231775">
              <a:spcBef>
                <a:spcPct val="50000"/>
              </a:spcBef>
            </a:pPr>
            <a:r>
              <a:rPr lang="en-US" sz="2600" dirty="0" smtClean="0"/>
              <a:t>It’s a good idea for Brazil to make the small jets for both of them, because its opportunity cost of a small jet in terms of large jet not made is only 1/3 of a large jet, versus 3/4 large jets for the United States. </a:t>
            </a:r>
            <a:endParaRPr lang="en-US" sz="2600" dirty="0"/>
          </a:p>
          <a:p>
            <a:pPr marL="231775" indent="-231775">
              <a:spcBef>
                <a:spcPct val="50000"/>
              </a:spcBef>
            </a:pPr>
            <a:r>
              <a:rPr lang="en-US" sz="2600" dirty="0" smtClean="0"/>
              <a:t>Correspondingly, it’s a good idea for the United States to make large jets for both of the countries.</a:t>
            </a:r>
          </a:p>
          <a:p>
            <a:pPr marL="231775" indent="-231775"/>
            <a:endParaRPr lang="en-US" sz="2600" dirty="0" smtClean="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Rot="1" noChangeArrowheads="1"/>
          </p:cNvSpPr>
          <p:nvPr>
            <p:ph type="title"/>
          </p:nvPr>
        </p:nvSpPr>
        <p:spPr>
          <a:xfrm>
            <a:off x="942975" y="60325"/>
            <a:ext cx="7927975" cy="555625"/>
          </a:xfrm>
        </p:spPr>
        <p:txBody>
          <a:bodyPr/>
          <a:lstStyle/>
          <a:p>
            <a:pPr>
              <a:defRPr/>
            </a:pPr>
            <a:r>
              <a:rPr lang="en-US" sz="2800" dirty="0" smtClean="0"/>
              <a:t>Comparative Advantage and Gains from Trade</a:t>
            </a:r>
          </a:p>
        </p:txBody>
      </p:sp>
      <p:sp>
        <p:nvSpPr>
          <p:cNvPr id="21507" name="Line 10"/>
          <p:cNvSpPr>
            <a:spLocks noChangeShapeType="1"/>
          </p:cNvSpPr>
          <p:nvPr/>
        </p:nvSpPr>
        <p:spPr bwMode="auto">
          <a:xfrm>
            <a:off x="1100138" y="4700588"/>
            <a:ext cx="114300"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09" name="Rectangle 12"/>
          <p:cNvSpPr>
            <a:spLocks noChangeArrowheads="1"/>
          </p:cNvSpPr>
          <p:nvPr/>
        </p:nvSpPr>
        <p:spPr bwMode="auto">
          <a:xfrm>
            <a:off x="2886075" y="5481638"/>
            <a:ext cx="1984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16</a:t>
            </a:r>
            <a:endParaRPr lang="en-US" sz="1400" dirty="0"/>
          </a:p>
        </p:txBody>
      </p:sp>
      <p:sp>
        <p:nvSpPr>
          <p:cNvPr id="21510" name="Rectangle 13"/>
          <p:cNvSpPr>
            <a:spLocks noChangeArrowheads="1"/>
          </p:cNvSpPr>
          <p:nvPr/>
        </p:nvSpPr>
        <p:spPr bwMode="auto">
          <a:xfrm>
            <a:off x="3832225" y="5521325"/>
            <a:ext cx="1825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40</a:t>
            </a:r>
            <a:endParaRPr lang="en-US" sz="1400" dirty="0"/>
          </a:p>
        </p:txBody>
      </p:sp>
      <p:sp>
        <p:nvSpPr>
          <p:cNvPr id="21511" name="Rectangle 14"/>
          <p:cNvSpPr>
            <a:spLocks noChangeArrowheads="1"/>
          </p:cNvSpPr>
          <p:nvPr/>
        </p:nvSpPr>
        <p:spPr bwMode="auto">
          <a:xfrm>
            <a:off x="1014413" y="5410200"/>
            <a:ext cx="90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0</a:t>
            </a:r>
            <a:endParaRPr lang="en-US" sz="1400" dirty="0"/>
          </a:p>
        </p:txBody>
      </p:sp>
      <p:sp>
        <p:nvSpPr>
          <p:cNvPr id="21512" name="Rectangle 15"/>
          <p:cNvSpPr>
            <a:spLocks noChangeArrowheads="1"/>
          </p:cNvSpPr>
          <p:nvPr/>
        </p:nvSpPr>
        <p:spPr bwMode="auto">
          <a:xfrm>
            <a:off x="827584" y="2782639"/>
            <a:ext cx="1825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30</a:t>
            </a:r>
            <a:endParaRPr lang="en-US" sz="1400" dirty="0"/>
          </a:p>
        </p:txBody>
      </p:sp>
      <p:sp>
        <p:nvSpPr>
          <p:cNvPr id="21513" name="Rectangle 16"/>
          <p:cNvSpPr>
            <a:spLocks noChangeArrowheads="1"/>
          </p:cNvSpPr>
          <p:nvPr/>
        </p:nvSpPr>
        <p:spPr bwMode="auto">
          <a:xfrm>
            <a:off x="839776" y="4618038"/>
            <a:ext cx="1825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t>18</a:t>
            </a:r>
          </a:p>
        </p:txBody>
      </p:sp>
      <p:sp>
        <p:nvSpPr>
          <p:cNvPr id="21514" name="Line 17"/>
          <p:cNvSpPr>
            <a:spLocks noChangeShapeType="1"/>
          </p:cNvSpPr>
          <p:nvPr/>
        </p:nvSpPr>
        <p:spPr bwMode="auto">
          <a:xfrm>
            <a:off x="1100138" y="4613275"/>
            <a:ext cx="114300"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15" name="Rectangle 18"/>
          <p:cNvSpPr>
            <a:spLocks noChangeArrowheads="1"/>
          </p:cNvSpPr>
          <p:nvPr/>
        </p:nvSpPr>
        <p:spPr bwMode="auto">
          <a:xfrm>
            <a:off x="827584" y="4473575"/>
            <a:ext cx="1984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20</a:t>
            </a:r>
            <a:endParaRPr lang="en-US" sz="1400" dirty="0"/>
          </a:p>
        </p:txBody>
      </p:sp>
      <p:sp>
        <p:nvSpPr>
          <p:cNvPr id="21516" name="Rectangle 19"/>
          <p:cNvSpPr>
            <a:spLocks noChangeArrowheads="1"/>
          </p:cNvSpPr>
          <p:nvPr/>
        </p:nvSpPr>
        <p:spPr bwMode="auto">
          <a:xfrm>
            <a:off x="6369050" y="5521325"/>
            <a:ext cx="1984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10</a:t>
            </a:r>
            <a:endParaRPr lang="en-US" sz="1400" dirty="0"/>
          </a:p>
        </p:txBody>
      </p:sp>
      <p:sp>
        <p:nvSpPr>
          <p:cNvPr id="21517" name="Line 20"/>
          <p:cNvSpPr>
            <a:spLocks noChangeShapeType="1"/>
          </p:cNvSpPr>
          <p:nvPr/>
        </p:nvSpPr>
        <p:spPr bwMode="auto">
          <a:xfrm flipV="1">
            <a:off x="6172200" y="5349875"/>
            <a:ext cx="0" cy="13970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18" name="Rectangle 21"/>
          <p:cNvSpPr>
            <a:spLocks noChangeArrowheads="1"/>
          </p:cNvSpPr>
          <p:nvPr/>
        </p:nvSpPr>
        <p:spPr bwMode="auto">
          <a:xfrm>
            <a:off x="6129338" y="5521325"/>
            <a:ext cx="90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6</a:t>
            </a:r>
            <a:endParaRPr lang="en-US" sz="1400" dirty="0"/>
          </a:p>
        </p:txBody>
      </p:sp>
      <p:sp>
        <p:nvSpPr>
          <p:cNvPr id="21519" name="Rectangle 22"/>
          <p:cNvSpPr>
            <a:spLocks noChangeArrowheads="1"/>
          </p:cNvSpPr>
          <p:nvPr/>
        </p:nvSpPr>
        <p:spPr bwMode="auto">
          <a:xfrm>
            <a:off x="5580063" y="5521325"/>
            <a:ext cx="90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0</a:t>
            </a:r>
            <a:endParaRPr lang="en-US" sz="1400" dirty="0"/>
          </a:p>
        </p:txBody>
      </p:sp>
      <p:sp>
        <p:nvSpPr>
          <p:cNvPr id="21521" name="Line 24"/>
          <p:cNvSpPr>
            <a:spLocks noChangeShapeType="1"/>
          </p:cNvSpPr>
          <p:nvPr/>
        </p:nvSpPr>
        <p:spPr bwMode="auto">
          <a:xfrm>
            <a:off x="5749925" y="4786313"/>
            <a:ext cx="112713"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22" name="Rectangle 25"/>
          <p:cNvSpPr>
            <a:spLocks noChangeArrowheads="1"/>
          </p:cNvSpPr>
          <p:nvPr/>
        </p:nvSpPr>
        <p:spPr bwMode="auto">
          <a:xfrm>
            <a:off x="5580063" y="4672013"/>
            <a:ext cx="90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8</a:t>
            </a:r>
            <a:endParaRPr lang="en-US" sz="1400" dirty="0"/>
          </a:p>
        </p:txBody>
      </p:sp>
      <p:sp>
        <p:nvSpPr>
          <p:cNvPr id="21523" name="Line 26"/>
          <p:cNvSpPr>
            <a:spLocks noChangeShapeType="1"/>
          </p:cNvSpPr>
          <p:nvPr/>
        </p:nvSpPr>
        <p:spPr bwMode="auto">
          <a:xfrm>
            <a:off x="5749924" y="4600194"/>
            <a:ext cx="112713"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24" name="Rectangle 27"/>
          <p:cNvSpPr>
            <a:spLocks noChangeArrowheads="1"/>
          </p:cNvSpPr>
          <p:nvPr/>
        </p:nvSpPr>
        <p:spPr bwMode="auto">
          <a:xfrm>
            <a:off x="5492750" y="4475163"/>
            <a:ext cx="179388"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10</a:t>
            </a:r>
            <a:endParaRPr lang="en-US" sz="1400" dirty="0"/>
          </a:p>
        </p:txBody>
      </p:sp>
      <p:sp>
        <p:nvSpPr>
          <p:cNvPr id="21525" name="Rectangle 28"/>
          <p:cNvSpPr>
            <a:spLocks noChangeArrowheads="1"/>
          </p:cNvSpPr>
          <p:nvPr/>
        </p:nvSpPr>
        <p:spPr bwMode="auto">
          <a:xfrm>
            <a:off x="1254125" y="1484313"/>
            <a:ext cx="31797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(a) U.S. Production and Consumption</a:t>
            </a:r>
            <a:endParaRPr lang="en-US" sz="1400" b="1" dirty="0"/>
          </a:p>
        </p:txBody>
      </p:sp>
      <p:sp>
        <p:nvSpPr>
          <p:cNvPr id="21526" name="Line 29"/>
          <p:cNvSpPr>
            <a:spLocks noChangeShapeType="1"/>
          </p:cNvSpPr>
          <p:nvPr/>
        </p:nvSpPr>
        <p:spPr bwMode="auto">
          <a:xfrm>
            <a:off x="1085850" y="2860739"/>
            <a:ext cx="2819400" cy="2614613"/>
          </a:xfrm>
          <a:prstGeom prst="line">
            <a:avLst/>
          </a:prstGeom>
          <a:noFill/>
          <a:ln w="28575">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27" name="Freeform 30"/>
          <p:cNvSpPr>
            <a:spLocks/>
          </p:cNvSpPr>
          <p:nvPr/>
        </p:nvSpPr>
        <p:spPr bwMode="auto">
          <a:xfrm>
            <a:off x="1085850" y="2170113"/>
            <a:ext cx="3522663" cy="3287712"/>
          </a:xfrm>
          <a:custGeom>
            <a:avLst/>
            <a:gdLst>
              <a:gd name="T0" fmla="*/ 3522663 w 1777"/>
              <a:gd name="T1" fmla="*/ 3287712 h 1339"/>
              <a:gd name="T2" fmla="*/ 0 w 1777"/>
              <a:gd name="T3" fmla="*/ 3287712 h 1339"/>
              <a:gd name="T4" fmla="*/ 0 w 1777"/>
              <a:gd name="T5" fmla="*/ 0 h 1339"/>
              <a:gd name="T6" fmla="*/ 0 60000 65536"/>
              <a:gd name="T7" fmla="*/ 0 60000 65536"/>
              <a:gd name="T8" fmla="*/ 0 60000 65536"/>
              <a:gd name="T9" fmla="*/ 0 w 1777"/>
              <a:gd name="T10" fmla="*/ 0 h 1339"/>
              <a:gd name="T11" fmla="*/ 1777 w 1777"/>
              <a:gd name="T12" fmla="*/ 1339 h 1339"/>
            </a:gdLst>
            <a:ahLst/>
            <a:cxnLst>
              <a:cxn ang="T6">
                <a:pos x="T0" y="T1"/>
              </a:cxn>
              <a:cxn ang="T7">
                <a:pos x="T2" y="T3"/>
              </a:cxn>
              <a:cxn ang="T8">
                <a:pos x="T4" y="T5"/>
              </a:cxn>
            </a:cxnLst>
            <a:rect l="T9" t="T10" r="T11" b="T12"/>
            <a:pathLst>
              <a:path w="1777" h="1339">
                <a:moveTo>
                  <a:pt x="1777" y="1339"/>
                </a:moveTo>
                <a:lnTo>
                  <a:pt x="0" y="1339"/>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1528" name="Oval 31"/>
          <p:cNvSpPr>
            <a:spLocks noChangeArrowheads="1"/>
          </p:cNvSpPr>
          <p:nvPr/>
        </p:nvSpPr>
        <p:spPr bwMode="auto">
          <a:xfrm>
            <a:off x="3033459" y="4631817"/>
            <a:ext cx="92075" cy="1158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529" name="Oval 32"/>
          <p:cNvSpPr>
            <a:spLocks noChangeArrowheads="1"/>
          </p:cNvSpPr>
          <p:nvPr/>
        </p:nvSpPr>
        <p:spPr bwMode="auto">
          <a:xfrm>
            <a:off x="3203848" y="4535661"/>
            <a:ext cx="93663" cy="1174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530" name="Line 34"/>
          <p:cNvSpPr>
            <a:spLocks noChangeShapeType="1"/>
          </p:cNvSpPr>
          <p:nvPr/>
        </p:nvSpPr>
        <p:spPr bwMode="auto">
          <a:xfrm flipH="1" flipV="1">
            <a:off x="2385599" y="3224626"/>
            <a:ext cx="647860" cy="1375568"/>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31" name="Freeform 35"/>
          <p:cNvSpPr>
            <a:spLocks/>
          </p:cNvSpPr>
          <p:nvPr/>
        </p:nvSpPr>
        <p:spPr bwMode="auto">
          <a:xfrm>
            <a:off x="2165350" y="2717800"/>
            <a:ext cx="1831975" cy="554038"/>
          </a:xfrm>
          <a:custGeom>
            <a:avLst/>
            <a:gdLst>
              <a:gd name="T0" fmla="*/ 1679575 w 283"/>
              <a:gd name="T1" fmla="*/ 461698 h 96"/>
              <a:gd name="T2" fmla="*/ 1584617 w 283"/>
              <a:gd name="T3" fmla="*/ 554038 h 96"/>
              <a:gd name="T4" fmla="*/ 94958 w 283"/>
              <a:gd name="T5" fmla="*/ 554038 h 96"/>
              <a:gd name="T6" fmla="*/ 0 w 283"/>
              <a:gd name="T7" fmla="*/ 461698 h 96"/>
              <a:gd name="T8" fmla="*/ 0 w 283"/>
              <a:gd name="T9" fmla="*/ 92340 h 96"/>
              <a:gd name="T10" fmla="*/ 94958 w 283"/>
              <a:gd name="T11" fmla="*/ 0 h 96"/>
              <a:gd name="T12" fmla="*/ 1584617 w 283"/>
              <a:gd name="T13" fmla="*/ 0 h 96"/>
              <a:gd name="T14" fmla="*/ 1679575 w 283"/>
              <a:gd name="T15" fmla="*/ 92340 h 96"/>
              <a:gd name="T16" fmla="*/ 1679575 w 283"/>
              <a:gd name="T17" fmla="*/ 461698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3"/>
              <a:gd name="T28" fmla="*/ 0 h 96"/>
              <a:gd name="T29" fmla="*/ 283 w 283"/>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3" h="96">
                <a:moveTo>
                  <a:pt x="283" y="80"/>
                </a:moveTo>
                <a:cubicBezTo>
                  <a:pt x="283" y="89"/>
                  <a:pt x="276" y="96"/>
                  <a:pt x="267" y="96"/>
                </a:cubicBezTo>
                <a:cubicBezTo>
                  <a:pt x="16" y="96"/>
                  <a:pt x="16" y="96"/>
                  <a:pt x="16" y="96"/>
                </a:cubicBezTo>
                <a:cubicBezTo>
                  <a:pt x="7" y="96"/>
                  <a:pt x="0" y="89"/>
                  <a:pt x="0" y="80"/>
                </a:cubicBezTo>
                <a:cubicBezTo>
                  <a:pt x="0" y="16"/>
                  <a:pt x="0" y="16"/>
                  <a:pt x="0" y="16"/>
                </a:cubicBezTo>
                <a:cubicBezTo>
                  <a:pt x="0" y="7"/>
                  <a:pt x="7" y="0"/>
                  <a:pt x="16" y="0"/>
                </a:cubicBezTo>
                <a:cubicBezTo>
                  <a:pt x="267" y="0"/>
                  <a:pt x="267" y="0"/>
                  <a:pt x="267" y="0"/>
                </a:cubicBezTo>
                <a:cubicBezTo>
                  <a:pt x="276" y="0"/>
                  <a:pt x="283" y="7"/>
                  <a:pt x="283" y="16"/>
                </a:cubicBezTo>
                <a:lnTo>
                  <a:pt x="283" y="8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532" name="Rectangle 36"/>
          <p:cNvSpPr>
            <a:spLocks noChangeArrowheads="1"/>
          </p:cNvSpPr>
          <p:nvPr/>
        </p:nvSpPr>
        <p:spPr bwMode="auto">
          <a:xfrm>
            <a:off x="2244725" y="2779713"/>
            <a:ext cx="1676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i="1" dirty="0">
                <a:solidFill>
                  <a:srgbClr val="000000"/>
                </a:solidFill>
                <a:latin typeface="+mj-lt"/>
              </a:rPr>
              <a:t>U.S. consumption without trade</a:t>
            </a:r>
            <a:endParaRPr lang="en-US" sz="1500" i="1" dirty="0">
              <a:latin typeface="+mj-lt"/>
            </a:endParaRPr>
          </a:p>
        </p:txBody>
      </p:sp>
      <p:sp>
        <p:nvSpPr>
          <p:cNvPr id="21533" name="Line 37"/>
          <p:cNvSpPr>
            <a:spLocks noChangeShapeType="1"/>
          </p:cNvSpPr>
          <p:nvPr/>
        </p:nvSpPr>
        <p:spPr bwMode="auto">
          <a:xfrm flipV="1">
            <a:off x="1131663" y="2593347"/>
            <a:ext cx="576263" cy="265112"/>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34" name="Line 38"/>
          <p:cNvSpPr>
            <a:spLocks noChangeShapeType="1"/>
          </p:cNvSpPr>
          <p:nvPr/>
        </p:nvSpPr>
        <p:spPr bwMode="auto">
          <a:xfrm flipV="1">
            <a:off x="3297512" y="3952873"/>
            <a:ext cx="194368" cy="565088"/>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35" name="Freeform 39"/>
          <p:cNvSpPr>
            <a:spLocks/>
          </p:cNvSpPr>
          <p:nvPr/>
        </p:nvSpPr>
        <p:spPr bwMode="auto">
          <a:xfrm>
            <a:off x="3090863" y="3395663"/>
            <a:ext cx="1744662" cy="557212"/>
          </a:xfrm>
          <a:custGeom>
            <a:avLst/>
            <a:gdLst>
              <a:gd name="T0" fmla="*/ 1668462 w 283"/>
              <a:gd name="T1" fmla="*/ 464343 h 96"/>
              <a:gd name="T2" fmla="*/ 1574132 w 283"/>
              <a:gd name="T3" fmla="*/ 557212 h 96"/>
              <a:gd name="T4" fmla="*/ 94330 w 283"/>
              <a:gd name="T5" fmla="*/ 557212 h 96"/>
              <a:gd name="T6" fmla="*/ 0 w 283"/>
              <a:gd name="T7" fmla="*/ 464343 h 96"/>
              <a:gd name="T8" fmla="*/ 0 w 283"/>
              <a:gd name="T9" fmla="*/ 92869 h 96"/>
              <a:gd name="T10" fmla="*/ 94330 w 283"/>
              <a:gd name="T11" fmla="*/ 0 h 96"/>
              <a:gd name="T12" fmla="*/ 1574132 w 283"/>
              <a:gd name="T13" fmla="*/ 0 h 96"/>
              <a:gd name="T14" fmla="*/ 1668462 w 283"/>
              <a:gd name="T15" fmla="*/ 92869 h 96"/>
              <a:gd name="T16" fmla="*/ 1668462 w 283"/>
              <a:gd name="T17" fmla="*/ 464343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3"/>
              <a:gd name="T28" fmla="*/ 0 h 96"/>
              <a:gd name="T29" fmla="*/ 283 w 283"/>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3" h="96">
                <a:moveTo>
                  <a:pt x="283" y="80"/>
                </a:moveTo>
                <a:cubicBezTo>
                  <a:pt x="283" y="89"/>
                  <a:pt x="276" y="96"/>
                  <a:pt x="267" y="96"/>
                </a:cubicBezTo>
                <a:cubicBezTo>
                  <a:pt x="16" y="96"/>
                  <a:pt x="16" y="96"/>
                  <a:pt x="16" y="96"/>
                </a:cubicBezTo>
                <a:cubicBezTo>
                  <a:pt x="7" y="96"/>
                  <a:pt x="0" y="89"/>
                  <a:pt x="0" y="80"/>
                </a:cubicBezTo>
                <a:cubicBezTo>
                  <a:pt x="0" y="16"/>
                  <a:pt x="0" y="16"/>
                  <a:pt x="0" y="16"/>
                </a:cubicBezTo>
                <a:cubicBezTo>
                  <a:pt x="0" y="7"/>
                  <a:pt x="7" y="0"/>
                  <a:pt x="16" y="0"/>
                </a:cubicBezTo>
                <a:cubicBezTo>
                  <a:pt x="267" y="0"/>
                  <a:pt x="267" y="0"/>
                  <a:pt x="267" y="0"/>
                </a:cubicBezTo>
                <a:cubicBezTo>
                  <a:pt x="276" y="0"/>
                  <a:pt x="283" y="7"/>
                  <a:pt x="283" y="16"/>
                </a:cubicBezTo>
                <a:lnTo>
                  <a:pt x="283" y="8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536" name="Line 41"/>
          <p:cNvSpPr>
            <a:spLocks noChangeShapeType="1"/>
          </p:cNvSpPr>
          <p:nvPr/>
        </p:nvSpPr>
        <p:spPr bwMode="auto">
          <a:xfrm>
            <a:off x="5749925" y="4610545"/>
            <a:ext cx="1800225" cy="863600"/>
          </a:xfrm>
          <a:prstGeom prst="line">
            <a:avLst/>
          </a:prstGeom>
          <a:noFill/>
          <a:ln w="28575">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37" name="Freeform 42"/>
          <p:cNvSpPr>
            <a:spLocks/>
          </p:cNvSpPr>
          <p:nvPr/>
        </p:nvSpPr>
        <p:spPr bwMode="auto">
          <a:xfrm>
            <a:off x="5749925" y="2193925"/>
            <a:ext cx="3394075" cy="3322638"/>
          </a:xfrm>
          <a:custGeom>
            <a:avLst/>
            <a:gdLst>
              <a:gd name="T0" fmla="*/ 3394075 w 1776"/>
              <a:gd name="T1" fmla="*/ 3322638 h 1342"/>
              <a:gd name="T2" fmla="*/ 0 w 1776"/>
              <a:gd name="T3" fmla="*/ 3322638 h 1342"/>
              <a:gd name="T4" fmla="*/ 0 w 1776"/>
              <a:gd name="T5" fmla="*/ 0 h 1342"/>
              <a:gd name="T6" fmla="*/ 0 60000 65536"/>
              <a:gd name="T7" fmla="*/ 0 60000 65536"/>
              <a:gd name="T8" fmla="*/ 0 60000 65536"/>
              <a:gd name="T9" fmla="*/ 0 w 1776"/>
              <a:gd name="T10" fmla="*/ 0 h 1342"/>
              <a:gd name="T11" fmla="*/ 1776 w 1776"/>
              <a:gd name="T12" fmla="*/ 1342 h 1342"/>
            </a:gdLst>
            <a:ahLst/>
            <a:cxnLst>
              <a:cxn ang="T6">
                <a:pos x="T0" y="T1"/>
              </a:cxn>
              <a:cxn ang="T7">
                <a:pos x="T2" y="T3"/>
              </a:cxn>
              <a:cxn ang="T8">
                <a:pos x="T4" y="T5"/>
              </a:cxn>
            </a:cxnLst>
            <a:rect l="T9" t="T10" r="T11" b="T12"/>
            <a:pathLst>
              <a:path w="1776" h="1342">
                <a:moveTo>
                  <a:pt x="1776" y="1342"/>
                </a:moveTo>
                <a:lnTo>
                  <a:pt x="0" y="1342"/>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1538" name="Line 43"/>
          <p:cNvSpPr>
            <a:spLocks noChangeShapeType="1"/>
          </p:cNvSpPr>
          <p:nvPr/>
        </p:nvSpPr>
        <p:spPr bwMode="auto">
          <a:xfrm flipV="1">
            <a:off x="6468269" y="3321049"/>
            <a:ext cx="249206" cy="11525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39" name="Line 44"/>
          <p:cNvSpPr>
            <a:spLocks noChangeShapeType="1"/>
          </p:cNvSpPr>
          <p:nvPr/>
        </p:nvSpPr>
        <p:spPr bwMode="auto">
          <a:xfrm flipV="1">
            <a:off x="7567613" y="5084763"/>
            <a:ext cx="533400" cy="3524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40" name="Freeform 45"/>
          <p:cNvSpPr>
            <a:spLocks/>
          </p:cNvSpPr>
          <p:nvPr/>
        </p:nvSpPr>
        <p:spPr bwMode="auto">
          <a:xfrm>
            <a:off x="6530975" y="3068638"/>
            <a:ext cx="1962150" cy="504825"/>
          </a:xfrm>
          <a:custGeom>
            <a:avLst/>
            <a:gdLst>
              <a:gd name="T0" fmla="*/ 1962150 w 300"/>
              <a:gd name="T1" fmla="*/ 420913 h 97"/>
              <a:gd name="T2" fmla="*/ 1857502 w 300"/>
              <a:gd name="T3" fmla="*/ 504056 h 97"/>
              <a:gd name="T4" fmla="*/ 104648 w 300"/>
              <a:gd name="T5" fmla="*/ 504056 h 97"/>
              <a:gd name="T6" fmla="*/ 0 w 300"/>
              <a:gd name="T7" fmla="*/ 420913 h 97"/>
              <a:gd name="T8" fmla="*/ 0 w 300"/>
              <a:gd name="T9" fmla="*/ 83143 h 97"/>
              <a:gd name="T10" fmla="*/ 104648 w 300"/>
              <a:gd name="T11" fmla="*/ 0 h 97"/>
              <a:gd name="T12" fmla="*/ 1857502 w 300"/>
              <a:gd name="T13" fmla="*/ 0 h 97"/>
              <a:gd name="T14" fmla="*/ 1962150 w 300"/>
              <a:gd name="T15" fmla="*/ 83143 h 97"/>
              <a:gd name="T16" fmla="*/ 1962150 w 300"/>
              <a:gd name="T17" fmla="*/ 420913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0"/>
              <a:gd name="T28" fmla="*/ 0 h 97"/>
              <a:gd name="T29" fmla="*/ 300 w 300"/>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0" h="97">
                <a:moveTo>
                  <a:pt x="300" y="81"/>
                </a:moveTo>
                <a:cubicBezTo>
                  <a:pt x="300" y="89"/>
                  <a:pt x="293" y="97"/>
                  <a:pt x="284" y="97"/>
                </a:cubicBezTo>
                <a:cubicBezTo>
                  <a:pt x="16" y="97"/>
                  <a:pt x="16" y="97"/>
                  <a:pt x="16" y="97"/>
                </a:cubicBezTo>
                <a:cubicBezTo>
                  <a:pt x="7" y="97"/>
                  <a:pt x="0" y="89"/>
                  <a:pt x="0" y="81"/>
                </a:cubicBezTo>
                <a:cubicBezTo>
                  <a:pt x="0" y="16"/>
                  <a:pt x="0" y="16"/>
                  <a:pt x="0" y="16"/>
                </a:cubicBezTo>
                <a:cubicBezTo>
                  <a:pt x="0" y="7"/>
                  <a:pt x="7" y="0"/>
                  <a:pt x="16" y="0"/>
                </a:cubicBezTo>
                <a:cubicBezTo>
                  <a:pt x="284" y="0"/>
                  <a:pt x="284" y="0"/>
                  <a:pt x="284" y="0"/>
                </a:cubicBezTo>
                <a:cubicBezTo>
                  <a:pt x="293" y="0"/>
                  <a:pt x="300" y="7"/>
                  <a:pt x="300" y="16"/>
                </a:cubicBezTo>
                <a:lnTo>
                  <a:pt x="300" y="81"/>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541" name="Oval 46"/>
          <p:cNvSpPr>
            <a:spLocks noChangeArrowheads="1"/>
          </p:cNvSpPr>
          <p:nvPr/>
        </p:nvSpPr>
        <p:spPr bwMode="auto">
          <a:xfrm>
            <a:off x="6131687" y="4737620"/>
            <a:ext cx="93663" cy="1190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542" name="Oval 47"/>
          <p:cNvSpPr>
            <a:spLocks noChangeArrowheads="1"/>
          </p:cNvSpPr>
          <p:nvPr/>
        </p:nvSpPr>
        <p:spPr bwMode="auto">
          <a:xfrm>
            <a:off x="6405563" y="4517962"/>
            <a:ext cx="93662" cy="1174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543" name="Oval 48"/>
          <p:cNvSpPr>
            <a:spLocks noChangeArrowheads="1"/>
          </p:cNvSpPr>
          <p:nvPr/>
        </p:nvSpPr>
        <p:spPr bwMode="auto">
          <a:xfrm>
            <a:off x="7494588" y="5410200"/>
            <a:ext cx="95250" cy="1158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544" name="Line 49"/>
          <p:cNvSpPr>
            <a:spLocks noChangeShapeType="1"/>
          </p:cNvSpPr>
          <p:nvPr/>
        </p:nvSpPr>
        <p:spPr bwMode="auto">
          <a:xfrm flipV="1">
            <a:off x="3275856" y="5345113"/>
            <a:ext cx="0" cy="1365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45" name="Rectangle 50"/>
          <p:cNvSpPr>
            <a:spLocks noChangeArrowheads="1"/>
          </p:cNvSpPr>
          <p:nvPr/>
        </p:nvSpPr>
        <p:spPr bwMode="auto">
          <a:xfrm>
            <a:off x="3175000" y="5481638"/>
            <a:ext cx="1984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20</a:t>
            </a:r>
            <a:endParaRPr lang="en-US" sz="1400" dirty="0"/>
          </a:p>
        </p:txBody>
      </p:sp>
      <p:sp>
        <p:nvSpPr>
          <p:cNvPr id="21546" name="Freeform 51"/>
          <p:cNvSpPr>
            <a:spLocks/>
          </p:cNvSpPr>
          <p:nvPr/>
        </p:nvSpPr>
        <p:spPr bwMode="auto">
          <a:xfrm flipV="1">
            <a:off x="7578725" y="4567746"/>
            <a:ext cx="1525587" cy="704057"/>
          </a:xfrm>
          <a:custGeom>
            <a:avLst/>
            <a:gdLst>
              <a:gd name="T0" fmla="*/ 1525587 w 274"/>
              <a:gd name="T1" fmla="*/ 480053 h 96"/>
              <a:gd name="T2" fmla="*/ 1436502 w 274"/>
              <a:gd name="T3" fmla="*/ 576064 h 96"/>
              <a:gd name="T4" fmla="*/ 89085 w 274"/>
              <a:gd name="T5" fmla="*/ 576064 h 96"/>
              <a:gd name="T6" fmla="*/ 0 w 274"/>
              <a:gd name="T7" fmla="*/ 480053 h 96"/>
              <a:gd name="T8" fmla="*/ 0 w 274"/>
              <a:gd name="T9" fmla="*/ 96011 h 96"/>
              <a:gd name="T10" fmla="*/ 89085 w 274"/>
              <a:gd name="T11" fmla="*/ 0 h 96"/>
              <a:gd name="T12" fmla="*/ 1436502 w 274"/>
              <a:gd name="T13" fmla="*/ 0 h 96"/>
              <a:gd name="T14" fmla="*/ 1525587 w 274"/>
              <a:gd name="T15" fmla="*/ 96011 h 96"/>
              <a:gd name="T16" fmla="*/ 1525587 w 274"/>
              <a:gd name="T17" fmla="*/ 480053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4"/>
              <a:gd name="T28" fmla="*/ 0 h 96"/>
              <a:gd name="T29" fmla="*/ 274 w 274"/>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4" h="96">
                <a:moveTo>
                  <a:pt x="274" y="80"/>
                </a:moveTo>
                <a:cubicBezTo>
                  <a:pt x="274" y="89"/>
                  <a:pt x="266" y="96"/>
                  <a:pt x="258" y="96"/>
                </a:cubicBezTo>
                <a:cubicBezTo>
                  <a:pt x="16" y="96"/>
                  <a:pt x="16" y="96"/>
                  <a:pt x="16" y="96"/>
                </a:cubicBezTo>
                <a:cubicBezTo>
                  <a:pt x="7" y="96"/>
                  <a:pt x="0" y="89"/>
                  <a:pt x="0" y="80"/>
                </a:cubicBezTo>
                <a:cubicBezTo>
                  <a:pt x="0" y="16"/>
                  <a:pt x="0" y="16"/>
                  <a:pt x="0" y="16"/>
                </a:cubicBezTo>
                <a:cubicBezTo>
                  <a:pt x="0" y="7"/>
                  <a:pt x="7" y="0"/>
                  <a:pt x="16" y="0"/>
                </a:cubicBezTo>
                <a:cubicBezTo>
                  <a:pt x="258" y="0"/>
                  <a:pt x="258" y="0"/>
                  <a:pt x="258" y="0"/>
                </a:cubicBezTo>
                <a:cubicBezTo>
                  <a:pt x="266" y="0"/>
                  <a:pt x="274" y="7"/>
                  <a:pt x="274" y="16"/>
                </a:cubicBezTo>
                <a:lnTo>
                  <a:pt x="274" y="8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547" name="Line 52"/>
          <p:cNvSpPr>
            <a:spLocks noChangeShapeType="1"/>
          </p:cNvSpPr>
          <p:nvPr/>
        </p:nvSpPr>
        <p:spPr bwMode="auto">
          <a:xfrm flipV="1">
            <a:off x="6251476" y="4502752"/>
            <a:ext cx="912812" cy="27781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21548" name="Freeform 53"/>
          <p:cNvSpPr>
            <a:spLocks/>
          </p:cNvSpPr>
          <p:nvPr/>
        </p:nvSpPr>
        <p:spPr bwMode="auto">
          <a:xfrm>
            <a:off x="6634163" y="3860800"/>
            <a:ext cx="1858962" cy="720725"/>
          </a:xfrm>
          <a:custGeom>
            <a:avLst/>
            <a:gdLst>
              <a:gd name="T0" fmla="*/ 1782762 w 299"/>
              <a:gd name="T1" fmla="*/ 601304 h 97"/>
              <a:gd name="T2" fmla="*/ 1687363 w 299"/>
              <a:gd name="T3" fmla="*/ 720080 h 97"/>
              <a:gd name="T4" fmla="*/ 95399 w 299"/>
              <a:gd name="T5" fmla="*/ 720080 h 97"/>
              <a:gd name="T6" fmla="*/ 0 w 299"/>
              <a:gd name="T7" fmla="*/ 601304 h 97"/>
              <a:gd name="T8" fmla="*/ 0 w 299"/>
              <a:gd name="T9" fmla="*/ 118776 h 97"/>
              <a:gd name="T10" fmla="*/ 95399 w 299"/>
              <a:gd name="T11" fmla="*/ 0 h 97"/>
              <a:gd name="T12" fmla="*/ 1687363 w 299"/>
              <a:gd name="T13" fmla="*/ 0 h 97"/>
              <a:gd name="T14" fmla="*/ 1782762 w 299"/>
              <a:gd name="T15" fmla="*/ 118776 h 97"/>
              <a:gd name="T16" fmla="*/ 1782762 w 299"/>
              <a:gd name="T17" fmla="*/ 601304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9"/>
              <a:gd name="T28" fmla="*/ 0 h 97"/>
              <a:gd name="T29" fmla="*/ 299 w 299"/>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9" h="97">
                <a:moveTo>
                  <a:pt x="299" y="81"/>
                </a:moveTo>
                <a:cubicBezTo>
                  <a:pt x="299" y="90"/>
                  <a:pt x="292" y="97"/>
                  <a:pt x="283" y="97"/>
                </a:cubicBezTo>
                <a:cubicBezTo>
                  <a:pt x="16" y="97"/>
                  <a:pt x="16" y="97"/>
                  <a:pt x="16" y="97"/>
                </a:cubicBezTo>
                <a:cubicBezTo>
                  <a:pt x="7" y="97"/>
                  <a:pt x="0" y="90"/>
                  <a:pt x="0" y="81"/>
                </a:cubicBezTo>
                <a:cubicBezTo>
                  <a:pt x="0" y="16"/>
                  <a:pt x="0" y="16"/>
                  <a:pt x="0" y="16"/>
                </a:cubicBezTo>
                <a:cubicBezTo>
                  <a:pt x="0" y="7"/>
                  <a:pt x="7" y="0"/>
                  <a:pt x="16" y="0"/>
                </a:cubicBezTo>
                <a:cubicBezTo>
                  <a:pt x="283" y="0"/>
                  <a:pt x="283" y="0"/>
                  <a:pt x="283" y="0"/>
                </a:cubicBezTo>
                <a:cubicBezTo>
                  <a:pt x="292" y="0"/>
                  <a:pt x="299" y="7"/>
                  <a:pt x="299" y="16"/>
                </a:cubicBezTo>
                <a:lnTo>
                  <a:pt x="299" y="81"/>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549" name="Rectangle 55"/>
          <p:cNvSpPr>
            <a:spLocks noChangeArrowheads="1"/>
          </p:cNvSpPr>
          <p:nvPr/>
        </p:nvSpPr>
        <p:spPr bwMode="auto">
          <a:xfrm>
            <a:off x="3779912" y="4869160"/>
            <a:ext cx="504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400" dirty="0">
                <a:solidFill>
                  <a:srgbClr val="000000"/>
                </a:solidFill>
                <a:latin typeface="Myriad Pro"/>
              </a:rPr>
              <a:t>U.S.</a:t>
            </a:r>
            <a:endParaRPr lang="en-US" sz="1400" dirty="0"/>
          </a:p>
        </p:txBody>
      </p:sp>
      <p:sp>
        <p:nvSpPr>
          <p:cNvPr id="21550" name="Rectangle 58"/>
          <p:cNvSpPr>
            <a:spLocks noChangeArrowheads="1"/>
          </p:cNvSpPr>
          <p:nvPr/>
        </p:nvSpPr>
        <p:spPr bwMode="auto">
          <a:xfrm>
            <a:off x="3851920" y="5085184"/>
            <a:ext cx="3492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PPF</a:t>
            </a:r>
            <a:endParaRPr lang="en-US" sz="1400" i="1" dirty="0"/>
          </a:p>
        </p:txBody>
      </p:sp>
      <p:sp>
        <p:nvSpPr>
          <p:cNvPr id="21551" name="Rectangle 59"/>
          <p:cNvSpPr>
            <a:spLocks noChangeArrowheads="1"/>
          </p:cNvSpPr>
          <p:nvPr/>
        </p:nvSpPr>
        <p:spPr bwMode="auto">
          <a:xfrm>
            <a:off x="6804248" y="4797152"/>
            <a:ext cx="68738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Brazilian</a:t>
            </a:r>
            <a:endParaRPr lang="en-US" sz="1400" dirty="0"/>
          </a:p>
        </p:txBody>
      </p:sp>
      <p:sp>
        <p:nvSpPr>
          <p:cNvPr id="21552" name="Rectangle 60"/>
          <p:cNvSpPr>
            <a:spLocks noChangeArrowheads="1"/>
          </p:cNvSpPr>
          <p:nvPr/>
        </p:nvSpPr>
        <p:spPr bwMode="auto">
          <a:xfrm>
            <a:off x="7164288" y="5013176"/>
            <a:ext cx="3492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i="1" dirty="0">
                <a:solidFill>
                  <a:srgbClr val="000000"/>
                </a:solidFill>
                <a:latin typeface="Myriad Pro"/>
              </a:rPr>
              <a:t>PPF</a:t>
            </a:r>
            <a:endParaRPr lang="en-US" sz="1400" i="1" dirty="0"/>
          </a:p>
        </p:txBody>
      </p:sp>
      <p:sp>
        <p:nvSpPr>
          <p:cNvPr id="21627" name="Rectangle 135"/>
          <p:cNvSpPr>
            <a:spLocks noChangeArrowheads="1"/>
          </p:cNvSpPr>
          <p:nvPr/>
        </p:nvSpPr>
        <p:spPr bwMode="auto">
          <a:xfrm>
            <a:off x="942975" y="1881188"/>
            <a:ext cx="17780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large jets</a:t>
            </a:r>
            <a:endParaRPr lang="en-US" sz="1400" b="1" dirty="0"/>
          </a:p>
        </p:txBody>
      </p:sp>
      <p:sp>
        <p:nvSpPr>
          <p:cNvPr id="21628" name="Rectangle 136"/>
          <p:cNvSpPr>
            <a:spLocks noChangeArrowheads="1"/>
          </p:cNvSpPr>
          <p:nvPr/>
        </p:nvSpPr>
        <p:spPr bwMode="auto">
          <a:xfrm>
            <a:off x="4530725" y="1941513"/>
            <a:ext cx="17780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large jets</a:t>
            </a:r>
            <a:endParaRPr lang="en-US" sz="1400" b="1" dirty="0"/>
          </a:p>
        </p:txBody>
      </p:sp>
      <p:sp>
        <p:nvSpPr>
          <p:cNvPr id="21629" name="Rectangle 137"/>
          <p:cNvSpPr>
            <a:spLocks noChangeArrowheads="1"/>
          </p:cNvSpPr>
          <p:nvPr/>
        </p:nvSpPr>
        <p:spPr bwMode="auto">
          <a:xfrm>
            <a:off x="7693025" y="5516563"/>
            <a:ext cx="14509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small</a:t>
            </a:r>
          </a:p>
          <a:p>
            <a:r>
              <a:rPr lang="en-US" sz="1400" b="1" dirty="0">
                <a:solidFill>
                  <a:srgbClr val="000000"/>
                </a:solidFill>
                <a:latin typeface="Myriad Pro"/>
              </a:rPr>
              <a:t>jets</a:t>
            </a:r>
            <a:endParaRPr lang="en-US" sz="1400" b="1" dirty="0"/>
          </a:p>
        </p:txBody>
      </p:sp>
      <p:sp>
        <p:nvSpPr>
          <p:cNvPr id="21630" name="Rectangle 138"/>
          <p:cNvSpPr>
            <a:spLocks noChangeArrowheads="1"/>
          </p:cNvSpPr>
          <p:nvPr/>
        </p:nvSpPr>
        <p:spPr bwMode="auto">
          <a:xfrm>
            <a:off x="4067175" y="5516563"/>
            <a:ext cx="14509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Quantity of small</a:t>
            </a:r>
          </a:p>
          <a:p>
            <a:r>
              <a:rPr lang="en-US" sz="1400" b="1" dirty="0">
                <a:solidFill>
                  <a:srgbClr val="000000"/>
                </a:solidFill>
                <a:latin typeface="Myriad Pro"/>
              </a:rPr>
              <a:t>jets</a:t>
            </a:r>
            <a:endParaRPr lang="en-US" sz="1400" b="1" dirty="0"/>
          </a:p>
        </p:txBody>
      </p:sp>
      <p:sp>
        <p:nvSpPr>
          <p:cNvPr id="21631" name="Rectangle 139"/>
          <p:cNvSpPr>
            <a:spLocks noChangeArrowheads="1"/>
          </p:cNvSpPr>
          <p:nvPr/>
        </p:nvSpPr>
        <p:spPr bwMode="auto">
          <a:xfrm>
            <a:off x="3159125" y="3465513"/>
            <a:ext cx="16335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sz="1600" i="1" dirty="0">
                <a:solidFill>
                  <a:srgbClr val="000000"/>
                </a:solidFill>
                <a:latin typeface="+mj-lt"/>
              </a:rPr>
              <a:t>U.S. consumption with trade</a:t>
            </a:r>
            <a:endParaRPr lang="en-US" sz="1600" i="1" dirty="0">
              <a:latin typeface="+mj-lt"/>
            </a:endParaRPr>
          </a:p>
        </p:txBody>
      </p:sp>
      <p:sp>
        <p:nvSpPr>
          <p:cNvPr id="21632" name="Rectangle 141"/>
          <p:cNvSpPr>
            <a:spLocks noChangeArrowheads="1"/>
          </p:cNvSpPr>
          <p:nvPr/>
        </p:nvSpPr>
        <p:spPr bwMode="auto">
          <a:xfrm>
            <a:off x="5292725" y="1484313"/>
            <a:ext cx="35782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solidFill>
                  <a:srgbClr val="000000"/>
                </a:solidFill>
                <a:latin typeface="Myriad Pro"/>
              </a:rPr>
              <a:t>(b) Brazilian Production and Consumption</a:t>
            </a:r>
            <a:endParaRPr lang="en-US" sz="1400" b="1" dirty="0"/>
          </a:p>
        </p:txBody>
      </p:sp>
      <p:sp>
        <p:nvSpPr>
          <p:cNvPr id="21633" name="Rectangle 142"/>
          <p:cNvSpPr>
            <a:spLocks noChangeArrowheads="1"/>
          </p:cNvSpPr>
          <p:nvPr/>
        </p:nvSpPr>
        <p:spPr bwMode="auto">
          <a:xfrm>
            <a:off x="7546975" y="4695527"/>
            <a:ext cx="1597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sz="1500" i="1" dirty="0">
                <a:solidFill>
                  <a:srgbClr val="000000"/>
                </a:solidFill>
                <a:latin typeface="+mj-lt"/>
              </a:rPr>
              <a:t>Brazilian production with trade</a:t>
            </a:r>
            <a:endParaRPr lang="en-US" sz="1500" i="1" dirty="0">
              <a:latin typeface="+mj-lt"/>
            </a:endParaRPr>
          </a:p>
        </p:txBody>
      </p:sp>
      <p:sp>
        <p:nvSpPr>
          <p:cNvPr id="21634" name="Rectangle 143"/>
          <p:cNvSpPr>
            <a:spLocks noChangeArrowheads="1"/>
          </p:cNvSpPr>
          <p:nvPr/>
        </p:nvSpPr>
        <p:spPr bwMode="auto">
          <a:xfrm>
            <a:off x="6567488" y="3105149"/>
            <a:ext cx="19256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sz="1600" dirty="0">
                <a:solidFill>
                  <a:srgbClr val="000000"/>
                </a:solidFill>
                <a:latin typeface="+mj-lt"/>
              </a:rPr>
              <a:t>Brazilian consumption with trade</a:t>
            </a:r>
            <a:endParaRPr lang="en-US" sz="1600" dirty="0">
              <a:latin typeface="+mj-lt"/>
            </a:endParaRPr>
          </a:p>
        </p:txBody>
      </p:sp>
      <p:sp>
        <p:nvSpPr>
          <p:cNvPr id="21635" name="Rectangle 144"/>
          <p:cNvSpPr>
            <a:spLocks noChangeArrowheads="1"/>
          </p:cNvSpPr>
          <p:nvPr/>
        </p:nvSpPr>
        <p:spPr bwMode="auto">
          <a:xfrm>
            <a:off x="6660232" y="3943074"/>
            <a:ext cx="1724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sz="1500" i="1" dirty="0">
                <a:solidFill>
                  <a:srgbClr val="000000"/>
                </a:solidFill>
                <a:latin typeface="+mj-lt"/>
              </a:rPr>
              <a:t>Brazilian consumption without trade</a:t>
            </a:r>
            <a:endParaRPr lang="en-US" sz="1500" i="1" dirty="0">
              <a:latin typeface="+mj-lt"/>
            </a:endParaRPr>
          </a:p>
        </p:txBody>
      </p:sp>
      <p:sp>
        <p:nvSpPr>
          <p:cNvPr id="21636" name="Freeform 40"/>
          <p:cNvSpPr>
            <a:spLocks/>
          </p:cNvSpPr>
          <p:nvPr/>
        </p:nvSpPr>
        <p:spPr bwMode="auto">
          <a:xfrm>
            <a:off x="1158875" y="2170113"/>
            <a:ext cx="1460500" cy="503237"/>
          </a:xfrm>
          <a:custGeom>
            <a:avLst/>
            <a:gdLst>
              <a:gd name="T0" fmla="*/ 1150938 w 174"/>
              <a:gd name="T1" fmla="*/ 444033 h 136"/>
              <a:gd name="T2" fmla="*/ 1045105 w 174"/>
              <a:gd name="T3" fmla="*/ 503237 h 136"/>
              <a:gd name="T4" fmla="*/ 105833 w 174"/>
              <a:gd name="T5" fmla="*/ 503237 h 136"/>
              <a:gd name="T6" fmla="*/ 0 w 174"/>
              <a:gd name="T7" fmla="*/ 444033 h 136"/>
              <a:gd name="T8" fmla="*/ 0 w 174"/>
              <a:gd name="T9" fmla="*/ 59204 h 136"/>
              <a:gd name="T10" fmla="*/ 105833 w 174"/>
              <a:gd name="T11" fmla="*/ 0 h 136"/>
              <a:gd name="T12" fmla="*/ 1045105 w 174"/>
              <a:gd name="T13" fmla="*/ 0 h 136"/>
              <a:gd name="T14" fmla="*/ 1150938 w 174"/>
              <a:gd name="T15" fmla="*/ 59204 h 136"/>
              <a:gd name="T16" fmla="*/ 1150938 w 174"/>
              <a:gd name="T17" fmla="*/ 444033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4"/>
              <a:gd name="T28" fmla="*/ 0 h 136"/>
              <a:gd name="T29" fmla="*/ 174 w 174"/>
              <a:gd name="T30" fmla="*/ 136 h 1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4" h="136">
                <a:moveTo>
                  <a:pt x="174" y="120"/>
                </a:moveTo>
                <a:cubicBezTo>
                  <a:pt x="174" y="129"/>
                  <a:pt x="167" y="136"/>
                  <a:pt x="158" y="136"/>
                </a:cubicBezTo>
                <a:cubicBezTo>
                  <a:pt x="16" y="136"/>
                  <a:pt x="16" y="136"/>
                  <a:pt x="16" y="136"/>
                </a:cubicBezTo>
                <a:cubicBezTo>
                  <a:pt x="7" y="136"/>
                  <a:pt x="0" y="129"/>
                  <a:pt x="0" y="120"/>
                </a:cubicBezTo>
                <a:cubicBezTo>
                  <a:pt x="0" y="16"/>
                  <a:pt x="0" y="16"/>
                  <a:pt x="0" y="16"/>
                </a:cubicBezTo>
                <a:cubicBezTo>
                  <a:pt x="0" y="7"/>
                  <a:pt x="7" y="0"/>
                  <a:pt x="16" y="0"/>
                </a:cubicBezTo>
                <a:cubicBezTo>
                  <a:pt x="158" y="0"/>
                  <a:pt x="158" y="0"/>
                  <a:pt x="158" y="0"/>
                </a:cubicBezTo>
                <a:cubicBezTo>
                  <a:pt x="167" y="0"/>
                  <a:pt x="174" y="7"/>
                  <a:pt x="174" y="16"/>
                </a:cubicBezTo>
                <a:lnTo>
                  <a:pt x="174" y="12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637" name="Rectangle 140"/>
          <p:cNvSpPr>
            <a:spLocks noChangeArrowheads="1"/>
          </p:cNvSpPr>
          <p:nvPr/>
        </p:nvSpPr>
        <p:spPr bwMode="auto">
          <a:xfrm>
            <a:off x="1158875" y="2170113"/>
            <a:ext cx="1460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sz="1500" i="1" dirty="0">
                <a:solidFill>
                  <a:srgbClr val="000000"/>
                </a:solidFill>
                <a:cs typeface="Calibri" panose="020F0502020204030204" pitchFamily="34" charset="0"/>
              </a:rPr>
              <a:t>U.S. production with trade</a:t>
            </a:r>
            <a:endParaRPr lang="en-US" sz="1500" i="1" dirty="0">
              <a:cs typeface="Calibri" panose="020F0502020204030204" pitchFamily="34" charset="0"/>
            </a:endParaRPr>
          </a:p>
        </p:txBody>
      </p:sp>
      <p:sp>
        <p:nvSpPr>
          <p:cNvPr id="21638" name="Oval 33"/>
          <p:cNvSpPr>
            <a:spLocks noChangeArrowheads="1"/>
          </p:cNvSpPr>
          <p:nvPr/>
        </p:nvSpPr>
        <p:spPr bwMode="auto">
          <a:xfrm>
            <a:off x="1053200" y="2832101"/>
            <a:ext cx="93663" cy="1143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21639" name="Rectangle 19"/>
          <p:cNvSpPr>
            <a:spLocks noChangeArrowheads="1"/>
          </p:cNvSpPr>
          <p:nvPr/>
        </p:nvSpPr>
        <p:spPr bwMode="auto">
          <a:xfrm>
            <a:off x="7451725" y="5516563"/>
            <a:ext cx="1984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dirty="0">
                <a:solidFill>
                  <a:srgbClr val="000000"/>
                </a:solidFill>
                <a:latin typeface="Myriad Pro"/>
              </a:rPr>
              <a:t>30</a:t>
            </a:r>
            <a:endParaRPr lang="en-US" sz="1400" dirty="0"/>
          </a:p>
        </p:txBody>
      </p:sp>
      <p:cxnSp>
        <p:nvCxnSpPr>
          <p:cNvPr id="3" name="Straight Connector 2"/>
          <p:cNvCxnSpPr/>
          <p:nvPr/>
        </p:nvCxnSpPr>
        <p:spPr>
          <a:xfrm>
            <a:off x="1119637" y="4725144"/>
            <a:ext cx="1971674"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V="1">
            <a:off x="3072024" y="4721324"/>
            <a:ext cx="0" cy="72390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flipV="1">
            <a:off x="3263367" y="4590320"/>
            <a:ext cx="12489" cy="831056"/>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1053200" y="4606354"/>
            <a:ext cx="2104549" cy="4191"/>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146" name="Line 49"/>
          <p:cNvSpPr>
            <a:spLocks noChangeShapeType="1"/>
          </p:cNvSpPr>
          <p:nvPr/>
        </p:nvSpPr>
        <p:spPr bwMode="auto">
          <a:xfrm flipV="1">
            <a:off x="3076096" y="5353114"/>
            <a:ext cx="0" cy="1365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cxnSp>
        <p:nvCxnSpPr>
          <p:cNvPr id="147" name="Straight Connector 146"/>
          <p:cNvCxnSpPr/>
          <p:nvPr/>
        </p:nvCxnSpPr>
        <p:spPr>
          <a:xfrm flipV="1">
            <a:off x="5749925" y="4797152"/>
            <a:ext cx="428593" cy="1"/>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V="1">
            <a:off x="6172200" y="4797152"/>
            <a:ext cx="13480" cy="724173"/>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152" name="Line 20"/>
          <p:cNvSpPr>
            <a:spLocks noChangeShapeType="1"/>
          </p:cNvSpPr>
          <p:nvPr/>
        </p:nvSpPr>
        <p:spPr bwMode="auto">
          <a:xfrm flipV="1">
            <a:off x="6468269" y="5375374"/>
            <a:ext cx="0" cy="13970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cxnSp>
        <p:nvCxnSpPr>
          <p:cNvPr id="153" name="Straight Connector 152"/>
          <p:cNvCxnSpPr/>
          <p:nvPr/>
        </p:nvCxnSpPr>
        <p:spPr>
          <a:xfrm flipH="1" flipV="1">
            <a:off x="6473810" y="4591467"/>
            <a:ext cx="18022" cy="925765"/>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flipV="1">
            <a:off x="5742533" y="4581127"/>
            <a:ext cx="701675" cy="1"/>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160" name="Line 20"/>
          <p:cNvSpPr>
            <a:spLocks noChangeShapeType="1"/>
          </p:cNvSpPr>
          <p:nvPr/>
        </p:nvSpPr>
        <p:spPr bwMode="auto">
          <a:xfrm flipV="1">
            <a:off x="7542213" y="5283264"/>
            <a:ext cx="0" cy="13970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61" name="Line 49"/>
          <p:cNvSpPr>
            <a:spLocks noChangeShapeType="1"/>
          </p:cNvSpPr>
          <p:nvPr/>
        </p:nvSpPr>
        <p:spPr bwMode="auto">
          <a:xfrm flipV="1">
            <a:off x="3930110" y="5345113"/>
            <a:ext cx="0" cy="1365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162" name="Line 10"/>
          <p:cNvSpPr>
            <a:spLocks noChangeShapeType="1"/>
          </p:cNvSpPr>
          <p:nvPr/>
        </p:nvSpPr>
        <p:spPr bwMode="auto">
          <a:xfrm>
            <a:off x="1115616" y="2852936"/>
            <a:ext cx="114300"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p>
        </p:txBody>
      </p:sp>
      <p:sp>
        <p:nvSpPr>
          <p:cNvPr id="73" name="Line 37"/>
          <p:cNvSpPr>
            <a:spLocks noChangeShapeType="1"/>
          </p:cNvSpPr>
          <p:nvPr/>
        </p:nvSpPr>
        <p:spPr bwMode="auto">
          <a:xfrm>
            <a:off x="1214438" y="2946401"/>
            <a:ext cx="1944686" cy="1571560"/>
          </a:xfrm>
          <a:prstGeom prst="line">
            <a:avLst/>
          </a:prstGeom>
          <a:noFill/>
          <a:ln w="6350">
            <a:solidFill>
              <a:schemeClr val="tx2"/>
            </a:solidFill>
            <a:miter lim="800000"/>
            <a:headEnd/>
            <a:tailEnd type="stealth" w="lg" len="lg"/>
          </a:ln>
          <a:extLst>
            <a:ext uri="{909E8E84-426E-40DD-AFC4-6F175D3DCCD1}">
              <a14:hiddenFill xmlns:a14="http://schemas.microsoft.com/office/drawing/2010/main">
                <a:noFill/>
              </a14:hiddenFill>
            </a:ext>
          </a:extLst>
        </p:spPr>
        <p:txBody>
          <a:bodyPr/>
          <a:lstStyle/>
          <a:p>
            <a:endParaRPr lang="en-US" dirty="0"/>
          </a:p>
        </p:txBody>
      </p:sp>
      <p:sp>
        <p:nvSpPr>
          <p:cNvPr id="74" name="Line 37"/>
          <p:cNvSpPr>
            <a:spLocks noChangeShapeType="1"/>
          </p:cNvSpPr>
          <p:nvPr/>
        </p:nvSpPr>
        <p:spPr bwMode="auto">
          <a:xfrm flipH="1" flipV="1">
            <a:off x="6530974" y="4643565"/>
            <a:ext cx="960661" cy="776160"/>
          </a:xfrm>
          <a:prstGeom prst="line">
            <a:avLst/>
          </a:prstGeom>
          <a:noFill/>
          <a:ln w="6350">
            <a:solidFill>
              <a:schemeClr val="tx2"/>
            </a:solidFill>
            <a:miter lim="800000"/>
            <a:headEnd/>
            <a:tailEnd type="stealth" w="lg" len="lg"/>
          </a:ln>
          <a:extLst>
            <a:ext uri="{909E8E84-426E-40DD-AFC4-6F175D3DCCD1}">
              <a14:hiddenFill xmlns:a14="http://schemas.microsoft.com/office/drawing/2010/main">
                <a:noFill/>
              </a14:hiddenFill>
            </a:ext>
          </a:extLst>
        </p:spPr>
        <p:txBody>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32"/>
                                        </p:tgtEl>
                                        <p:attrNameLst>
                                          <p:attrName>style.visibility</p:attrName>
                                        </p:attrNameLst>
                                      </p:cBhvr>
                                      <p:to>
                                        <p:strVal val="visible"/>
                                      </p:to>
                                    </p:set>
                                    <p:animEffect transition="in" filter="fade">
                                      <p:cBhvr>
                                        <p:cTn id="7" dur="500"/>
                                        <p:tgtEl>
                                          <p:spTgt spid="215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531"/>
                                        </p:tgtEl>
                                        <p:attrNameLst>
                                          <p:attrName>style.visibility</p:attrName>
                                        </p:attrNameLst>
                                      </p:cBhvr>
                                      <p:to>
                                        <p:strVal val="visible"/>
                                      </p:to>
                                    </p:set>
                                    <p:animEffect transition="in" filter="fade">
                                      <p:cBhvr>
                                        <p:cTn id="10" dur="500"/>
                                        <p:tgtEl>
                                          <p:spTgt spid="215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530"/>
                                        </p:tgtEl>
                                        <p:attrNameLst>
                                          <p:attrName>style.visibility</p:attrName>
                                        </p:attrNameLst>
                                      </p:cBhvr>
                                      <p:to>
                                        <p:strVal val="visible"/>
                                      </p:to>
                                    </p:set>
                                    <p:animEffect transition="in" filter="fade">
                                      <p:cBhvr>
                                        <p:cTn id="13" dur="500"/>
                                        <p:tgtEl>
                                          <p:spTgt spid="21530"/>
                                        </p:tgtEl>
                                      </p:cBhvr>
                                    </p:animEffect>
                                  </p:childTnLst>
                                </p:cTn>
                              </p:par>
                              <p:par>
                                <p:cTn id="14" presetID="10"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528"/>
                                        </p:tgtEl>
                                        <p:attrNameLst>
                                          <p:attrName>style.visibility</p:attrName>
                                        </p:attrNameLst>
                                      </p:cBhvr>
                                      <p:to>
                                        <p:strVal val="visible"/>
                                      </p:to>
                                    </p:set>
                                    <p:animEffect transition="in" filter="fade">
                                      <p:cBhvr>
                                        <p:cTn id="22" dur="500"/>
                                        <p:tgtEl>
                                          <p:spTgt spid="215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635"/>
                                        </p:tgtEl>
                                        <p:attrNameLst>
                                          <p:attrName>style.visibility</p:attrName>
                                        </p:attrNameLst>
                                      </p:cBhvr>
                                      <p:to>
                                        <p:strVal val="visible"/>
                                      </p:to>
                                    </p:set>
                                    <p:animEffect transition="in" filter="fade">
                                      <p:cBhvr>
                                        <p:cTn id="27" dur="500"/>
                                        <p:tgtEl>
                                          <p:spTgt spid="2163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548"/>
                                        </p:tgtEl>
                                        <p:attrNameLst>
                                          <p:attrName>style.visibility</p:attrName>
                                        </p:attrNameLst>
                                      </p:cBhvr>
                                      <p:to>
                                        <p:strVal val="visible"/>
                                      </p:to>
                                    </p:set>
                                    <p:animEffect transition="in" filter="fade">
                                      <p:cBhvr>
                                        <p:cTn id="30" dur="500"/>
                                        <p:tgtEl>
                                          <p:spTgt spid="2154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547"/>
                                        </p:tgtEl>
                                        <p:attrNameLst>
                                          <p:attrName>style.visibility</p:attrName>
                                        </p:attrNameLst>
                                      </p:cBhvr>
                                      <p:to>
                                        <p:strVal val="visible"/>
                                      </p:to>
                                    </p:set>
                                    <p:animEffect transition="in" filter="fade">
                                      <p:cBhvr>
                                        <p:cTn id="33" dur="500"/>
                                        <p:tgtEl>
                                          <p:spTgt spid="21547"/>
                                        </p:tgtEl>
                                      </p:cBhvr>
                                    </p:animEffect>
                                  </p:childTnLst>
                                </p:cTn>
                              </p:par>
                              <p:par>
                                <p:cTn id="34" presetID="10" presetClass="entr" presetSubtype="0" fill="hold" nodeType="withEffect">
                                  <p:stCondLst>
                                    <p:cond delay="0"/>
                                  </p:stCondLst>
                                  <p:childTnLst>
                                    <p:set>
                                      <p:cBhvr>
                                        <p:cTn id="35" dur="1" fill="hold">
                                          <p:stCondLst>
                                            <p:cond delay="0"/>
                                          </p:stCondLst>
                                        </p:cTn>
                                        <p:tgtEl>
                                          <p:spTgt spid="147"/>
                                        </p:tgtEl>
                                        <p:attrNameLst>
                                          <p:attrName>style.visibility</p:attrName>
                                        </p:attrNameLst>
                                      </p:cBhvr>
                                      <p:to>
                                        <p:strVal val="visible"/>
                                      </p:to>
                                    </p:set>
                                    <p:animEffect transition="in" filter="fade">
                                      <p:cBhvr>
                                        <p:cTn id="36" dur="500"/>
                                        <p:tgtEl>
                                          <p:spTgt spid="147"/>
                                        </p:tgtEl>
                                      </p:cBhvr>
                                    </p:animEffect>
                                  </p:childTnLst>
                                </p:cTn>
                              </p:par>
                              <p:par>
                                <p:cTn id="37" presetID="10" presetClass="entr" presetSubtype="0" fill="hold" nodeType="withEffect">
                                  <p:stCondLst>
                                    <p:cond delay="0"/>
                                  </p:stCondLst>
                                  <p:childTnLst>
                                    <p:set>
                                      <p:cBhvr>
                                        <p:cTn id="38" dur="1" fill="hold">
                                          <p:stCondLst>
                                            <p:cond delay="0"/>
                                          </p:stCondLst>
                                        </p:cTn>
                                        <p:tgtEl>
                                          <p:spTgt spid="150"/>
                                        </p:tgtEl>
                                        <p:attrNameLst>
                                          <p:attrName>style.visibility</p:attrName>
                                        </p:attrNameLst>
                                      </p:cBhvr>
                                      <p:to>
                                        <p:strVal val="visible"/>
                                      </p:to>
                                    </p:set>
                                    <p:animEffect transition="in" filter="fade">
                                      <p:cBhvr>
                                        <p:cTn id="39" dur="500"/>
                                        <p:tgtEl>
                                          <p:spTgt spid="15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541"/>
                                        </p:tgtEl>
                                        <p:attrNameLst>
                                          <p:attrName>style.visibility</p:attrName>
                                        </p:attrNameLst>
                                      </p:cBhvr>
                                      <p:to>
                                        <p:strVal val="visible"/>
                                      </p:to>
                                    </p:set>
                                    <p:animEffect transition="in" filter="fade">
                                      <p:cBhvr>
                                        <p:cTn id="42" dur="500"/>
                                        <p:tgtEl>
                                          <p:spTgt spid="2154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1636"/>
                                        </p:tgtEl>
                                        <p:attrNameLst>
                                          <p:attrName>style.visibility</p:attrName>
                                        </p:attrNameLst>
                                      </p:cBhvr>
                                      <p:to>
                                        <p:strVal val="visible"/>
                                      </p:to>
                                    </p:set>
                                    <p:animEffect transition="in" filter="fade">
                                      <p:cBhvr>
                                        <p:cTn id="47" dur="500"/>
                                        <p:tgtEl>
                                          <p:spTgt spid="2163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637"/>
                                        </p:tgtEl>
                                        <p:attrNameLst>
                                          <p:attrName>style.visibility</p:attrName>
                                        </p:attrNameLst>
                                      </p:cBhvr>
                                      <p:to>
                                        <p:strVal val="visible"/>
                                      </p:to>
                                    </p:set>
                                    <p:animEffect transition="in" filter="fade">
                                      <p:cBhvr>
                                        <p:cTn id="50" dur="500"/>
                                        <p:tgtEl>
                                          <p:spTgt spid="2163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533"/>
                                        </p:tgtEl>
                                        <p:attrNameLst>
                                          <p:attrName>style.visibility</p:attrName>
                                        </p:attrNameLst>
                                      </p:cBhvr>
                                      <p:to>
                                        <p:strVal val="visible"/>
                                      </p:to>
                                    </p:set>
                                    <p:animEffect transition="in" filter="fade">
                                      <p:cBhvr>
                                        <p:cTn id="53" dur="500"/>
                                        <p:tgtEl>
                                          <p:spTgt spid="2153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638"/>
                                        </p:tgtEl>
                                        <p:attrNameLst>
                                          <p:attrName>style.visibility</p:attrName>
                                        </p:attrNameLst>
                                      </p:cBhvr>
                                      <p:to>
                                        <p:strVal val="visible"/>
                                      </p:to>
                                    </p:set>
                                    <p:animEffect transition="in" filter="fade">
                                      <p:cBhvr>
                                        <p:cTn id="56" dur="500"/>
                                        <p:tgtEl>
                                          <p:spTgt spid="2163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1633"/>
                                        </p:tgtEl>
                                        <p:attrNameLst>
                                          <p:attrName>style.visibility</p:attrName>
                                        </p:attrNameLst>
                                      </p:cBhvr>
                                      <p:to>
                                        <p:strVal val="visible"/>
                                      </p:to>
                                    </p:set>
                                    <p:animEffect transition="in" filter="fade">
                                      <p:cBhvr>
                                        <p:cTn id="61" dur="500"/>
                                        <p:tgtEl>
                                          <p:spTgt spid="2163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539"/>
                                        </p:tgtEl>
                                        <p:attrNameLst>
                                          <p:attrName>style.visibility</p:attrName>
                                        </p:attrNameLst>
                                      </p:cBhvr>
                                      <p:to>
                                        <p:strVal val="visible"/>
                                      </p:to>
                                    </p:set>
                                    <p:animEffect transition="in" filter="fade">
                                      <p:cBhvr>
                                        <p:cTn id="64" dur="500"/>
                                        <p:tgtEl>
                                          <p:spTgt spid="215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546"/>
                                        </p:tgtEl>
                                        <p:attrNameLst>
                                          <p:attrName>style.visibility</p:attrName>
                                        </p:attrNameLst>
                                      </p:cBhvr>
                                      <p:to>
                                        <p:strVal val="visible"/>
                                      </p:to>
                                    </p:set>
                                    <p:animEffect transition="in" filter="fade">
                                      <p:cBhvr>
                                        <p:cTn id="67" dur="500"/>
                                        <p:tgtEl>
                                          <p:spTgt spid="2154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1543"/>
                                        </p:tgtEl>
                                        <p:attrNameLst>
                                          <p:attrName>style.visibility</p:attrName>
                                        </p:attrNameLst>
                                      </p:cBhvr>
                                      <p:to>
                                        <p:strVal val="visible"/>
                                      </p:to>
                                    </p:set>
                                    <p:animEffect transition="in" filter="fade">
                                      <p:cBhvr>
                                        <p:cTn id="70" dur="500"/>
                                        <p:tgtEl>
                                          <p:spTgt spid="2154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1535"/>
                                        </p:tgtEl>
                                        <p:attrNameLst>
                                          <p:attrName>style.visibility</p:attrName>
                                        </p:attrNameLst>
                                      </p:cBhvr>
                                      <p:to>
                                        <p:strVal val="visible"/>
                                      </p:to>
                                    </p:set>
                                    <p:animEffect transition="in" filter="fade">
                                      <p:cBhvr>
                                        <p:cTn id="75" dur="500"/>
                                        <p:tgtEl>
                                          <p:spTgt spid="2153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1534"/>
                                        </p:tgtEl>
                                        <p:attrNameLst>
                                          <p:attrName>style.visibility</p:attrName>
                                        </p:attrNameLst>
                                      </p:cBhvr>
                                      <p:to>
                                        <p:strVal val="visible"/>
                                      </p:to>
                                    </p:set>
                                    <p:animEffect transition="in" filter="fade">
                                      <p:cBhvr>
                                        <p:cTn id="78" dur="500"/>
                                        <p:tgtEl>
                                          <p:spTgt spid="2153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1631"/>
                                        </p:tgtEl>
                                        <p:attrNameLst>
                                          <p:attrName>style.visibility</p:attrName>
                                        </p:attrNameLst>
                                      </p:cBhvr>
                                      <p:to>
                                        <p:strVal val="visible"/>
                                      </p:to>
                                    </p:set>
                                    <p:animEffect transition="in" filter="fade">
                                      <p:cBhvr>
                                        <p:cTn id="81" dur="500"/>
                                        <p:tgtEl>
                                          <p:spTgt spid="21631"/>
                                        </p:tgtEl>
                                      </p:cBhvr>
                                    </p:animEffect>
                                  </p:childTnLst>
                                </p:cTn>
                              </p:par>
                              <p:par>
                                <p:cTn id="82" presetID="10" presetClass="entr" presetSubtype="0" fill="hold" nodeType="withEffect">
                                  <p:stCondLst>
                                    <p:cond delay="0"/>
                                  </p:stCondLst>
                                  <p:childTnLst>
                                    <p:set>
                                      <p:cBhvr>
                                        <p:cTn id="83" dur="1" fill="hold">
                                          <p:stCondLst>
                                            <p:cond delay="0"/>
                                          </p:stCondLst>
                                        </p:cTn>
                                        <p:tgtEl>
                                          <p:spTgt spid="142"/>
                                        </p:tgtEl>
                                        <p:attrNameLst>
                                          <p:attrName>style.visibility</p:attrName>
                                        </p:attrNameLst>
                                      </p:cBhvr>
                                      <p:to>
                                        <p:strVal val="visible"/>
                                      </p:to>
                                    </p:set>
                                    <p:animEffect transition="in" filter="fade">
                                      <p:cBhvr>
                                        <p:cTn id="84" dur="500"/>
                                        <p:tgtEl>
                                          <p:spTgt spid="142"/>
                                        </p:tgtEl>
                                      </p:cBhvr>
                                    </p:animEffect>
                                  </p:childTnLst>
                                </p:cTn>
                              </p:par>
                              <p:par>
                                <p:cTn id="85" presetID="10" presetClass="entr" presetSubtype="0" fill="hold" nodeType="withEffect">
                                  <p:stCondLst>
                                    <p:cond delay="0"/>
                                  </p:stCondLst>
                                  <p:childTnLst>
                                    <p:set>
                                      <p:cBhvr>
                                        <p:cTn id="86" dur="1" fill="hold">
                                          <p:stCondLst>
                                            <p:cond delay="0"/>
                                          </p:stCondLst>
                                        </p:cTn>
                                        <p:tgtEl>
                                          <p:spTgt spid="143"/>
                                        </p:tgtEl>
                                        <p:attrNameLst>
                                          <p:attrName>style.visibility</p:attrName>
                                        </p:attrNameLst>
                                      </p:cBhvr>
                                      <p:to>
                                        <p:strVal val="visible"/>
                                      </p:to>
                                    </p:set>
                                    <p:animEffect transition="in" filter="fade">
                                      <p:cBhvr>
                                        <p:cTn id="87" dur="500"/>
                                        <p:tgtEl>
                                          <p:spTgt spid="14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1529"/>
                                        </p:tgtEl>
                                        <p:attrNameLst>
                                          <p:attrName>style.visibility</p:attrName>
                                        </p:attrNameLst>
                                      </p:cBhvr>
                                      <p:to>
                                        <p:strVal val="visible"/>
                                      </p:to>
                                    </p:set>
                                    <p:animEffect transition="in" filter="fade">
                                      <p:cBhvr>
                                        <p:cTn id="90" dur="500"/>
                                        <p:tgtEl>
                                          <p:spTgt spid="2152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21540"/>
                                        </p:tgtEl>
                                        <p:attrNameLst>
                                          <p:attrName>style.visibility</p:attrName>
                                        </p:attrNameLst>
                                      </p:cBhvr>
                                      <p:to>
                                        <p:strVal val="visible"/>
                                      </p:to>
                                    </p:set>
                                    <p:animEffect transition="in" filter="fade">
                                      <p:cBhvr>
                                        <p:cTn id="95" dur="500"/>
                                        <p:tgtEl>
                                          <p:spTgt spid="2154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1634"/>
                                        </p:tgtEl>
                                        <p:attrNameLst>
                                          <p:attrName>style.visibility</p:attrName>
                                        </p:attrNameLst>
                                      </p:cBhvr>
                                      <p:to>
                                        <p:strVal val="visible"/>
                                      </p:to>
                                    </p:set>
                                    <p:animEffect transition="in" filter="fade">
                                      <p:cBhvr>
                                        <p:cTn id="98" dur="500"/>
                                        <p:tgtEl>
                                          <p:spTgt spid="216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21538"/>
                                        </p:tgtEl>
                                        <p:attrNameLst>
                                          <p:attrName>style.visibility</p:attrName>
                                        </p:attrNameLst>
                                      </p:cBhvr>
                                      <p:to>
                                        <p:strVal val="visible"/>
                                      </p:to>
                                    </p:set>
                                    <p:animEffect transition="in" filter="fade">
                                      <p:cBhvr>
                                        <p:cTn id="101" dur="500"/>
                                        <p:tgtEl>
                                          <p:spTgt spid="21538"/>
                                        </p:tgtEl>
                                      </p:cBhvr>
                                    </p:animEffect>
                                  </p:childTnLst>
                                </p:cTn>
                              </p:par>
                              <p:par>
                                <p:cTn id="102" presetID="10" presetClass="entr" presetSubtype="0" fill="hold" nodeType="withEffect">
                                  <p:stCondLst>
                                    <p:cond delay="0"/>
                                  </p:stCondLst>
                                  <p:childTnLst>
                                    <p:set>
                                      <p:cBhvr>
                                        <p:cTn id="103" dur="1" fill="hold">
                                          <p:stCondLst>
                                            <p:cond delay="0"/>
                                          </p:stCondLst>
                                        </p:cTn>
                                        <p:tgtEl>
                                          <p:spTgt spid="153"/>
                                        </p:tgtEl>
                                        <p:attrNameLst>
                                          <p:attrName>style.visibility</p:attrName>
                                        </p:attrNameLst>
                                      </p:cBhvr>
                                      <p:to>
                                        <p:strVal val="visible"/>
                                      </p:to>
                                    </p:set>
                                    <p:animEffect transition="in" filter="fade">
                                      <p:cBhvr>
                                        <p:cTn id="104" dur="500"/>
                                        <p:tgtEl>
                                          <p:spTgt spid="153"/>
                                        </p:tgtEl>
                                      </p:cBhvr>
                                    </p:animEffect>
                                  </p:childTnLst>
                                </p:cTn>
                              </p:par>
                              <p:par>
                                <p:cTn id="105" presetID="10" presetClass="entr" presetSubtype="0" fill="hold" nodeType="withEffect">
                                  <p:stCondLst>
                                    <p:cond delay="0"/>
                                  </p:stCondLst>
                                  <p:childTnLst>
                                    <p:set>
                                      <p:cBhvr>
                                        <p:cTn id="106" dur="1" fill="hold">
                                          <p:stCondLst>
                                            <p:cond delay="0"/>
                                          </p:stCondLst>
                                        </p:cTn>
                                        <p:tgtEl>
                                          <p:spTgt spid="158"/>
                                        </p:tgtEl>
                                        <p:attrNameLst>
                                          <p:attrName>style.visibility</p:attrName>
                                        </p:attrNameLst>
                                      </p:cBhvr>
                                      <p:to>
                                        <p:strVal val="visible"/>
                                      </p:to>
                                    </p:set>
                                    <p:animEffect transition="in" filter="fade">
                                      <p:cBhvr>
                                        <p:cTn id="107" dur="500"/>
                                        <p:tgtEl>
                                          <p:spTgt spid="15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21542"/>
                                        </p:tgtEl>
                                        <p:attrNameLst>
                                          <p:attrName>style.visibility</p:attrName>
                                        </p:attrNameLst>
                                      </p:cBhvr>
                                      <p:to>
                                        <p:strVal val="visible"/>
                                      </p:to>
                                    </p:set>
                                    <p:animEffect transition="in" filter="fade">
                                      <p:cBhvr>
                                        <p:cTn id="110" dur="500"/>
                                        <p:tgtEl>
                                          <p:spTgt spid="2154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73"/>
                                        </p:tgtEl>
                                        <p:attrNameLst>
                                          <p:attrName>style.visibility</p:attrName>
                                        </p:attrNameLst>
                                      </p:cBhvr>
                                      <p:to>
                                        <p:strVal val="visible"/>
                                      </p:to>
                                    </p:set>
                                    <p:animEffect transition="in" filter="fade">
                                      <p:cBhvr>
                                        <p:cTn id="113" dur="500"/>
                                        <p:tgtEl>
                                          <p:spTgt spid="7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74"/>
                                        </p:tgtEl>
                                        <p:attrNameLst>
                                          <p:attrName>style.visibility</p:attrName>
                                        </p:attrNameLst>
                                      </p:cBhvr>
                                      <p:to>
                                        <p:strVal val="visible"/>
                                      </p:to>
                                    </p:set>
                                    <p:animEffect transition="in" filter="fade">
                                      <p:cBhvr>
                                        <p:cTn id="116"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8" grpId="0" animBg="1"/>
      <p:bldP spid="21529" grpId="0" animBg="1"/>
      <p:bldP spid="21530" grpId="0" animBg="1"/>
      <p:bldP spid="21531" grpId="0" animBg="1"/>
      <p:bldP spid="21532" grpId="0"/>
      <p:bldP spid="21533" grpId="0" animBg="1"/>
      <p:bldP spid="21534" grpId="0" animBg="1"/>
      <p:bldP spid="21535" grpId="0" animBg="1"/>
      <p:bldP spid="21538" grpId="0" animBg="1"/>
      <p:bldP spid="21539" grpId="0" animBg="1"/>
      <p:bldP spid="21540" grpId="0" animBg="1"/>
      <p:bldP spid="21541" grpId="0" animBg="1"/>
      <p:bldP spid="21542" grpId="0" animBg="1"/>
      <p:bldP spid="21543" grpId="0" animBg="1"/>
      <p:bldP spid="21546" grpId="0" animBg="1"/>
      <p:bldP spid="21547" grpId="0" animBg="1"/>
      <p:bldP spid="21548" grpId="0" animBg="1"/>
      <p:bldP spid="21631" grpId="0"/>
      <p:bldP spid="21633" grpId="0"/>
      <p:bldP spid="21634" grpId="0"/>
      <p:bldP spid="21635" grpId="0"/>
      <p:bldP spid="21636" grpId="0" animBg="1"/>
      <p:bldP spid="21637" grpId="0"/>
      <p:bldP spid="21638" grpId="0" animBg="1"/>
      <p:bldP spid="73" grpId="0" animBg="1"/>
      <p:bldP spid="7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Rot="1" noChangeArrowheads="1"/>
          </p:cNvSpPr>
          <p:nvPr>
            <p:ph type="title"/>
          </p:nvPr>
        </p:nvSpPr>
        <p:spPr>
          <a:xfrm>
            <a:off x="900113" y="60325"/>
            <a:ext cx="8048625" cy="555625"/>
          </a:xfrm>
        </p:spPr>
        <p:txBody>
          <a:bodyPr/>
          <a:lstStyle/>
          <a:p>
            <a:pPr>
              <a:defRPr/>
            </a:pPr>
            <a:r>
              <a:rPr lang="en-US" sz="2800" dirty="0" smtClean="0"/>
              <a:t>How the Two Countries Gain from Trade</a:t>
            </a:r>
            <a:endParaRPr lang="en-US" sz="2800" b="0" dirty="0" smtClean="0"/>
          </a:p>
        </p:txBody>
      </p:sp>
      <p:sp>
        <p:nvSpPr>
          <p:cNvPr id="612355" name="Text Box 3"/>
          <p:cNvSpPr txBox="1">
            <a:spLocks noChangeArrowheads="1"/>
          </p:cNvSpPr>
          <p:nvPr/>
        </p:nvSpPr>
        <p:spPr bwMode="auto">
          <a:xfrm>
            <a:off x="590872" y="3781424"/>
            <a:ext cx="851763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type="none" w="med" len="lg"/>
              </a14:hiddenLine>
            </a:ext>
          </a:extLst>
        </p:spPr>
        <p:txBody>
          <a:bodyPr wrap="square">
            <a:spAutoFit/>
          </a:bodyPr>
          <a:lstStyle>
            <a:lvl1pPr marL="1588" indent="-1588" eaLnBrk="0" hangingPunct="0">
              <a:defRPr>
                <a:solidFill>
                  <a:schemeClr val="tx1"/>
                </a:solidFill>
                <a:latin typeface="Calibri" pitchFamily="34" charset="0"/>
                <a:ea typeface="MS PGothic" pitchFamily="34" charset="-128"/>
              </a:defRPr>
            </a:lvl1pPr>
            <a:lvl2pPr marL="682625" indent="-225425"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r>
              <a:rPr lang="en-US" sz="2400" dirty="0" smtClean="0"/>
              <a:t>	   Both </a:t>
            </a:r>
            <a:r>
              <a:rPr lang="en-US" sz="2400" dirty="0"/>
              <a:t>the United States and Brazil experience gains from trade: </a:t>
            </a:r>
          </a:p>
          <a:p>
            <a:pPr lvl="1" eaLnBrk="1" hangingPunct="1">
              <a:buClr>
                <a:schemeClr val="tx1"/>
              </a:buClr>
              <a:buFont typeface="Wingdings" pitchFamily="2" charset="2"/>
              <a:buChar char="§"/>
            </a:pPr>
            <a:r>
              <a:rPr lang="en-US" sz="2400" dirty="0"/>
              <a:t>U.S. consumption of large jets increases by two, and its consumption of small jets increases by four. </a:t>
            </a:r>
          </a:p>
          <a:p>
            <a:pPr lvl="1" eaLnBrk="1" hangingPunct="1">
              <a:buClr>
                <a:schemeClr val="tx1"/>
              </a:buClr>
              <a:buFont typeface="Wingdings" pitchFamily="2" charset="2"/>
              <a:buChar char="§"/>
            </a:pPr>
            <a:r>
              <a:rPr lang="en-US" sz="2400" dirty="0"/>
              <a:t>Brazilian consumption of large jets increases by two, and his consumption of small jets increases by four</a:t>
            </a:r>
            <a:r>
              <a:rPr lang="en-US" sz="2400" dirty="0" smtClean="0"/>
              <a:t>.</a:t>
            </a:r>
          </a:p>
          <a:p>
            <a:pPr lvl="1" eaLnBrk="1" hangingPunct="1">
              <a:buClr>
                <a:schemeClr val="tx1"/>
              </a:buClr>
              <a:buFont typeface="Wingdings" pitchFamily="2" charset="2"/>
              <a:buChar char="§"/>
            </a:pPr>
            <a:r>
              <a:rPr lang="en-US" sz="2400" dirty="0" smtClean="0"/>
              <a:t>The US has a comparative advantage in producing large jets, and a comparative disadvantage in producing small jets</a:t>
            </a:r>
            <a:endParaRPr lang="en-US" sz="2400" dirty="0"/>
          </a:p>
        </p:txBody>
      </p:sp>
      <p:pic>
        <p:nvPicPr>
          <p:cNvPr id="2" name="Picture 1" descr="Krug3e_table_2_0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059" y="1268760"/>
            <a:ext cx="8014568" cy="1994737"/>
          </a:xfrm>
          <a:prstGeom prst="rect">
            <a:avLst/>
          </a:prstGeom>
        </p:spPr>
      </p:pic>
      <p:pic>
        <p:nvPicPr>
          <p:cNvPr id="6" name="Picture 5" descr="Krug3e_table_2_02.jpg"/>
          <p:cNvPicPr>
            <a:picLocks/>
          </p:cNvPicPr>
          <p:nvPr/>
        </p:nvPicPr>
        <p:blipFill>
          <a:blip r:embed="rId3">
            <a:extLst>
              <a:ext uri="{28A0092B-C50C-407E-A947-70E740481C1C}">
                <a14:useLocalDpi xmlns:a14="http://schemas.microsoft.com/office/drawing/2010/main" val="0"/>
              </a:ext>
            </a:extLst>
          </a:blip>
          <a:stretch>
            <a:fillRect/>
          </a:stretch>
        </p:blipFill>
        <p:spPr>
          <a:xfrm>
            <a:off x="827584" y="980728"/>
            <a:ext cx="8229600" cy="2457907"/>
          </a:xfrm>
          <a:prstGeom prst="rect">
            <a:avLst/>
          </a:prstGeom>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embraer.com/nva/img/airplanes/comercial/175.jpg"/>
          <p:cNvPicPr>
            <a:picLocks noChangeAspect="1" noChangeArrowheads="1"/>
          </p:cNvPicPr>
          <p:nvPr/>
        </p:nvPicPr>
        <p:blipFill rotWithShape="1">
          <a:blip r:embed="rId3" cstate="screen">
            <a:extLst>
              <a:ext uri="{28A0092B-C50C-407E-A947-70E740481C1C}">
                <a14:useLocalDpi xmlns:a14="http://schemas.microsoft.com/office/drawing/2010/main" val="0"/>
              </a:ext>
            </a:extLst>
          </a:blip>
          <a:srcRect/>
          <a:stretch/>
        </p:blipFill>
        <p:spPr bwMode="auto">
          <a:xfrm>
            <a:off x="6437312" y="5403916"/>
            <a:ext cx="2743200" cy="1553476"/>
          </a:xfrm>
          <a:prstGeom prst="rect">
            <a:avLst/>
          </a:prstGeom>
          <a:noFill/>
          <a:extLst>
            <a:ext uri="{909E8E84-426E-40DD-AFC4-6F175D3DCCD1}">
              <a14:hiddenFill xmlns:a14="http://schemas.microsoft.com/office/drawing/2010/main">
                <a:solidFill>
                  <a:srgbClr val="FFFFFF"/>
                </a:solidFill>
              </a14:hiddenFill>
            </a:ext>
          </a:extLst>
        </p:spPr>
      </p:pic>
      <p:sp>
        <p:nvSpPr>
          <p:cNvPr id="613378" name="Rectangle 2"/>
          <p:cNvSpPr>
            <a:spLocks noGrp="1" noRot="1" noChangeArrowheads="1"/>
          </p:cNvSpPr>
          <p:nvPr>
            <p:ph type="title"/>
          </p:nvPr>
        </p:nvSpPr>
        <p:spPr/>
        <p:txBody>
          <a:bodyPr/>
          <a:lstStyle/>
          <a:p>
            <a:r>
              <a:rPr lang="en-US" dirty="0" smtClean="0"/>
              <a:t>Comparative vs. Absolute Advantage</a:t>
            </a:r>
          </a:p>
        </p:txBody>
      </p:sp>
      <p:sp>
        <p:nvSpPr>
          <p:cNvPr id="23555" name="Rectangle 3"/>
          <p:cNvSpPr>
            <a:spLocks noGrp="1" noChangeArrowheads="1"/>
          </p:cNvSpPr>
          <p:nvPr>
            <p:ph type="body" idx="1"/>
          </p:nvPr>
        </p:nvSpPr>
        <p:spPr>
          <a:xfrm>
            <a:off x="827584" y="764704"/>
            <a:ext cx="8179246" cy="5760640"/>
          </a:xfrm>
        </p:spPr>
        <p:txBody>
          <a:bodyPr/>
          <a:lstStyle/>
          <a:p>
            <a:pPr marL="0" indent="0">
              <a:spcAft>
                <a:spcPts val="1200"/>
              </a:spcAft>
              <a:buNone/>
            </a:pPr>
            <a:r>
              <a:rPr lang="en-US" sz="2800" dirty="0"/>
              <a:t>Don’t confuse absolute and comparative </a:t>
            </a:r>
            <a:r>
              <a:rPr lang="en-US" sz="2800" dirty="0" smtClean="0"/>
              <a:t>advantage</a:t>
            </a:r>
            <a:endParaRPr lang="en-US" sz="2800" dirty="0"/>
          </a:p>
          <a:p>
            <a:pPr>
              <a:spcAft>
                <a:spcPts val="1200"/>
              </a:spcAft>
            </a:pPr>
            <a:r>
              <a:rPr lang="en-US" sz="2600" dirty="0"/>
              <a:t>An individual has an </a:t>
            </a:r>
            <a:r>
              <a:rPr lang="en-US" sz="2600" dirty="0">
                <a:solidFill>
                  <a:schemeClr val="accent2">
                    <a:lumMod val="50000"/>
                  </a:schemeClr>
                </a:solidFill>
              </a:rPr>
              <a:t>absolute advantage</a:t>
            </a:r>
            <a:r>
              <a:rPr lang="en-US" sz="2600" dirty="0"/>
              <a:t> in an activity if he or she can do it better than other people. </a:t>
            </a:r>
          </a:p>
          <a:p>
            <a:pPr>
              <a:spcAft>
                <a:spcPts val="1200"/>
              </a:spcAft>
            </a:pPr>
            <a:r>
              <a:rPr lang="en-US" sz="2600" dirty="0" smtClean="0"/>
              <a:t>An individual has a </a:t>
            </a:r>
            <a:r>
              <a:rPr lang="en-US" sz="2600" dirty="0" smtClean="0">
                <a:solidFill>
                  <a:schemeClr val="tx2"/>
                </a:solidFill>
              </a:rPr>
              <a:t>comparative advantage </a:t>
            </a:r>
            <a:r>
              <a:rPr lang="en-US" sz="2600" dirty="0" smtClean="0"/>
              <a:t>if the opportunity cost of producing the good is lower for that individual than for other people.</a:t>
            </a:r>
            <a:endParaRPr lang="en-US" sz="2600" dirty="0"/>
          </a:p>
          <a:p>
            <a:pPr>
              <a:spcAft>
                <a:spcPts val="1200"/>
              </a:spcAft>
            </a:pPr>
            <a:r>
              <a:rPr lang="en-US" sz="2600" dirty="0" smtClean="0"/>
              <a:t>Just </a:t>
            </a:r>
            <a:r>
              <a:rPr lang="en-US" sz="2600" dirty="0"/>
              <a:t>because the United States can produce </a:t>
            </a:r>
            <a:r>
              <a:rPr lang="en-US" sz="2600" dirty="0" smtClean="0"/>
              <a:t>more </a:t>
            </a:r>
            <a:r>
              <a:rPr lang="en-US" sz="2600" dirty="0"/>
              <a:t>of both goods doesn’t mean we’re better off without trade. </a:t>
            </a:r>
          </a:p>
          <a:p>
            <a:r>
              <a:rPr lang="en-US" sz="2600" dirty="0" smtClean="0"/>
              <a:t>Pay attention to opportunity costs: Since </a:t>
            </a:r>
            <a:r>
              <a:rPr lang="en-US" sz="2600" dirty="0"/>
              <a:t>it’s </a:t>
            </a:r>
            <a:r>
              <a:rPr lang="en-US" sz="2600" i="1" dirty="0"/>
              <a:t>cheaper</a:t>
            </a:r>
            <a:r>
              <a:rPr lang="en-US" sz="2600" dirty="0"/>
              <a:t> for Brazil to produce small jets </a:t>
            </a:r>
            <a:r>
              <a:rPr lang="en-US" sz="2600" dirty="0" smtClean="0"/>
              <a:t>the </a:t>
            </a:r>
            <a:r>
              <a:rPr lang="en-US" sz="2600" dirty="0"/>
              <a:t>United States will </a:t>
            </a:r>
            <a:r>
              <a:rPr lang="en-US" sz="2600" dirty="0" smtClean="0"/>
              <a:t>benefit from importing </a:t>
            </a:r>
            <a:r>
              <a:rPr lang="en-US" sz="2600" dirty="0"/>
              <a:t>small jets from Brazil</a:t>
            </a:r>
            <a:r>
              <a:rPr lang="en-US" sz="2600" dirty="0" smtClean="0"/>
              <a:t>.</a:t>
            </a:r>
            <a:endParaRPr lang="en-US" sz="2600"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Rectangle 2"/>
          <p:cNvSpPr>
            <a:spLocks noGrp="1" noRot="1" noChangeArrowheads="1"/>
          </p:cNvSpPr>
          <p:nvPr>
            <p:ph type="title"/>
          </p:nvPr>
        </p:nvSpPr>
        <p:spPr/>
        <p:txBody>
          <a:bodyPr/>
          <a:lstStyle/>
          <a:p>
            <a:r>
              <a:rPr lang="en-US" dirty="0" smtClean="0"/>
              <a:t>Practice: Check Your Understanding</a:t>
            </a:r>
          </a:p>
        </p:txBody>
      </p:sp>
      <p:sp>
        <p:nvSpPr>
          <p:cNvPr id="23555" name="Rectangle 3"/>
          <p:cNvSpPr>
            <a:spLocks noGrp="1" noChangeArrowheads="1"/>
          </p:cNvSpPr>
          <p:nvPr>
            <p:ph type="body" idx="1"/>
          </p:nvPr>
        </p:nvSpPr>
        <p:spPr>
          <a:xfrm>
            <a:off x="827584" y="764704"/>
            <a:ext cx="8179246" cy="5760640"/>
          </a:xfrm>
        </p:spPr>
        <p:txBody>
          <a:bodyPr/>
          <a:lstStyle/>
          <a:p>
            <a:r>
              <a:rPr lang="en-US" sz="2600" dirty="0"/>
              <a:t>Suppose that in Australia, it </a:t>
            </a:r>
            <a:r>
              <a:rPr lang="en-US" sz="2600" dirty="0" smtClean="0"/>
              <a:t>takes </a:t>
            </a:r>
            <a:r>
              <a:rPr lang="en-US" sz="2600" dirty="0"/>
              <a:t>a worker</a:t>
            </a:r>
            <a:r>
              <a:rPr lang="en-US" sz="2600" dirty="0" smtClean="0"/>
              <a:t> </a:t>
            </a:r>
            <a:r>
              <a:rPr lang="en-US" sz="2600" dirty="0"/>
              <a:t>2 hours to harvest </a:t>
            </a:r>
            <a:r>
              <a:rPr lang="en-US" sz="2600" dirty="0" smtClean="0"/>
              <a:t>10 kilos of </a:t>
            </a:r>
            <a:r>
              <a:rPr lang="en-US" sz="2600" dirty="0"/>
              <a:t>apples and 4 hours to harvest 10 kilos </a:t>
            </a:r>
            <a:r>
              <a:rPr lang="en-US" sz="2600" dirty="0" smtClean="0"/>
              <a:t>of </a:t>
            </a:r>
            <a:r>
              <a:rPr lang="en-US" sz="2600" dirty="0"/>
              <a:t>tomatoes. Suppose a worker in Brazil can harvest 10 kilos </a:t>
            </a:r>
            <a:r>
              <a:rPr lang="en-US" sz="2600" dirty="0" smtClean="0"/>
              <a:t>of </a:t>
            </a:r>
            <a:r>
              <a:rPr lang="en-US" sz="2600" dirty="0"/>
              <a:t>apples in 4 hours or 10 kilos </a:t>
            </a:r>
            <a:r>
              <a:rPr lang="en-US" sz="2600" dirty="0" smtClean="0"/>
              <a:t>of </a:t>
            </a:r>
            <a:r>
              <a:rPr lang="en-US" sz="2600" dirty="0"/>
              <a:t>tomatoes in 5 hours. Which of these statements is </a:t>
            </a:r>
            <a:r>
              <a:rPr lang="en-US" sz="2600" i="1" dirty="0"/>
              <a:t>TRUE</a:t>
            </a:r>
            <a:r>
              <a:rPr lang="en-US" sz="2600" dirty="0"/>
              <a:t>? </a:t>
            </a:r>
            <a:r>
              <a:rPr lang="en-US" sz="2600" dirty="0" smtClean="0"/>
              <a:t> </a:t>
            </a:r>
            <a:endParaRPr lang="en-US" sz="2600" dirty="0"/>
          </a:p>
          <a:p>
            <a:pPr marL="742950" indent="-742950">
              <a:buFont typeface="+mj-lt"/>
              <a:buAutoNum type="alphaLcParenR"/>
            </a:pPr>
            <a:r>
              <a:rPr lang="en-US" sz="2600" dirty="0"/>
              <a:t>Brazil has a comparative </a:t>
            </a:r>
            <a:r>
              <a:rPr lang="en-US" sz="2600" dirty="0" smtClean="0"/>
              <a:t>advantage</a:t>
            </a:r>
            <a:br>
              <a:rPr lang="en-US" sz="2600" dirty="0" smtClean="0"/>
            </a:br>
            <a:r>
              <a:rPr lang="en-US" sz="2600" dirty="0" smtClean="0"/>
              <a:t> </a:t>
            </a:r>
            <a:r>
              <a:rPr lang="en-US" sz="2600" dirty="0"/>
              <a:t>in producing tomatoes.</a:t>
            </a:r>
          </a:p>
          <a:p>
            <a:pPr marL="742950" indent="-742950">
              <a:buFont typeface="+mj-lt"/>
              <a:buAutoNum type="alphaLcParenR"/>
            </a:pPr>
            <a:r>
              <a:rPr lang="en-US" sz="2600" dirty="0"/>
              <a:t>Brazil has a comparative </a:t>
            </a:r>
            <a:r>
              <a:rPr lang="en-US" sz="2600" dirty="0" smtClean="0"/>
              <a:t>advantage</a:t>
            </a:r>
            <a:br>
              <a:rPr lang="en-US" sz="2600" dirty="0" smtClean="0"/>
            </a:br>
            <a:r>
              <a:rPr lang="en-US" sz="2600" dirty="0" smtClean="0"/>
              <a:t> </a:t>
            </a:r>
            <a:r>
              <a:rPr lang="en-US" sz="2600" dirty="0"/>
              <a:t>in producing apples.</a:t>
            </a:r>
          </a:p>
          <a:p>
            <a:pPr marL="742950" indent="-742950">
              <a:buFont typeface="+mj-lt"/>
              <a:buAutoNum type="alphaLcParenR"/>
            </a:pPr>
            <a:r>
              <a:rPr lang="en-US" sz="2600" dirty="0"/>
              <a:t>Brazil has an absolute advantage </a:t>
            </a:r>
            <a:r>
              <a:rPr lang="en-US" sz="2600" dirty="0" smtClean="0"/>
              <a:t>in</a:t>
            </a:r>
            <a:br>
              <a:rPr lang="en-US" sz="2600" dirty="0" smtClean="0"/>
            </a:br>
            <a:r>
              <a:rPr lang="en-US" sz="2600" dirty="0" smtClean="0"/>
              <a:t> </a:t>
            </a:r>
            <a:r>
              <a:rPr lang="en-US" sz="2600" dirty="0"/>
              <a:t>producing both goods.</a:t>
            </a:r>
          </a:p>
          <a:p>
            <a:pPr marL="742950" indent="-742950">
              <a:buFont typeface="+mj-lt"/>
              <a:buAutoNum type="alphaLcParenR"/>
            </a:pPr>
            <a:r>
              <a:rPr lang="en-US" sz="2600" dirty="0"/>
              <a:t>In trade between these two countries</a:t>
            </a:r>
            <a:r>
              <a:rPr lang="en-US" sz="2600" dirty="0" smtClean="0"/>
              <a:t>,</a:t>
            </a:r>
            <a:br>
              <a:rPr lang="en-US" sz="2600" dirty="0" smtClean="0"/>
            </a:br>
            <a:r>
              <a:rPr lang="en-US" sz="2600" dirty="0" smtClean="0"/>
              <a:t> </a:t>
            </a:r>
            <a:r>
              <a:rPr lang="en-US" sz="2600" dirty="0"/>
              <a:t>Australia would gain and Brazil would lose.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8119" y="2996952"/>
            <a:ext cx="1894361" cy="2505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725108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Suppose </a:t>
            </a:r>
            <a:r>
              <a:rPr lang="en-US" dirty="0" smtClean="0"/>
              <a:t>that in </a:t>
            </a:r>
            <a:r>
              <a:rPr lang="en-US" dirty="0"/>
              <a:t>Australia, it takes 2 hours </a:t>
            </a:r>
            <a:r>
              <a:rPr lang="en-US" dirty="0" smtClean="0"/>
              <a:t>to </a:t>
            </a:r>
            <a:r>
              <a:rPr lang="en-US" dirty="0"/>
              <a:t>harvest 10 bushels of apples and 4 hours </a:t>
            </a:r>
            <a:r>
              <a:rPr lang="en-US" dirty="0" smtClean="0"/>
              <a:t>to </a:t>
            </a:r>
            <a:r>
              <a:rPr lang="en-US" dirty="0"/>
              <a:t>harvest 10 bushels of tomatoes</a:t>
            </a:r>
            <a:r>
              <a:rPr lang="en-US" dirty="0" smtClean="0"/>
              <a:t>. Suppose a </a:t>
            </a:r>
            <a:r>
              <a:rPr lang="en-US" dirty="0"/>
              <a:t>worker in Brazil can harvest 10 bushels of apples in 4 hours or 10 bushels of tomatoes in 5 hours. Which of </a:t>
            </a:r>
            <a:r>
              <a:rPr lang="en-US" dirty="0" smtClean="0"/>
              <a:t>these statements </a:t>
            </a:r>
            <a:r>
              <a:rPr lang="en-US" dirty="0"/>
              <a:t>is </a:t>
            </a:r>
            <a:r>
              <a:rPr lang="en-US" i="1" dirty="0" smtClean="0"/>
              <a:t>TRUE</a:t>
            </a:r>
            <a:r>
              <a:rPr lang="en-US" dirty="0" smtClean="0"/>
              <a:t>? </a:t>
            </a:r>
          </a:p>
          <a:p>
            <a:pPr marL="742950" indent="-742950">
              <a:buFont typeface="+mj-lt"/>
              <a:buAutoNum type="alphaLcParenR"/>
            </a:pPr>
            <a:r>
              <a:rPr lang="en-US" dirty="0" smtClean="0"/>
              <a:t>Brazil </a:t>
            </a:r>
            <a:r>
              <a:rPr lang="en-US" dirty="0"/>
              <a:t>has a comparative advantage in producing </a:t>
            </a:r>
            <a:r>
              <a:rPr lang="en-US" dirty="0" smtClean="0"/>
              <a:t>tomatoes.</a:t>
            </a:r>
            <a:endParaRPr lang="en-US" dirty="0"/>
          </a:p>
          <a:p>
            <a:pPr marL="742950" indent="-742950">
              <a:buFont typeface="+mj-lt"/>
              <a:buAutoNum type="alphaLcParenR"/>
            </a:pPr>
            <a:r>
              <a:rPr lang="en-US" dirty="0" smtClean="0"/>
              <a:t>Brazil </a:t>
            </a:r>
            <a:r>
              <a:rPr lang="en-US" dirty="0"/>
              <a:t>has a comparative advantage in producing </a:t>
            </a:r>
            <a:r>
              <a:rPr lang="en-US" dirty="0" smtClean="0"/>
              <a:t>apples.</a:t>
            </a:r>
            <a:endParaRPr lang="en-US" dirty="0"/>
          </a:p>
          <a:p>
            <a:pPr marL="742950" indent="-742950">
              <a:buFont typeface="+mj-lt"/>
              <a:buAutoNum type="alphaLcParenR"/>
            </a:pPr>
            <a:r>
              <a:rPr lang="en-US" dirty="0" smtClean="0"/>
              <a:t>Brazil </a:t>
            </a:r>
            <a:r>
              <a:rPr lang="en-US" dirty="0"/>
              <a:t>has an absolute advantage in producing both </a:t>
            </a:r>
            <a:r>
              <a:rPr lang="en-US" dirty="0" smtClean="0"/>
              <a:t>goods.</a:t>
            </a:r>
            <a:endParaRPr lang="en-US" dirty="0"/>
          </a:p>
          <a:p>
            <a:pPr marL="742950" indent="-742950">
              <a:buFont typeface="+mj-lt"/>
              <a:buAutoNum type="alphaLcParenR"/>
            </a:pPr>
            <a:r>
              <a:rPr lang="en-US" dirty="0" smtClean="0"/>
              <a:t>In </a:t>
            </a:r>
            <a:r>
              <a:rPr lang="en-US" dirty="0"/>
              <a:t>trade between these two countries, Australia would gain and Brazil would lose.</a:t>
            </a:r>
          </a:p>
        </p:txBody>
      </p:sp>
    </p:spTree>
    <p:extLst>
      <p:ext uri="{BB962C8B-B14F-4D97-AF65-F5344CB8AC3E}">
        <p14:creationId xmlns:p14="http://schemas.microsoft.com/office/powerpoint/2010/main" val="9568455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00" fill="hold"/>
                                        <p:tgtEl>
                                          <p:spTgt spid="3">
                                            <p:txEl>
                                              <p:pRg st="1" end="1"/>
                                            </p:txEl>
                                          </p:spTgt>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Transactions: The Circular-Flow Diagram</a:t>
            </a:r>
          </a:p>
        </p:txBody>
      </p:sp>
      <p:sp>
        <p:nvSpPr>
          <p:cNvPr id="3" name="Content Placeholder 2"/>
          <p:cNvSpPr>
            <a:spLocks noGrp="1"/>
          </p:cNvSpPr>
          <p:nvPr>
            <p:ph idx="1"/>
          </p:nvPr>
        </p:nvSpPr>
        <p:spPr>
          <a:xfrm>
            <a:off x="1043608" y="692696"/>
            <a:ext cx="8024192" cy="871537"/>
          </a:xfrm>
        </p:spPr>
        <p:txBody>
          <a:bodyPr>
            <a:normAutofit lnSpcReduction="10000"/>
          </a:bodyPr>
          <a:lstStyle/>
          <a:p>
            <a:pPr marL="0" indent="0">
              <a:buNone/>
            </a:pPr>
            <a:r>
              <a:rPr lang="en-US" sz="2800" b="0" dirty="0" smtClean="0"/>
              <a:t>Production and trade in an economy can be represented  by the </a:t>
            </a:r>
            <a:r>
              <a:rPr lang="en-US" sz="2800" dirty="0" smtClean="0">
                <a:solidFill>
                  <a:srgbClr val="990033"/>
                </a:solidFill>
              </a:rPr>
              <a:t>circular-flow diagram:</a:t>
            </a:r>
          </a:p>
          <a:p>
            <a:endParaRPr lang="en-US" sz="2800" b="0" dirty="0" smtClean="0"/>
          </a:p>
          <a:p>
            <a:endParaRPr lang="en-US" sz="2800" b="0" dirty="0"/>
          </a:p>
          <a:p>
            <a:endParaRPr lang="en-US" sz="2800" b="0" dirty="0" smtClean="0"/>
          </a:p>
          <a:p>
            <a:endParaRPr lang="en-US" sz="2800" b="0" dirty="0"/>
          </a:p>
          <a:p>
            <a:endParaRPr lang="en-US" sz="2800" b="0" dirty="0" smtClean="0"/>
          </a:p>
        </p:txBody>
      </p:sp>
      <p:sp>
        <p:nvSpPr>
          <p:cNvPr id="5" name="Rectangle 4"/>
          <p:cNvSpPr/>
          <p:nvPr/>
        </p:nvSpPr>
        <p:spPr>
          <a:xfrm>
            <a:off x="3213463" y="3289419"/>
            <a:ext cx="1876587" cy="1754326"/>
          </a:xfrm>
          <a:prstGeom prst="rect">
            <a:avLst/>
          </a:prstGeom>
        </p:spPr>
        <p:txBody>
          <a:bodyPr wrap="square">
            <a:spAutoFit/>
          </a:bodyPr>
          <a:lstStyle/>
          <a:p>
            <a:r>
              <a:rPr lang="en-US" b="1" i="1" dirty="0" smtClean="0">
                <a:solidFill>
                  <a:schemeClr val="accent6">
                    <a:lumMod val="75000"/>
                  </a:schemeClr>
                </a:solidFill>
                <a:latin typeface="Candara" pitchFamily="34" charset="0"/>
              </a:rPr>
              <a:t>Trade in physical things such as goods, services, labor, and raw materials flows in one direction…</a:t>
            </a:r>
          </a:p>
        </p:txBody>
      </p:sp>
      <p:sp>
        <p:nvSpPr>
          <p:cNvPr id="6" name="Rectangle 5"/>
          <p:cNvSpPr/>
          <p:nvPr/>
        </p:nvSpPr>
        <p:spPr>
          <a:xfrm>
            <a:off x="5135925" y="3342145"/>
            <a:ext cx="1849436" cy="1754326"/>
          </a:xfrm>
          <a:prstGeom prst="rect">
            <a:avLst/>
          </a:prstGeom>
        </p:spPr>
        <p:txBody>
          <a:bodyPr wrap="square">
            <a:spAutoFit/>
          </a:bodyPr>
          <a:lstStyle/>
          <a:p>
            <a:r>
              <a:rPr lang="en-US" b="1" i="1" dirty="0" smtClean="0">
                <a:solidFill>
                  <a:srgbClr val="009999"/>
                </a:solidFill>
                <a:latin typeface="Candara" pitchFamily="34" charset="0"/>
              </a:rPr>
              <a:t>…and the money </a:t>
            </a:r>
            <a:r>
              <a:rPr lang="en-US" b="1" i="1" dirty="0">
                <a:solidFill>
                  <a:srgbClr val="009999"/>
                </a:solidFill>
                <a:latin typeface="Candara" pitchFamily="34" charset="0"/>
              </a:rPr>
              <a:t>that </a:t>
            </a:r>
            <a:r>
              <a:rPr lang="en-US" b="1" i="1" dirty="0" smtClean="0">
                <a:solidFill>
                  <a:srgbClr val="009999"/>
                </a:solidFill>
                <a:latin typeface="Candara" pitchFamily="34" charset="0"/>
              </a:rPr>
              <a:t>pays </a:t>
            </a:r>
            <a:r>
              <a:rPr lang="en-US" b="1" i="1" dirty="0">
                <a:solidFill>
                  <a:srgbClr val="009999"/>
                </a:solidFill>
                <a:latin typeface="Candara" pitchFamily="34" charset="0"/>
              </a:rPr>
              <a:t>for these physical </a:t>
            </a:r>
            <a:r>
              <a:rPr lang="en-US" b="1" i="1" dirty="0" smtClean="0">
                <a:solidFill>
                  <a:srgbClr val="009999"/>
                </a:solidFill>
                <a:latin typeface="Candara" pitchFamily="34" charset="0"/>
              </a:rPr>
              <a:t>things flows </a:t>
            </a:r>
            <a:r>
              <a:rPr lang="en-US" b="1" i="1" dirty="0">
                <a:solidFill>
                  <a:srgbClr val="009999"/>
                </a:solidFill>
                <a:latin typeface="Candara" pitchFamily="34" charset="0"/>
              </a:rPr>
              <a:t>in the opposite </a:t>
            </a:r>
            <a:r>
              <a:rPr lang="en-US" b="1" i="1" dirty="0" smtClean="0">
                <a:solidFill>
                  <a:srgbClr val="009999"/>
                </a:solidFill>
                <a:latin typeface="Candara" pitchFamily="34" charset="0"/>
              </a:rPr>
              <a:t>direction.</a:t>
            </a:r>
            <a:endParaRPr lang="en-US" b="1" i="1" dirty="0">
              <a:solidFill>
                <a:srgbClr val="009999"/>
              </a:solidFill>
              <a:latin typeface="Candara" pitchFamily="34" charset="0"/>
            </a:endParaRPr>
          </a:p>
        </p:txBody>
      </p:sp>
      <p:sp>
        <p:nvSpPr>
          <p:cNvPr id="7" name="Freeform 52"/>
          <p:cNvSpPr>
            <a:spLocks/>
          </p:cNvSpPr>
          <p:nvPr/>
        </p:nvSpPr>
        <p:spPr bwMode="auto">
          <a:xfrm>
            <a:off x="6137638" y="1907183"/>
            <a:ext cx="1985962" cy="1766888"/>
          </a:xfrm>
          <a:custGeom>
            <a:avLst/>
            <a:gdLst>
              <a:gd name="T0" fmla="*/ 0 w 328"/>
              <a:gd name="T1" fmla="*/ 0 h 291"/>
              <a:gd name="T2" fmla="*/ 218 w 328"/>
              <a:gd name="T3" fmla="*/ 0 h 291"/>
              <a:gd name="T4" fmla="*/ 328 w 328"/>
              <a:gd name="T5" fmla="*/ 110 h 291"/>
              <a:gd name="T6" fmla="*/ 328 w 328"/>
              <a:gd name="T7" fmla="*/ 291 h 291"/>
            </a:gdLst>
            <a:ahLst/>
            <a:cxnLst>
              <a:cxn ang="0">
                <a:pos x="T0" y="T1"/>
              </a:cxn>
              <a:cxn ang="0">
                <a:pos x="T2" y="T3"/>
              </a:cxn>
              <a:cxn ang="0">
                <a:pos x="T4" y="T5"/>
              </a:cxn>
              <a:cxn ang="0">
                <a:pos x="T6" y="T7"/>
              </a:cxn>
            </a:cxnLst>
            <a:rect l="0" t="0" r="r" b="b"/>
            <a:pathLst>
              <a:path w="328" h="291">
                <a:moveTo>
                  <a:pt x="0" y="0"/>
                </a:moveTo>
                <a:cubicBezTo>
                  <a:pt x="218" y="0"/>
                  <a:pt x="218" y="0"/>
                  <a:pt x="218" y="0"/>
                </a:cubicBezTo>
                <a:cubicBezTo>
                  <a:pt x="279" y="0"/>
                  <a:pt x="328" y="49"/>
                  <a:pt x="328" y="110"/>
                </a:cubicBezTo>
                <a:cubicBezTo>
                  <a:pt x="328" y="291"/>
                  <a:pt x="328" y="291"/>
                  <a:pt x="328" y="291"/>
                </a:cubicBezTo>
              </a:path>
            </a:pathLst>
          </a:custGeom>
          <a:noFill/>
          <a:ln w="90488" cap="flat">
            <a:solidFill>
              <a:srgbClr val="00B5AD"/>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 name="Freeform 53"/>
          <p:cNvSpPr>
            <a:spLocks/>
          </p:cNvSpPr>
          <p:nvPr/>
        </p:nvSpPr>
        <p:spPr bwMode="auto">
          <a:xfrm>
            <a:off x="5980476" y="1700808"/>
            <a:ext cx="249238" cy="406400"/>
          </a:xfrm>
          <a:custGeom>
            <a:avLst/>
            <a:gdLst>
              <a:gd name="T0" fmla="*/ 29 w 41"/>
              <a:gd name="T1" fmla="*/ 34 h 67"/>
              <a:gd name="T2" fmla="*/ 41 w 41"/>
              <a:gd name="T3" fmla="*/ 67 h 67"/>
              <a:gd name="T4" fmla="*/ 0 w 41"/>
              <a:gd name="T5" fmla="*/ 34 h 67"/>
              <a:gd name="T6" fmla="*/ 41 w 41"/>
              <a:gd name="T7" fmla="*/ 0 h 67"/>
              <a:gd name="T8" fmla="*/ 29 w 41"/>
              <a:gd name="T9" fmla="*/ 34 h 67"/>
            </a:gdLst>
            <a:ahLst/>
            <a:cxnLst>
              <a:cxn ang="0">
                <a:pos x="T0" y="T1"/>
              </a:cxn>
              <a:cxn ang="0">
                <a:pos x="T2" y="T3"/>
              </a:cxn>
              <a:cxn ang="0">
                <a:pos x="T4" y="T5"/>
              </a:cxn>
              <a:cxn ang="0">
                <a:pos x="T6" y="T7"/>
              </a:cxn>
              <a:cxn ang="0">
                <a:pos x="T8" y="T9"/>
              </a:cxn>
            </a:cxnLst>
            <a:rect l="0" t="0" r="r" b="b"/>
            <a:pathLst>
              <a:path w="41" h="67">
                <a:moveTo>
                  <a:pt x="29" y="34"/>
                </a:moveTo>
                <a:cubicBezTo>
                  <a:pt x="37" y="41"/>
                  <a:pt x="40" y="57"/>
                  <a:pt x="41" y="67"/>
                </a:cubicBezTo>
                <a:cubicBezTo>
                  <a:pt x="30" y="53"/>
                  <a:pt x="16" y="41"/>
                  <a:pt x="0" y="34"/>
                </a:cubicBezTo>
                <a:cubicBezTo>
                  <a:pt x="16" y="27"/>
                  <a:pt x="30" y="14"/>
                  <a:pt x="41" y="0"/>
                </a:cubicBezTo>
                <a:cubicBezTo>
                  <a:pt x="40" y="11"/>
                  <a:pt x="37" y="25"/>
                  <a:pt x="29" y="34"/>
                </a:cubicBezTo>
                <a:close/>
              </a:path>
            </a:pathLst>
          </a:custGeom>
          <a:solidFill>
            <a:srgbClr val="00B5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54"/>
          <p:cNvSpPr>
            <a:spLocks/>
          </p:cNvSpPr>
          <p:nvPr/>
        </p:nvSpPr>
        <p:spPr bwMode="auto">
          <a:xfrm>
            <a:off x="2072050" y="1907183"/>
            <a:ext cx="2270125" cy="1589088"/>
          </a:xfrm>
          <a:custGeom>
            <a:avLst/>
            <a:gdLst>
              <a:gd name="T0" fmla="*/ 0 w 375"/>
              <a:gd name="T1" fmla="*/ 262 h 262"/>
              <a:gd name="T2" fmla="*/ 0 w 375"/>
              <a:gd name="T3" fmla="*/ 110 h 262"/>
              <a:gd name="T4" fmla="*/ 110 w 375"/>
              <a:gd name="T5" fmla="*/ 0 h 262"/>
              <a:gd name="T6" fmla="*/ 375 w 375"/>
              <a:gd name="T7" fmla="*/ 0 h 262"/>
            </a:gdLst>
            <a:ahLst/>
            <a:cxnLst>
              <a:cxn ang="0">
                <a:pos x="T0" y="T1"/>
              </a:cxn>
              <a:cxn ang="0">
                <a:pos x="T2" y="T3"/>
              </a:cxn>
              <a:cxn ang="0">
                <a:pos x="T4" y="T5"/>
              </a:cxn>
              <a:cxn ang="0">
                <a:pos x="T6" y="T7"/>
              </a:cxn>
            </a:cxnLst>
            <a:rect l="0" t="0" r="r" b="b"/>
            <a:pathLst>
              <a:path w="375" h="262">
                <a:moveTo>
                  <a:pt x="0" y="262"/>
                </a:moveTo>
                <a:cubicBezTo>
                  <a:pt x="0" y="110"/>
                  <a:pt x="0" y="110"/>
                  <a:pt x="0" y="110"/>
                </a:cubicBezTo>
                <a:cubicBezTo>
                  <a:pt x="0" y="49"/>
                  <a:pt x="49" y="0"/>
                  <a:pt x="110" y="0"/>
                </a:cubicBezTo>
                <a:cubicBezTo>
                  <a:pt x="375" y="0"/>
                  <a:pt x="375" y="0"/>
                  <a:pt x="375" y="0"/>
                </a:cubicBezTo>
              </a:path>
            </a:pathLst>
          </a:custGeom>
          <a:noFill/>
          <a:ln w="90488" cap="flat">
            <a:solidFill>
              <a:srgbClr val="00B5AD"/>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 name="Freeform 55"/>
          <p:cNvSpPr>
            <a:spLocks/>
          </p:cNvSpPr>
          <p:nvPr/>
        </p:nvSpPr>
        <p:spPr bwMode="auto">
          <a:xfrm>
            <a:off x="1864088" y="3399433"/>
            <a:ext cx="407987" cy="249238"/>
          </a:xfrm>
          <a:custGeom>
            <a:avLst/>
            <a:gdLst>
              <a:gd name="T0" fmla="*/ 34 w 67"/>
              <a:gd name="T1" fmla="*/ 12 h 41"/>
              <a:gd name="T2" fmla="*/ 67 w 67"/>
              <a:gd name="T3" fmla="*/ 0 h 41"/>
              <a:gd name="T4" fmla="*/ 34 w 67"/>
              <a:gd name="T5" fmla="*/ 41 h 41"/>
              <a:gd name="T6" fmla="*/ 0 w 67"/>
              <a:gd name="T7" fmla="*/ 0 h 41"/>
              <a:gd name="T8" fmla="*/ 34 w 67"/>
              <a:gd name="T9" fmla="*/ 12 h 41"/>
            </a:gdLst>
            <a:ahLst/>
            <a:cxnLst>
              <a:cxn ang="0">
                <a:pos x="T0" y="T1"/>
              </a:cxn>
              <a:cxn ang="0">
                <a:pos x="T2" y="T3"/>
              </a:cxn>
              <a:cxn ang="0">
                <a:pos x="T4" y="T5"/>
              </a:cxn>
              <a:cxn ang="0">
                <a:pos x="T6" y="T7"/>
              </a:cxn>
              <a:cxn ang="0">
                <a:pos x="T8" y="T9"/>
              </a:cxn>
            </a:cxnLst>
            <a:rect l="0" t="0" r="r" b="b"/>
            <a:pathLst>
              <a:path w="67" h="41">
                <a:moveTo>
                  <a:pt x="34" y="12"/>
                </a:moveTo>
                <a:cubicBezTo>
                  <a:pt x="41" y="4"/>
                  <a:pt x="57" y="0"/>
                  <a:pt x="67" y="0"/>
                </a:cubicBezTo>
                <a:cubicBezTo>
                  <a:pt x="53" y="11"/>
                  <a:pt x="41" y="24"/>
                  <a:pt x="34" y="41"/>
                </a:cubicBezTo>
                <a:cubicBezTo>
                  <a:pt x="27" y="24"/>
                  <a:pt x="14" y="11"/>
                  <a:pt x="0" y="0"/>
                </a:cubicBezTo>
                <a:cubicBezTo>
                  <a:pt x="12" y="1"/>
                  <a:pt x="25" y="4"/>
                  <a:pt x="34" y="12"/>
                </a:cubicBezTo>
                <a:close/>
              </a:path>
            </a:pathLst>
          </a:custGeom>
          <a:solidFill>
            <a:srgbClr val="00B5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56"/>
          <p:cNvSpPr>
            <a:spLocks/>
          </p:cNvSpPr>
          <p:nvPr/>
        </p:nvSpPr>
        <p:spPr bwMode="auto">
          <a:xfrm>
            <a:off x="5894750" y="2465983"/>
            <a:ext cx="1738313" cy="1008063"/>
          </a:xfrm>
          <a:custGeom>
            <a:avLst/>
            <a:gdLst>
              <a:gd name="T0" fmla="*/ 287 w 287"/>
              <a:gd name="T1" fmla="*/ 166 h 166"/>
              <a:gd name="T2" fmla="*/ 287 w 287"/>
              <a:gd name="T3" fmla="*/ 110 h 166"/>
              <a:gd name="T4" fmla="*/ 177 w 287"/>
              <a:gd name="T5" fmla="*/ 0 h 166"/>
              <a:gd name="T6" fmla="*/ 0 w 287"/>
              <a:gd name="T7" fmla="*/ 0 h 166"/>
            </a:gdLst>
            <a:ahLst/>
            <a:cxnLst>
              <a:cxn ang="0">
                <a:pos x="T0" y="T1"/>
              </a:cxn>
              <a:cxn ang="0">
                <a:pos x="T2" y="T3"/>
              </a:cxn>
              <a:cxn ang="0">
                <a:pos x="T4" y="T5"/>
              </a:cxn>
              <a:cxn ang="0">
                <a:pos x="T6" y="T7"/>
              </a:cxn>
            </a:cxnLst>
            <a:rect l="0" t="0" r="r" b="b"/>
            <a:pathLst>
              <a:path w="287" h="166">
                <a:moveTo>
                  <a:pt x="287" y="166"/>
                </a:moveTo>
                <a:cubicBezTo>
                  <a:pt x="287" y="110"/>
                  <a:pt x="287" y="110"/>
                  <a:pt x="287" y="110"/>
                </a:cubicBezTo>
                <a:cubicBezTo>
                  <a:pt x="287" y="49"/>
                  <a:pt x="237" y="0"/>
                  <a:pt x="177" y="0"/>
                </a:cubicBezTo>
                <a:cubicBezTo>
                  <a:pt x="0" y="0"/>
                  <a:pt x="0" y="0"/>
                  <a:pt x="0" y="0"/>
                </a:cubicBezTo>
              </a:path>
            </a:pathLst>
          </a:custGeom>
          <a:noFill/>
          <a:ln w="90488" cap="flat">
            <a:solidFill>
              <a:srgbClr val="FFCD67"/>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57"/>
          <p:cNvSpPr>
            <a:spLocks/>
          </p:cNvSpPr>
          <p:nvPr/>
        </p:nvSpPr>
        <p:spPr bwMode="auto">
          <a:xfrm>
            <a:off x="7428275" y="3399433"/>
            <a:ext cx="404813" cy="249238"/>
          </a:xfrm>
          <a:custGeom>
            <a:avLst/>
            <a:gdLst>
              <a:gd name="T0" fmla="*/ 34 w 67"/>
              <a:gd name="T1" fmla="*/ 12 h 41"/>
              <a:gd name="T2" fmla="*/ 0 w 67"/>
              <a:gd name="T3" fmla="*/ 0 h 41"/>
              <a:gd name="T4" fmla="*/ 34 w 67"/>
              <a:gd name="T5" fmla="*/ 41 h 41"/>
              <a:gd name="T6" fmla="*/ 67 w 67"/>
              <a:gd name="T7" fmla="*/ 0 h 41"/>
              <a:gd name="T8" fmla="*/ 34 w 67"/>
              <a:gd name="T9" fmla="*/ 12 h 41"/>
            </a:gdLst>
            <a:ahLst/>
            <a:cxnLst>
              <a:cxn ang="0">
                <a:pos x="T0" y="T1"/>
              </a:cxn>
              <a:cxn ang="0">
                <a:pos x="T2" y="T3"/>
              </a:cxn>
              <a:cxn ang="0">
                <a:pos x="T4" y="T5"/>
              </a:cxn>
              <a:cxn ang="0">
                <a:pos x="T6" y="T7"/>
              </a:cxn>
              <a:cxn ang="0">
                <a:pos x="T8" y="T9"/>
              </a:cxn>
            </a:cxnLst>
            <a:rect l="0" t="0" r="r" b="b"/>
            <a:pathLst>
              <a:path w="67" h="41">
                <a:moveTo>
                  <a:pt x="34" y="12"/>
                </a:moveTo>
                <a:cubicBezTo>
                  <a:pt x="26" y="4"/>
                  <a:pt x="11" y="0"/>
                  <a:pt x="0" y="0"/>
                </a:cubicBezTo>
                <a:cubicBezTo>
                  <a:pt x="15" y="11"/>
                  <a:pt x="27" y="24"/>
                  <a:pt x="34" y="41"/>
                </a:cubicBezTo>
                <a:cubicBezTo>
                  <a:pt x="41" y="24"/>
                  <a:pt x="54" y="11"/>
                  <a:pt x="67" y="0"/>
                </a:cubicBezTo>
                <a:cubicBezTo>
                  <a:pt x="56" y="1"/>
                  <a:pt x="42" y="4"/>
                  <a:pt x="34" y="12"/>
                </a:cubicBezTo>
                <a:close/>
              </a:path>
            </a:pathLst>
          </a:custGeom>
          <a:solidFill>
            <a:srgbClr val="FFCD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58"/>
          <p:cNvSpPr>
            <a:spLocks/>
          </p:cNvSpPr>
          <p:nvPr/>
        </p:nvSpPr>
        <p:spPr bwMode="auto">
          <a:xfrm>
            <a:off x="2562588" y="4832946"/>
            <a:ext cx="1730375" cy="1087437"/>
          </a:xfrm>
          <a:custGeom>
            <a:avLst/>
            <a:gdLst>
              <a:gd name="T0" fmla="*/ 0 w 286"/>
              <a:gd name="T1" fmla="*/ 0 h 179"/>
              <a:gd name="T2" fmla="*/ 0 w 286"/>
              <a:gd name="T3" fmla="*/ 69 h 179"/>
              <a:gd name="T4" fmla="*/ 110 w 286"/>
              <a:gd name="T5" fmla="*/ 179 h 179"/>
              <a:gd name="T6" fmla="*/ 286 w 286"/>
              <a:gd name="T7" fmla="*/ 179 h 179"/>
            </a:gdLst>
            <a:ahLst/>
            <a:cxnLst>
              <a:cxn ang="0">
                <a:pos x="T0" y="T1"/>
              </a:cxn>
              <a:cxn ang="0">
                <a:pos x="T2" y="T3"/>
              </a:cxn>
              <a:cxn ang="0">
                <a:pos x="T4" y="T5"/>
              </a:cxn>
              <a:cxn ang="0">
                <a:pos x="T6" y="T7"/>
              </a:cxn>
            </a:cxnLst>
            <a:rect l="0" t="0" r="r" b="b"/>
            <a:pathLst>
              <a:path w="286" h="179">
                <a:moveTo>
                  <a:pt x="0" y="0"/>
                </a:moveTo>
                <a:cubicBezTo>
                  <a:pt x="0" y="69"/>
                  <a:pt x="0" y="69"/>
                  <a:pt x="0" y="69"/>
                </a:cubicBezTo>
                <a:cubicBezTo>
                  <a:pt x="0" y="130"/>
                  <a:pt x="50" y="179"/>
                  <a:pt x="110" y="179"/>
                </a:cubicBezTo>
                <a:cubicBezTo>
                  <a:pt x="286" y="179"/>
                  <a:pt x="286" y="179"/>
                  <a:pt x="286" y="179"/>
                </a:cubicBezTo>
              </a:path>
            </a:pathLst>
          </a:custGeom>
          <a:noFill/>
          <a:ln w="90488" cap="flat">
            <a:solidFill>
              <a:srgbClr val="FFCD67"/>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59"/>
          <p:cNvSpPr>
            <a:spLocks/>
          </p:cNvSpPr>
          <p:nvPr/>
        </p:nvSpPr>
        <p:spPr bwMode="auto">
          <a:xfrm>
            <a:off x="2362563" y="4686896"/>
            <a:ext cx="404812" cy="249237"/>
          </a:xfrm>
          <a:custGeom>
            <a:avLst/>
            <a:gdLst>
              <a:gd name="T0" fmla="*/ 33 w 67"/>
              <a:gd name="T1" fmla="*/ 29 h 41"/>
              <a:gd name="T2" fmla="*/ 67 w 67"/>
              <a:gd name="T3" fmla="*/ 41 h 41"/>
              <a:gd name="T4" fmla="*/ 33 w 67"/>
              <a:gd name="T5" fmla="*/ 0 h 41"/>
              <a:gd name="T6" fmla="*/ 0 w 67"/>
              <a:gd name="T7" fmla="*/ 41 h 41"/>
              <a:gd name="T8" fmla="*/ 33 w 67"/>
              <a:gd name="T9" fmla="*/ 29 h 41"/>
            </a:gdLst>
            <a:ahLst/>
            <a:cxnLst>
              <a:cxn ang="0">
                <a:pos x="T0" y="T1"/>
              </a:cxn>
              <a:cxn ang="0">
                <a:pos x="T2" y="T3"/>
              </a:cxn>
              <a:cxn ang="0">
                <a:pos x="T4" y="T5"/>
              </a:cxn>
              <a:cxn ang="0">
                <a:pos x="T6" y="T7"/>
              </a:cxn>
              <a:cxn ang="0">
                <a:pos x="T8" y="T9"/>
              </a:cxn>
            </a:cxnLst>
            <a:rect l="0" t="0" r="r" b="b"/>
            <a:pathLst>
              <a:path w="67" h="41">
                <a:moveTo>
                  <a:pt x="33" y="29"/>
                </a:moveTo>
                <a:cubicBezTo>
                  <a:pt x="41" y="37"/>
                  <a:pt x="56" y="40"/>
                  <a:pt x="67" y="41"/>
                </a:cubicBezTo>
                <a:cubicBezTo>
                  <a:pt x="52" y="30"/>
                  <a:pt x="40" y="16"/>
                  <a:pt x="33" y="0"/>
                </a:cubicBezTo>
                <a:cubicBezTo>
                  <a:pt x="26" y="16"/>
                  <a:pt x="13" y="30"/>
                  <a:pt x="0" y="41"/>
                </a:cubicBezTo>
                <a:cubicBezTo>
                  <a:pt x="11" y="40"/>
                  <a:pt x="25" y="37"/>
                  <a:pt x="33" y="29"/>
                </a:cubicBezTo>
                <a:close/>
              </a:path>
            </a:pathLst>
          </a:custGeom>
          <a:solidFill>
            <a:srgbClr val="FFCD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60"/>
          <p:cNvSpPr>
            <a:spLocks/>
          </p:cNvSpPr>
          <p:nvPr/>
        </p:nvSpPr>
        <p:spPr bwMode="auto">
          <a:xfrm>
            <a:off x="2072050" y="4663083"/>
            <a:ext cx="1993900" cy="1814513"/>
          </a:xfrm>
          <a:custGeom>
            <a:avLst/>
            <a:gdLst>
              <a:gd name="T0" fmla="*/ 329 w 329"/>
              <a:gd name="T1" fmla="*/ 299 h 299"/>
              <a:gd name="T2" fmla="*/ 110 w 329"/>
              <a:gd name="T3" fmla="*/ 299 h 299"/>
              <a:gd name="T4" fmla="*/ 0 w 329"/>
              <a:gd name="T5" fmla="*/ 189 h 299"/>
              <a:gd name="T6" fmla="*/ 0 w 329"/>
              <a:gd name="T7" fmla="*/ 0 h 299"/>
            </a:gdLst>
            <a:ahLst/>
            <a:cxnLst>
              <a:cxn ang="0">
                <a:pos x="T0" y="T1"/>
              </a:cxn>
              <a:cxn ang="0">
                <a:pos x="T2" y="T3"/>
              </a:cxn>
              <a:cxn ang="0">
                <a:pos x="T4" y="T5"/>
              </a:cxn>
              <a:cxn ang="0">
                <a:pos x="T6" y="T7"/>
              </a:cxn>
            </a:cxnLst>
            <a:rect l="0" t="0" r="r" b="b"/>
            <a:pathLst>
              <a:path w="329" h="299">
                <a:moveTo>
                  <a:pt x="329" y="299"/>
                </a:moveTo>
                <a:cubicBezTo>
                  <a:pt x="110" y="299"/>
                  <a:pt x="110" y="299"/>
                  <a:pt x="110" y="299"/>
                </a:cubicBezTo>
                <a:cubicBezTo>
                  <a:pt x="49" y="299"/>
                  <a:pt x="0" y="250"/>
                  <a:pt x="0" y="189"/>
                </a:cubicBezTo>
                <a:cubicBezTo>
                  <a:pt x="0" y="0"/>
                  <a:pt x="0" y="0"/>
                  <a:pt x="0" y="0"/>
                </a:cubicBezTo>
              </a:path>
            </a:pathLst>
          </a:custGeom>
          <a:noFill/>
          <a:ln w="90488" cap="flat">
            <a:solidFill>
              <a:srgbClr val="00B5AD"/>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61"/>
          <p:cNvSpPr>
            <a:spLocks/>
          </p:cNvSpPr>
          <p:nvPr/>
        </p:nvSpPr>
        <p:spPr bwMode="auto">
          <a:xfrm>
            <a:off x="3972288" y="6277571"/>
            <a:ext cx="249237" cy="404812"/>
          </a:xfrm>
          <a:custGeom>
            <a:avLst/>
            <a:gdLst>
              <a:gd name="T0" fmla="*/ 12 w 41"/>
              <a:gd name="T1" fmla="*/ 33 h 67"/>
              <a:gd name="T2" fmla="*/ 0 w 41"/>
              <a:gd name="T3" fmla="*/ 0 h 67"/>
              <a:gd name="T4" fmla="*/ 41 w 41"/>
              <a:gd name="T5" fmla="*/ 33 h 67"/>
              <a:gd name="T6" fmla="*/ 0 w 41"/>
              <a:gd name="T7" fmla="*/ 67 h 67"/>
              <a:gd name="T8" fmla="*/ 12 w 41"/>
              <a:gd name="T9" fmla="*/ 33 h 67"/>
            </a:gdLst>
            <a:ahLst/>
            <a:cxnLst>
              <a:cxn ang="0">
                <a:pos x="T0" y="T1"/>
              </a:cxn>
              <a:cxn ang="0">
                <a:pos x="T2" y="T3"/>
              </a:cxn>
              <a:cxn ang="0">
                <a:pos x="T4" y="T5"/>
              </a:cxn>
              <a:cxn ang="0">
                <a:pos x="T6" y="T7"/>
              </a:cxn>
              <a:cxn ang="0">
                <a:pos x="T8" y="T9"/>
              </a:cxn>
            </a:cxnLst>
            <a:rect l="0" t="0" r="r" b="b"/>
            <a:pathLst>
              <a:path w="41" h="67">
                <a:moveTo>
                  <a:pt x="12" y="33"/>
                </a:moveTo>
                <a:cubicBezTo>
                  <a:pt x="4" y="26"/>
                  <a:pt x="1" y="10"/>
                  <a:pt x="0" y="0"/>
                </a:cubicBezTo>
                <a:cubicBezTo>
                  <a:pt x="11" y="14"/>
                  <a:pt x="25" y="26"/>
                  <a:pt x="41" y="33"/>
                </a:cubicBezTo>
                <a:cubicBezTo>
                  <a:pt x="25" y="40"/>
                  <a:pt x="11" y="53"/>
                  <a:pt x="0" y="67"/>
                </a:cubicBezTo>
                <a:cubicBezTo>
                  <a:pt x="1" y="55"/>
                  <a:pt x="4" y="42"/>
                  <a:pt x="12" y="33"/>
                </a:cubicBezTo>
                <a:close/>
              </a:path>
            </a:pathLst>
          </a:custGeom>
          <a:solidFill>
            <a:srgbClr val="00B5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62"/>
          <p:cNvSpPr>
            <a:spLocks/>
          </p:cNvSpPr>
          <p:nvPr/>
        </p:nvSpPr>
        <p:spPr bwMode="auto">
          <a:xfrm>
            <a:off x="5888400" y="4825008"/>
            <a:ext cx="2235200" cy="1652588"/>
          </a:xfrm>
          <a:custGeom>
            <a:avLst/>
            <a:gdLst>
              <a:gd name="T0" fmla="*/ 369 w 369"/>
              <a:gd name="T1" fmla="*/ 0 h 272"/>
              <a:gd name="T2" fmla="*/ 369 w 369"/>
              <a:gd name="T3" fmla="*/ 162 h 272"/>
              <a:gd name="T4" fmla="*/ 259 w 369"/>
              <a:gd name="T5" fmla="*/ 272 h 272"/>
              <a:gd name="T6" fmla="*/ 0 w 369"/>
              <a:gd name="T7" fmla="*/ 272 h 272"/>
            </a:gdLst>
            <a:ahLst/>
            <a:cxnLst>
              <a:cxn ang="0">
                <a:pos x="T0" y="T1"/>
              </a:cxn>
              <a:cxn ang="0">
                <a:pos x="T2" y="T3"/>
              </a:cxn>
              <a:cxn ang="0">
                <a:pos x="T4" y="T5"/>
              </a:cxn>
              <a:cxn ang="0">
                <a:pos x="T6" y="T7"/>
              </a:cxn>
            </a:cxnLst>
            <a:rect l="0" t="0" r="r" b="b"/>
            <a:pathLst>
              <a:path w="369" h="272">
                <a:moveTo>
                  <a:pt x="369" y="0"/>
                </a:moveTo>
                <a:cubicBezTo>
                  <a:pt x="369" y="162"/>
                  <a:pt x="369" y="162"/>
                  <a:pt x="369" y="162"/>
                </a:cubicBezTo>
                <a:cubicBezTo>
                  <a:pt x="369" y="223"/>
                  <a:pt x="320" y="272"/>
                  <a:pt x="259" y="272"/>
                </a:cubicBezTo>
                <a:cubicBezTo>
                  <a:pt x="0" y="272"/>
                  <a:pt x="0" y="272"/>
                  <a:pt x="0" y="272"/>
                </a:cubicBezTo>
              </a:path>
            </a:pathLst>
          </a:custGeom>
          <a:noFill/>
          <a:ln w="90488" cap="flat">
            <a:solidFill>
              <a:srgbClr val="00B5AD"/>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63"/>
          <p:cNvSpPr>
            <a:spLocks/>
          </p:cNvSpPr>
          <p:nvPr/>
        </p:nvSpPr>
        <p:spPr bwMode="auto">
          <a:xfrm>
            <a:off x="7923575" y="4686896"/>
            <a:ext cx="407988" cy="249237"/>
          </a:xfrm>
          <a:custGeom>
            <a:avLst/>
            <a:gdLst>
              <a:gd name="T0" fmla="*/ 33 w 67"/>
              <a:gd name="T1" fmla="*/ 29 h 41"/>
              <a:gd name="T2" fmla="*/ 0 w 67"/>
              <a:gd name="T3" fmla="*/ 41 h 41"/>
              <a:gd name="T4" fmla="*/ 33 w 67"/>
              <a:gd name="T5" fmla="*/ 0 h 41"/>
              <a:gd name="T6" fmla="*/ 67 w 67"/>
              <a:gd name="T7" fmla="*/ 41 h 41"/>
              <a:gd name="T8" fmla="*/ 33 w 67"/>
              <a:gd name="T9" fmla="*/ 29 h 41"/>
            </a:gdLst>
            <a:ahLst/>
            <a:cxnLst>
              <a:cxn ang="0">
                <a:pos x="T0" y="T1"/>
              </a:cxn>
              <a:cxn ang="0">
                <a:pos x="T2" y="T3"/>
              </a:cxn>
              <a:cxn ang="0">
                <a:pos x="T4" y="T5"/>
              </a:cxn>
              <a:cxn ang="0">
                <a:pos x="T6" y="T7"/>
              </a:cxn>
              <a:cxn ang="0">
                <a:pos x="T8" y="T9"/>
              </a:cxn>
            </a:cxnLst>
            <a:rect l="0" t="0" r="r" b="b"/>
            <a:pathLst>
              <a:path w="67" h="41">
                <a:moveTo>
                  <a:pt x="33" y="29"/>
                </a:moveTo>
                <a:cubicBezTo>
                  <a:pt x="26" y="37"/>
                  <a:pt x="10" y="40"/>
                  <a:pt x="0" y="41"/>
                </a:cubicBezTo>
                <a:cubicBezTo>
                  <a:pt x="14" y="30"/>
                  <a:pt x="26" y="16"/>
                  <a:pt x="33" y="0"/>
                </a:cubicBezTo>
                <a:cubicBezTo>
                  <a:pt x="40" y="16"/>
                  <a:pt x="53" y="30"/>
                  <a:pt x="67" y="41"/>
                </a:cubicBezTo>
                <a:cubicBezTo>
                  <a:pt x="55" y="40"/>
                  <a:pt x="42" y="37"/>
                  <a:pt x="33" y="29"/>
                </a:cubicBezTo>
                <a:close/>
              </a:path>
            </a:pathLst>
          </a:custGeom>
          <a:solidFill>
            <a:srgbClr val="00B5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Rectangle 64"/>
          <p:cNvSpPr>
            <a:spLocks noChangeArrowheads="1"/>
          </p:cNvSpPr>
          <p:nvPr/>
        </p:nvSpPr>
        <p:spPr bwMode="auto">
          <a:xfrm>
            <a:off x="3213463" y="1996083"/>
            <a:ext cx="5111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Myriad Pro" pitchFamily="34" charset="0"/>
                <a:cs typeface="Arial" charset="0"/>
              </a:rPr>
              <a:t>Money</a:t>
            </a:r>
            <a:endParaRPr lang="en-US" sz="1400" dirty="0">
              <a:cs typeface="Arial" charset="0"/>
            </a:endParaRPr>
          </a:p>
        </p:txBody>
      </p:sp>
      <p:sp>
        <p:nvSpPr>
          <p:cNvPr id="20" name="Rectangle 65"/>
          <p:cNvSpPr>
            <a:spLocks noChangeArrowheads="1"/>
          </p:cNvSpPr>
          <p:nvPr/>
        </p:nvSpPr>
        <p:spPr bwMode="auto">
          <a:xfrm>
            <a:off x="6431325" y="2732683"/>
            <a:ext cx="5365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Myriad Pro" pitchFamily="34" charset="0"/>
                <a:cs typeface="Arial" charset="0"/>
              </a:rPr>
              <a:t>Factors</a:t>
            </a:r>
            <a:endParaRPr lang="en-US" sz="1400" dirty="0">
              <a:cs typeface="Arial" charset="0"/>
            </a:endParaRPr>
          </a:p>
        </p:txBody>
      </p:sp>
      <p:sp>
        <p:nvSpPr>
          <p:cNvPr id="22" name="Freeform 67"/>
          <p:cNvSpPr>
            <a:spLocks/>
          </p:cNvSpPr>
          <p:nvPr/>
        </p:nvSpPr>
        <p:spPr bwMode="auto">
          <a:xfrm>
            <a:off x="2562588" y="2465983"/>
            <a:ext cx="1503362" cy="1208088"/>
          </a:xfrm>
          <a:custGeom>
            <a:avLst/>
            <a:gdLst>
              <a:gd name="T0" fmla="*/ 248 w 248"/>
              <a:gd name="T1" fmla="*/ 0 h 199"/>
              <a:gd name="T2" fmla="*/ 110 w 248"/>
              <a:gd name="T3" fmla="*/ 0 h 199"/>
              <a:gd name="T4" fmla="*/ 0 w 248"/>
              <a:gd name="T5" fmla="*/ 110 h 199"/>
              <a:gd name="T6" fmla="*/ 0 w 248"/>
              <a:gd name="T7" fmla="*/ 199 h 199"/>
            </a:gdLst>
            <a:ahLst/>
            <a:cxnLst>
              <a:cxn ang="0">
                <a:pos x="T0" y="T1"/>
              </a:cxn>
              <a:cxn ang="0">
                <a:pos x="T2" y="T3"/>
              </a:cxn>
              <a:cxn ang="0">
                <a:pos x="T4" y="T5"/>
              </a:cxn>
              <a:cxn ang="0">
                <a:pos x="T6" y="T7"/>
              </a:cxn>
            </a:cxnLst>
            <a:rect l="0" t="0" r="r" b="b"/>
            <a:pathLst>
              <a:path w="248" h="199">
                <a:moveTo>
                  <a:pt x="248" y="0"/>
                </a:moveTo>
                <a:cubicBezTo>
                  <a:pt x="110" y="0"/>
                  <a:pt x="110" y="0"/>
                  <a:pt x="110" y="0"/>
                </a:cubicBezTo>
                <a:cubicBezTo>
                  <a:pt x="50" y="0"/>
                  <a:pt x="0" y="49"/>
                  <a:pt x="0" y="110"/>
                </a:cubicBezTo>
                <a:cubicBezTo>
                  <a:pt x="0" y="199"/>
                  <a:pt x="0" y="199"/>
                  <a:pt x="0" y="199"/>
                </a:cubicBezTo>
              </a:path>
            </a:pathLst>
          </a:custGeom>
          <a:noFill/>
          <a:ln w="90488" cap="flat">
            <a:solidFill>
              <a:srgbClr val="FFCD67"/>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68"/>
          <p:cNvSpPr>
            <a:spLocks/>
          </p:cNvSpPr>
          <p:nvPr/>
        </p:nvSpPr>
        <p:spPr bwMode="auto">
          <a:xfrm>
            <a:off x="3967525" y="2258021"/>
            <a:ext cx="249238" cy="409575"/>
          </a:xfrm>
          <a:custGeom>
            <a:avLst/>
            <a:gdLst>
              <a:gd name="T0" fmla="*/ 12 w 41"/>
              <a:gd name="T1" fmla="*/ 34 h 67"/>
              <a:gd name="T2" fmla="*/ 0 w 41"/>
              <a:gd name="T3" fmla="*/ 67 h 67"/>
              <a:gd name="T4" fmla="*/ 41 w 41"/>
              <a:gd name="T5" fmla="*/ 34 h 67"/>
              <a:gd name="T6" fmla="*/ 0 w 41"/>
              <a:gd name="T7" fmla="*/ 0 h 67"/>
              <a:gd name="T8" fmla="*/ 12 w 41"/>
              <a:gd name="T9" fmla="*/ 34 h 67"/>
            </a:gdLst>
            <a:ahLst/>
            <a:cxnLst>
              <a:cxn ang="0">
                <a:pos x="T0" y="T1"/>
              </a:cxn>
              <a:cxn ang="0">
                <a:pos x="T2" y="T3"/>
              </a:cxn>
              <a:cxn ang="0">
                <a:pos x="T4" y="T5"/>
              </a:cxn>
              <a:cxn ang="0">
                <a:pos x="T6" y="T7"/>
              </a:cxn>
              <a:cxn ang="0">
                <a:pos x="T8" y="T9"/>
              </a:cxn>
            </a:cxnLst>
            <a:rect l="0" t="0" r="r" b="b"/>
            <a:pathLst>
              <a:path w="41" h="67">
                <a:moveTo>
                  <a:pt x="12" y="34"/>
                </a:moveTo>
                <a:cubicBezTo>
                  <a:pt x="4" y="41"/>
                  <a:pt x="0" y="57"/>
                  <a:pt x="0" y="67"/>
                </a:cubicBezTo>
                <a:cubicBezTo>
                  <a:pt x="11" y="53"/>
                  <a:pt x="24" y="41"/>
                  <a:pt x="41" y="34"/>
                </a:cubicBezTo>
                <a:cubicBezTo>
                  <a:pt x="24" y="27"/>
                  <a:pt x="11" y="14"/>
                  <a:pt x="0" y="0"/>
                </a:cubicBezTo>
                <a:cubicBezTo>
                  <a:pt x="1" y="11"/>
                  <a:pt x="4" y="25"/>
                  <a:pt x="12" y="34"/>
                </a:cubicBezTo>
                <a:close/>
              </a:path>
            </a:pathLst>
          </a:custGeom>
          <a:solidFill>
            <a:srgbClr val="FFCD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69"/>
          <p:cNvSpPr>
            <a:spLocks/>
          </p:cNvSpPr>
          <p:nvPr/>
        </p:nvSpPr>
        <p:spPr bwMode="auto">
          <a:xfrm>
            <a:off x="5984710" y="5718771"/>
            <a:ext cx="249238" cy="406400"/>
          </a:xfrm>
          <a:custGeom>
            <a:avLst/>
            <a:gdLst>
              <a:gd name="T0" fmla="*/ 29 w 41"/>
              <a:gd name="T1" fmla="*/ 33 h 67"/>
              <a:gd name="T2" fmla="*/ 41 w 41"/>
              <a:gd name="T3" fmla="*/ 0 h 67"/>
              <a:gd name="T4" fmla="*/ 0 w 41"/>
              <a:gd name="T5" fmla="*/ 33 h 67"/>
              <a:gd name="T6" fmla="*/ 41 w 41"/>
              <a:gd name="T7" fmla="*/ 67 h 67"/>
              <a:gd name="T8" fmla="*/ 29 w 41"/>
              <a:gd name="T9" fmla="*/ 33 h 67"/>
            </a:gdLst>
            <a:ahLst/>
            <a:cxnLst>
              <a:cxn ang="0">
                <a:pos x="T0" y="T1"/>
              </a:cxn>
              <a:cxn ang="0">
                <a:pos x="T2" y="T3"/>
              </a:cxn>
              <a:cxn ang="0">
                <a:pos x="T4" y="T5"/>
              </a:cxn>
              <a:cxn ang="0">
                <a:pos x="T6" y="T7"/>
              </a:cxn>
              <a:cxn ang="0">
                <a:pos x="T8" y="T9"/>
              </a:cxn>
            </a:cxnLst>
            <a:rect l="0" t="0" r="r" b="b"/>
            <a:pathLst>
              <a:path w="41" h="67">
                <a:moveTo>
                  <a:pt x="29" y="33"/>
                </a:moveTo>
                <a:cubicBezTo>
                  <a:pt x="37" y="26"/>
                  <a:pt x="41" y="10"/>
                  <a:pt x="41" y="0"/>
                </a:cubicBezTo>
                <a:cubicBezTo>
                  <a:pt x="30" y="14"/>
                  <a:pt x="17" y="26"/>
                  <a:pt x="0" y="33"/>
                </a:cubicBezTo>
                <a:cubicBezTo>
                  <a:pt x="17" y="40"/>
                  <a:pt x="30" y="53"/>
                  <a:pt x="41" y="67"/>
                </a:cubicBezTo>
                <a:cubicBezTo>
                  <a:pt x="40" y="55"/>
                  <a:pt x="37" y="42"/>
                  <a:pt x="29" y="33"/>
                </a:cubicBezTo>
                <a:close/>
              </a:path>
            </a:pathLst>
          </a:custGeom>
          <a:solidFill>
            <a:srgbClr val="FFCD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70"/>
          <p:cNvSpPr>
            <a:spLocks/>
          </p:cNvSpPr>
          <p:nvPr/>
        </p:nvSpPr>
        <p:spPr bwMode="auto">
          <a:xfrm>
            <a:off x="6129700" y="4663083"/>
            <a:ext cx="1503363" cy="1257300"/>
          </a:xfrm>
          <a:custGeom>
            <a:avLst/>
            <a:gdLst>
              <a:gd name="T0" fmla="*/ 0 w 248"/>
              <a:gd name="T1" fmla="*/ 207 h 207"/>
              <a:gd name="T2" fmla="*/ 138 w 248"/>
              <a:gd name="T3" fmla="*/ 207 h 207"/>
              <a:gd name="T4" fmla="*/ 248 w 248"/>
              <a:gd name="T5" fmla="*/ 97 h 207"/>
              <a:gd name="T6" fmla="*/ 248 w 248"/>
              <a:gd name="T7" fmla="*/ 0 h 207"/>
            </a:gdLst>
            <a:ahLst/>
            <a:cxnLst>
              <a:cxn ang="0">
                <a:pos x="T0" y="T1"/>
              </a:cxn>
              <a:cxn ang="0">
                <a:pos x="T2" y="T3"/>
              </a:cxn>
              <a:cxn ang="0">
                <a:pos x="T4" y="T5"/>
              </a:cxn>
              <a:cxn ang="0">
                <a:pos x="T6" y="T7"/>
              </a:cxn>
            </a:cxnLst>
            <a:rect l="0" t="0" r="r" b="b"/>
            <a:pathLst>
              <a:path w="248" h="207">
                <a:moveTo>
                  <a:pt x="0" y="207"/>
                </a:moveTo>
                <a:cubicBezTo>
                  <a:pt x="138" y="207"/>
                  <a:pt x="138" y="207"/>
                  <a:pt x="138" y="207"/>
                </a:cubicBezTo>
                <a:cubicBezTo>
                  <a:pt x="198" y="207"/>
                  <a:pt x="248" y="158"/>
                  <a:pt x="248" y="97"/>
                </a:cubicBezTo>
                <a:cubicBezTo>
                  <a:pt x="248" y="0"/>
                  <a:pt x="248" y="0"/>
                  <a:pt x="248" y="0"/>
                </a:cubicBezTo>
              </a:path>
            </a:pathLst>
          </a:custGeom>
          <a:noFill/>
          <a:ln w="90488" cap="flat">
            <a:solidFill>
              <a:srgbClr val="FFCD67"/>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Rectangle 74"/>
          <p:cNvSpPr>
            <a:spLocks noChangeArrowheads="1"/>
          </p:cNvSpPr>
          <p:nvPr/>
        </p:nvSpPr>
        <p:spPr bwMode="auto">
          <a:xfrm>
            <a:off x="3069001" y="2580283"/>
            <a:ext cx="6683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00000"/>
              </a:lnSpc>
              <a:spcBef>
                <a:spcPct val="0"/>
              </a:spcBef>
              <a:buClrTx/>
              <a:buSzTx/>
              <a:buFontTx/>
              <a:buNone/>
            </a:pPr>
            <a:r>
              <a:rPr lang="en-US" sz="1400" dirty="0" smtClean="0">
                <a:solidFill>
                  <a:srgbClr val="000000"/>
                </a:solidFill>
                <a:latin typeface="Myriad Pro" pitchFamily="34" charset="0"/>
                <a:cs typeface="Arial" charset="0"/>
              </a:rPr>
              <a:t>Goods  and services</a:t>
            </a:r>
            <a:endParaRPr lang="en-US" sz="1400" dirty="0">
              <a:cs typeface="Arial" charset="0"/>
            </a:endParaRPr>
          </a:p>
        </p:txBody>
      </p:sp>
      <p:sp>
        <p:nvSpPr>
          <p:cNvPr id="32" name="Rectangle 77"/>
          <p:cNvSpPr>
            <a:spLocks noChangeArrowheads="1"/>
          </p:cNvSpPr>
          <p:nvPr/>
        </p:nvSpPr>
        <p:spPr bwMode="auto">
          <a:xfrm>
            <a:off x="6355125" y="5247283"/>
            <a:ext cx="5365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Myriad Pro" pitchFamily="34" charset="0"/>
                <a:cs typeface="Arial" charset="0"/>
              </a:rPr>
              <a:t>Factors</a:t>
            </a:r>
            <a:endParaRPr lang="en-US" sz="1400" dirty="0">
              <a:cs typeface="Arial" charset="0"/>
            </a:endParaRPr>
          </a:p>
        </p:txBody>
      </p:sp>
      <p:sp>
        <p:nvSpPr>
          <p:cNvPr id="40" name="Rectangle 85"/>
          <p:cNvSpPr>
            <a:spLocks noChangeArrowheads="1"/>
          </p:cNvSpPr>
          <p:nvPr/>
        </p:nvSpPr>
        <p:spPr bwMode="auto">
          <a:xfrm>
            <a:off x="3154725" y="6161683"/>
            <a:ext cx="5111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Myriad Pro" pitchFamily="34" charset="0"/>
                <a:cs typeface="Arial" charset="0"/>
              </a:rPr>
              <a:t>Money</a:t>
            </a:r>
            <a:endParaRPr lang="en-US" sz="1400" dirty="0">
              <a:cs typeface="Arial" charset="0"/>
            </a:endParaRPr>
          </a:p>
        </p:txBody>
      </p:sp>
      <p:sp>
        <p:nvSpPr>
          <p:cNvPr id="41" name="Rectangle 86"/>
          <p:cNvSpPr>
            <a:spLocks noChangeArrowheads="1"/>
          </p:cNvSpPr>
          <p:nvPr/>
        </p:nvSpPr>
        <p:spPr bwMode="auto">
          <a:xfrm>
            <a:off x="6202725" y="6161683"/>
            <a:ext cx="5111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Myriad Pro" pitchFamily="34" charset="0"/>
                <a:cs typeface="Arial" charset="0"/>
              </a:rPr>
              <a:t>Money</a:t>
            </a:r>
            <a:endParaRPr lang="en-US" sz="1400" dirty="0">
              <a:cs typeface="Arial" charset="0"/>
            </a:endParaRPr>
          </a:p>
        </p:txBody>
      </p:sp>
      <p:sp>
        <p:nvSpPr>
          <p:cNvPr id="42" name="Rectangle 87"/>
          <p:cNvSpPr>
            <a:spLocks noChangeArrowheads="1"/>
          </p:cNvSpPr>
          <p:nvPr/>
        </p:nvSpPr>
        <p:spPr bwMode="auto">
          <a:xfrm>
            <a:off x="6431325" y="2046883"/>
            <a:ext cx="5111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Myriad Pro" pitchFamily="34" charset="0"/>
                <a:cs typeface="Arial" charset="0"/>
              </a:rPr>
              <a:t>Money</a:t>
            </a:r>
            <a:endParaRPr lang="en-US" sz="1400" dirty="0">
              <a:cs typeface="Arial" charset="0"/>
            </a:endParaRPr>
          </a:p>
        </p:txBody>
      </p:sp>
      <p:pic>
        <p:nvPicPr>
          <p:cNvPr id="21506" name="Picture 2"/>
          <p:cNvPicPr>
            <a:picLocks noChangeAspect="1" noChangeArrowheads="1"/>
          </p:cNvPicPr>
          <p:nvPr/>
        </p:nvPicPr>
        <p:blipFill rotWithShape="1">
          <a:blip r:embed="rId2" cstate="screen">
            <a:extLst>
              <a:ext uri="{28A0092B-C50C-407E-A947-70E740481C1C}">
                <a14:useLocalDpi xmlns:a14="http://schemas.microsoft.com/office/drawing/2010/main" val="0"/>
              </a:ext>
            </a:extLst>
          </a:blip>
          <a:srcRect r="-1"/>
          <a:stretch/>
        </p:blipFill>
        <p:spPr bwMode="auto">
          <a:xfrm>
            <a:off x="4190303" y="1710490"/>
            <a:ext cx="1795859" cy="108992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9" name="Picture 5"/>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4193938" y="5477471"/>
            <a:ext cx="1792224" cy="11145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11" name="Picture 7"/>
          <p:cNvPicPr>
            <a:picLocks noChangeAspect="1" noChangeArrowheads="1"/>
          </p:cNvPicPr>
          <p:nvPr/>
        </p:nvPicPr>
        <p:blipFill rotWithShape="1">
          <a:blip r:embed="rId4" cstate="screen">
            <a:extLst>
              <a:ext uri="{28A0092B-C50C-407E-A947-70E740481C1C}">
                <a14:useLocalDpi xmlns:a14="http://schemas.microsoft.com/office/drawing/2010/main" val="0"/>
              </a:ext>
            </a:extLst>
          </a:blip>
          <a:srcRect/>
          <a:stretch/>
        </p:blipFill>
        <p:spPr bwMode="auto">
          <a:xfrm>
            <a:off x="1331640" y="3631464"/>
            <a:ext cx="1737360" cy="102315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12" name="Picture 8"/>
          <p:cNvPicPr>
            <a:picLocks noChangeAspect="1" noChangeArrowheads="1"/>
          </p:cNvPicPr>
          <p:nvPr/>
        </p:nvPicPr>
        <p:blipFill rotWithShape="1">
          <a:blip r:embed="rId5" cstate="screen">
            <a:extLst>
              <a:ext uri="{28A0092B-C50C-407E-A947-70E740481C1C}">
                <a14:useLocalDpi xmlns:a14="http://schemas.microsoft.com/office/drawing/2010/main" val="0"/>
              </a:ext>
            </a:extLst>
          </a:blip>
          <a:srcRect/>
          <a:stretch/>
        </p:blipFill>
        <p:spPr bwMode="auto">
          <a:xfrm>
            <a:off x="7006000" y="3640203"/>
            <a:ext cx="1645920" cy="100113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0" name="Rectangle 74"/>
          <p:cNvSpPr>
            <a:spLocks noChangeArrowheads="1"/>
          </p:cNvSpPr>
          <p:nvPr/>
        </p:nvSpPr>
        <p:spPr bwMode="auto">
          <a:xfrm>
            <a:off x="3078525" y="5135940"/>
            <a:ext cx="6683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00000"/>
              </a:lnSpc>
              <a:spcBef>
                <a:spcPct val="0"/>
              </a:spcBef>
              <a:buClrTx/>
              <a:buSzTx/>
              <a:buFontTx/>
              <a:buNone/>
            </a:pPr>
            <a:r>
              <a:rPr lang="en-US" sz="1400" dirty="0" smtClean="0">
                <a:solidFill>
                  <a:srgbClr val="000000"/>
                </a:solidFill>
                <a:latin typeface="Myriad Pro" pitchFamily="34" charset="0"/>
                <a:cs typeface="Arial" charset="0"/>
              </a:rPr>
              <a:t>Goods  and services</a:t>
            </a:r>
            <a:endParaRPr lang="en-US" sz="1400" dirty="0">
              <a:cs typeface="Arial" charset="0"/>
            </a:endParaRPr>
          </a:p>
        </p:txBody>
      </p:sp>
    </p:spTree>
    <p:extLst>
      <p:ext uri="{BB962C8B-B14F-4D97-AF65-F5344CB8AC3E}">
        <p14:creationId xmlns:p14="http://schemas.microsoft.com/office/powerpoint/2010/main" val="1057545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fade">
                                      <p:cBhvr>
                                        <p:cTn id="7" dur="500"/>
                                        <p:tgtEl>
                                          <p:spTgt spid="2150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509"/>
                                        </p:tgtEl>
                                        <p:attrNameLst>
                                          <p:attrName>style.visibility</p:attrName>
                                        </p:attrNameLst>
                                      </p:cBhvr>
                                      <p:to>
                                        <p:strVal val="visible"/>
                                      </p:to>
                                    </p:set>
                                    <p:animEffect transition="in" filter="fade">
                                      <p:cBhvr>
                                        <p:cTn id="11" dur="500"/>
                                        <p:tgtEl>
                                          <p:spTgt spid="2150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right)">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fade">
                                      <p:cBhvr>
                                        <p:cTn id="23" dur="500"/>
                                        <p:tgtEl>
                                          <p:spTgt spid="50"/>
                                        </p:tgtEl>
                                      </p:cBhvr>
                                    </p:animEffect>
                                  </p:childTnLst>
                                </p:cTn>
                              </p:par>
                            </p:childTnLst>
                          </p:cTn>
                        </p:par>
                        <p:par>
                          <p:cTn id="24" fill="hold">
                            <p:stCondLst>
                              <p:cond delay="500"/>
                            </p:stCondLst>
                            <p:childTnLst>
                              <p:par>
                                <p:cTn id="25" presetID="22" presetClass="entr" presetSubtype="4"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21511"/>
                                        </p:tgtEl>
                                        <p:attrNameLst>
                                          <p:attrName>style.visibility</p:attrName>
                                        </p:attrNameLst>
                                      </p:cBhvr>
                                      <p:to>
                                        <p:strVal val="visible"/>
                                      </p:to>
                                    </p:set>
                                    <p:animEffect transition="in" filter="fade">
                                      <p:cBhvr>
                                        <p:cTn id="30" dur="500"/>
                                        <p:tgtEl>
                                          <p:spTgt spid="21511"/>
                                        </p:tgtEl>
                                      </p:cBhvr>
                                    </p:animEffect>
                                  </p:childTnLst>
                                </p:cTn>
                              </p:par>
                            </p:childTnLst>
                          </p:cTn>
                        </p:par>
                        <p:par>
                          <p:cTn id="31" fill="hold">
                            <p:stCondLst>
                              <p:cond delay="1000"/>
                            </p:stCondLst>
                            <p:childTnLst>
                              <p:par>
                                <p:cTn id="32" presetID="22" presetClass="entr" presetSubtype="4"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down)">
                                      <p:cBhvr>
                                        <p:cTn id="34" dur="500"/>
                                        <p:tgtEl>
                                          <p:spTgt spid="22"/>
                                        </p:tgtEl>
                                      </p:cBhvr>
                                    </p:animEffect>
                                  </p:childTnLst>
                                </p:cTn>
                              </p:par>
                            </p:childTnLst>
                          </p:cTn>
                        </p:par>
                        <p:par>
                          <p:cTn id="35" fill="hold">
                            <p:stCondLst>
                              <p:cond delay="1500"/>
                            </p:stCondLst>
                            <p:childTnLst>
                              <p:par>
                                <p:cTn id="36" presetID="22" presetClass="entr" presetSubtype="8" fill="hold" grpId="0" nodeType="after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left)">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par>
                          <p:cTn id="47" fill="hold">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up)">
                                      <p:cBhvr>
                                        <p:cTn id="50" dur="500"/>
                                        <p:tgtEl>
                                          <p:spTgt spid="1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childTnLst>
                          </p:cTn>
                        </p:par>
                        <p:par>
                          <p:cTn id="54" fill="hold">
                            <p:stCondLst>
                              <p:cond delay="1000"/>
                            </p:stCondLst>
                            <p:childTnLst>
                              <p:par>
                                <p:cTn id="55" presetID="10" presetClass="entr" presetSubtype="0" fill="hold" nodeType="afterEffect">
                                  <p:stCondLst>
                                    <p:cond delay="0"/>
                                  </p:stCondLst>
                                  <p:childTnLst>
                                    <p:set>
                                      <p:cBhvr>
                                        <p:cTn id="56" dur="1" fill="hold">
                                          <p:stCondLst>
                                            <p:cond delay="0"/>
                                          </p:stCondLst>
                                        </p:cTn>
                                        <p:tgtEl>
                                          <p:spTgt spid="21512"/>
                                        </p:tgtEl>
                                        <p:attrNameLst>
                                          <p:attrName>style.visibility</p:attrName>
                                        </p:attrNameLst>
                                      </p:cBhvr>
                                      <p:to>
                                        <p:strVal val="visible"/>
                                      </p:to>
                                    </p:set>
                                    <p:animEffect transition="in" filter="fade">
                                      <p:cBhvr>
                                        <p:cTn id="57" dur="500"/>
                                        <p:tgtEl>
                                          <p:spTgt spid="21512"/>
                                        </p:tgtEl>
                                      </p:cBhvr>
                                    </p:animEffect>
                                  </p:childTnLst>
                                </p:cTn>
                              </p:par>
                            </p:childTnLst>
                          </p:cTn>
                        </p:par>
                        <p:par>
                          <p:cTn id="58" fill="hold">
                            <p:stCondLst>
                              <p:cond delay="1500"/>
                            </p:stCondLst>
                            <p:childTnLst>
                              <p:par>
                                <p:cTn id="59" presetID="22" presetClass="entr" presetSubtype="2" fill="hold" grpId="0" nodeType="after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right)">
                                      <p:cBhvr>
                                        <p:cTn id="61" dur="500"/>
                                        <p:tgtEl>
                                          <p:spTgt spid="25"/>
                                        </p:tgtEl>
                                      </p:cBhvr>
                                    </p:animEffect>
                                  </p:childTnLst>
                                </p:cTn>
                              </p:par>
                            </p:childTnLst>
                          </p:cTn>
                        </p:par>
                        <p:par>
                          <p:cTn id="62" fill="hold">
                            <p:stCondLst>
                              <p:cond delay="2000"/>
                            </p:stCondLst>
                            <p:childTnLst>
                              <p:par>
                                <p:cTn id="63" presetID="22" presetClass="entr" presetSubtype="2" fill="hold" grpId="0"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right)">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500"/>
                                        <p:tgtEl>
                                          <p:spTgt spid="3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fade">
                                      <p:cBhvr>
                                        <p:cTn id="73" dur="500"/>
                                        <p:tgtEl>
                                          <p:spTgt spid="6"/>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2" fill="hold" grpId="0" nodeType="clickEffect">
                                  <p:stCondLst>
                                    <p:cond delay="0"/>
                                  </p:stCondLst>
                                  <p:childTnLst>
                                    <p:set>
                                      <p:cBhvr>
                                        <p:cTn id="77" dur="1" fill="hold">
                                          <p:stCondLst>
                                            <p:cond delay="0"/>
                                          </p:stCondLst>
                                        </p:cTn>
                                        <p:tgtEl>
                                          <p:spTgt spid="9"/>
                                        </p:tgtEl>
                                        <p:attrNameLst>
                                          <p:attrName>style.visibility</p:attrName>
                                        </p:attrNameLst>
                                      </p:cBhvr>
                                      <p:to>
                                        <p:strVal val="visible"/>
                                      </p:to>
                                    </p:set>
                                    <p:animEffect transition="in" filter="wipe(right)">
                                      <p:cBhvr>
                                        <p:cTn id="78" dur="500"/>
                                        <p:tgtEl>
                                          <p:spTgt spid="9"/>
                                        </p:tgtEl>
                                      </p:cBhvr>
                                    </p:animEffect>
                                  </p:childTnLst>
                                </p:cTn>
                              </p:par>
                            </p:childTnLst>
                          </p:cTn>
                        </p:par>
                        <p:par>
                          <p:cTn id="79" fill="hold">
                            <p:stCondLst>
                              <p:cond delay="500"/>
                            </p:stCondLst>
                            <p:childTnLst>
                              <p:par>
                                <p:cTn id="80" presetID="22" presetClass="entr" presetSubtype="1" fill="hold" grpId="0" nodeType="after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wipe(up)">
                                      <p:cBhvr>
                                        <p:cTn id="82" dur="500"/>
                                        <p:tgtEl>
                                          <p:spTgt spid="1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00"/>
                                        <p:tgtEl>
                                          <p:spTgt spid="19"/>
                                        </p:tgtEl>
                                      </p:cBhvr>
                                    </p:animEffect>
                                  </p:childTnLst>
                                </p:cTn>
                              </p:par>
                            </p:childTnLst>
                          </p:cTn>
                        </p:par>
                        <p:par>
                          <p:cTn id="86" fill="hold">
                            <p:stCondLst>
                              <p:cond delay="1000"/>
                            </p:stCondLst>
                            <p:childTnLst>
                              <p:par>
                                <p:cTn id="87" presetID="22" presetClass="entr" presetSubtype="8" fill="hold" grpId="0" nodeType="after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wipe(left)">
                                      <p:cBhvr>
                                        <p:cTn id="89" dur="500"/>
                                        <p:tgtEl>
                                          <p:spTgt spid="15"/>
                                        </p:tgtEl>
                                      </p:cBhvr>
                                    </p:animEffect>
                                  </p:childTnLst>
                                </p:cTn>
                              </p:par>
                            </p:childTnLst>
                          </p:cTn>
                        </p:par>
                        <p:par>
                          <p:cTn id="90" fill="hold">
                            <p:stCondLst>
                              <p:cond delay="1500"/>
                            </p:stCondLst>
                            <p:childTnLst>
                              <p:par>
                                <p:cTn id="91" presetID="22" presetClass="entr" presetSubtype="8" fill="hold" grpId="0" nodeType="afterEffect">
                                  <p:stCondLst>
                                    <p:cond delay="0"/>
                                  </p:stCondLst>
                                  <p:childTnLst>
                                    <p:set>
                                      <p:cBhvr>
                                        <p:cTn id="92" dur="1" fill="hold">
                                          <p:stCondLst>
                                            <p:cond delay="0"/>
                                          </p:stCondLst>
                                        </p:cTn>
                                        <p:tgtEl>
                                          <p:spTgt spid="16"/>
                                        </p:tgtEl>
                                        <p:attrNameLst>
                                          <p:attrName>style.visibility</p:attrName>
                                        </p:attrNameLst>
                                      </p:cBhvr>
                                      <p:to>
                                        <p:strVal val="visible"/>
                                      </p:to>
                                    </p:set>
                                    <p:animEffect transition="in" filter="wipe(left)">
                                      <p:cBhvr>
                                        <p:cTn id="93" dur="500"/>
                                        <p:tgtEl>
                                          <p:spTgt spid="1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500"/>
                                        <p:tgtEl>
                                          <p:spTgt spid="4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7"/>
                                        </p:tgtEl>
                                        <p:attrNameLst>
                                          <p:attrName>style.visibility</p:attrName>
                                        </p:attrNameLst>
                                      </p:cBhvr>
                                      <p:to>
                                        <p:strVal val="visible"/>
                                      </p:to>
                                    </p:set>
                                    <p:animEffect transition="in" filter="wipe(left)">
                                      <p:cBhvr>
                                        <p:cTn id="101" dur="500"/>
                                        <p:tgtEl>
                                          <p:spTgt spid="17"/>
                                        </p:tgtEl>
                                      </p:cBhvr>
                                    </p:animEffect>
                                  </p:childTnLst>
                                </p:cTn>
                              </p:par>
                            </p:childTnLst>
                          </p:cTn>
                        </p:par>
                        <p:par>
                          <p:cTn id="102" fill="hold">
                            <p:stCondLst>
                              <p:cond delay="500"/>
                            </p:stCondLst>
                            <p:childTnLst>
                              <p:par>
                                <p:cTn id="103" presetID="22" presetClass="entr" presetSubtype="4" fill="hold" grpId="0" nodeType="afterEffect">
                                  <p:stCondLst>
                                    <p:cond delay="0"/>
                                  </p:stCondLst>
                                  <p:childTnLst>
                                    <p:set>
                                      <p:cBhvr>
                                        <p:cTn id="104" dur="1" fill="hold">
                                          <p:stCondLst>
                                            <p:cond delay="0"/>
                                          </p:stCondLst>
                                        </p:cTn>
                                        <p:tgtEl>
                                          <p:spTgt spid="18"/>
                                        </p:tgtEl>
                                        <p:attrNameLst>
                                          <p:attrName>style.visibility</p:attrName>
                                        </p:attrNameLst>
                                      </p:cBhvr>
                                      <p:to>
                                        <p:strVal val="visible"/>
                                      </p:to>
                                    </p:set>
                                    <p:animEffect transition="in" filter="wipe(down)">
                                      <p:cBhvr>
                                        <p:cTn id="105" dur="500"/>
                                        <p:tgtEl>
                                          <p:spTgt spid="1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500"/>
                                        <p:tgtEl>
                                          <p:spTgt spid="41"/>
                                        </p:tgtEl>
                                      </p:cBhvr>
                                    </p:animEffect>
                                  </p:childTnLst>
                                </p:cTn>
                              </p:par>
                            </p:childTnLst>
                          </p:cTn>
                        </p:par>
                        <p:par>
                          <p:cTn id="109" fill="hold">
                            <p:stCondLst>
                              <p:cond delay="1000"/>
                            </p:stCondLst>
                            <p:childTnLst>
                              <p:par>
                                <p:cTn id="110" presetID="22" presetClass="entr" presetSubtype="2" fill="hold" grpId="0" nodeType="afterEffect">
                                  <p:stCondLst>
                                    <p:cond delay="0"/>
                                  </p:stCondLst>
                                  <p:childTnLst>
                                    <p:set>
                                      <p:cBhvr>
                                        <p:cTn id="111" dur="1" fill="hold">
                                          <p:stCondLst>
                                            <p:cond delay="0"/>
                                          </p:stCondLst>
                                        </p:cTn>
                                        <p:tgtEl>
                                          <p:spTgt spid="7"/>
                                        </p:tgtEl>
                                        <p:attrNameLst>
                                          <p:attrName>style.visibility</p:attrName>
                                        </p:attrNameLst>
                                      </p:cBhvr>
                                      <p:to>
                                        <p:strVal val="visible"/>
                                      </p:to>
                                    </p:set>
                                    <p:animEffect transition="in" filter="wipe(right)">
                                      <p:cBhvr>
                                        <p:cTn id="112" dur="500"/>
                                        <p:tgtEl>
                                          <p:spTgt spid="7"/>
                                        </p:tgtEl>
                                      </p:cBhvr>
                                    </p:animEffect>
                                  </p:childTnLst>
                                </p:cTn>
                              </p:par>
                            </p:childTnLst>
                          </p:cTn>
                        </p:par>
                        <p:par>
                          <p:cTn id="113" fill="hold">
                            <p:stCondLst>
                              <p:cond delay="1500"/>
                            </p:stCondLst>
                            <p:childTnLst>
                              <p:par>
                                <p:cTn id="114" presetID="22" presetClass="entr" presetSubtype="2" fill="hold" grpId="0" nodeType="afterEffect">
                                  <p:stCondLst>
                                    <p:cond delay="0"/>
                                  </p:stCondLst>
                                  <p:childTnLst>
                                    <p:set>
                                      <p:cBhvr>
                                        <p:cTn id="115" dur="1" fill="hold">
                                          <p:stCondLst>
                                            <p:cond delay="0"/>
                                          </p:stCondLst>
                                        </p:cTn>
                                        <p:tgtEl>
                                          <p:spTgt spid="8"/>
                                        </p:tgtEl>
                                        <p:attrNameLst>
                                          <p:attrName>style.visibility</p:attrName>
                                        </p:attrNameLst>
                                      </p:cBhvr>
                                      <p:to>
                                        <p:strVal val="visible"/>
                                      </p:to>
                                    </p:set>
                                    <p:animEffect transition="in" filter="wipe(right)">
                                      <p:cBhvr>
                                        <p:cTn id="116" dur="500"/>
                                        <p:tgtEl>
                                          <p:spTgt spid="8"/>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2"/>
                                        </p:tgtEl>
                                        <p:attrNameLst>
                                          <p:attrName>style.visibility</p:attrName>
                                        </p:attrNameLst>
                                      </p:cBhvr>
                                      <p:to>
                                        <p:strVal val="visible"/>
                                      </p:to>
                                    </p:set>
                                    <p:animEffect transition="in" filter="fade">
                                      <p:cBhvr>
                                        <p:cTn id="119" dur="500"/>
                                        <p:tgtEl>
                                          <p:spTgt spid="42"/>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1" nodeType="clickEffect">
                                  <p:stCondLst>
                                    <p:cond delay="0"/>
                                  </p:stCondLst>
                                  <p:childTnLst>
                                    <p:set>
                                      <p:cBhvr>
                                        <p:cTn id="12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P spid="9" grpId="0" animBg="1"/>
      <p:bldP spid="10" grpId="0" animBg="1"/>
      <p:bldP spid="10" grpId="1" animBg="1"/>
      <p:bldP spid="11" grpId="0" animBg="1"/>
      <p:bldP spid="12" grpId="0" animBg="1"/>
      <p:bldP spid="13" grpId="0" animBg="1"/>
      <p:bldP spid="14" grpId="0" animBg="1"/>
      <p:bldP spid="15" grpId="0" animBg="1"/>
      <p:bldP spid="16" grpId="0" animBg="1"/>
      <p:bldP spid="17" grpId="0" animBg="1"/>
      <p:bldP spid="18" grpId="0" animBg="1"/>
      <p:bldP spid="19" grpId="0"/>
      <p:bldP spid="20" grpId="0"/>
      <p:bldP spid="22" grpId="0" animBg="1"/>
      <p:bldP spid="23" grpId="0" animBg="1"/>
      <p:bldP spid="24" grpId="0" animBg="1"/>
      <p:bldP spid="25" grpId="0" animBg="1"/>
      <p:bldP spid="29" grpId="0"/>
      <p:bldP spid="32" grpId="0"/>
      <p:bldP spid="40" grpId="0"/>
      <p:bldP spid="41" grpId="0"/>
      <p:bldP spid="42" grpId="0"/>
      <p:bldP spid="5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Rot="1" noChangeArrowheads="1"/>
          </p:cNvSpPr>
          <p:nvPr>
            <p:ph type="title"/>
          </p:nvPr>
        </p:nvSpPr>
        <p:spPr>
          <a:xfrm>
            <a:off x="900113" y="60325"/>
            <a:ext cx="8064375" cy="555625"/>
          </a:xfrm>
        </p:spPr>
        <p:txBody>
          <a:bodyPr/>
          <a:lstStyle/>
          <a:p>
            <a:pPr>
              <a:defRPr/>
            </a:pPr>
            <a:r>
              <a:rPr lang="en-US" sz="2800" dirty="0" smtClean="0"/>
              <a:t>Circular-Flow of Economic Activities</a:t>
            </a:r>
          </a:p>
        </p:txBody>
      </p:sp>
      <p:sp>
        <p:nvSpPr>
          <p:cNvPr id="29699" name="Rectangle 3"/>
          <p:cNvSpPr>
            <a:spLocks noGrp="1" noChangeArrowheads="1"/>
          </p:cNvSpPr>
          <p:nvPr>
            <p:ph type="body" idx="1"/>
          </p:nvPr>
        </p:nvSpPr>
        <p:spPr>
          <a:xfrm>
            <a:off x="971600" y="980728"/>
            <a:ext cx="7920880" cy="5271864"/>
          </a:xfrm>
        </p:spPr>
        <p:txBody>
          <a:bodyPr/>
          <a:lstStyle/>
          <a:p>
            <a:pPr marL="231775" indent="-231775">
              <a:spcAft>
                <a:spcPts val="1200"/>
              </a:spcAft>
            </a:pPr>
            <a:r>
              <a:rPr lang="en-US" dirty="0" smtClean="0"/>
              <a:t>A </a:t>
            </a:r>
            <a:r>
              <a:rPr lang="en-US" b="1" dirty="0" smtClean="0"/>
              <a:t>household </a:t>
            </a:r>
            <a:r>
              <a:rPr lang="en-US" dirty="0" smtClean="0"/>
              <a:t>is a person or a group of people that share their income.</a:t>
            </a:r>
            <a:endParaRPr lang="en-US" dirty="0"/>
          </a:p>
          <a:p>
            <a:pPr marL="231775" indent="-231775">
              <a:spcAft>
                <a:spcPts val="1200"/>
              </a:spcAft>
            </a:pPr>
            <a:r>
              <a:rPr lang="en-US" dirty="0" smtClean="0"/>
              <a:t>A </a:t>
            </a:r>
            <a:r>
              <a:rPr lang="en-US" b="1" dirty="0" smtClean="0"/>
              <a:t>firm </a:t>
            </a:r>
            <a:r>
              <a:rPr lang="en-US" dirty="0" smtClean="0"/>
              <a:t>is an organization that produces goods and services for sale.</a:t>
            </a:r>
          </a:p>
          <a:p>
            <a:pPr marL="231775" indent="-231775">
              <a:spcAft>
                <a:spcPts val="1200"/>
              </a:spcAft>
            </a:pPr>
            <a:r>
              <a:rPr lang="en-US" dirty="0" smtClean="0"/>
              <a:t>Firms sell goods and services that they produce to households in </a:t>
            </a:r>
            <a:r>
              <a:rPr lang="en-US" b="1" dirty="0" smtClean="0"/>
              <a:t>markets for goods and services</a:t>
            </a:r>
            <a:r>
              <a:rPr lang="en-US" dirty="0" smtClean="0"/>
              <a:t>.</a:t>
            </a:r>
          </a:p>
          <a:p>
            <a:pPr marL="231775" indent="-231775">
              <a:spcAft>
                <a:spcPts val="1200"/>
              </a:spcAft>
            </a:pPr>
            <a:r>
              <a:rPr lang="en-US" dirty="0" smtClean="0"/>
              <a:t>Firms buy the resources they need to produce goods and services—</a:t>
            </a:r>
            <a:r>
              <a:rPr lang="en-US" b="1" dirty="0" smtClean="0"/>
              <a:t>factors of production</a:t>
            </a:r>
            <a:r>
              <a:rPr lang="en-US" dirty="0" smtClean="0"/>
              <a:t>—in </a:t>
            </a:r>
            <a:r>
              <a:rPr lang="en-US" b="1" dirty="0" smtClean="0"/>
              <a:t>factor markets</a:t>
            </a:r>
            <a:r>
              <a:rPr lang="en-US" dirty="0" smtClean="0"/>
              <a:t>.</a:t>
            </a:r>
          </a:p>
          <a:p>
            <a:pPr marL="231775" indent="-231775">
              <a:spcAft>
                <a:spcPts val="1200"/>
              </a:spcAft>
            </a:pPr>
            <a:r>
              <a:rPr lang="en-US" dirty="0" smtClean="0"/>
              <a:t>The factor </a:t>
            </a:r>
            <a:r>
              <a:rPr lang="en-US" dirty="0"/>
              <a:t>markets determine </a:t>
            </a:r>
            <a:r>
              <a:rPr lang="en-US" dirty="0" smtClean="0"/>
              <a:t>how the </a:t>
            </a:r>
            <a:r>
              <a:rPr lang="en-US" dirty="0"/>
              <a:t>economy’s income </a:t>
            </a:r>
            <a:r>
              <a:rPr lang="en-US" dirty="0" smtClean="0"/>
              <a:t>is distributed </a:t>
            </a:r>
            <a:r>
              <a:rPr lang="en-US" dirty="0"/>
              <a:t>— how </a:t>
            </a:r>
            <a:r>
              <a:rPr lang="en-US" dirty="0" smtClean="0"/>
              <a:t>production </a:t>
            </a:r>
            <a:r>
              <a:rPr lang="en-US" dirty="0"/>
              <a:t>is divided </a:t>
            </a:r>
            <a:r>
              <a:rPr lang="en-US" dirty="0" smtClean="0"/>
              <a:t>among the owners of the various factors </a:t>
            </a:r>
            <a:r>
              <a:rPr lang="en-US" dirty="0"/>
              <a:t>of production</a:t>
            </a:r>
            <a:r>
              <a:rPr lang="en-US" dirty="0" smtClean="0"/>
              <a:t>.</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Rectangle 3"/>
          <p:cNvSpPr>
            <a:spLocks noGrp="1" noChangeArrowheads="1"/>
          </p:cNvSpPr>
          <p:nvPr>
            <p:ph type="title"/>
          </p:nvPr>
        </p:nvSpPr>
        <p:spPr>
          <a:xfrm>
            <a:off x="228600" y="138113"/>
            <a:ext cx="8229600" cy="565150"/>
          </a:xfrm>
        </p:spPr>
        <p:txBody>
          <a:bodyPr/>
          <a:lstStyle/>
          <a:p>
            <a:pPr algn="l"/>
            <a:r>
              <a:rPr lang="en-US" altLang="en-US" sz="2100"/>
              <a:t>FIGURE 1:   </a:t>
            </a:r>
            <a:r>
              <a:rPr lang="en-US" altLang="en-US" sz="2300"/>
              <a:t>The Circular-Flow Diagram</a:t>
            </a:r>
          </a:p>
        </p:txBody>
      </p:sp>
      <p:sp>
        <p:nvSpPr>
          <p:cNvPr id="205828" name="Text Box 4"/>
          <p:cNvSpPr txBox="1">
            <a:spLocks noChangeArrowheads="1"/>
          </p:cNvSpPr>
          <p:nvPr/>
        </p:nvSpPr>
        <p:spPr bwMode="auto">
          <a:xfrm>
            <a:off x="971600" y="1628800"/>
            <a:ext cx="3476625" cy="3603294"/>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290513" indent="-231775">
              <a:defRPr>
                <a:solidFill>
                  <a:schemeClr val="tx1"/>
                </a:solidFill>
                <a:latin typeface="Arial" pitchFamily="34" charset="0"/>
                <a:cs typeface="Arial" pitchFamily="34" charset="0"/>
              </a:defRPr>
            </a:lvl1pPr>
            <a:lvl2pPr marL="461963">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a:spcBef>
                <a:spcPct val="15000"/>
              </a:spcBef>
              <a:buClr>
                <a:srgbClr val="CC0000"/>
              </a:buClr>
              <a:buFont typeface="Wingdings" pitchFamily="2" charset="2"/>
              <a:buNone/>
            </a:pPr>
            <a:r>
              <a:rPr lang="en-US" altLang="en-US" sz="2700" b="1" u="none" dirty="0"/>
              <a:t>Households</a:t>
            </a:r>
            <a:r>
              <a:rPr lang="en-US" altLang="en-US" sz="2700" u="none" dirty="0"/>
              <a:t>:</a:t>
            </a:r>
          </a:p>
          <a:p>
            <a:pPr>
              <a:spcBef>
                <a:spcPct val="15000"/>
              </a:spcBef>
              <a:buClr>
                <a:srgbClr val="CC0000"/>
              </a:buClr>
              <a:buFont typeface="Wingdings" pitchFamily="2" charset="2"/>
              <a:buChar char="§"/>
            </a:pPr>
            <a:r>
              <a:rPr lang="en-US" altLang="en-US" sz="2700" u="none" dirty="0" smtClean="0"/>
              <a:t>Own </a:t>
            </a:r>
            <a:r>
              <a:rPr lang="en-US" altLang="en-US" sz="2700" u="none" dirty="0"/>
              <a:t>the factors of </a:t>
            </a:r>
            <a:r>
              <a:rPr lang="en-US" altLang="en-US" sz="2700" u="none" dirty="0" smtClean="0"/>
              <a:t>production</a:t>
            </a:r>
          </a:p>
          <a:p>
            <a:pPr>
              <a:spcBef>
                <a:spcPct val="15000"/>
              </a:spcBef>
              <a:buClr>
                <a:srgbClr val="CC0000"/>
              </a:buClr>
              <a:buFont typeface="Wingdings" pitchFamily="2" charset="2"/>
              <a:buChar char="§"/>
            </a:pPr>
            <a:r>
              <a:rPr lang="en-US" altLang="en-US" sz="2700" dirty="0"/>
              <a:t>R</a:t>
            </a:r>
            <a:r>
              <a:rPr lang="en-US" altLang="en-US" sz="2700" u="none" dirty="0" smtClean="0"/>
              <a:t>ent </a:t>
            </a:r>
            <a:r>
              <a:rPr lang="en-US" altLang="en-US" sz="2700" u="none" dirty="0"/>
              <a:t>them to firms for income</a:t>
            </a:r>
          </a:p>
          <a:p>
            <a:pPr>
              <a:spcBef>
                <a:spcPct val="15000"/>
              </a:spcBef>
              <a:buClr>
                <a:srgbClr val="CC0000"/>
              </a:buClr>
              <a:buFont typeface="Wingdings" pitchFamily="2" charset="2"/>
              <a:buChar char="§"/>
            </a:pPr>
            <a:r>
              <a:rPr lang="en-US" altLang="en-US" sz="2700" u="none" dirty="0" smtClean="0"/>
              <a:t>Use income to buy </a:t>
            </a:r>
            <a:r>
              <a:rPr lang="en-US" altLang="en-US" sz="2700" u="none" dirty="0"/>
              <a:t>and consume </a:t>
            </a:r>
            <a:r>
              <a:rPr lang="en-US" altLang="en-US" sz="2700" u="none" dirty="0" smtClean="0"/>
              <a:t>goods and services</a:t>
            </a:r>
            <a:endParaRPr lang="en-US" altLang="en-US" sz="2700" u="none" dirty="0"/>
          </a:p>
        </p:txBody>
      </p:sp>
      <p:sp>
        <p:nvSpPr>
          <p:cNvPr id="205839" name="Text Box 15"/>
          <p:cNvSpPr txBox="1">
            <a:spLocks noChangeArrowheads="1"/>
          </p:cNvSpPr>
          <p:nvPr/>
        </p:nvSpPr>
        <p:spPr bwMode="auto">
          <a:xfrm>
            <a:off x="5622850" y="2132856"/>
            <a:ext cx="3341638" cy="4434291"/>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290513" indent="-231775">
              <a:defRPr>
                <a:solidFill>
                  <a:schemeClr val="tx1"/>
                </a:solidFill>
                <a:latin typeface="Arial" pitchFamily="34" charset="0"/>
                <a:cs typeface="Arial" pitchFamily="34" charset="0"/>
              </a:defRPr>
            </a:lvl1pPr>
            <a:lvl2pPr marL="461963">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a:spcBef>
                <a:spcPct val="15000"/>
              </a:spcBef>
              <a:buClr>
                <a:srgbClr val="CC0000"/>
              </a:buClr>
              <a:buFont typeface="Wingdings" pitchFamily="2" charset="2"/>
              <a:buNone/>
            </a:pPr>
            <a:r>
              <a:rPr lang="en-US" altLang="en-US" sz="2700" b="1" u="none" dirty="0"/>
              <a:t>Firms</a:t>
            </a:r>
            <a:r>
              <a:rPr lang="en-US" altLang="en-US" sz="2700" u="none" dirty="0"/>
              <a:t>:</a:t>
            </a:r>
          </a:p>
          <a:p>
            <a:pPr>
              <a:spcBef>
                <a:spcPct val="15000"/>
              </a:spcBef>
              <a:buClr>
                <a:srgbClr val="CC0000"/>
              </a:buClr>
              <a:buFont typeface="Wingdings" pitchFamily="2" charset="2"/>
              <a:buChar char="§"/>
            </a:pPr>
            <a:r>
              <a:rPr lang="en-US" altLang="en-US" sz="2700" u="none" dirty="0" smtClean="0"/>
              <a:t>Hire </a:t>
            </a:r>
            <a:r>
              <a:rPr lang="en-US" altLang="en-US" sz="2700" u="none" dirty="0"/>
              <a:t>factors of </a:t>
            </a:r>
            <a:r>
              <a:rPr lang="en-US" altLang="en-US" sz="2700" u="none" dirty="0" smtClean="0"/>
              <a:t>production</a:t>
            </a:r>
          </a:p>
          <a:p>
            <a:pPr>
              <a:spcBef>
                <a:spcPct val="15000"/>
              </a:spcBef>
              <a:buClr>
                <a:srgbClr val="CC0000"/>
              </a:buClr>
              <a:buFont typeface="Wingdings" pitchFamily="2" charset="2"/>
              <a:buChar char="§"/>
            </a:pPr>
            <a:r>
              <a:rPr lang="en-US" altLang="en-US" sz="2700" u="none" dirty="0" smtClean="0"/>
              <a:t>Use </a:t>
            </a:r>
            <a:r>
              <a:rPr lang="en-US" altLang="en-US" sz="2700" u="none" dirty="0"/>
              <a:t>them to produce </a:t>
            </a:r>
            <a:r>
              <a:rPr lang="en-US" altLang="en-US" sz="2700" u="none" dirty="0" smtClean="0"/>
              <a:t>goods &amp; services</a:t>
            </a:r>
            <a:endParaRPr lang="en-US" altLang="en-US" sz="2700" u="none" dirty="0"/>
          </a:p>
          <a:p>
            <a:pPr>
              <a:spcBef>
                <a:spcPct val="15000"/>
              </a:spcBef>
              <a:buClr>
                <a:srgbClr val="CC0000"/>
              </a:buClr>
              <a:buFont typeface="Wingdings" pitchFamily="2" charset="2"/>
              <a:buChar char="§"/>
            </a:pPr>
            <a:r>
              <a:rPr lang="en-US" altLang="en-US" sz="2700" u="none" dirty="0"/>
              <a:t>sell </a:t>
            </a:r>
            <a:r>
              <a:rPr lang="en-US" altLang="en-US" sz="2700" dirty="0"/>
              <a:t>goods &amp; </a:t>
            </a:r>
            <a:r>
              <a:rPr lang="en-US" altLang="en-US" sz="2700" dirty="0" smtClean="0"/>
              <a:t>services to get money to pay households</a:t>
            </a:r>
            <a:endParaRPr lang="en-US" altLang="en-US" sz="2700" u="none" dirty="0"/>
          </a:p>
        </p:txBody>
      </p:sp>
      <p:pic>
        <p:nvPicPr>
          <p:cNvPr id="14" name="Picture 2"/>
          <p:cNvPicPr>
            <a:picLocks noChangeAspect="1" noChangeArrowheads="1"/>
          </p:cNvPicPr>
          <p:nvPr/>
        </p:nvPicPr>
        <p:blipFill rotWithShape="1">
          <a:blip r:embed="rId3" cstate="screen">
            <a:extLst>
              <a:ext uri="{28A0092B-C50C-407E-A947-70E740481C1C}">
                <a14:useLocalDpi xmlns:a14="http://schemas.microsoft.com/office/drawing/2010/main" val="0"/>
              </a:ext>
            </a:extLst>
          </a:blip>
          <a:srcRect r="-1"/>
          <a:stretch/>
        </p:blipFill>
        <p:spPr bwMode="auto">
          <a:xfrm>
            <a:off x="3707904" y="836712"/>
            <a:ext cx="1795859" cy="108992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5"/>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3931904" y="5477471"/>
            <a:ext cx="1792224" cy="11145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96232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828"/>
                                        </p:tgtEl>
                                        <p:attrNameLst>
                                          <p:attrName>style.visibility</p:attrName>
                                        </p:attrNameLst>
                                      </p:cBhvr>
                                      <p:to>
                                        <p:strVal val="visible"/>
                                      </p:to>
                                    </p:set>
                                    <p:animEffect transition="in" filter="dissolve">
                                      <p:cBhvr>
                                        <p:cTn id="7" dur="500"/>
                                        <p:tgtEl>
                                          <p:spTgt spid="205828"/>
                                        </p:tgtEl>
                                      </p:cBhvr>
                                    </p:animEffect>
                                  </p:childTnLst>
                                </p:cTn>
                              </p:par>
                            </p:childTnLst>
                          </p:cTn>
                        </p:par>
                        <p:par>
                          <p:cTn id="8" fill="hold" nodeType="with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05839"/>
                                        </p:tgtEl>
                                        <p:attrNameLst>
                                          <p:attrName>style.visibility</p:attrName>
                                        </p:attrNameLst>
                                      </p:cBhvr>
                                      <p:to>
                                        <p:strVal val="visible"/>
                                      </p:to>
                                    </p:set>
                                    <p:animEffect transition="in" filter="dissolve">
                                      <p:cBhvr>
                                        <p:cTn id="11" dur="500"/>
                                        <p:tgtEl>
                                          <p:spTgt spid="205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8" grpId="0" animBg="1"/>
      <p:bldP spid="205839"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Rot="1" noChangeArrowheads="1"/>
          </p:cNvSpPr>
          <p:nvPr>
            <p:ph type="title"/>
          </p:nvPr>
        </p:nvSpPr>
        <p:spPr>
          <a:xfrm>
            <a:off x="971600" y="60325"/>
            <a:ext cx="7920880" cy="555625"/>
          </a:xfrm>
        </p:spPr>
        <p:txBody>
          <a:bodyPr/>
          <a:lstStyle/>
          <a:p>
            <a:pPr>
              <a:defRPr/>
            </a:pPr>
            <a:r>
              <a:rPr lang="en-US" sz="2800" dirty="0" smtClean="0"/>
              <a:t>Using Models</a:t>
            </a:r>
          </a:p>
        </p:txBody>
      </p:sp>
      <p:sp>
        <p:nvSpPr>
          <p:cNvPr id="34819" name="Rectangle 3"/>
          <p:cNvSpPr>
            <a:spLocks noGrp="1" noChangeArrowheads="1"/>
          </p:cNvSpPr>
          <p:nvPr>
            <p:ph type="body" idx="1"/>
          </p:nvPr>
        </p:nvSpPr>
        <p:spPr>
          <a:xfrm>
            <a:off x="899592" y="836712"/>
            <a:ext cx="7992888" cy="5472609"/>
          </a:xfrm>
        </p:spPr>
        <p:txBody>
          <a:bodyPr/>
          <a:lstStyle/>
          <a:p>
            <a:pPr marL="231775" indent="-231775"/>
            <a:r>
              <a:rPr lang="en-US" sz="2500" b="1" dirty="0" smtClean="0"/>
              <a:t>Positive economics </a:t>
            </a:r>
            <a:r>
              <a:rPr lang="en-US" sz="2500" dirty="0" smtClean="0"/>
              <a:t>is the branch of economic analysis that describes the way the economy actually works.</a:t>
            </a:r>
          </a:p>
          <a:p>
            <a:pPr marL="631825" lvl="1" indent="-231775"/>
            <a:r>
              <a:rPr lang="en-US" sz="2500" dirty="0" smtClean="0"/>
              <a:t>A </a:t>
            </a:r>
            <a:r>
              <a:rPr lang="en-US" sz="2500" b="1" dirty="0"/>
              <a:t>forecast </a:t>
            </a:r>
            <a:r>
              <a:rPr lang="en-US" sz="2500" dirty="0"/>
              <a:t>is a simple prediction of the </a:t>
            </a:r>
            <a:r>
              <a:rPr lang="en-US" sz="2500" dirty="0" smtClean="0"/>
              <a:t>future, and is part of positive economics.</a:t>
            </a:r>
          </a:p>
          <a:p>
            <a:pPr marL="631825" lvl="1" indent="-231775"/>
            <a:r>
              <a:rPr lang="en-US" sz="2500" dirty="0"/>
              <a:t>E.g. If the government increases taxes in this market, the quantity produced will fall. </a:t>
            </a:r>
            <a:endParaRPr lang="en-US" sz="2500" b="1" dirty="0" smtClean="0"/>
          </a:p>
          <a:p>
            <a:pPr marL="231775" indent="-231775"/>
            <a:r>
              <a:rPr lang="en-US" sz="2500" b="1" dirty="0" smtClean="0"/>
              <a:t>Normative economics </a:t>
            </a:r>
            <a:r>
              <a:rPr lang="en-US" sz="2500" dirty="0" smtClean="0"/>
              <a:t>makes prescriptions about the way the economy </a:t>
            </a:r>
            <a:r>
              <a:rPr lang="en-US" sz="2500" i="1" dirty="0" smtClean="0"/>
              <a:t>should </a:t>
            </a:r>
            <a:r>
              <a:rPr lang="en-US" sz="2500" dirty="0" smtClean="0"/>
              <a:t>work.</a:t>
            </a:r>
          </a:p>
          <a:p>
            <a:pPr marL="631825" lvl="2" indent="-231775">
              <a:buFont typeface="Arial" pitchFamily="34" charset="0"/>
              <a:buChar char="•"/>
            </a:pPr>
            <a:r>
              <a:rPr lang="en-US" sz="2500" dirty="0"/>
              <a:t>E.g. </a:t>
            </a:r>
            <a:r>
              <a:rPr lang="en-US" sz="2500" dirty="0" smtClean="0"/>
              <a:t>The </a:t>
            </a:r>
            <a:r>
              <a:rPr lang="en-US" sz="2500" dirty="0"/>
              <a:t>government </a:t>
            </a:r>
            <a:r>
              <a:rPr lang="en-US" sz="2500" dirty="0" smtClean="0"/>
              <a:t>should care of environmental degradation, as much as it cares about economic growth. </a:t>
            </a:r>
            <a:endParaRPr lang="en-US" sz="2500" dirty="0"/>
          </a:p>
          <a:p>
            <a:pPr marL="231775" indent="-231775"/>
            <a:r>
              <a:rPr lang="en-US" sz="2500" dirty="0" smtClean="0"/>
              <a:t>Economists </a:t>
            </a:r>
            <a:r>
              <a:rPr lang="en-US" sz="2500" dirty="0"/>
              <a:t>can determine correct answers for positive questions, but </a:t>
            </a:r>
            <a:r>
              <a:rPr lang="en-US" sz="2500" dirty="0" smtClean="0"/>
              <a:t>usually not </a:t>
            </a:r>
            <a:r>
              <a:rPr lang="en-US" sz="2500" dirty="0"/>
              <a:t>for normative questions, which involve value judgments.</a:t>
            </a:r>
            <a:endParaRPr lang="en-US" sz="2500" dirty="0" smtClean="0"/>
          </a:p>
          <a:p>
            <a:pPr marL="231775" indent="-231775"/>
            <a:endParaRPr lang="en-US" sz="2500" dirty="0" smtClean="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63488" y="980727"/>
            <a:ext cx="8001000" cy="5400601"/>
          </a:xfrm>
        </p:spPr>
        <p:txBody>
          <a:bodyPr>
            <a:normAutofit/>
          </a:bodyPr>
          <a:lstStyle/>
          <a:p>
            <a:pPr marL="0" indent="0">
              <a:buNone/>
            </a:pPr>
            <a:r>
              <a:rPr lang="en-US" sz="2800" dirty="0" smtClean="0"/>
              <a:t>Label each of the following statements as </a:t>
            </a:r>
            <a:r>
              <a:rPr lang="en-US" sz="2800" dirty="0" smtClean="0">
                <a:solidFill>
                  <a:srgbClr val="0070C0"/>
                </a:solidFill>
              </a:rPr>
              <a:t>positive </a:t>
            </a:r>
            <a:r>
              <a:rPr lang="en-US" sz="2800" dirty="0" smtClean="0"/>
              <a:t>(a) </a:t>
            </a:r>
            <a:r>
              <a:rPr lang="en-US" sz="2800" dirty="0"/>
              <a:t> </a:t>
            </a:r>
            <a:r>
              <a:rPr lang="en-US" sz="2800" dirty="0" smtClean="0"/>
              <a:t>or </a:t>
            </a:r>
            <a:r>
              <a:rPr lang="en-US" sz="2800" dirty="0" smtClean="0">
                <a:solidFill>
                  <a:schemeClr val="accent3">
                    <a:lumMod val="75000"/>
                  </a:schemeClr>
                </a:solidFill>
              </a:rPr>
              <a:t>normative</a:t>
            </a:r>
            <a:r>
              <a:rPr lang="en-US" sz="2800" dirty="0" smtClean="0"/>
              <a:t> (b):</a:t>
            </a:r>
          </a:p>
          <a:p>
            <a:pPr marL="0" indent="0">
              <a:buNone/>
            </a:pPr>
            <a:endParaRPr lang="en-US" sz="1800" dirty="0" smtClean="0"/>
          </a:p>
          <a:p>
            <a:pPr marL="398463" indent="-398463">
              <a:buFont typeface="+mj-lt"/>
              <a:buAutoNum type="arabicPeriod"/>
            </a:pPr>
            <a:r>
              <a:rPr lang="en-US" sz="2800" dirty="0"/>
              <a:t>More than 60% of women are in the labor market. </a:t>
            </a:r>
          </a:p>
          <a:p>
            <a:pPr marL="398463" indent="-398463">
              <a:buFont typeface="+mj-lt"/>
              <a:buAutoNum type="arabicPeriod"/>
            </a:pPr>
            <a:r>
              <a:rPr lang="en-US" sz="2800" dirty="0"/>
              <a:t>Rent control laws should be implemented because they help to achieve equity or fairness in housing.</a:t>
            </a:r>
          </a:p>
          <a:p>
            <a:pPr marL="398463" indent="-398463">
              <a:buFont typeface="+mj-lt"/>
              <a:buAutoNum type="arabicPeriod"/>
            </a:pPr>
            <a:r>
              <a:rPr lang="en-US" sz="2800" dirty="0"/>
              <a:t>Society should take measures to end gun violence. </a:t>
            </a:r>
          </a:p>
          <a:p>
            <a:pPr marL="398463" indent="-398463">
              <a:buFont typeface="+mj-lt"/>
              <a:buAutoNum type="arabicPeriod"/>
            </a:pPr>
            <a:r>
              <a:rPr lang="en-US" sz="2800" dirty="0"/>
              <a:t>People who smoke pass on increased medical costs to the whole society.</a:t>
            </a:r>
          </a:p>
          <a:p>
            <a:pPr marL="398463" indent="-398463">
              <a:buFont typeface="+mj-lt"/>
              <a:buAutoNum type="arabicPeriod"/>
            </a:pPr>
            <a:r>
              <a:rPr lang="en-US" sz="2800" dirty="0"/>
              <a:t>Single mothers are more than twice as likely as married mothers to be in poverty.</a:t>
            </a:r>
          </a:p>
        </p:txBody>
      </p:sp>
    </p:spTree>
    <p:extLst>
      <p:ext uri="{BB962C8B-B14F-4D97-AF65-F5344CB8AC3E}">
        <p14:creationId xmlns:p14="http://schemas.microsoft.com/office/powerpoint/2010/main" val="13728162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3">
                                            <p:txEl>
                                              <p:pRg st="2" end="2"/>
                                            </p:txEl>
                                          </p:spTgt>
                                        </p:tgtEl>
                                        <p:attrNameLst>
                                          <p:attrName>style.color</p:attrName>
                                        </p:attrNameLst>
                                      </p:cBhvr>
                                      <p:to>
                                        <a:srgbClr val="0070C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3">
                                            <p:txEl>
                                              <p:pRg st="3" end="3"/>
                                            </p:txEl>
                                          </p:spTgt>
                                        </p:tgtEl>
                                        <p:attrNameLst>
                                          <p:attrName>style.color</p:attrName>
                                        </p:attrNameLst>
                                      </p:cBhvr>
                                      <p:to>
                                        <a:srgbClr val="76923C"/>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2000" fill="hold"/>
                                        <p:tgtEl>
                                          <p:spTgt spid="3">
                                            <p:txEl>
                                              <p:pRg st="4" end="4"/>
                                            </p:txEl>
                                          </p:spTgt>
                                        </p:tgtEl>
                                        <p:attrNameLst>
                                          <p:attrName>style.color</p:attrName>
                                        </p:attrNameLst>
                                      </p:cBhvr>
                                      <p:to>
                                        <a:srgbClr val="76923C"/>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2000" fill="hold"/>
                                        <p:tgtEl>
                                          <p:spTgt spid="3">
                                            <p:txEl>
                                              <p:pRg st="5" end="5"/>
                                            </p:txEl>
                                          </p:spTgt>
                                        </p:tgtEl>
                                        <p:attrNameLst>
                                          <p:attrName>style.color</p:attrName>
                                        </p:attrNameLst>
                                      </p:cBhvr>
                                      <p:to>
                                        <a:srgbClr val="0070C0"/>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2000" fill="hold"/>
                                        <p:tgtEl>
                                          <p:spTgt spid="3">
                                            <p:txEl>
                                              <p:pRg st="6" end="6"/>
                                            </p:txEl>
                                          </p:spTgt>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Using Models: </a:t>
            </a:r>
            <a:r>
              <a:rPr lang="en-US" sz="2800" dirty="0" smtClean="0"/>
              <a:t>When </a:t>
            </a:r>
            <a:r>
              <a:rPr lang="en-US" sz="2800" dirty="0"/>
              <a:t>and Why Economists Disagree</a:t>
            </a:r>
          </a:p>
        </p:txBody>
      </p:sp>
      <p:sp>
        <p:nvSpPr>
          <p:cNvPr id="3" name="Content Placeholder 2"/>
          <p:cNvSpPr>
            <a:spLocks noGrp="1"/>
          </p:cNvSpPr>
          <p:nvPr>
            <p:ph idx="1"/>
          </p:nvPr>
        </p:nvSpPr>
        <p:spPr>
          <a:xfrm>
            <a:off x="827584" y="620688"/>
            <a:ext cx="8240216" cy="6120680"/>
          </a:xfrm>
        </p:spPr>
        <p:txBody>
          <a:bodyPr>
            <a:noAutofit/>
          </a:bodyPr>
          <a:lstStyle/>
          <a:p>
            <a:pPr marL="457200" indent="-457200">
              <a:buBlip>
                <a:blip r:embed="rId2"/>
              </a:buBlip>
            </a:pPr>
            <a:r>
              <a:rPr lang="en-US" sz="2800" dirty="0" smtClean="0">
                <a:solidFill>
                  <a:schemeClr val="accent1">
                    <a:lumMod val="75000"/>
                  </a:schemeClr>
                </a:solidFill>
              </a:rPr>
              <a:t>Newspapers </a:t>
            </a:r>
            <a:r>
              <a:rPr lang="en-US" sz="2800" dirty="0">
                <a:solidFill>
                  <a:schemeClr val="accent1">
                    <a:lumMod val="75000"/>
                  </a:schemeClr>
                </a:solidFill>
              </a:rPr>
              <a:t>tends to exaggerate the </a:t>
            </a:r>
            <a:r>
              <a:rPr lang="en-US" sz="2800" dirty="0" smtClean="0">
                <a:solidFill>
                  <a:schemeClr val="accent1">
                    <a:lumMod val="75000"/>
                  </a:schemeClr>
                </a:solidFill>
              </a:rPr>
              <a:t>differences in </a:t>
            </a:r>
            <a:r>
              <a:rPr lang="en-US" sz="2800" dirty="0">
                <a:solidFill>
                  <a:schemeClr val="accent1">
                    <a:lumMod val="75000"/>
                  </a:schemeClr>
                </a:solidFill>
              </a:rPr>
              <a:t>views among </a:t>
            </a:r>
            <a:r>
              <a:rPr lang="en-US" sz="2800" dirty="0" smtClean="0">
                <a:solidFill>
                  <a:schemeClr val="accent1">
                    <a:lumMod val="75000"/>
                  </a:schemeClr>
                </a:solidFill>
              </a:rPr>
              <a:t>economists</a:t>
            </a:r>
          </a:p>
          <a:p>
            <a:pPr marL="457200" indent="-457200">
              <a:buBlip>
                <a:blip r:embed="rId2"/>
              </a:buBlip>
            </a:pPr>
            <a:r>
              <a:rPr lang="en-US" sz="2800" dirty="0" smtClean="0"/>
              <a:t>Economic modeling requires simplifying assumptions</a:t>
            </a:r>
          </a:p>
          <a:p>
            <a:pPr lvl="2"/>
            <a:r>
              <a:rPr lang="en-US" sz="2400" dirty="0"/>
              <a:t>Two economists can legitimately disagree about which </a:t>
            </a:r>
            <a:r>
              <a:rPr lang="en-US" sz="2400" dirty="0" smtClean="0"/>
              <a:t>models and which simplifications </a:t>
            </a:r>
            <a:r>
              <a:rPr lang="en-US" sz="2400" dirty="0"/>
              <a:t>are </a:t>
            </a:r>
            <a:r>
              <a:rPr lang="en-US" sz="2400" dirty="0" smtClean="0"/>
              <a:t>appropriate.</a:t>
            </a:r>
          </a:p>
          <a:p>
            <a:pPr lvl="2"/>
            <a:r>
              <a:rPr lang="en-US" sz="2400" dirty="0"/>
              <a:t>In most cases such disputes are eventually resolved (although </a:t>
            </a:r>
            <a:r>
              <a:rPr lang="en-US" sz="2400" dirty="0" smtClean="0"/>
              <a:t>it can take a long time)</a:t>
            </a:r>
          </a:p>
          <a:p>
            <a:pPr marL="457200" indent="-457200">
              <a:buBlip>
                <a:blip r:embed="rId2"/>
              </a:buBlip>
            </a:pPr>
            <a:r>
              <a:rPr lang="en-US" sz="2800" dirty="0"/>
              <a:t>Economists can also disagree about values </a:t>
            </a:r>
          </a:p>
          <a:p>
            <a:pPr lvl="2"/>
            <a:r>
              <a:rPr lang="en-US" sz="2400" dirty="0"/>
              <a:t>Economists may disagree about which is more important: income inequality or income growth</a:t>
            </a:r>
            <a:endParaRPr lang="en-US" sz="2800" dirty="0" smtClean="0">
              <a:solidFill>
                <a:schemeClr val="accent1">
                  <a:lumMod val="75000"/>
                </a:schemeClr>
              </a:solidFill>
            </a:endParaRPr>
          </a:p>
          <a:p>
            <a:pPr marL="457200" indent="-457200">
              <a:buBlip>
                <a:blip r:embed="rId2"/>
              </a:buBlip>
            </a:pPr>
            <a:r>
              <a:rPr lang="en-US" sz="2800" dirty="0" smtClean="0">
                <a:solidFill>
                  <a:schemeClr val="accent1">
                    <a:lumMod val="75000"/>
                  </a:schemeClr>
                </a:solidFill>
              </a:rPr>
              <a:t>Economics </a:t>
            </a:r>
            <a:r>
              <a:rPr lang="en-US" sz="2800" dirty="0">
                <a:solidFill>
                  <a:schemeClr val="accent1">
                    <a:lumMod val="75000"/>
                  </a:schemeClr>
                </a:solidFill>
              </a:rPr>
              <a:t>is often tied up in </a:t>
            </a:r>
            <a:r>
              <a:rPr lang="en-US" sz="2800" dirty="0" smtClean="0">
                <a:solidFill>
                  <a:schemeClr val="accent1">
                    <a:lumMod val="75000"/>
                  </a:schemeClr>
                </a:solidFill>
              </a:rPr>
              <a:t>politics</a:t>
            </a:r>
            <a:endParaRPr lang="en-US" sz="2800" dirty="0">
              <a:solidFill>
                <a:schemeClr val="accent1">
                  <a:lumMod val="75000"/>
                </a:schemeClr>
              </a:solidFill>
            </a:endParaRPr>
          </a:p>
          <a:p>
            <a:pPr lvl="2"/>
            <a:r>
              <a:rPr lang="en-US" sz="2400" dirty="0"/>
              <a:t>Powerful interest groups find and promote economists who give supportive opinions.</a:t>
            </a:r>
          </a:p>
          <a:p>
            <a:pPr marL="457200" indent="-457200">
              <a:buBlip>
                <a:blip r:embed="rId2"/>
              </a:buBlip>
            </a:pPr>
            <a:endParaRPr lang="en-US" sz="2400" dirty="0" smtClean="0"/>
          </a:p>
          <a:p>
            <a:pPr marL="457200" lvl="1" indent="0">
              <a:buNone/>
            </a:pPr>
            <a:endParaRPr lang="en-US" sz="2400" dirty="0"/>
          </a:p>
        </p:txBody>
      </p:sp>
    </p:spTree>
    <p:extLst>
      <p:ext uri="{BB962C8B-B14F-4D97-AF65-F5344CB8AC3E}">
        <p14:creationId xmlns:p14="http://schemas.microsoft.com/office/powerpoint/2010/main" val="37773148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601" y="39688"/>
            <a:ext cx="7992887" cy="579437"/>
          </a:xfrm>
        </p:spPr>
        <p:txBody>
          <a:bodyPr/>
          <a:lstStyle/>
          <a:p>
            <a:pPr>
              <a:defRPr/>
            </a:pPr>
            <a:r>
              <a:rPr lang="en-US" sz="2800" dirty="0" smtClean="0"/>
              <a:t>SUMMARY</a:t>
            </a:r>
            <a:endParaRPr lang="en-US" sz="2800" dirty="0"/>
          </a:p>
        </p:txBody>
      </p:sp>
      <p:sp>
        <p:nvSpPr>
          <p:cNvPr id="41987" name="Rectangle 2"/>
          <p:cNvSpPr>
            <a:spLocks noGrp="1" noChangeArrowheads="1"/>
          </p:cNvSpPr>
          <p:nvPr>
            <p:ph idx="1"/>
          </p:nvPr>
        </p:nvSpPr>
        <p:spPr>
          <a:xfrm>
            <a:off x="971600" y="980728"/>
            <a:ext cx="7920880" cy="5145434"/>
          </a:xfrm>
        </p:spPr>
        <p:txBody>
          <a:bodyPr/>
          <a:lstStyle/>
          <a:p>
            <a:pPr marL="463550" indent="-463550">
              <a:buFontTx/>
              <a:buAutoNum type="arabicPeriod"/>
            </a:pPr>
            <a:r>
              <a:rPr lang="en-US" dirty="0" smtClean="0"/>
              <a:t>Almost all economics is based on </a:t>
            </a:r>
            <a:r>
              <a:rPr lang="en-US" b="1" dirty="0" smtClean="0"/>
              <a:t>models</a:t>
            </a:r>
            <a:r>
              <a:rPr lang="en-US" dirty="0" smtClean="0"/>
              <a:t>. </a:t>
            </a:r>
            <a:br>
              <a:rPr lang="en-US" dirty="0" smtClean="0"/>
            </a:br>
            <a:r>
              <a:rPr lang="en-US" dirty="0" smtClean="0"/>
              <a:t/>
            </a:r>
            <a:br>
              <a:rPr lang="en-US" dirty="0" smtClean="0"/>
            </a:br>
            <a:r>
              <a:rPr lang="en-US" dirty="0" smtClean="0"/>
              <a:t>An important assumption in economic models is the </a:t>
            </a:r>
            <a:r>
              <a:rPr lang="en-US" b="1" dirty="0" smtClean="0"/>
              <a:t>other things equal assumption</a:t>
            </a:r>
            <a:r>
              <a:rPr lang="en-US" dirty="0" smtClean="0"/>
              <a:t>, which allows analysis of the effect of a change in one factor by holding all other relevant factors unchanged.</a:t>
            </a:r>
          </a:p>
          <a:p>
            <a:pPr marL="463550" indent="-463550">
              <a:buFontTx/>
              <a:buAutoNum type="arabicPeriod"/>
            </a:pPr>
            <a:endParaRPr lang="en-US" dirty="0" smtClean="0"/>
          </a:p>
          <a:p>
            <a:pPr marL="463550" indent="-463550">
              <a:buFont typeface="+mj-lt"/>
              <a:buAutoNum type="arabicPeriod" startAt="2"/>
            </a:pPr>
            <a:r>
              <a:rPr lang="tr-TR" dirty="0"/>
              <a:t>One important economic model is the </a:t>
            </a:r>
            <a:r>
              <a:rPr lang="tr-TR" b="1" dirty="0"/>
              <a:t>production possibility</a:t>
            </a:r>
            <a:r>
              <a:rPr lang="en-US" b="1" dirty="0"/>
              <a:t> </a:t>
            </a:r>
            <a:r>
              <a:rPr lang="tr-TR" b="1" dirty="0"/>
              <a:t>frontier. </a:t>
            </a:r>
            <a:r>
              <a:rPr lang="tr-TR" dirty="0"/>
              <a:t>It illustrates: </a:t>
            </a:r>
            <a:r>
              <a:rPr lang="tr-TR" i="1" dirty="0"/>
              <a:t>opportunity cost</a:t>
            </a:r>
            <a:r>
              <a:rPr lang="en-US" i="1" dirty="0"/>
              <a:t>, </a:t>
            </a:r>
            <a:r>
              <a:rPr lang="tr-TR" i="1" dirty="0"/>
              <a:t>efficiency</a:t>
            </a:r>
            <a:r>
              <a:rPr lang="en-US" i="1" dirty="0"/>
              <a:t>, </a:t>
            </a:r>
            <a:r>
              <a:rPr lang="tr-TR" dirty="0"/>
              <a:t>and</a:t>
            </a:r>
            <a:r>
              <a:rPr lang="en-US" dirty="0"/>
              <a:t> </a:t>
            </a:r>
            <a:r>
              <a:rPr lang="tr-TR" i="1" dirty="0"/>
              <a:t>economic growth</a:t>
            </a:r>
            <a:r>
              <a:rPr lang="tr-TR" dirty="0"/>
              <a:t>. </a:t>
            </a:r>
            <a:r>
              <a:rPr lang="en-US" dirty="0"/>
              <a:t/>
            </a:r>
            <a:br>
              <a:rPr lang="en-US" dirty="0"/>
            </a:br>
            <a:r>
              <a:rPr lang="en-US" dirty="0"/>
              <a:t/>
            </a:r>
            <a:br>
              <a:rPr lang="en-US" dirty="0"/>
            </a:br>
            <a:r>
              <a:rPr lang="tr-TR" dirty="0"/>
              <a:t>There are two basic sources of growth: an</a:t>
            </a:r>
            <a:r>
              <a:rPr lang="en-US" dirty="0"/>
              <a:t> </a:t>
            </a:r>
            <a:r>
              <a:rPr lang="tr-TR" dirty="0"/>
              <a:t>increase in </a:t>
            </a:r>
            <a:r>
              <a:rPr lang="tr-TR" b="1" dirty="0"/>
              <a:t>factors of production</a:t>
            </a:r>
            <a:r>
              <a:rPr lang="en-US" b="1" dirty="0"/>
              <a:t> </a:t>
            </a:r>
            <a:r>
              <a:rPr lang="en-US" dirty="0"/>
              <a:t>—</a:t>
            </a:r>
            <a:r>
              <a:rPr lang="tr-TR" b="1" dirty="0"/>
              <a:t> </a:t>
            </a:r>
            <a:r>
              <a:rPr lang="tr-TR" dirty="0"/>
              <a:t>resources such as land,</a:t>
            </a:r>
            <a:r>
              <a:rPr lang="en-US" dirty="0"/>
              <a:t> </a:t>
            </a:r>
            <a:r>
              <a:rPr lang="tr-TR" dirty="0"/>
              <a:t>labor, capital, and human capital, inputs that are not used</a:t>
            </a:r>
            <a:r>
              <a:rPr lang="en-US" dirty="0"/>
              <a:t> </a:t>
            </a:r>
            <a:r>
              <a:rPr lang="tr-TR" dirty="0"/>
              <a:t>up in production</a:t>
            </a:r>
            <a:r>
              <a:rPr lang="en-US" dirty="0"/>
              <a:t> —</a:t>
            </a:r>
            <a:r>
              <a:rPr lang="tr-TR" dirty="0"/>
              <a:t> and improved </a:t>
            </a:r>
            <a:r>
              <a:rPr lang="tr-TR" b="1" dirty="0"/>
              <a:t>technology.</a:t>
            </a:r>
          </a:p>
          <a:p>
            <a:pPr marL="533400" indent="-533400">
              <a:lnSpc>
                <a:spcPct val="90000"/>
              </a:lnSpc>
              <a:spcBef>
                <a:spcPct val="0"/>
              </a:spcBef>
              <a:buClr>
                <a:srgbClr val="FFCC00"/>
              </a:buClr>
              <a:buFontTx/>
              <a:buAutoNum type="arabicPeriod" startAt="2"/>
            </a:pPr>
            <a:endParaRPr lang="en-US" dirty="0"/>
          </a:p>
          <a:p>
            <a:pPr marL="533400" indent="-533400">
              <a:lnSpc>
                <a:spcPct val="90000"/>
              </a:lnSpc>
              <a:spcBef>
                <a:spcPct val="0"/>
              </a:spcBef>
              <a:buClr>
                <a:srgbClr val="FFCC00"/>
              </a:buClr>
              <a:buFontTx/>
              <a:buAutoNum type="arabicPeriod" startAt="2"/>
            </a:pPr>
            <a:endParaRPr lang="en-US" sz="1800" dirty="0"/>
          </a:p>
          <a:p>
            <a:pPr marL="463550" indent="-463550">
              <a:buFontTx/>
              <a:buAutoNum type="arabicPeriod"/>
            </a:pPr>
            <a:endParaRPr lang="en-US" dirty="0" smtClean="0"/>
          </a:p>
          <a:p>
            <a:pPr marL="533400" indent="-533400">
              <a:lnSpc>
                <a:spcPct val="90000"/>
              </a:lnSpc>
              <a:spcBef>
                <a:spcPct val="0"/>
              </a:spcBef>
              <a:buClr>
                <a:srgbClr val="FFCC00"/>
              </a:buClr>
              <a:buFontTx/>
              <a:buAutoNum type="arabicPeriod"/>
            </a:pPr>
            <a:endParaRPr lang="en-US" sz="1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fade">
                                      <p:cBhvr>
                                        <p:cTn id="7" dur="500"/>
                                        <p:tgtEl>
                                          <p:spTgt spid="419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1987">
                                            <p:txEl>
                                              <p:pRg st="2" end="2"/>
                                            </p:txEl>
                                          </p:spTgt>
                                        </p:tgtEl>
                                        <p:attrNameLst>
                                          <p:attrName>style.visibility</p:attrName>
                                        </p:attrNameLst>
                                      </p:cBhvr>
                                      <p:to>
                                        <p:strVal val="visible"/>
                                      </p:to>
                                    </p:set>
                                    <p:animEffect transition="in" filter="fade">
                                      <p:cBhvr>
                                        <p:cTn id="12" dur="500"/>
                                        <p:tgtEl>
                                          <p:spTgt spid="419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601" y="39688"/>
            <a:ext cx="7992887" cy="579437"/>
          </a:xfrm>
        </p:spPr>
        <p:txBody>
          <a:bodyPr/>
          <a:lstStyle/>
          <a:p>
            <a:pPr>
              <a:defRPr/>
            </a:pPr>
            <a:r>
              <a:rPr lang="en-US" sz="2800" dirty="0" smtClean="0"/>
              <a:t>SUMMARY</a:t>
            </a:r>
            <a:endParaRPr lang="en-US" sz="2800" dirty="0"/>
          </a:p>
        </p:txBody>
      </p:sp>
      <p:sp>
        <p:nvSpPr>
          <p:cNvPr id="43011" name="Rectangle 2"/>
          <p:cNvSpPr>
            <a:spLocks noGrp="1" noChangeArrowheads="1"/>
          </p:cNvSpPr>
          <p:nvPr>
            <p:ph idx="1"/>
          </p:nvPr>
        </p:nvSpPr>
        <p:spPr>
          <a:xfrm>
            <a:off x="971600" y="620688"/>
            <a:ext cx="7920880" cy="5949280"/>
          </a:xfrm>
        </p:spPr>
        <p:txBody>
          <a:bodyPr/>
          <a:lstStyle/>
          <a:p>
            <a:pPr>
              <a:buFontTx/>
              <a:buAutoNum type="arabicPeriod" startAt="3"/>
            </a:pPr>
            <a:r>
              <a:rPr lang="tr-TR" dirty="0" smtClean="0"/>
              <a:t>Another important model is </a:t>
            </a:r>
            <a:r>
              <a:rPr lang="tr-TR" b="1" dirty="0" smtClean="0"/>
              <a:t>comparative advantage,</a:t>
            </a:r>
            <a:r>
              <a:rPr lang="en-US" b="1" dirty="0" smtClean="0"/>
              <a:t> </a:t>
            </a:r>
            <a:r>
              <a:rPr lang="tr-TR" dirty="0" smtClean="0"/>
              <a:t>which explains the source of gains from trade between</a:t>
            </a:r>
            <a:r>
              <a:rPr lang="en-US" dirty="0" smtClean="0"/>
              <a:t> </a:t>
            </a:r>
            <a:r>
              <a:rPr lang="tr-TR" dirty="0" smtClean="0"/>
              <a:t>individuals and countries.</a:t>
            </a:r>
            <a:r>
              <a:rPr lang="en-US" dirty="0" smtClean="0"/>
              <a:t> </a:t>
            </a:r>
            <a:r>
              <a:rPr lang="tr-TR" dirty="0" smtClean="0"/>
              <a:t>Everyone has a comparative</a:t>
            </a:r>
            <a:r>
              <a:rPr lang="en-US" dirty="0" smtClean="0"/>
              <a:t> </a:t>
            </a:r>
            <a:r>
              <a:rPr lang="tr-TR" dirty="0" smtClean="0"/>
              <a:t>advantage in somethin</a:t>
            </a:r>
            <a:r>
              <a:rPr lang="en-US" dirty="0" smtClean="0"/>
              <a:t>g</a:t>
            </a:r>
            <a:r>
              <a:rPr lang="tr-TR" dirty="0" smtClean="0"/>
              <a:t>. </a:t>
            </a:r>
            <a:r>
              <a:rPr lang="en-US" dirty="0" smtClean="0"/>
              <a:t/>
            </a:r>
            <a:br>
              <a:rPr lang="en-US" dirty="0" smtClean="0"/>
            </a:br>
            <a:r>
              <a:rPr lang="en-US" dirty="0" smtClean="0"/>
              <a:t/>
            </a:r>
            <a:br>
              <a:rPr lang="en-US" dirty="0" smtClean="0"/>
            </a:br>
            <a:r>
              <a:rPr lang="en-US" dirty="0" smtClean="0"/>
              <a:t>This</a:t>
            </a:r>
            <a:r>
              <a:rPr lang="tr-TR" dirty="0" smtClean="0"/>
              <a:t> is often confused with </a:t>
            </a:r>
            <a:r>
              <a:rPr lang="tr-TR" b="1" dirty="0" smtClean="0"/>
              <a:t>absolute advantage</a:t>
            </a:r>
            <a:r>
              <a:rPr lang="tr-TR" dirty="0" smtClean="0"/>
              <a:t>,</a:t>
            </a:r>
            <a:r>
              <a:rPr lang="en-US" b="1" dirty="0" smtClean="0"/>
              <a:t> </a:t>
            </a:r>
            <a:r>
              <a:rPr lang="tr-TR" dirty="0" smtClean="0"/>
              <a:t>an ability to produce a particular good or service better</a:t>
            </a:r>
            <a:r>
              <a:rPr lang="en-US" dirty="0" smtClean="0"/>
              <a:t> </a:t>
            </a:r>
            <a:r>
              <a:rPr lang="tr-TR" dirty="0" smtClean="0"/>
              <a:t>than anyone else. </a:t>
            </a:r>
            <a:endParaRPr lang="en-US" dirty="0" smtClean="0"/>
          </a:p>
          <a:p>
            <a:pPr>
              <a:buFontTx/>
              <a:buAutoNum type="arabicPeriod" startAt="3"/>
            </a:pPr>
            <a:r>
              <a:rPr lang="tr-TR" dirty="0"/>
              <a:t>In the simplest economies</a:t>
            </a:r>
            <a:r>
              <a:rPr lang="en-US" dirty="0"/>
              <a:t>,</a:t>
            </a:r>
            <a:r>
              <a:rPr lang="tr-TR" dirty="0"/>
              <a:t> people </a:t>
            </a:r>
            <a:r>
              <a:rPr lang="tr-TR" b="1" dirty="0"/>
              <a:t>barter</a:t>
            </a:r>
            <a:r>
              <a:rPr lang="en-US" dirty="0"/>
              <a:t> or </a:t>
            </a:r>
            <a:r>
              <a:rPr lang="tr-TR" dirty="0"/>
              <a:t>trade goods and</a:t>
            </a:r>
            <a:r>
              <a:rPr lang="en-US" dirty="0"/>
              <a:t> </a:t>
            </a:r>
            <a:r>
              <a:rPr lang="tr-TR" dirty="0"/>
              <a:t>services for one another—rather than trade them for</a:t>
            </a:r>
            <a:r>
              <a:rPr lang="en-US" dirty="0"/>
              <a:t> </a:t>
            </a:r>
            <a:r>
              <a:rPr lang="tr-TR" dirty="0"/>
              <a:t>money, as in a modern economy. </a:t>
            </a:r>
            <a:r>
              <a:rPr lang="en-US" dirty="0"/>
              <a:t/>
            </a:r>
            <a:br>
              <a:rPr lang="en-US" dirty="0"/>
            </a:br>
            <a:r>
              <a:rPr lang="en-US" dirty="0"/>
              <a:t/>
            </a:r>
            <a:br>
              <a:rPr lang="en-US" dirty="0"/>
            </a:br>
            <a:r>
              <a:rPr lang="tr-TR" dirty="0"/>
              <a:t>The </a:t>
            </a:r>
            <a:r>
              <a:rPr lang="tr-TR" b="1" dirty="0"/>
              <a:t>circular-flow</a:t>
            </a:r>
            <a:r>
              <a:rPr lang="en-US" b="1" dirty="0"/>
              <a:t> </a:t>
            </a:r>
            <a:r>
              <a:rPr lang="tr-TR" b="1" dirty="0"/>
              <a:t>diagram </a:t>
            </a:r>
            <a:r>
              <a:rPr lang="tr-TR" dirty="0"/>
              <a:t>represents transactions within the economy as</a:t>
            </a:r>
            <a:r>
              <a:rPr lang="en-US" dirty="0"/>
              <a:t> </a:t>
            </a:r>
            <a:r>
              <a:rPr lang="tr-TR" dirty="0"/>
              <a:t>flows of goods, services, and money between </a:t>
            </a:r>
            <a:r>
              <a:rPr lang="tr-TR" b="1" dirty="0"/>
              <a:t>households</a:t>
            </a:r>
            <a:r>
              <a:rPr lang="en-US" b="1" dirty="0"/>
              <a:t> </a:t>
            </a:r>
            <a:r>
              <a:rPr lang="tr-TR" dirty="0"/>
              <a:t>and </a:t>
            </a:r>
            <a:r>
              <a:rPr lang="tr-TR" b="1" dirty="0"/>
              <a:t>firms. </a:t>
            </a:r>
            <a:r>
              <a:rPr lang="tr-TR" dirty="0"/>
              <a:t>These transactions occur in </a:t>
            </a:r>
            <a:r>
              <a:rPr lang="tr-TR" b="1" dirty="0"/>
              <a:t>markets for goods</a:t>
            </a:r>
            <a:r>
              <a:rPr lang="en-US" b="1" dirty="0"/>
              <a:t> </a:t>
            </a:r>
            <a:r>
              <a:rPr lang="tr-TR" b="1" dirty="0"/>
              <a:t>and services </a:t>
            </a:r>
            <a:r>
              <a:rPr lang="tr-TR" dirty="0"/>
              <a:t>and </a:t>
            </a:r>
            <a:r>
              <a:rPr lang="tr-TR" b="1" dirty="0"/>
              <a:t>factor markets</a:t>
            </a:r>
            <a:r>
              <a:rPr lang="tr-TR" dirty="0"/>
              <a:t>. </a:t>
            </a:r>
          </a:p>
          <a:p>
            <a:pPr>
              <a:buFontTx/>
              <a:buAutoNum type="arabicPeriod" startAt="3"/>
            </a:pPr>
            <a:endParaRPr lang="tr-TR"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fade">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fade">
                                      <p:cBhvr>
                                        <p:cTn id="12" dur="500"/>
                                        <p:tgtEl>
                                          <p:spTgt spid="430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601" y="39688"/>
            <a:ext cx="7920879" cy="579437"/>
          </a:xfrm>
        </p:spPr>
        <p:txBody>
          <a:bodyPr/>
          <a:lstStyle/>
          <a:p>
            <a:pPr>
              <a:defRPr/>
            </a:pPr>
            <a:r>
              <a:rPr lang="en-US" sz="2800" dirty="0" smtClean="0"/>
              <a:t>SUMMARY</a:t>
            </a:r>
            <a:endParaRPr lang="en-US" sz="2800" dirty="0"/>
          </a:p>
        </p:txBody>
      </p:sp>
      <p:sp>
        <p:nvSpPr>
          <p:cNvPr id="44035" name="Rectangle 2"/>
          <p:cNvSpPr>
            <a:spLocks noGrp="1" noChangeArrowheads="1"/>
          </p:cNvSpPr>
          <p:nvPr>
            <p:ph idx="1"/>
          </p:nvPr>
        </p:nvSpPr>
        <p:spPr>
          <a:xfrm>
            <a:off x="887413" y="980728"/>
            <a:ext cx="8077075" cy="5472608"/>
          </a:xfrm>
        </p:spPr>
        <p:txBody>
          <a:bodyPr/>
          <a:lstStyle/>
          <a:p>
            <a:pPr marL="533400" indent="-533400">
              <a:buFontTx/>
              <a:buAutoNum type="arabicPeriod" startAt="5"/>
            </a:pPr>
            <a:r>
              <a:rPr lang="tr-TR" dirty="0" smtClean="0"/>
              <a:t>Economists use economic models both for </a:t>
            </a:r>
            <a:r>
              <a:rPr lang="tr-TR" b="1" dirty="0" smtClean="0"/>
              <a:t>positive</a:t>
            </a:r>
            <a:r>
              <a:rPr lang="en-US" b="1" dirty="0" smtClean="0"/>
              <a:t> </a:t>
            </a:r>
            <a:r>
              <a:rPr lang="tr-TR" b="1" dirty="0" smtClean="0"/>
              <a:t>economics</a:t>
            </a:r>
            <a:r>
              <a:rPr lang="tr-TR" dirty="0" smtClean="0"/>
              <a:t>,</a:t>
            </a:r>
            <a:r>
              <a:rPr lang="tr-TR" b="1" dirty="0" smtClean="0"/>
              <a:t> </a:t>
            </a:r>
            <a:r>
              <a:rPr lang="tr-TR" dirty="0" smtClean="0"/>
              <a:t>which describes how the economy works,</a:t>
            </a:r>
            <a:r>
              <a:rPr lang="en-US" dirty="0" smtClean="0"/>
              <a:t> </a:t>
            </a:r>
            <a:r>
              <a:rPr lang="tr-TR" dirty="0" smtClean="0"/>
              <a:t>and for </a:t>
            </a:r>
            <a:r>
              <a:rPr lang="tr-TR" b="1" dirty="0" smtClean="0"/>
              <a:t>normative economics</a:t>
            </a:r>
            <a:r>
              <a:rPr lang="tr-TR" dirty="0" smtClean="0"/>
              <a:t>,</a:t>
            </a:r>
            <a:r>
              <a:rPr lang="tr-TR" b="1" dirty="0" smtClean="0"/>
              <a:t> </a:t>
            </a:r>
            <a:r>
              <a:rPr lang="tr-TR" dirty="0" smtClean="0"/>
              <a:t>which prescribes how</a:t>
            </a:r>
            <a:r>
              <a:rPr lang="en-US" dirty="0" smtClean="0"/>
              <a:t> </a:t>
            </a:r>
            <a:r>
              <a:rPr lang="tr-TR" dirty="0" smtClean="0"/>
              <a:t>the economy </a:t>
            </a:r>
            <a:r>
              <a:rPr lang="tr-TR" i="1" dirty="0" smtClean="0"/>
              <a:t>should </a:t>
            </a:r>
            <a:r>
              <a:rPr lang="tr-TR" dirty="0" smtClean="0"/>
              <a:t>work. </a:t>
            </a:r>
            <a:r>
              <a:rPr lang="en-US" dirty="0" smtClean="0"/>
              <a:t/>
            </a:r>
            <a:br>
              <a:rPr lang="en-US" dirty="0" smtClean="0"/>
            </a:br>
            <a:r>
              <a:rPr lang="en-US" dirty="0" smtClean="0"/>
              <a:t/>
            </a:r>
            <a:br>
              <a:rPr lang="en-US" dirty="0" smtClean="0"/>
            </a:br>
            <a:r>
              <a:rPr lang="tr-TR" dirty="0" smtClean="0"/>
              <a:t>Positive economics often</a:t>
            </a:r>
            <a:r>
              <a:rPr lang="en-US" dirty="0" smtClean="0"/>
              <a:t> </a:t>
            </a:r>
            <a:r>
              <a:rPr lang="tr-TR" dirty="0" smtClean="0"/>
              <a:t>involves making </a:t>
            </a:r>
            <a:r>
              <a:rPr lang="tr-TR" b="1" dirty="0" smtClean="0"/>
              <a:t>forecasts</a:t>
            </a:r>
            <a:r>
              <a:rPr lang="tr-TR" dirty="0" smtClean="0"/>
              <a:t>.</a:t>
            </a:r>
            <a:r>
              <a:rPr lang="tr-TR" b="1" dirty="0" smtClean="0"/>
              <a:t> </a:t>
            </a:r>
            <a:r>
              <a:rPr lang="tr-TR" dirty="0" smtClean="0"/>
              <a:t>Economists can determine</a:t>
            </a:r>
            <a:r>
              <a:rPr lang="en-US" dirty="0" smtClean="0"/>
              <a:t> </a:t>
            </a:r>
            <a:r>
              <a:rPr lang="tr-TR" dirty="0" smtClean="0"/>
              <a:t>correct answers for positive questions, but typically not</a:t>
            </a:r>
            <a:r>
              <a:rPr lang="en-US" dirty="0" smtClean="0"/>
              <a:t> f</a:t>
            </a:r>
            <a:r>
              <a:rPr lang="tr-TR" dirty="0" smtClean="0"/>
              <a:t>or normative questions, which involve value judgments</a:t>
            </a:r>
            <a:r>
              <a:rPr lang="en-US" dirty="0" smtClean="0"/>
              <a:t>.</a:t>
            </a:r>
          </a:p>
          <a:p>
            <a:pPr marL="533400" indent="-533400">
              <a:buFontTx/>
              <a:buAutoNum type="arabicPeriod" startAt="5"/>
            </a:pPr>
            <a:r>
              <a:rPr lang="tr-TR" dirty="0"/>
              <a:t>There are two main reasons economists disagree. </a:t>
            </a:r>
            <a:r>
              <a:rPr lang="en-US" dirty="0"/>
              <a:t/>
            </a:r>
            <a:br>
              <a:rPr lang="en-US" dirty="0"/>
            </a:br>
            <a:r>
              <a:rPr lang="en-US" dirty="0"/>
              <a:t> </a:t>
            </a:r>
            <a:r>
              <a:rPr lang="tr-TR" dirty="0" smtClean="0"/>
              <a:t>One</a:t>
            </a:r>
            <a:r>
              <a:rPr lang="en-US" dirty="0"/>
              <a:t>: </a:t>
            </a:r>
            <a:r>
              <a:rPr lang="tr-TR" dirty="0"/>
              <a:t>they may disagree about which simplifications to make i</a:t>
            </a:r>
            <a:r>
              <a:rPr lang="en-US" dirty="0"/>
              <a:t>n </a:t>
            </a:r>
            <a:r>
              <a:rPr lang="tr-TR" dirty="0"/>
              <a:t>a model. </a:t>
            </a:r>
            <a:r>
              <a:rPr lang="en-US" dirty="0"/>
              <a:t/>
            </a:r>
            <a:br>
              <a:rPr lang="en-US" dirty="0"/>
            </a:br>
            <a:r>
              <a:rPr lang="en-US" dirty="0" smtClean="0"/>
              <a:t> </a:t>
            </a:r>
            <a:r>
              <a:rPr lang="tr-TR" dirty="0" smtClean="0"/>
              <a:t>Two</a:t>
            </a:r>
            <a:r>
              <a:rPr lang="en-US" dirty="0"/>
              <a:t>:</a:t>
            </a:r>
            <a:r>
              <a:rPr lang="tr-TR" dirty="0"/>
              <a:t> economists may disagree—like everyone</a:t>
            </a:r>
            <a:r>
              <a:rPr lang="en-US" dirty="0"/>
              <a:t> </a:t>
            </a:r>
            <a:r>
              <a:rPr lang="tr-TR" dirty="0"/>
              <a:t>else—about values.</a:t>
            </a:r>
          </a:p>
          <a:p>
            <a:pPr marL="533400" indent="-533400">
              <a:buFontTx/>
              <a:buAutoNum type="arabicPeriod" startAt="5"/>
            </a:pPr>
            <a:endParaRPr lang="tr-TR"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fade">
                                      <p:cBhvr>
                                        <p:cTn id="7" dur="500"/>
                                        <p:tgtEl>
                                          <p:spTgt spid="44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Effect transition="in" filter="fade">
                                      <p:cBhvr>
                                        <p:cTn id="12" dur="500"/>
                                        <p:tgtEl>
                                          <p:spTgt spid="440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4"/>
          <p:cNvSpPr>
            <a:spLocks noGrp="1"/>
          </p:cNvSpPr>
          <p:nvPr>
            <p:ph idx="1"/>
          </p:nvPr>
        </p:nvSpPr>
        <p:spPr>
          <a:xfrm>
            <a:off x="887413" y="1103312"/>
            <a:ext cx="8005067" cy="5422031"/>
          </a:xfrm>
          <a:ln>
            <a:miter lim="800000"/>
            <a:headEnd/>
            <a:tailEnd/>
          </a:ln>
        </p:spPr>
        <p:txBody>
          <a:bodyPr numCol="2"/>
          <a:lstStyle/>
          <a:p>
            <a:pPr>
              <a:defRPr/>
            </a:pPr>
            <a:r>
              <a:rPr lang="en-US" dirty="0" smtClean="0"/>
              <a:t>Model</a:t>
            </a:r>
          </a:p>
          <a:p>
            <a:pPr>
              <a:defRPr/>
            </a:pPr>
            <a:r>
              <a:rPr lang="en-US" dirty="0" smtClean="0"/>
              <a:t>Other things equal assumption</a:t>
            </a:r>
          </a:p>
          <a:p>
            <a:pPr>
              <a:defRPr/>
            </a:pPr>
            <a:r>
              <a:rPr lang="en-US" dirty="0" smtClean="0"/>
              <a:t>Production possibility frontier</a:t>
            </a:r>
          </a:p>
          <a:p>
            <a:pPr>
              <a:defRPr/>
            </a:pPr>
            <a:r>
              <a:rPr lang="en-US" dirty="0" smtClean="0"/>
              <a:t>Factors of production</a:t>
            </a:r>
          </a:p>
          <a:p>
            <a:pPr>
              <a:defRPr/>
            </a:pPr>
            <a:r>
              <a:rPr lang="en-US" dirty="0" smtClean="0"/>
              <a:t>Technology</a:t>
            </a:r>
          </a:p>
          <a:p>
            <a:pPr>
              <a:defRPr/>
            </a:pPr>
            <a:r>
              <a:rPr lang="en-US" dirty="0" smtClean="0"/>
              <a:t>Comparative advantage</a:t>
            </a:r>
          </a:p>
          <a:p>
            <a:pPr>
              <a:defRPr/>
            </a:pPr>
            <a:r>
              <a:rPr lang="en-US" dirty="0" smtClean="0"/>
              <a:t>Absolute advantage</a:t>
            </a:r>
          </a:p>
          <a:p>
            <a:pPr>
              <a:defRPr/>
            </a:pPr>
            <a:r>
              <a:rPr lang="en-US" dirty="0" smtClean="0"/>
              <a:t>Barter</a:t>
            </a:r>
          </a:p>
          <a:p>
            <a:pPr>
              <a:defRPr/>
            </a:pPr>
            <a:r>
              <a:rPr lang="en-US" dirty="0" smtClean="0"/>
              <a:t>Circular-flow diagram</a:t>
            </a:r>
          </a:p>
          <a:p>
            <a:pPr>
              <a:defRPr/>
            </a:pPr>
            <a:r>
              <a:rPr lang="en-US" dirty="0" smtClean="0"/>
              <a:t>Household</a:t>
            </a:r>
          </a:p>
          <a:p>
            <a:pPr>
              <a:defRPr/>
            </a:pPr>
            <a:r>
              <a:rPr lang="en-US" dirty="0" smtClean="0"/>
              <a:t>Firm</a:t>
            </a:r>
          </a:p>
          <a:p>
            <a:pPr>
              <a:defRPr/>
            </a:pPr>
            <a:r>
              <a:rPr lang="en-US" dirty="0" smtClean="0"/>
              <a:t>Markets for goods and services</a:t>
            </a:r>
          </a:p>
          <a:p>
            <a:pPr>
              <a:defRPr/>
            </a:pPr>
            <a:r>
              <a:rPr lang="en-US" dirty="0" smtClean="0"/>
              <a:t>Factor markets</a:t>
            </a:r>
          </a:p>
          <a:p>
            <a:pPr>
              <a:defRPr/>
            </a:pPr>
            <a:r>
              <a:rPr lang="en-US" dirty="0" smtClean="0"/>
              <a:t>Income distribution</a:t>
            </a:r>
          </a:p>
          <a:p>
            <a:pPr>
              <a:defRPr/>
            </a:pPr>
            <a:r>
              <a:rPr lang="en-US" dirty="0" smtClean="0"/>
              <a:t>Positive economics</a:t>
            </a:r>
          </a:p>
          <a:p>
            <a:pPr>
              <a:defRPr/>
            </a:pPr>
            <a:r>
              <a:rPr lang="en-US" dirty="0" smtClean="0"/>
              <a:t>Normative economics</a:t>
            </a:r>
          </a:p>
          <a:p>
            <a:pPr>
              <a:defRPr/>
            </a:pPr>
            <a:r>
              <a:rPr lang="en-US" dirty="0" smtClean="0"/>
              <a:t>Forecast</a:t>
            </a:r>
          </a:p>
          <a:p>
            <a:pPr>
              <a:defRPr/>
            </a:pPr>
            <a:r>
              <a:rPr lang="en-US" dirty="0" smtClean="0"/>
              <a:t>Specialization</a:t>
            </a:r>
          </a:p>
          <a:p>
            <a:pPr>
              <a:defRPr/>
            </a:pPr>
            <a:r>
              <a:rPr lang="en-US" dirty="0" smtClean="0"/>
              <a:t>Equilibrium</a:t>
            </a:r>
          </a:p>
          <a:p>
            <a:pPr>
              <a:defRPr/>
            </a:pPr>
            <a:r>
              <a:rPr lang="en-US" dirty="0" smtClean="0"/>
              <a:t>Efficient</a:t>
            </a:r>
          </a:p>
          <a:p>
            <a:pPr>
              <a:defRPr/>
            </a:pPr>
            <a:r>
              <a:rPr lang="en-US" dirty="0" smtClean="0"/>
              <a:t>Equity</a:t>
            </a:r>
            <a:endParaRPr lang="en-US" dirty="0">
              <a:ea typeface="+mn-ea"/>
            </a:endParaRPr>
          </a:p>
        </p:txBody>
      </p:sp>
      <p:sp>
        <p:nvSpPr>
          <p:cNvPr id="4" name="Title 3"/>
          <p:cNvSpPr>
            <a:spLocks noGrp="1"/>
          </p:cNvSpPr>
          <p:nvPr>
            <p:ph type="title"/>
          </p:nvPr>
        </p:nvSpPr>
        <p:spPr>
          <a:xfrm>
            <a:off x="1076325" y="39688"/>
            <a:ext cx="8074025" cy="579437"/>
          </a:xfrm>
        </p:spPr>
        <p:txBody>
          <a:bodyPr/>
          <a:lstStyle/>
          <a:p>
            <a:pPr eaLnBrk="1" hangingPunct="1">
              <a:defRPr/>
            </a:pPr>
            <a:r>
              <a:rPr lang="id-ID" smtClean="0">
                <a:effectLst>
                  <a:outerShdw blurRad="38100" dist="38100" dir="2700000" algn="tl">
                    <a:srgbClr val="C0C0C0"/>
                  </a:outerShdw>
                </a:effectLst>
              </a:rPr>
              <a:t>KEY TERMS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fade">
                                      <p:cBhvr>
                                        <p:cTn id="7" dur="500"/>
                                        <p:tgtEl>
                                          <p:spTgt spid="1024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242">
                                            <p:txEl>
                                              <p:pRg st="1" end="1"/>
                                            </p:txEl>
                                          </p:spTgt>
                                        </p:tgtEl>
                                        <p:attrNameLst>
                                          <p:attrName>style.visibility</p:attrName>
                                        </p:attrNameLst>
                                      </p:cBhvr>
                                      <p:to>
                                        <p:strVal val="visible"/>
                                      </p:to>
                                    </p:set>
                                    <p:animEffect transition="in" filter="fade">
                                      <p:cBhvr>
                                        <p:cTn id="10" dur="500"/>
                                        <p:tgtEl>
                                          <p:spTgt spid="1024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242">
                                            <p:txEl>
                                              <p:pRg st="2" end="2"/>
                                            </p:txEl>
                                          </p:spTgt>
                                        </p:tgtEl>
                                        <p:attrNameLst>
                                          <p:attrName>style.visibility</p:attrName>
                                        </p:attrNameLst>
                                      </p:cBhvr>
                                      <p:to>
                                        <p:strVal val="visible"/>
                                      </p:to>
                                    </p:set>
                                    <p:animEffect transition="in" filter="fade">
                                      <p:cBhvr>
                                        <p:cTn id="13" dur="500"/>
                                        <p:tgtEl>
                                          <p:spTgt spid="1024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242">
                                            <p:txEl>
                                              <p:pRg st="3" end="3"/>
                                            </p:txEl>
                                          </p:spTgt>
                                        </p:tgtEl>
                                        <p:attrNameLst>
                                          <p:attrName>style.visibility</p:attrName>
                                        </p:attrNameLst>
                                      </p:cBhvr>
                                      <p:to>
                                        <p:strVal val="visible"/>
                                      </p:to>
                                    </p:set>
                                    <p:animEffect transition="in" filter="fade">
                                      <p:cBhvr>
                                        <p:cTn id="16" dur="500"/>
                                        <p:tgtEl>
                                          <p:spTgt spid="1024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242">
                                            <p:txEl>
                                              <p:pRg st="4" end="4"/>
                                            </p:txEl>
                                          </p:spTgt>
                                        </p:tgtEl>
                                        <p:attrNameLst>
                                          <p:attrName>style.visibility</p:attrName>
                                        </p:attrNameLst>
                                      </p:cBhvr>
                                      <p:to>
                                        <p:strVal val="visible"/>
                                      </p:to>
                                    </p:set>
                                    <p:animEffect transition="in" filter="fade">
                                      <p:cBhvr>
                                        <p:cTn id="19" dur="500"/>
                                        <p:tgtEl>
                                          <p:spTgt spid="10242">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242">
                                            <p:txEl>
                                              <p:pRg st="5" end="5"/>
                                            </p:txEl>
                                          </p:spTgt>
                                        </p:tgtEl>
                                        <p:attrNameLst>
                                          <p:attrName>style.visibility</p:attrName>
                                        </p:attrNameLst>
                                      </p:cBhvr>
                                      <p:to>
                                        <p:strVal val="visible"/>
                                      </p:to>
                                    </p:set>
                                    <p:animEffect transition="in" filter="fade">
                                      <p:cBhvr>
                                        <p:cTn id="22" dur="500"/>
                                        <p:tgtEl>
                                          <p:spTgt spid="10242">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242">
                                            <p:txEl>
                                              <p:pRg st="6" end="6"/>
                                            </p:txEl>
                                          </p:spTgt>
                                        </p:tgtEl>
                                        <p:attrNameLst>
                                          <p:attrName>style.visibility</p:attrName>
                                        </p:attrNameLst>
                                      </p:cBhvr>
                                      <p:to>
                                        <p:strVal val="visible"/>
                                      </p:to>
                                    </p:set>
                                    <p:animEffect transition="in" filter="fade">
                                      <p:cBhvr>
                                        <p:cTn id="25" dur="500"/>
                                        <p:tgtEl>
                                          <p:spTgt spid="10242">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242">
                                            <p:txEl>
                                              <p:pRg st="7" end="7"/>
                                            </p:txEl>
                                          </p:spTgt>
                                        </p:tgtEl>
                                        <p:attrNameLst>
                                          <p:attrName>style.visibility</p:attrName>
                                        </p:attrNameLst>
                                      </p:cBhvr>
                                      <p:to>
                                        <p:strVal val="visible"/>
                                      </p:to>
                                    </p:set>
                                    <p:animEffect transition="in" filter="fade">
                                      <p:cBhvr>
                                        <p:cTn id="28" dur="500"/>
                                        <p:tgtEl>
                                          <p:spTgt spid="10242">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242">
                                            <p:txEl>
                                              <p:pRg st="8" end="8"/>
                                            </p:txEl>
                                          </p:spTgt>
                                        </p:tgtEl>
                                        <p:attrNameLst>
                                          <p:attrName>style.visibility</p:attrName>
                                        </p:attrNameLst>
                                      </p:cBhvr>
                                      <p:to>
                                        <p:strVal val="visible"/>
                                      </p:to>
                                    </p:set>
                                    <p:animEffect transition="in" filter="fade">
                                      <p:cBhvr>
                                        <p:cTn id="31" dur="500"/>
                                        <p:tgtEl>
                                          <p:spTgt spid="10242">
                                            <p:txEl>
                                              <p:pRg st="8" end="8"/>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242">
                                            <p:txEl>
                                              <p:pRg st="9" end="9"/>
                                            </p:txEl>
                                          </p:spTgt>
                                        </p:tgtEl>
                                        <p:attrNameLst>
                                          <p:attrName>style.visibility</p:attrName>
                                        </p:attrNameLst>
                                      </p:cBhvr>
                                      <p:to>
                                        <p:strVal val="visible"/>
                                      </p:to>
                                    </p:set>
                                    <p:animEffect transition="in" filter="fade">
                                      <p:cBhvr>
                                        <p:cTn id="34" dur="500"/>
                                        <p:tgtEl>
                                          <p:spTgt spid="10242">
                                            <p:txEl>
                                              <p:pRg st="9" end="9"/>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242">
                                            <p:txEl>
                                              <p:pRg st="10" end="10"/>
                                            </p:txEl>
                                          </p:spTgt>
                                        </p:tgtEl>
                                        <p:attrNameLst>
                                          <p:attrName>style.visibility</p:attrName>
                                        </p:attrNameLst>
                                      </p:cBhvr>
                                      <p:to>
                                        <p:strVal val="visible"/>
                                      </p:to>
                                    </p:set>
                                    <p:animEffect transition="in" filter="fade">
                                      <p:cBhvr>
                                        <p:cTn id="37" dur="500"/>
                                        <p:tgtEl>
                                          <p:spTgt spid="10242">
                                            <p:txEl>
                                              <p:pRg st="10" end="1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242">
                                            <p:txEl>
                                              <p:pRg st="11" end="11"/>
                                            </p:txEl>
                                          </p:spTgt>
                                        </p:tgtEl>
                                        <p:attrNameLst>
                                          <p:attrName>style.visibility</p:attrName>
                                        </p:attrNameLst>
                                      </p:cBhvr>
                                      <p:to>
                                        <p:strVal val="visible"/>
                                      </p:to>
                                    </p:set>
                                    <p:animEffect transition="in" filter="fade">
                                      <p:cBhvr>
                                        <p:cTn id="40" dur="500"/>
                                        <p:tgtEl>
                                          <p:spTgt spid="10242">
                                            <p:txEl>
                                              <p:pRg st="11" end="11"/>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0242">
                                            <p:txEl>
                                              <p:pRg st="12" end="12"/>
                                            </p:txEl>
                                          </p:spTgt>
                                        </p:tgtEl>
                                        <p:attrNameLst>
                                          <p:attrName>style.visibility</p:attrName>
                                        </p:attrNameLst>
                                      </p:cBhvr>
                                      <p:to>
                                        <p:strVal val="visible"/>
                                      </p:to>
                                    </p:set>
                                    <p:animEffect transition="in" filter="fade">
                                      <p:cBhvr>
                                        <p:cTn id="43" dur="500"/>
                                        <p:tgtEl>
                                          <p:spTgt spid="10242">
                                            <p:txEl>
                                              <p:pRg st="12" end="12"/>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242">
                                            <p:txEl>
                                              <p:pRg st="13" end="13"/>
                                            </p:txEl>
                                          </p:spTgt>
                                        </p:tgtEl>
                                        <p:attrNameLst>
                                          <p:attrName>style.visibility</p:attrName>
                                        </p:attrNameLst>
                                      </p:cBhvr>
                                      <p:to>
                                        <p:strVal val="visible"/>
                                      </p:to>
                                    </p:set>
                                    <p:animEffect transition="in" filter="fade">
                                      <p:cBhvr>
                                        <p:cTn id="46" dur="500"/>
                                        <p:tgtEl>
                                          <p:spTgt spid="10242">
                                            <p:txEl>
                                              <p:pRg st="13" end="13"/>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242">
                                            <p:txEl>
                                              <p:pRg st="14" end="14"/>
                                            </p:txEl>
                                          </p:spTgt>
                                        </p:tgtEl>
                                        <p:attrNameLst>
                                          <p:attrName>style.visibility</p:attrName>
                                        </p:attrNameLst>
                                      </p:cBhvr>
                                      <p:to>
                                        <p:strVal val="visible"/>
                                      </p:to>
                                    </p:set>
                                    <p:animEffect transition="in" filter="fade">
                                      <p:cBhvr>
                                        <p:cTn id="49" dur="500"/>
                                        <p:tgtEl>
                                          <p:spTgt spid="10242">
                                            <p:txEl>
                                              <p:pRg st="14" end="14"/>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0242">
                                            <p:txEl>
                                              <p:pRg st="15" end="15"/>
                                            </p:txEl>
                                          </p:spTgt>
                                        </p:tgtEl>
                                        <p:attrNameLst>
                                          <p:attrName>style.visibility</p:attrName>
                                        </p:attrNameLst>
                                      </p:cBhvr>
                                      <p:to>
                                        <p:strVal val="visible"/>
                                      </p:to>
                                    </p:set>
                                    <p:animEffect transition="in" filter="fade">
                                      <p:cBhvr>
                                        <p:cTn id="52" dur="500"/>
                                        <p:tgtEl>
                                          <p:spTgt spid="10242">
                                            <p:txEl>
                                              <p:pRg st="15" end="15"/>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0242">
                                            <p:txEl>
                                              <p:pRg st="16" end="16"/>
                                            </p:txEl>
                                          </p:spTgt>
                                        </p:tgtEl>
                                        <p:attrNameLst>
                                          <p:attrName>style.visibility</p:attrName>
                                        </p:attrNameLst>
                                      </p:cBhvr>
                                      <p:to>
                                        <p:strVal val="visible"/>
                                      </p:to>
                                    </p:set>
                                    <p:animEffect transition="in" filter="fade">
                                      <p:cBhvr>
                                        <p:cTn id="55" dur="500"/>
                                        <p:tgtEl>
                                          <p:spTgt spid="10242">
                                            <p:txEl>
                                              <p:pRg st="16" end="16"/>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0242">
                                            <p:txEl>
                                              <p:pRg st="17" end="17"/>
                                            </p:txEl>
                                          </p:spTgt>
                                        </p:tgtEl>
                                        <p:attrNameLst>
                                          <p:attrName>style.visibility</p:attrName>
                                        </p:attrNameLst>
                                      </p:cBhvr>
                                      <p:to>
                                        <p:strVal val="visible"/>
                                      </p:to>
                                    </p:set>
                                    <p:animEffect transition="in" filter="fade">
                                      <p:cBhvr>
                                        <p:cTn id="58" dur="500"/>
                                        <p:tgtEl>
                                          <p:spTgt spid="10242">
                                            <p:txEl>
                                              <p:pRg st="17" end="17"/>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0242">
                                            <p:txEl>
                                              <p:pRg st="18" end="18"/>
                                            </p:txEl>
                                          </p:spTgt>
                                        </p:tgtEl>
                                        <p:attrNameLst>
                                          <p:attrName>style.visibility</p:attrName>
                                        </p:attrNameLst>
                                      </p:cBhvr>
                                      <p:to>
                                        <p:strVal val="visible"/>
                                      </p:to>
                                    </p:set>
                                    <p:animEffect transition="in" filter="fade">
                                      <p:cBhvr>
                                        <p:cTn id="61" dur="500"/>
                                        <p:tgtEl>
                                          <p:spTgt spid="10242">
                                            <p:txEl>
                                              <p:pRg st="18" end="18"/>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0242">
                                            <p:txEl>
                                              <p:pRg st="19" end="19"/>
                                            </p:txEl>
                                          </p:spTgt>
                                        </p:tgtEl>
                                        <p:attrNameLst>
                                          <p:attrName>style.visibility</p:attrName>
                                        </p:attrNameLst>
                                      </p:cBhvr>
                                      <p:to>
                                        <p:strVal val="visible"/>
                                      </p:to>
                                    </p:set>
                                    <p:animEffect transition="in" filter="fade">
                                      <p:cBhvr>
                                        <p:cTn id="64" dur="500"/>
                                        <p:tgtEl>
                                          <p:spTgt spid="10242">
                                            <p:txEl>
                                              <p:pRg st="19" end="19"/>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0242">
                                            <p:txEl>
                                              <p:pRg st="20" end="20"/>
                                            </p:txEl>
                                          </p:spTgt>
                                        </p:tgtEl>
                                        <p:attrNameLst>
                                          <p:attrName>style.visibility</p:attrName>
                                        </p:attrNameLst>
                                      </p:cBhvr>
                                      <p:to>
                                        <p:strVal val="visible"/>
                                      </p:to>
                                    </p:set>
                                    <p:animEffect transition="in" filter="fade">
                                      <p:cBhvr>
                                        <p:cTn id="67" dur="500"/>
                                        <p:tgtEl>
                                          <p:spTgt spid="10242">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2126</TotalTime>
  <Words>2286</Words>
  <Application>Microsoft Office PowerPoint</Application>
  <PresentationFormat>On-screen Show (4:3)</PresentationFormat>
  <Paragraphs>361</Paragraphs>
  <Slides>29</Slides>
  <Notes>25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29</vt:i4>
      </vt:variant>
    </vt:vector>
  </HeadingPairs>
  <TitlesOfParts>
    <vt:vector size="42" baseType="lpstr">
      <vt:lpstr>Batang</vt:lpstr>
      <vt:lpstr>MS PGothic</vt:lpstr>
      <vt:lpstr>Myriad Pro</vt:lpstr>
      <vt:lpstr>Arial</vt:lpstr>
      <vt:lpstr>Calibri</vt:lpstr>
      <vt:lpstr>Candara</vt:lpstr>
      <vt:lpstr>Century Gothic</vt:lpstr>
      <vt:lpstr>Microsoft Yi Baiti</vt:lpstr>
      <vt:lpstr>Tahoma</vt:lpstr>
      <vt:lpstr>Times</vt:lpstr>
      <vt:lpstr>Times New Roman</vt:lpstr>
      <vt:lpstr>Wingdings</vt:lpstr>
      <vt:lpstr>Office Theme</vt:lpstr>
      <vt:lpstr>Chapter 2</vt:lpstr>
      <vt:lpstr>An Introduction to Economic Thinking</vt:lpstr>
      <vt:lpstr>Models in Economics</vt:lpstr>
      <vt:lpstr>Models in Economics</vt:lpstr>
      <vt:lpstr>Trade-offs: The Production Possibility Frontier</vt:lpstr>
      <vt:lpstr>The Production Possibility Frontier</vt:lpstr>
      <vt:lpstr>Trade-offs: The Production Possibility Frontier</vt:lpstr>
      <vt:lpstr>Opportunity Cost</vt:lpstr>
      <vt:lpstr>Increasing Opportunity Cost</vt:lpstr>
      <vt:lpstr>Economic Growth</vt:lpstr>
      <vt:lpstr>Production Possibilities for Two Countries</vt:lpstr>
      <vt:lpstr>Production Possibilities for Two Countries</vt:lpstr>
      <vt:lpstr>United States and Brazilian Opportunity Costs</vt:lpstr>
      <vt:lpstr>Specialize and Trade</vt:lpstr>
      <vt:lpstr>Comparative Advantage and Gains from Trade</vt:lpstr>
      <vt:lpstr>How the Two Countries Gain from Trade</vt:lpstr>
      <vt:lpstr>Comparative vs. Absolute Advantage</vt:lpstr>
      <vt:lpstr>Practice: Check Your Understanding</vt:lpstr>
      <vt:lpstr>PowerPoint Presentation</vt:lpstr>
      <vt:lpstr>Transactions: The Circular-Flow Diagram</vt:lpstr>
      <vt:lpstr>Circular-Flow of Economic Activities</vt:lpstr>
      <vt:lpstr>FIGURE 1:   The Circular-Flow Diagram</vt:lpstr>
      <vt:lpstr>Using Models</vt:lpstr>
      <vt:lpstr>PowerPoint Presentation</vt:lpstr>
      <vt:lpstr>Using Models: When and Why Economists Disagree</vt:lpstr>
      <vt:lpstr>SUMMARY</vt:lpstr>
      <vt:lpstr>SUMMARY</vt:lpstr>
      <vt:lpstr>SUMMARY</vt:lpstr>
      <vt:lpstr>KEY TERMS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Lawrence Khoo</cp:lastModifiedBy>
  <cp:revision>150</cp:revision>
  <dcterms:created xsi:type="dcterms:W3CDTF">2011-08-04T07:26:48Z</dcterms:created>
  <dcterms:modified xsi:type="dcterms:W3CDTF">2015-09-08T14:33:45Z</dcterms:modified>
</cp:coreProperties>
</file>