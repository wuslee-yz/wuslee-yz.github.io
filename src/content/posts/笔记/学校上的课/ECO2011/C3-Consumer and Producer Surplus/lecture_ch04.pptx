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13" r:id="rId6"/>
  </p:sldMasterIdLst>
  <p:notesMasterIdLst>
    <p:notesMasterId r:id="rId47"/>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9144000" cy="6858000" type="screen4x3"/>
  <p:notesSz cx="6797675" cy="98742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5" autoAdjust="0"/>
    <p:restoredTop sz="94660"/>
  </p:normalViewPr>
  <p:slideViewPr>
    <p:cSldViewPr snapToGrid="0">
      <p:cViewPr>
        <p:scale>
          <a:sx n="86" d="100"/>
          <a:sy n="86" d="100"/>
        </p:scale>
        <p:origin x="341"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2" name="PlaceHolder 1"/>
          <p:cNvSpPr>
            <a:spLocks noGrp="1"/>
          </p:cNvSpPr>
          <p:nvPr>
            <p:ph type="body"/>
          </p:nvPr>
        </p:nvSpPr>
        <p:spPr>
          <a:xfrm>
            <a:off x="777240" y="4777560"/>
            <a:ext cx="6217560" cy="4525920"/>
          </a:xfrm>
          <a:prstGeom prst="rect">
            <a:avLst/>
          </a:prstGeom>
        </p:spPr>
        <p:txBody>
          <a:bodyPr lIns="0" tIns="0" rIns="0" bIns="0"/>
          <a:lstStyle/>
          <a:p>
            <a:r>
              <a:rPr lang="en-US" sz="2000" strike="noStrike" spc="-1">
                <a:solidFill>
                  <a:srgbClr val="000000"/>
                </a:solidFill>
                <a:uFill>
                  <a:solidFill>
                    <a:srgbClr val="FFFFFF"/>
                  </a:solidFill>
                </a:uFill>
                <a:latin typeface="Arial"/>
              </a:rPr>
              <a:t>Click to edit the notes format</a:t>
            </a:r>
          </a:p>
        </p:txBody>
      </p:sp>
      <p:sp>
        <p:nvSpPr>
          <p:cNvPr id="223" name="PlaceHolder 2"/>
          <p:cNvSpPr>
            <a:spLocks noGrp="1"/>
          </p:cNvSpPr>
          <p:nvPr>
            <p:ph type="hdr"/>
          </p:nvPr>
        </p:nvSpPr>
        <p:spPr>
          <a:xfrm>
            <a:off x="0" y="0"/>
            <a:ext cx="3372840" cy="502560"/>
          </a:xfrm>
          <a:prstGeom prst="rect">
            <a:avLst/>
          </a:prstGeom>
        </p:spPr>
        <p:txBody>
          <a:bodyPr lIns="0" tIns="0" rIns="0" bIns="0"/>
          <a:lstStyle/>
          <a:p>
            <a:r>
              <a:rPr lang="en-US" sz="1400" strike="noStrike" spc="-1">
                <a:solidFill>
                  <a:srgbClr val="000000"/>
                </a:solidFill>
                <a:uFill>
                  <a:solidFill>
                    <a:srgbClr val="FFFFFF"/>
                  </a:solidFill>
                </a:uFill>
                <a:latin typeface="Times New Roman"/>
              </a:rPr>
              <a:t>&lt;header&gt;</a:t>
            </a:r>
          </a:p>
        </p:txBody>
      </p:sp>
      <p:sp>
        <p:nvSpPr>
          <p:cNvPr id="224" name="PlaceHolder 3"/>
          <p:cNvSpPr>
            <a:spLocks noGrp="1"/>
          </p:cNvSpPr>
          <p:nvPr>
            <p:ph type="dt"/>
          </p:nvPr>
        </p:nvSpPr>
        <p:spPr>
          <a:xfrm>
            <a:off x="4399200" y="0"/>
            <a:ext cx="3372840" cy="502560"/>
          </a:xfrm>
          <a:prstGeom prst="rect">
            <a:avLst/>
          </a:prstGeom>
        </p:spPr>
        <p:txBody>
          <a:bodyPr lIns="0" tIns="0" rIns="0" bIns="0"/>
          <a:lstStyle/>
          <a:p>
            <a:pPr algn="r"/>
            <a:r>
              <a:rPr lang="en-US" sz="1400" strike="noStrike" spc="-1">
                <a:solidFill>
                  <a:srgbClr val="000000"/>
                </a:solidFill>
                <a:uFill>
                  <a:solidFill>
                    <a:srgbClr val="FFFFFF"/>
                  </a:solidFill>
                </a:uFill>
                <a:latin typeface="Times New Roman"/>
              </a:rPr>
              <a:t>&lt;date/time&gt;</a:t>
            </a:r>
          </a:p>
        </p:txBody>
      </p:sp>
      <p:sp>
        <p:nvSpPr>
          <p:cNvPr id="225" name="PlaceHolder 4"/>
          <p:cNvSpPr>
            <a:spLocks noGrp="1"/>
          </p:cNvSpPr>
          <p:nvPr>
            <p:ph type="ftr"/>
          </p:nvPr>
        </p:nvSpPr>
        <p:spPr>
          <a:xfrm>
            <a:off x="0" y="9555480"/>
            <a:ext cx="3372840" cy="502560"/>
          </a:xfrm>
          <a:prstGeom prst="rect">
            <a:avLst/>
          </a:prstGeom>
        </p:spPr>
        <p:txBody>
          <a:bodyPr lIns="0" tIns="0" rIns="0" bIns="0" anchor="b"/>
          <a:lstStyle/>
          <a:p>
            <a:r>
              <a:rPr lang="en-US" sz="1400" strike="noStrike" spc="-1">
                <a:solidFill>
                  <a:srgbClr val="000000"/>
                </a:solidFill>
                <a:uFill>
                  <a:solidFill>
                    <a:srgbClr val="FFFFFF"/>
                  </a:solidFill>
                </a:uFill>
                <a:latin typeface="Times New Roman"/>
              </a:rPr>
              <a:t>&lt;footer&gt;</a:t>
            </a:r>
          </a:p>
        </p:txBody>
      </p:sp>
      <p:sp>
        <p:nvSpPr>
          <p:cNvPr id="226" name="PlaceHolder 5"/>
          <p:cNvSpPr>
            <a:spLocks noGrp="1"/>
          </p:cNvSpPr>
          <p:nvPr>
            <p:ph type="sldNum"/>
          </p:nvPr>
        </p:nvSpPr>
        <p:spPr>
          <a:xfrm>
            <a:off x="4399200" y="9555480"/>
            <a:ext cx="3372840" cy="502560"/>
          </a:xfrm>
          <a:prstGeom prst="rect">
            <a:avLst/>
          </a:prstGeom>
        </p:spPr>
        <p:txBody>
          <a:bodyPr lIns="0" tIns="0" rIns="0" bIns="0" anchor="b"/>
          <a:lstStyle/>
          <a:p>
            <a:pPr algn="r"/>
            <a:fld id="{3917E3F9-BA32-45EE-82B8-CF64C861B048}" type="slidenum">
              <a:rPr lang="en-US" sz="1400" strike="noStrike" spc="-1">
                <a:solidFill>
                  <a:srgbClr val="000000"/>
                </a:solidFill>
                <a:uFill>
                  <a:solidFill>
                    <a:srgbClr val="FFFFFF"/>
                  </a:solidFill>
                </a:uFill>
                <a:latin typeface="Times New Roman"/>
              </a:rPr>
              <a:t>‹#›</a:t>
            </a:fld>
            <a:endParaRPr lang="en-US" sz="1400" strike="noStrike" spc="-1">
              <a:solidFill>
                <a:srgbClr val="000000"/>
              </a:solidFill>
              <a:uFill>
                <a:solidFill>
                  <a:srgbClr val="FFFFFF"/>
                </a:solidFill>
              </a:u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5" name="PlaceHolder 1"/>
          <p:cNvSpPr>
            <a:spLocks noGrp="1"/>
          </p:cNvSpPr>
          <p:nvPr>
            <p:ph type="body"/>
          </p:nvPr>
        </p:nvSpPr>
        <p:spPr>
          <a:xfrm>
            <a:off x="679320" y="4691160"/>
            <a:ext cx="5438160" cy="4442760"/>
          </a:xfrm>
          <a:prstGeom prst="rect">
            <a:avLst/>
          </a:prstGeom>
        </p:spPr>
        <p:txBody>
          <a:bodyPr lIns="0" tIns="0" rIns="0" bIns="0"/>
          <a:lstStyle/>
          <a:p>
            <a:endParaRPr lang="en-US" sz="2000" strike="noStrike" spc="-1">
              <a:solidFill>
                <a:srgbClr val="000000"/>
              </a:solidFill>
              <a:uFill>
                <a:solidFill>
                  <a:srgbClr val="FFFFFF"/>
                </a:solidFill>
              </a:uFill>
              <a:latin typeface="Arial"/>
            </a:endParaRPr>
          </a:p>
        </p:txBody>
      </p:sp>
      <p:sp>
        <p:nvSpPr>
          <p:cNvPr id="1276" name="CustomShape 2"/>
          <p:cNvSpPr/>
          <p:nvPr/>
        </p:nvSpPr>
        <p:spPr>
          <a:xfrm>
            <a:off x="3849840" y="9379080"/>
            <a:ext cx="2945520" cy="4928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1C2390F5-AB88-4949-A06C-7E508EF14157}" type="slidenum">
              <a:rPr lang="en-US" sz="1200" strike="noStrike" spc="-1">
                <a:solidFill>
                  <a:srgbClr val="000000"/>
                </a:solidFill>
                <a:uFill>
                  <a:solidFill>
                    <a:srgbClr val="FFFFFF"/>
                  </a:solidFill>
                </a:uFill>
                <a:latin typeface="Calibri"/>
                <a:ea typeface="MS PGothic"/>
              </a:rPr>
              <a:t>1</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7" name="PlaceHolder 1"/>
          <p:cNvSpPr>
            <a:spLocks noGrp="1"/>
          </p:cNvSpPr>
          <p:nvPr>
            <p:ph type="body"/>
          </p:nvPr>
        </p:nvSpPr>
        <p:spPr>
          <a:xfrm>
            <a:off x="679320" y="4691160"/>
            <a:ext cx="5438160" cy="4442760"/>
          </a:xfrm>
          <a:prstGeom prst="rect">
            <a:avLst/>
          </a:prstGeom>
        </p:spPr>
        <p:txBody>
          <a:bodyPr lIns="0" tIns="0" rIns="0" bIns="0"/>
          <a:lstStyle/>
          <a:p>
            <a:endParaRPr lang="en-US" sz="2000" strike="noStrike" spc="-1">
              <a:solidFill>
                <a:srgbClr val="000000"/>
              </a:solidFill>
              <a:uFill>
                <a:solidFill>
                  <a:srgbClr val="FFFFFF"/>
                </a:solidFill>
              </a:uFill>
              <a:latin typeface="Arial"/>
            </a:endParaRPr>
          </a:p>
        </p:txBody>
      </p:sp>
      <p:sp>
        <p:nvSpPr>
          <p:cNvPr id="1278" name="CustomShape 2"/>
          <p:cNvSpPr/>
          <p:nvPr/>
        </p:nvSpPr>
        <p:spPr>
          <a:xfrm>
            <a:off x="3849840" y="9379080"/>
            <a:ext cx="2945520" cy="492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A4E01C26-B1C3-441D-83DE-74B1EF57D224}" type="slidenum">
              <a:rPr lang="en-US" sz="1200" strike="noStrike" spc="-1">
                <a:solidFill>
                  <a:srgbClr val="000000"/>
                </a:solidFill>
                <a:uFill>
                  <a:solidFill>
                    <a:srgbClr val="FFFFFF"/>
                  </a:solidFill>
                </a:uFill>
                <a:latin typeface="Times New Roman"/>
              </a:rPr>
              <a:t>3</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9" name="CustomShape 1"/>
          <p:cNvSpPr/>
          <p:nvPr/>
        </p:nvSpPr>
        <p:spPr>
          <a:xfrm>
            <a:off x="3849840" y="9379080"/>
            <a:ext cx="2945520" cy="492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3E98F637-5EAE-43BB-9171-BE8314CE42D6}" type="slidenum">
              <a:rPr lang="en-US" sz="1200" strike="noStrike" spc="-1">
                <a:solidFill>
                  <a:srgbClr val="000000"/>
                </a:solidFill>
                <a:uFill>
                  <a:solidFill>
                    <a:srgbClr val="FFFFFF"/>
                  </a:solidFill>
                </a:uFill>
                <a:latin typeface="Times New Roman"/>
              </a:rPr>
              <a:t>4</a:t>
            </a:fld>
            <a:endParaRPr lang="en-US" sz="1800" strike="noStrike" spc="-1">
              <a:solidFill>
                <a:srgbClr val="000000"/>
              </a:solidFill>
              <a:uFill>
                <a:solidFill>
                  <a:srgbClr val="FFFFFF"/>
                </a:solidFill>
              </a:uFill>
              <a:latin typeface="Arial"/>
            </a:endParaRPr>
          </a:p>
        </p:txBody>
      </p:sp>
      <p:sp>
        <p:nvSpPr>
          <p:cNvPr id="1280" name="PlaceHolder 2"/>
          <p:cNvSpPr>
            <a:spLocks noGrp="1"/>
          </p:cNvSpPr>
          <p:nvPr>
            <p:ph type="body"/>
          </p:nvPr>
        </p:nvSpPr>
        <p:spPr>
          <a:xfrm>
            <a:off x="679320" y="4691160"/>
            <a:ext cx="5438160" cy="4442760"/>
          </a:xfrm>
          <a:prstGeom prst="rect">
            <a:avLst/>
          </a:prstGeom>
        </p:spPr>
        <p:txBody>
          <a:bodyPr lIns="0" tIns="0" rIns="0" bIns="0"/>
          <a:lstStyle/>
          <a:p>
            <a:endParaRPr lang="en-US" sz="2000" strike="noStrike" spc="-1">
              <a:solidFill>
                <a:srgbClr val="000000"/>
              </a:solidFill>
              <a:uFill>
                <a:solidFill>
                  <a:srgbClr val="FFFFFF"/>
                </a:solidFill>
              </a:uFill>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1" name="PlaceHolder 1"/>
          <p:cNvSpPr>
            <a:spLocks noGrp="1"/>
          </p:cNvSpPr>
          <p:nvPr>
            <p:ph type="body"/>
          </p:nvPr>
        </p:nvSpPr>
        <p:spPr>
          <a:xfrm>
            <a:off x="679320" y="4691160"/>
            <a:ext cx="5438160" cy="4442760"/>
          </a:xfrm>
          <a:prstGeom prst="rect">
            <a:avLst/>
          </a:prstGeom>
        </p:spPr>
        <p:txBody>
          <a:bodyPr lIns="0" tIns="0" rIns="0" bIns="0"/>
          <a:lstStyle/>
          <a:p>
            <a:pPr marL="216000" indent="-215640">
              <a:lnSpc>
                <a:spcPct val="100000"/>
              </a:lnSpc>
            </a:pPr>
            <a:r>
              <a:rPr lang="en-US" sz="2000" b="1" i="1" u="sng" strike="noStrike" spc="-1">
                <a:solidFill>
                  <a:srgbClr val="000000"/>
                </a:solidFill>
                <a:uFill>
                  <a:solidFill>
                    <a:srgbClr val="FFFFFF"/>
                  </a:solidFill>
                </a:uFill>
                <a:latin typeface="Arial"/>
              </a:rPr>
              <a:t>Figure Caption:</a:t>
            </a:r>
            <a:r>
              <a:rPr lang="en-US" sz="2000" strike="noStrike" spc="-1">
                <a:solidFill>
                  <a:srgbClr val="000000"/>
                </a:solidFill>
                <a:uFill>
                  <a:solidFill>
                    <a:srgbClr val="FFFFFF"/>
                  </a:solidFill>
                </a:uFill>
                <a:latin typeface="Arial"/>
              </a:rPr>
              <a:t>  </a:t>
            </a:r>
          </a:p>
          <a:p>
            <a:pPr marL="216000" indent="-215640">
              <a:lnSpc>
                <a:spcPct val="100000"/>
              </a:lnSpc>
            </a:pPr>
            <a:r>
              <a:rPr lang="en-US" sz="2000" b="1" strike="noStrike" spc="-1">
                <a:solidFill>
                  <a:srgbClr val="000000"/>
                </a:solidFill>
                <a:uFill>
                  <a:solidFill>
                    <a:srgbClr val="FFFFFF"/>
                  </a:solidFill>
                </a:uFill>
                <a:latin typeface="Arial"/>
              </a:rPr>
              <a:t>Figure 4-1: The Demand Curve for Used Textbooks</a:t>
            </a:r>
            <a:endParaRPr lang="en-US" sz="2000" strike="noStrike" spc="-1">
              <a:solidFill>
                <a:srgbClr val="000000"/>
              </a:solidFill>
              <a:uFill>
                <a:solidFill>
                  <a:srgbClr val="FFFFFF"/>
                </a:solidFill>
              </a:uFill>
              <a:latin typeface="Arial"/>
            </a:endParaRPr>
          </a:p>
          <a:p>
            <a:pPr marL="216000" indent="-215640">
              <a:lnSpc>
                <a:spcPct val="100000"/>
              </a:lnSpc>
            </a:pPr>
            <a:r>
              <a:rPr lang="en-US" sz="2000" strike="noStrike" spc="-1">
                <a:solidFill>
                  <a:srgbClr val="000000"/>
                </a:solidFill>
                <a:uFill>
                  <a:solidFill>
                    <a:srgbClr val="FFFFFF"/>
                  </a:solidFill>
                </a:uFill>
                <a:latin typeface="Arial"/>
              </a:rPr>
              <a:t>With only five potential consumers in this market, the demand curve is step-shaped. Each step represents one consumer, and its height indicates that consumer’s willingness to pay—the maximum price at which each will buy a used textbook—as indicated in the table. Aleisha has the highest willingness to pay at $59, Brad has the next highest at $45, and so on down to Edwina with the lowest willingness to pay at $10. At a price of $59, the quantity demanded is one (Aleisha); at a price of $45, the quantity demanded is two (Aleisha and Brad); and so on until you reach a price of $10, at which all five students are willing to purchase a book.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2" name="PlaceHolder 1"/>
          <p:cNvSpPr>
            <a:spLocks noGrp="1"/>
          </p:cNvSpPr>
          <p:nvPr>
            <p:ph type="body"/>
          </p:nvPr>
        </p:nvSpPr>
        <p:spPr>
          <a:xfrm>
            <a:off x="679320" y="4691160"/>
            <a:ext cx="5438160" cy="4442760"/>
          </a:xfrm>
          <a:prstGeom prst="rect">
            <a:avLst/>
          </a:prstGeom>
        </p:spPr>
        <p:txBody>
          <a:bodyPr lIns="0" tIns="0" rIns="0" bIns="0"/>
          <a:lstStyle/>
          <a:p>
            <a:endParaRPr lang="en-US" sz="2000" strike="noStrike" spc="-1">
              <a:solidFill>
                <a:srgbClr val="000000"/>
              </a:solidFill>
              <a:uFill>
                <a:solidFill>
                  <a:srgbClr val="FFFFFF"/>
                </a:solidFill>
              </a:uFill>
              <a:latin typeface="Arial"/>
            </a:endParaRPr>
          </a:p>
        </p:txBody>
      </p:sp>
      <p:sp>
        <p:nvSpPr>
          <p:cNvPr id="1283" name="CustomShape 2"/>
          <p:cNvSpPr/>
          <p:nvPr/>
        </p:nvSpPr>
        <p:spPr>
          <a:xfrm>
            <a:off x="3849840" y="9379080"/>
            <a:ext cx="2945520" cy="492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5D0CA8EA-0CFE-498A-835D-F12776B52C27}" type="slidenum">
              <a:rPr lang="en-US" sz="1200" strike="noStrike" spc="-1">
                <a:solidFill>
                  <a:srgbClr val="000000"/>
                </a:solidFill>
                <a:uFill>
                  <a:solidFill>
                    <a:srgbClr val="FFFFFF"/>
                  </a:solidFill>
                </a:uFill>
                <a:latin typeface="Times New Roman"/>
              </a:rPr>
              <a:t>6</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4" name="PlaceHolder 1"/>
          <p:cNvSpPr>
            <a:spLocks noGrp="1"/>
          </p:cNvSpPr>
          <p:nvPr>
            <p:ph type="body"/>
          </p:nvPr>
        </p:nvSpPr>
        <p:spPr>
          <a:xfrm>
            <a:off x="679320" y="4691160"/>
            <a:ext cx="5438160" cy="4442760"/>
          </a:xfrm>
          <a:prstGeom prst="rect">
            <a:avLst/>
          </a:prstGeom>
        </p:spPr>
        <p:txBody>
          <a:bodyPr lIns="0" tIns="0" rIns="0" bIns="0"/>
          <a:lstStyle/>
          <a:p>
            <a:pPr marL="216000" indent="-215640">
              <a:lnSpc>
                <a:spcPct val="100000"/>
              </a:lnSpc>
            </a:pPr>
            <a:r>
              <a:rPr lang="en-US" sz="2000" b="1" i="1" u="sng" strike="noStrike" spc="-1">
                <a:solidFill>
                  <a:srgbClr val="000000"/>
                </a:solidFill>
                <a:uFill>
                  <a:solidFill>
                    <a:srgbClr val="FFFFFF"/>
                  </a:solidFill>
                </a:uFill>
                <a:latin typeface="Arial"/>
              </a:rPr>
              <a:t>Figure Caption:</a:t>
            </a:r>
            <a:r>
              <a:rPr lang="en-US" sz="2000" strike="noStrike" spc="-1">
                <a:solidFill>
                  <a:srgbClr val="000000"/>
                </a:solidFill>
                <a:uFill>
                  <a:solidFill>
                    <a:srgbClr val="FFFFFF"/>
                  </a:solidFill>
                </a:uFill>
                <a:latin typeface="Arial"/>
              </a:rPr>
              <a:t>  </a:t>
            </a:r>
          </a:p>
          <a:p>
            <a:pPr marL="216000" indent="-215640">
              <a:lnSpc>
                <a:spcPct val="100000"/>
              </a:lnSpc>
            </a:pPr>
            <a:r>
              <a:rPr lang="en-US" sz="2000" b="1" strike="noStrike" spc="-1">
                <a:solidFill>
                  <a:srgbClr val="000000"/>
                </a:solidFill>
                <a:uFill>
                  <a:solidFill>
                    <a:srgbClr val="FFFFFF"/>
                  </a:solidFill>
                </a:uFill>
                <a:latin typeface="Arial"/>
              </a:rPr>
              <a:t>Figure 4-2: Consumer Surplus in the Used-Textbook Market</a:t>
            </a:r>
            <a:endParaRPr lang="en-US" sz="2000" strike="noStrike" spc="-1">
              <a:solidFill>
                <a:srgbClr val="000000"/>
              </a:solidFill>
              <a:uFill>
                <a:solidFill>
                  <a:srgbClr val="FFFFFF"/>
                </a:solidFill>
              </a:uFill>
              <a:latin typeface="Arial"/>
            </a:endParaRPr>
          </a:p>
          <a:p>
            <a:pPr marL="216000" indent="-215640">
              <a:lnSpc>
                <a:spcPct val="100000"/>
              </a:lnSpc>
            </a:pPr>
            <a:r>
              <a:rPr lang="en-US" sz="2000" strike="noStrike" spc="-1">
                <a:solidFill>
                  <a:srgbClr val="000000"/>
                </a:solidFill>
                <a:uFill>
                  <a:solidFill>
                    <a:srgbClr val="FFFFFF"/>
                  </a:solidFill>
                </a:uFill>
                <a:latin typeface="Arial"/>
              </a:rPr>
              <a:t>At a price of $30, Aleisha, Brad, and Claudia each buy a book but Darren and Edwina do not. Aleisha, Brad, and Claudia receive individual consumer surpluses equal to the difference between their willingness to pay and the price, illustrated by the areas of the shaded rectangles. Both Darren and Edwina have a willingness to pay less than $30, so they are unwilling to buy a book in this market; they receive zero consumer surplus. The total consumer surplus is given by the entire shaded area—the sum of the individual consumer surpluses of Aleisha, Brad, and Claudia—equal to $29 + $15 + $5 = $49.</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5" name="PlaceHolder 1"/>
          <p:cNvSpPr>
            <a:spLocks noGrp="1"/>
          </p:cNvSpPr>
          <p:nvPr>
            <p:ph type="body"/>
          </p:nvPr>
        </p:nvSpPr>
        <p:spPr>
          <a:xfrm>
            <a:off x="679320" y="4691160"/>
            <a:ext cx="5438160" cy="4442760"/>
          </a:xfrm>
          <a:prstGeom prst="rect">
            <a:avLst/>
          </a:prstGeom>
        </p:spPr>
        <p:txBody>
          <a:bodyPr lIns="0" tIns="0" rIns="0" bIns="0"/>
          <a:lstStyle/>
          <a:p>
            <a:pPr marL="216000" indent="-215640">
              <a:lnSpc>
                <a:spcPct val="100000"/>
              </a:lnSpc>
            </a:pPr>
            <a:r>
              <a:rPr lang="en-US" sz="2000" b="1" i="1" u="sng" strike="noStrike" spc="-1">
                <a:solidFill>
                  <a:srgbClr val="000000"/>
                </a:solidFill>
                <a:uFill>
                  <a:solidFill>
                    <a:srgbClr val="FFFFFF"/>
                  </a:solidFill>
                </a:uFill>
                <a:latin typeface="Arial"/>
              </a:rPr>
              <a:t>Figure Caption:</a:t>
            </a:r>
            <a:r>
              <a:rPr lang="en-US" sz="2000" b="1" i="1" strike="noStrike" spc="-1">
                <a:solidFill>
                  <a:srgbClr val="000000"/>
                </a:solidFill>
                <a:uFill>
                  <a:solidFill>
                    <a:srgbClr val="FFFFFF"/>
                  </a:solidFill>
                </a:uFill>
                <a:latin typeface="Arial"/>
              </a:rPr>
              <a:t> </a:t>
            </a:r>
            <a:endParaRPr lang="en-US" sz="2000" strike="noStrike" spc="-1">
              <a:solidFill>
                <a:srgbClr val="000000"/>
              </a:solidFill>
              <a:uFill>
                <a:solidFill>
                  <a:srgbClr val="FFFFFF"/>
                </a:solidFill>
              </a:uFill>
              <a:latin typeface="Arial"/>
            </a:endParaRPr>
          </a:p>
          <a:p>
            <a:pPr marL="216000" indent="-215640">
              <a:lnSpc>
                <a:spcPct val="100000"/>
              </a:lnSpc>
            </a:pPr>
            <a:r>
              <a:rPr lang="en-US" sz="2000" b="1" strike="noStrike" spc="-1">
                <a:solidFill>
                  <a:srgbClr val="000000"/>
                </a:solidFill>
                <a:uFill>
                  <a:solidFill>
                    <a:srgbClr val="FFFFFF"/>
                  </a:solidFill>
                </a:uFill>
                <a:latin typeface="Arial"/>
              </a:rPr>
              <a:t>Figure 4-3: Consumer Surplus</a:t>
            </a:r>
            <a:endParaRPr lang="en-US" sz="2000" strike="noStrike" spc="-1">
              <a:solidFill>
                <a:srgbClr val="000000"/>
              </a:solidFill>
              <a:uFill>
                <a:solidFill>
                  <a:srgbClr val="FFFFFF"/>
                </a:solidFill>
              </a:uFill>
              <a:latin typeface="Arial"/>
            </a:endParaRPr>
          </a:p>
          <a:p>
            <a:pPr marL="216000" indent="-215640">
              <a:lnSpc>
                <a:spcPct val="100000"/>
              </a:lnSpc>
            </a:pPr>
            <a:r>
              <a:rPr lang="en-US" sz="2000" strike="noStrike" spc="-1">
                <a:solidFill>
                  <a:srgbClr val="000000"/>
                </a:solidFill>
                <a:uFill>
                  <a:solidFill>
                    <a:srgbClr val="FFFFFF"/>
                  </a:solidFill>
                </a:uFill>
                <a:latin typeface="Arial"/>
              </a:rPr>
              <a:t>The demand curve for iPads is smooth because there are many potential buyers. At a price of $500, 1 million iPads are demanded. The consumer surplus at this price is equal to the shaded area: the area below the demand curve but above the price. This is the total net gain to consumers generated from buying and consuming iPads when the price is $500.</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6" name="CustomShape 1"/>
          <p:cNvSpPr/>
          <p:nvPr/>
        </p:nvSpPr>
        <p:spPr>
          <a:xfrm>
            <a:off x="3849840" y="9379080"/>
            <a:ext cx="2945520" cy="492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F4730D29-BBBF-483A-81B9-01CEAD02BA89}" type="slidenum">
              <a:rPr lang="en-US" sz="1200" strike="noStrike" spc="-1">
                <a:solidFill>
                  <a:srgbClr val="000000"/>
                </a:solidFill>
                <a:uFill>
                  <a:solidFill>
                    <a:srgbClr val="FFFFFF"/>
                  </a:solidFill>
                </a:uFill>
                <a:latin typeface="Times New Roman"/>
              </a:rPr>
              <a:t>10</a:t>
            </a:fld>
            <a:endParaRPr lang="en-US" sz="1800" strike="noStrike" spc="-1">
              <a:solidFill>
                <a:srgbClr val="000000"/>
              </a:solidFill>
              <a:uFill>
                <a:solidFill>
                  <a:srgbClr val="FFFFFF"/>
                </a:solidFill>
              </a:uFill>
              <a:latin typeface="Arial"/>
            </a:endParaRPr>
          </a:p>
        </p:txBody>
      </p:sp>
      <p:sp>
        <p:nvSpPr>
          <p:cNvPr id="1287" name="PlaceHolder 2"/>
          <p:cNvSpPr>
            <a:spLocks noGrp="1"/>
          </p:cNvSpPr>
          <p:nvPr>
            <p:ph type="body"/>
          </p:nvPr>
        </p:nvSpPr>
        <p:spPr>
          <a:xfrm>
            <a:off x="679320" y="4691160"/>
            <a:ext cx="5438160" cy="4442760"/>
          </a:xfrm>
          <a:prstGeom prst="rect">
            <a:avLst/>
          </a:prstGeom>
        </p:spPr>
        <p:txBody>
          <a:bodyPr lIns="0" tIns="0" rIns="0" bIns="0"/>
          <a:lstStyle/>
          <a:p>
            <a:endParaRPr lang="en-US" sz="2000" strike="noStrike" spc="-1">
              <a:solidFill>
                <a:srgbClr val="000000"/>
              </a:solidFill>
              <a:uFill>
                <a:solidFill>
                  <a:srgbClr val="FFFFFF"/>
                </a:solidFill>
              </a:uFill>
              <a:latin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8" name="PlaceHolder 1"/>
          <p:cNvSpPr>
            <a:spLocks noGrp="1"/>
          </p:cNvSpPr>
          <p:nvPr>
            <p:ph type="body"/>
          </p:nvPr>
        </p:nvSpPr>
        <p:spPr>
          <a:xfrm>
            <a:off x="679320" y="4691160"/>
            <a:ext cx="5438160" cy="4442760"/>
          </a:xfrm>
          <a:prstGeom prst="rect">
            <a:avLst/>
          </a:prstGeom>
        </p:spPr>
        <p:txBody>
          <a:bodyPr lIns="0" tIns="0" rIns="0" bIns="0"/>
          <a:lstStyle/>
          <a:p>
            <a:pPr marL="216000" indent="-215640">
              <a:lnSpc>
                <a:spcPct val="100000"/>
              </a:lnSpc>
            </a:pPr>
            <a:r>
              <a:rPr lang="en-US" sz="2000" b="1" i="1" u="sng" strike="noStrike" spc="-1">
                <a:solidFill>
                  <a:srgbClr val="000000"/>
                </a:solidFill>
                <a:uFill>
                  <a:solidFill>
                    <a:srgbClr val="FFFFFF"/>
                  </a:solidFill>
                </a:uFill>
                <a:latin typeface="Arial"/>
              </a:rPr>
              <a:t>Figure Caption:</a:t>
            </a:r>
            <a:r>
              <a:rPr lang="en-US" sz="2000" b="1" i="1" strike="noStrike" spc="-1">
                <a:solidFill>
                  <a:srgbClr val="000000"/>
                </a:solidFill>
                <a:uFill>
                  <a:solidFill>
                    <a:srgbClr val="FFFFFF"/>
                  </a:solidFill>
                </a:uFill>
                <a:latin typeface="Arial"/>
              </a:rPr>
              <a:t> </a:t>
            </a:r>
            <a:endParaRPr lang="en-US" sz="2000" strike="noStrike" spc="-1">
              <a:solidFill>
                <a:srgbClr val="000000"/>
              </a:solidFill>
              <a:uFill>
                <a:solidFill>
                  <a:srgbClr val="FFFFFF"/>
                </a:solidFill>
              </a:uFill>
              <a:latin typeface="Arial"/>
            </a:endParaRPr>
          </a:p>
          <a:p>
            <a:pPr marL="216000" indent="-215640">
              <a:lnSpc>
                <a:spcPct val="100000"/>
              </a:lnSpc>
            </a:pPr>
            <a:r>
              <a:rPr lang="en-US" sz="2000" b="1" strike="noStrike" spc="-1">
                <a:solidFill>
                  <a:srgbClr val="000000"/>
                </a:solidFill>
                <a:uFill>
                  <a:solidFill>
                    <a:srgbClr val="FFFFFF"/>
                  </a:solidFill>
                </a:uFill>
                <a:latin typeface="Arial"/>
              </a:rPr>
              <a:t>Figure 4-4: Consumer Surplus and a Fall in the Price of Used Textbooks</a:t>
            </a:r>
            <a:endParaRPr lang="en-US" sz="2000" strike="noStrike" spc="-1">
              <a:solidFill>
                <a:srgbClr val="000000"/>
              </a:solidFill>
              <a:uFill>
                <a:solidFill>
                  <a:srgbClr val="FFFFFF"/>
                </a:solidFill>
              </a:uFill>
              <a:latin typeface="Arial"/>
            </a:endParaRPr>
          </a:p>
          <a:p>
            <a:pPr marL="216000" indent="-215640">
              <a:lnSpc>
                <a:spcPct val="100000"/>
              </a:lnSpc>
            </a:pPr>
            <a:r>
              <a:rPr lang="en-US" sz="2000" strike="noStrike" spc="-1">
                <a:solidFill>
                  <a:srgbClr val="000000"/>
                </a:solidFill>
                <a:uFill>
                  <a:solidFill>
                    <a:srgbClr val="FFFFFF"/>
                  </a:solidFill>
                </a:uFill>
                <a:latin typeface="Arial"/>
              </a:rPr>
              <a:t>There are two parts to the increase in consumer surplus generated by a fall in price from $30 to $20. The first is given by the dark blue rectangle: each person who would have bought at the original price of $30—Aleisha, Brad, and  Claudia—receives an increase in consumer surplus equal to the total reduction in price, $10. So the area of the dark blue rectangle corresponds to an amount equal to 3 ×$10 =$30. The second part is given by the light blue area: the increase in consumer surplus for those who would not have bought at the original price of $30 but who buy at the new price of $20—namely, Darren. Darren’s willingness to pay is $25, so he now receives consumer surplus of $5. The total increase in consumer surplus is 3 ×$10 +$5 =$35, represented by the sum of the shaded areas. Likewise, a rise in price from $20 to $30 would decrease consumer surplus by $35, the amount corresponding to the sum of the shaded areas.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9" name="PlaceHolder 1"/>
          <p:cNvSpPr>
            <a:spLocks noGrp="1"/>
          </p:cNvSpPr>
          <p:nvPr>
            <p:ph type="body"/>
          </p:nvPr>
        </p:nvSpPr>
        <p:spPr>
          <a:xfrm>
            <a:off x="679320" y="4691160"/>
            <a:ext cx="5438160" cy="4442760"/>
          </a:xfrm>
          <a:prstGeom prst="rect">
            <a:avLst/>
          </a:prstGeom>
        </p:spPr>
        <p:txBody>
          <a:bodyPr lIns="0" tIns="0" rIns="0" bIns="0"/>
          <a:lstStyle/>
          <a:p>
            <a:pPr marL="216000" indent="-215640">
              <a:lnSpc>
                <a:spcPct val="100000"/>
              </a:lnSpc>
            </a:pPr>
            <a:r>
              <a:rPr lang="en-US" sz="2000" b="1" i="1" u="sng" strike="noStrike" spc="-1">
                <a:solidFill>
                  <a:srgbClr val="000000"/>
                </a:solidFill>
                <a:uFill>
                  <a:solidFill>
                    <a:srgbClr val="FFFFFF"/>
                  </a:solidFill>
                </a:uFill>
                <a:latin typeface="Arial"/>
              </a:rPr>
              <a:t>Figure Caption:</a:t>
            </a:r>
            <a:r>
              <a:rPr lang="en-US" sz="2000" b="1" i="1" strike="noStrike" spc="-1">
                <a:solidFill>
                  <a:srgbClr val="000000"/>
                </a:solidFill>
                <a:uFill>
                  <a:solidFill>
                    <a:srgbClr val="FFFFFF"/>
                  </a:solidFill>
                </a:uFill>
                <a:latin typeface="Arial"/>
              </a:rPr>
              <a:t> </a:t>
            </a:r>
            <a:endParaRPr lang="en-US" sz="2000" strike="noStrike" spc="-1">
              <a:solidFill>
                <a:srgbClr val="000000"/>
              </a:solidFill>
              <a:uFill>
                <a:solidFill>
                  <a:srgbClr val="FFFFFF"/>
                </a:solidFill>
              </a:uFill>
              <a:latin typeface="Arial"/>
            </a:endParaRPr>
          </a:p>
          <a:p>
            <a:pPr marL="216000" indent="-215640">
              <a:lnSpc>
                <a:spcPct val="100000"/>
              </a:lnSpc>
            </a:pPr>
            <a:r>
              <a:rPr lang="en-US" sz="2000" b="1" strike="noStrike" spc="-1">
                <a:solidFill>
                  <a:srgbClr val="000000"/>
                </a:solidFill>
                <a:uFill>
                  <a:solidFill>
                    <a:srgbClr val="FFFFFF"/>
                  </a:solidFill>
                </a:uFill>
                <a:latin typeface="Arial"/>
              </a:rPr>
              <a:t>Figure 4-5: A Fall in the Price Increase Consumer Surplus</a:t>
            </a:r>
            <a:endParaRPr lang="en-US" sz="2000" strike="noStrike" spc="-1">
              <a:solidFill>
                <a:srgbClr val="000000"/>
              </a:solidFill>
              <a:uFill>
                <a:solidFill>
                  <a:srgbClr val="FFFFFF"/>
                </a:solidFill>
              </a:uFill>
              <a:latin typeface="Arial"/>
            </a:endParaRPr>
          </a:p>
          <a:p>
            <a:pPr marL="216000" indent="-215640">
              <a:lnSpc>
                <a:spcPct val="100000"/>
              </a:lnSpc>
            </a:pPr>
            <a:r>
              <a:rPr lang="en-US" sz="2000" strike="noStrike" spc="-1">
                <a:solidFill>
                  <a:srgbClr val="000000"/>
                </a:solidFill>
                <a:uFill>
                  <a:solidFill>
                    <a:srgbClr val="FFFFFF"/>
                  </a:solidFill>
                </a:uFill>
                <a:latin typeface="Arial"/>
              </a:rPr>
              <a:t>A fall in the price of an iPad from $2,000 to $500 leads to an increase in the quantity demanded and an increase in consumer surplus. The change in</a:t>
            </a:r>
          </a:p>
          <a:p>
            <a:pPr marL="216000" indent="-215640">
              <a:lnSpc>
                <a:spcPct val="100000"/>
              </a:lnSpc>
            </a:pPr>
            <a:r>
              <a:rPr lang="en-US" sz="2000" strike="noStrike" spc="-1">
                <a:solidFill>
                  <a:srgbClr val="000000"/>
                </a:solidFill>
                <a:uFill>
                  <a:solidFill>
                    <a:srgbClr val="FFFFFF"/>
                  </a:solidFill>
                </a:uFill>
                <a:latin typeface="Arial"/>
              </a:rPr>
              <a:t>total consumer surplus is given by the sum of the shaded areas: the total area below the demand curve and between the old and new prices. Here, the dark blue area represents the increase in consumer surplus for the 200,000 consumers who would have bought an iPad at the original price of $2,000; they each receive an increase in consumer surplus of $1,500. The light blue area represents the increase in consumer surplus for those willing to buy at a price equal to or greater than $500 but less than $2,000. Similarly, a rise in the price of an iPad from $500 to $2,000 generates a decrease in consumer surplus equal to the sum of the two shaded areas.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 name="PlaceHolder 1"/>
          <p:cNvSpPr>
            <a:spLocks noGrp="1"/>
          </p:cNvSpPr>
          <p:nvPr>
            <p:ph type="body"/>
          </p:nvPr>
        </p:nvSpPr>
        <p:spPr>
          <a:xfrm>
            <a:off x="679320" y="4691160"/>
            <a:ext cx="5438160" cy="4442760"/>
          </a:xfrm>
          <a:prstGeom prst="rect">
            <a:avLst/>
          </a:prstGeom>
        </p:spPr>
        <p:txBody>
          <a:bodyPr lIns="0" tIns="0" rIns="0" bIns="0"/>
          <a:lstStyle/>
          <a:p>
            <a:endParaRPr lang="en-US" sz="2000" strike="noStrike" spc="-1">
              <a:solidFill>
                <a:srgbClr val="000000"/>
              </a:solidFill>
              <a:uFill>
                <a:solidFill>
                  <a:srgbClr val="FFFFFF"/>
                </a:solidFill>
              </a:uFill>
              <a:latin typeface="Arial"/>
            </a:endParaRPr>
          </a:p>
        </p:txBody>
      </p:sp>
      <p:sp>
        <p:nvSpPr>
          <p:cNvPr id="1291" name="CustomShape 2"/>
          <p:cNvSpPr/>
          <p:nvPr/>
        </p:nvSpPr>
        <p:spPr>
          <a:xfrm>
            <a:off x="3849840" y="9379080"/>
            <a:ext cx="2945520" cy="492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999BC16B-7096-493D-9C59-F21811D518C4}" type="slidenum">
              <a:rPr lang="en-US" sz="1200" strike="noStrike" spc="-1">
                <a:solidFill>
                  <a:srgbClr val="000000"/>
                </a:solidFill>
                <a:uFill>
                  <a:solidFill>
                    <a:srgbClr val="FFFFFF"/>
                  </a:solidFill>
                </a:uFill>
                <a:latin typeface="Times New Roman"/>
              </a:rPr>
              <a:t>13</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2" name="PlaceHolder 1"/>
          <p:cNvSpPr>
            <a:spLocks noGrp="1"/>
          </p:cNvSpPr>
          <p:nvPr>
            <p:ph type="body"/>
          </p:nvPr>
        </p:nvSpPr>
        <p:spPr>
          <a:xfrm>
            <a:off x="679320" y="4691160"/>
            <a:ext cx="5438160" cy="4442760"/>
          </a:xfrm>
          <a:prstGeom prst="rect">
            <a:avLst/>
          </a:prstGeom>
        </p:spPr>
        <p:txBody>
          <a:bodyPr lIns="0" tIns="0" rIns="0" bIns="0"/>
          <a:lstStyle/>
          <a:p>
            <a:pPr marL="216000" indent="-215640">
              <a:lnSpc>
                <a:spcPct val="100000"/>
              </a:lnSpc>
            </a:pPr>
            <a:r>
              <a:rPr lang="en-US" sz="2000" b="1" i="1" u="sng" strike="noStrike" spc="-1">
                <a:solidFill>
                  <a:srgbClr val="000000"/>
                </a:solidFill>
                <a:uFill>
                  <a:solidFill>
                    <a:srgbClr val="FFFFFF"/>
                  </a:solidFill>
                </a:uFill>
                <a:latin typeface="Arial"/>
              </a:rPr>
              <a:t>Figure Caption:</a:t>
            </a:r>
            <a:r>
              <a:rPr lang="en-US" sz="2000" b="1" i="1" strike="noStrike" spc="-1">
                <a:solidFill>
                  <a:srgbClr val="000000"/>
                </a:solidFill>
                <a:uFill>
                  <a:solidFill>
                    <a:srgbClr val="FFFFFF"/>
                  </a:solidFill>
                </a:uFill>
                <a:latin typeface="Arial"/>
              </a:rPr>
              <a:t> </a:t>
            </a:r>
            <a:endParaRPr lang="en-US" sz="2000" strike="noStrike" spc="-1">
              <a:solidFill>
                <a:srgbClr val="000000"/>
              </a:solidFill>
              <a:uFill>
                <a:solidFill>
                  <a:srgbClr val="FFFFFF"/>
                </a:solidFill>
              </a:uFill>
              <a:latin typeface="Arial"/>
            </a:endParaRPr>
          </a:p>
          <a:p>
            <a:pPr marL="216000" indent="-215640">
              <a:lnSpc>
                <a:spcPct val="100000"/>
              </a:lnSpc>
            </a:pPr>
            <a:r>
              <a:rPr lang="en-US" sz="2000" b="1" strike="noStrike" spc="-1">
                <a:solidFill>
                  <a:srgbClr val="000000"/>
                </a:solidFill>
                <a:uFill>
                  <a:solidFill>
                    <a:srgbClr val="FFFFFF"/>
                  </a:solidFill>
                </a:uFill>
                <a:latin typeface="Arial"/>
              </a:rPr>
              <a:t>Figure 4-7: Producer Surplus in the Used-Textbook Market</a:t>
            </a:r>
            <a:endParaRPr lang="en-US" sz="2000" strike="noStrike" spc="-1">
              <a:solidFill>
                <a:srgbClr val="000000"/>
              </a:solidFill>
              <a:uFill>
                <a:solidFill>
                  <a:srgbClr val="FFFFFF"/>
                </a:solidFill>
              </a:uFill>
              <a:latin typeface="Arial"/>
            </a:endParaRPr>
          </a:p>
          <a:p>
            <a:pPr marL="216000" indent="-215640">
              <a:lnSpc>
                <a:spcPct val="100000"/>
              </a:lnSpc>
            </a:pPr>
            <a:r>
              <a:rPr lang="en-US" sz="2000" strike="noStrike" spc="-1">
                <a:solidFill>
                  <a:srgbClr val="000000"/>
                </a:solidFill>
                <a:uFill>
                  <a:solidFill>
                    <a:srgbClr val="FFFFFF"/>
                  </a:solidFill>
                </a:uFill>
                <a:latin typeface="Arial"/>
              </a:rPr>
              <a:t>At a price of $30, Andrew, Betty, and Carlos each sell a book but Donna and Engelbert do not. Andrew, Betty, and Carlos get individual producer surpluses equal to the difference between the price and their cost, illustrated here by the shaded rectangles. Donna and Engelbert each have a cost that is greater than the price of $30, so they are unwilling to sell a book and so receive zero producer surplus. The total producer surplus is given by the entire shaded area, the sum of the individual producer surpluses of Andrew, Betty, and Carlos, equal to $25 +$15 +$5 =$45.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3" name="PlaceHolder 1"/>
          <p:cNvSpPr>
            <a:spLocks noGrp="1"/>
          </p:cNvSpPr>
          <p:nvPr>
            <p:ph type="body"/>
          </p:nvPr>
        </p:nvSpPr>
        <p:spPr>
          <a:xfrm>
            <a:off x="679320" y="4691160"/>
            <a:ext cx="5438160" cy="4442760"/>
          </a:xfrm>
          <a:prstGeom prst="rect">
            <a:avLst/>
          </a:prstGeom>
        </p:spPr>
        <p:txBody>
          <a:bodyPr lIns="0" tIns="0" rIns="0" bIns="0"/>
          <a:lstStyle/>
          <a:p>
            <a:pPr marL="216000" indent="-215640">
              <a:lnSpc>
                <a:spcPct val="100000"/>
              </a:lnSpc>
            </a:pPr>
            <a:r>
              <a:rPr lang="en-US" sz="2000" b="1" i="1" u="sng" strike="noStrike" spc="-1">
                <a:solidFill>
                  <a:srgbClr val="000000"/>
                </a:solidFill>
                <a:uFill>
                  <a:solidFill>
                    <a:srgbClr val="FFFFFF"/>
                  </a:solidFill>
                </a:uFill>
                <a:latin typeface="Arial"/>
              </a:rPr>
              <a:t>Figure Caption:</a:t>
            </a:r>
            <a:r>
              <a:rPr lang="en-US" sz="2000" b="1" i="1" strike="noStrike" spc="-1">
                <a:solidFill>
                  <a:srgbClr val="000000"/>
                </a:solidFill>
                <a:uFill>
                  <a:solidFill>
                    <a:srgbClr val="FFFFFF"/>
                  </a:solidFill>
                </a:uFill>
                <a:latin typeface="Arial"/>
              </a:rPr>
              <a:t> </a:t>
            </a:r>
            <a:endParaRPr lang="en-US" sz="2000" strike="noStrike" spc="-1">
              <a:solidFill>
                <a:srgbClr val="000000"/>
              </a:solidFill>
              <a:uFill>
                <a:solidFill>
                  <a:srgbClr val="FFFFFF"/>
                </a:solidFill>
              </a:uFill>
              <a:latin typeface="Arial"/>
            </a:endParaRPr>
          </a:p>
          <a:p>
            <a:pPr marL="216000" indent="-215640">
              <a:lnSpc>
                <a:spcPct val="100000"/>
              </a:lnSpc>
            </a:pPr>
            <a:r>
              <a:rPr lang="en-US" sz="2000" b="1" strike="noStrike" spc="-1">
                <a:solidFill>
                  <a:srgbClr val="000000"/>
                </a:solidFill>
                <a:uFill>
                  <a:solidFill>
                    <a:srgbClr val="FFFFFF"/>
                  </a:solidFill>
                </a:uFill>
                <a:latin typeface="Arial"/>
              </a:rPr>
              <a:t>Figure 4-8: Producer Surplus</a:t>
            </a:r>
            <a:endParaRPr lang="en-US" sz="2000" strike="noStrike" spc="-1">
              <a:solidFill>
                <a:srgbClr val="000000"/>
              </a:solidFill>
              <a:uFill>
                <a:solidFill>
                  <a:srgbClr val="FFFFFF"/>
                </a:solidFill>
              </a:uFill>
              <a:latin typeface="Arial"/>
            </a:endParaRPr>
          </a:p>
          <a:p>
            <a:pPr marL="216000" indent="-215640">
              <a:lnSpc>
                <a:spcPct val="100000"/>
              </a:lnSpc>
            </a:pPr>
            <a:r>
              <a:rPr lang="en-US" sz="2000" strike="noStrike" spc="-1">
                <a:solidFill>
                  <a:srgbClr val="000000"/>
                </a:solidFill>
                <a:uFill>
                  <a:solidFill>
                    <a:srgbClr val="FFFFFF"/>
                  </a:solidFill>
                </a:uFill>
                <a:latin typeface="Arial"/>
              </a:rPr>
              <a:t>Here is the supply curve for wheat. At a price of $5 per bushel, farmers supply 1 million bushels. The producer surplus at this price is equal to the shaded area: the area above the supply curve but below the price. This is the total gain to producers— farmers in this case—from supplying their product when the price is $5.</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4" name="CustomShape 1"/>
          <p:cNvSpPr/>
          <p:nvPr/>
        </p:nvSpPr>
        <p:spPr>
          <a:xfrm>
            <a:off x="3849840" y="9379080"/>
            <a:ext cx="2945520" cy="492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3259028E-2707-4A65-97AC-031F45DAD2FE}" type="slidenum">
              <a:rPr lang="en-US" sz="1200" strike="noStrike" spc="-1">
                <a:solidFill>
                  <a:srgbClr val="000000"/>
                </a:solidFill>
                <a:uFill>
                  <a:solidFill>
                    <a:srgbClr val="FFFFFF"/>
                  </a:solidFill>
                </a:uFill>
                <a:latin typeface="Times New Roman"/>
              </a:rPr>
              <a:t>16</a:t>
            </a:fld>
            <a:endParaRPr lang="en-US" sz="1800" strike="noStrike" spc="-1">
              <a:solidFill>
                <a:srgbClr val="000000"/>
              </a:solidFill>
              <a:uFill>
                <a:solidFill>
                  <a:srgbClr val="FFFFFF"/>
                </a:solidFill>
              </a:uFill>
              <a:latin typeface="Arial"/>
            </a:endParaRPr>
          </a:p>
        </p:txBody>
      </p:sp>
      <p:sp>
        <p:nvSpPr>
          <p:cNvPr id="1295" name="PlaceHolder 2"/>
          <p:cNvSpPr>
            <a:spLocks noGrp="1"/>
          </p:cNvSpPr>
          <p:nvPr>
            <p:ph type="body"/>
          </p:nvPr>
        </p:nvSpPr>
        <p:spPr>
          <a:xfrm>
            <a:off x="679320" y="4691160"/>
            <a:ext cx="5438160" cy="4442760"/>
          </a:xfrm>
          <a:prstGeom prst="rect">
            <a:avLst/>
          </a:prstGeom>
        </p:spPr>
        <p:txBody>
          <a:bodyPr lIns="0" tIns="0" rIns="0" bIns="0"/>
          <a:lstStyle/>
          <a:p>
            <a:endParaRPr lang="en-US" sz="2000" strike="noStrike" spc="-1">
              <a:solidFill>
                <a:srgbClr val="000000"/>
              </a:solidFill>
              <a:uFill>
                <a:solidFill>
                  <a:srgbClr val="FFFFFF"/>
                </a:solidFill>
              </a:uFill>
              <a:latin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6" name="PlaceHolder 1"/>
          <p:cNvSpPr>
            <a:spLocks noGrp="1"/>
          </p:cNvSpPr>
          <p:nvPr>
            <p:ph type="body"/>
          </p:nvPr>
        </p:nvSpPr>
        <p:spPr>
          <a:xfrm>
            <a:off x="679320" y="4691160"/>
            <a:ext cx="5438160" cy="4442760"/>
          </a:xfrm>
          <a:prstGeom prst="rect">
            <a:avLst/>
          </a:prstGeom>
        </p:spPr>
        <p:txBody>
          <a:bodyPr lIns="0" tIns="0" rIns="0" bIns="0"/>
          <a:lstStyle/>
          <a:p>
            <a:pPr marL="216000" indent="-215640">
              <a:lnSpc>
                <a:spcPct val="100000"/>
              </a:lnSpc>
            </a:pPr>
            <a:r>
              <a:rPr lang="en-US" sz="2000" b="1" i="1" u="sng" strike="noStrike" spc="-1">
                <a:solidFill>
                  <a:srgbClr val="000000"/>
                </a:solidFill>
                <a:uFill>
                  <a:solidFill>
                    <a:srgbClr val="FFFFFF"/>
                  </a:solidFill>
                </a:uFill>
                <a:latin typeface="Arial"/>
              </a:rPr>
              <a:t>Figure Caption:</a:t>
            </a:r>
            <a:r>
              <a:rPr lang="en-US" sz="2000" b="1" i="1" strike="noStrike" spc="-1">
                <a:solidFill>
                  <a:srgbClr val="000000"/>
                </a:solidFill>
                <a:uFill>
                  <a:solidFill>
                    <a:srgbClr val="FFFFFF"/>
                  </a:solidFill>
                </a:uFill>
                <a:latin typeface="Arial"/>
              </a:rPr>
              <a:t> </a:t>
            </a:r>
            <a:endParaRPr lang="en-US" sz="2000" strike="noStrike" spc="-1">
              <a:solidFill>
                <a:srgbClr val="000000"/>
              </a:solidFill>
              <a:uFill>
                <a:solidFill>
                  <a:srgbClr val="FFFFFF"/>
                </a:solidFill>
              </a:uFill>
              <a:latin typeface="Arial"/>
            </a:endParaRPr>
          </a:p>
          <a:p>
            <a:pPr marL="216000" indent="-215640">
              <a:lnSpc>
                <a:spcPct val="100000"/>
              </a:lnSpc>
            </a:pPr>
            <a:r>
              <a:rPr lang="en-US" sz="2000" b="1" strike="noStrike" spc="-1">
                <a:solidFill>
                  <a:srgbClr val="000000"/>
                </a:solidFill>
                <a:uFill>
                  <a:solidFill>
                    <a:srgbClr val="FFFFFF"/>
                  </a:solidFill>
                </a:uFill>
                <a:latin typeface="Arial"/>
              </a:rPr>
              <a:t>Figure 4-9: A Rise in the Price Increases Producer Surplus</a:t>
            </a:r>
            <a:endParaRPr lang="en-US" sz="2000" strike="noStrike" spc="-1">
              <a:solidFill>
                <a:srgbClr val="000000"/>
              </a:solidFill>
              <a:uFill>
                <a:solidFill>
                  <a:srgbClr val="FFFFFF"/>
                </a:solidFill>
              </a:uFill>
              <a:latin typeface="Arial"/>
            </a:endParaRPr>
          </a:p>
          <a:p>
            <a:pPr marL="216000" indent="-215640">
              <a:lnSpc>
                <a:spcPct val="100000"/>
              </a:lnSpc>
            </a:pPr>
            <a:r>
              <a:rPr lang="en-US" sz="2000" strike="noStrike" spc="-1">
                <a:solidFill>
                  <a:srgbClr val="000000"/>
                </a:solidFill>
                <a:uFill>
                  <a:solidFill>
                    <a:srgbClr val="FFFFFF"/>
                  </a:solidFill>
                </a:uFill>
                <a:latin typeface="Arial"/>
              </a:rPr>
              <a:t>A rise in the price of wheat from $5 to $7 leads to an increase in the quantity supplied and an increase in producer surplus. The change in total producer surplus is given by the sum of the shaded areas: the total area above the supply curve but between the old and new prices. The dark red area represents the gain to the farmers who would have supplied 1 million bushels at the original price of $5; they each receive an increase in producer surplus of $2 for each of those bushels. The triangular light red area represents the increase in producer surplus achieved by the farmers who supply the additional 500,000 bushels because of the higher price. Similarly, a fall in the price of wheat generates a reduction in producer surplus equal to the sum of the shaded areas.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7" name="PlaceHolder 1"/>
          <p:cNvSpPr>
            <a:spLocks noGrp="1"/>
          </p:cNvSpPr>
          <p:nvPr>
            <p:ph type="body"/>
          </p:nvPr>
        </p:nvSpPr>
        <p:spPr>
          <a:xfrm>
            <a:off x="679320" y="4691160"/>
            <a:ext cx="5438160" cy="4442760"/>
          </a:xfrm>
          <a:prstGeom prst="rect">
            <a:avLst/>
          </a:prstGeom>
        </p:spPr>
        <p:txBody>
          <a:bodyPr lIns="0" tIns="0" rIns="0" bIns="0"/>
          <a:lstStyle/>
          <a:p>
            <a:endParaRPr lang="en-US" sz="2000" strike="noStrike" spc="-1">
              <a:solidFill>
                <a:srgbClr val="000000"/>
              </a:solidFill>
              <a:uFill>
                <a:solidFill>
                  <a:srgbClr val="FFFFFF"/>
                </a:solidFill>
              </a:uFill>
              <a:latin typeface="Arial"/>
            </a:endParaRPr>
          </a:p>
        </p:txBody>
      </p:sp>
      <p:sp>
        <p:nvSpPr>
          <p:cNvPr id="1298" name="CustomShape 2"/>
          <p:cNvSpPr/>
          <p:nvPr/>
        </p:nvSpPr>
        <p:spPr>
          <a:xfrm>
            <a:off x="3849840" y="9379080"/>
            <a:ext cx="2945520" cy="4928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47077C7B-A3F0-41DC-924E-0C355CF9DC1B}" type="slidenum">
              <a:rPr lang="en-US" sz="1200" strike="noStrike" spc="-1">
                <a:solidFill>
                  <a:srgbClr val="000000"/>
                </a:solidFill>
                <a:uFill>
                  <a:solidFill>
                    <a:srgbClr val="FFFFFF"/>
                  </a:solidFill>
                </a:uFill>
                <a:latin typeface="Calibri"/>
                <a:ea typeface="MS PGothic"/>
              </a:rPr>
              <a:t>18</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 name="PlaceHolder 1"/>
          <p:cNvSpPr>
            <a:spLocks noGrp="1"/>
          </p:cNvSpPr>
          <p:nvPr>
            <p:ph type="body"/>
          </p:nvPr>
        </p:nvSpPr>
        <p:spPr>
          <a:xfrm>
            <a:off x="679320" y="4691160"/>
            <a:ext cx="5438160" cy="4442760"/>
          </a:xfrm>
          <a:prstGeom prst="rect">
            <a:avLst/>
          </a:prstGeom>
        </p:spPr>
        <p:txBody>
          <a:bodyPr lIns="0" tIns="0" rIns="0" bIns="0"/>
          <a:lstStyle/>
          <a:p>
            <a:endParaRPr lang="en-US" sz="2000" strike="noStrike" spc="-1">
              <a:solidFill>
                <a:srgbClr val="000000"/>
              </a:solidFill>
              <a:uFill>
                <a:solidFill>
                  <a:srgbClr val="FFFFFF"/>
                </a:solidFill>
              </a:uFill>
              <a:latin typeface="Arial"/>
            </a:endParaRPr>
          </a:p>
        </p:txBody>
      </p:sp>
      <p:sp>
        <p:nvSpPr>
          <p:cNvPr id="1300" name="CustomShape 2"/>
          <p:cNvSpPr/>
          <p:nvPr/>
        </p:nvSpPr>
        <p:spPr>
          <a:xfrm>
            <a:off x="3849840" y="9379080"/>
            <a:ext cx="2945520" cy="492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E0833C9C-A76E-4996-8863-81DB9940E557}" type="slidenum">
              <a:rPr lang="en-US" sz="1200" strike="noStrike" spc="-1">
                <a:solidFill>
                  <a:srgbClr val="000000"/>
                </a:solidFill>
                <a:uFill>
                  <a:solidFill>
                    <a:srgbClr val="FFFFFF"/>
                  </a:solidFill>
                </a:uFill>
                <a:latin typeface="Times New Roman"/>
              </a:rPr>
              <a:t>19</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1" name="PlaceHolder 1"/>
          <p:cNvSpPr>
            <a:spLocks noGrp="1"/>
          </p:cNvSpPr>
          <p:nvPr>
            <p:ph type="body"/>
          </p:nvPr>
        </p:nvSpPr>
        <p:spPr>
          <a:xfrm>
            <a:off x="679320" y="4691160"/>
            <a:ext cx="5438160" cy="4442760"/>
          </a:xfrm>
          <a:prstGeom prst="rect">
            <a:avLst/>
          </a:prstGeom>
        </p:spPr>
        <p:txBody>
          <a:bodyPr lIns="0" tIns="0" rIns="0" bIns="0"/>
          <a:lstStyle/>
          <a:p>
            <a:pPr marL="216000" indent="-215640">
              <a:lnSpc>
                <a:spcPct val="100000"/>
              </a:lnSpc>
            </a:pPr>
            <a:r>
              <a:rPr lang="en-US" sz="2000" b="1" i="1" u="sng" strike="noStrike" spc="-1">
                <a:solidFill>
                  <a:srgbClr val="000000"/>
                </a:solidFill>
                <a:uFill>
                  <a:solidFill>
                    <a:srgbClr val="FFFFFF"/>
                  </a:solidFill>
                </a:uFill>
                <a:latin typeface="Arial"/>
              </a:rPr>
              <a:t>Figure Caption:</a:t>
            </a:r>
            <a:r>
              <a:rPr lang="en-US" sz="2000" b="1" i="1" strike="noStrike" spc="-1">
                <a:solidFill>
                  <a:srgbClr val="000000"/>
                </a:solidFill>
                <a:uFill>
                  <a:solidFill>
                    <a:srgbClr val="FFFFFF"/>
                  </a:solidFill>
                </a:uFill>
                <a:latin typeface="Arial"/>
              </a:rPr>
              <a:t> </a:t>
            </a:r>
            <a:endParaRPr lang="en-US" sz="2000" strike="noStrike" spc="-1">
              <a:solidFill>
                <a:srgbClr val="000000"/>
              </a:solidFill>
              <a:uFill>
                <a:solidFill>
                  <a:srgbClr val="FFFFFF"/>
                </a:solidFill>
              </a:uFill>
              <a:latin typeface="Arial"/>
            </a:endParaRPr>
          </a:p>
          <a:p>
            <a:pPr marL="216000" indent="-215640">
              <a:lnSpc>
                <a:spcPct val="100000"/>
              </a:lnSpc>
            </a:pPr>
            <a:r>
              <a:rPr lang="en-US" sz="2000" b="1" strike="noStrike" spc="-1">
                <a:solidFill>
                  <a:srgbClr val="000000"/>
                </a:solidFill>
                <a:uFill>
                  <a:solidFill>
                    <a:srgbClr val="FFFFFF"/>
                  </a:solidFill>
                </a:uFill>
                <a:latin typeface="Arial"/>
              </a:rPr>
              <a:t>Figure 4-11: Total Surplus</a:t>
            </a:r>
            <a:endParaRPr lang="en-US" sz="2000" strike="noStrike" spc="-1">
              <a:solidFill>
                <a:srgbClr val="000000"/>
              </a:solidFill>
              <a:uFill>
                <a:solidFill>
                  <a:srgbClr val="FFFFFF"/>
                </a:solidFill>
              </a:uFill>
              <a:latin typeface="Arial"/>
            </a:endParaRPr>
          </a:p>
          <a:p>
            <a:pPr marL="216000" indent="-215640">
              <a:lnSpc>
                <a:spcPct val="100000"/>
              </a:lnSpc>
            </a:pPr>
            <a:r>
              <a:rPr lang="en-US" sz="2000" strike="noStrike" spc="-1">
                <a:solidFill>
                  <a:srgbClr val="000000"/>
                </a:solidFill>
                <a:uFill>
                  <a:solidFill>
                    <a:srgbClr val="FFFFFF"/>
                  </a:solidFill>
                </a:uFill>
                <a:latin typeface="Arial"/>
              </a:rPr>
              <a:t>In the market for used textbooks, the equilibrium price is $30 and the equilibrium quantity is 1,000 books. Consumer surplus is given by the blue area, the area below the demand curve but above the price. Producer surplus is given by the red area, the area above the supply curve but below the price. The sum of the blue and the red areas is total surplus, the total benefit to society from the production and consumption of the good.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2" name="PlaceHolder 1"/>
          <p:cNvSpPr>
            <a:spLocks noGrp="1"/>
          </p:cNvSpPr>
          <p:nvPr>
            <p:ph type="body"/>
          </p:nvPr>
        </p:nvSpPr>
        <p:spPr>
          <a:xfrm>
            <a:off x="679320" y="4691160"/>
            <a:ext cx="5438160" cy="4442760"/>
          </a:xfrm>
          <a:prstGeom prst="rect">
            <a:avLst/>
          </a:prstGeom>
        </p:spPr>
        <p:txBody>
          <a:bodyPr lIns="0" tIns="0" rIns="0" bIns="0"/>
          <a:lstStyle/>
          <a:p>
            <a:endParaRPr lang="en-US" sz="2000" strike="noStrike" spc="-1">
              <a:solidFill>
                <a:srgbClr val="000000"/>
              </a:solidFill>
              <a:uFill>
                <a:solidFill>
                  <a:srgbClr val="FFFFFF"/>
                </a:solidFill>
              </a:uFill>
              <a:latin typeface="Arial"/>
            </a:endParaRPr>
          </a:p>
        </p:txBody>
      </p:sp>
      <p:sp>
        <p:nvSpPr>
          <p:cNvPr id="1303" name="CustomShape 2"/>
          <p:cNvSpPr/>
          <p:nvPr/>
        </p:nvSpPr>
        <p:spPr>
          <a:xfrm>
            <a:off x="3849840" y="9379080"/>
            <a:ext cx="2945520" cy="492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939311B4-688C-4375-BD60-3B3C98AA4EE9}" type="slidenum">
              <a:rPr lang="en-US" sz="1200" strike="noStrike" spc="-1">
                <a:solidFill>
                  <a:srgbClr val="000000"/>
                </a:solidFill>
                <a:uFill>
                  <a:solidFill>
                    <a:srgbClr val="FFFFFF"/>
                  </a:solidFill>
                </a:uFill>
                <a:latin typeface="Times New Roman"/>
              </a:rPr>
              <a:t>21</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4" name="PlaceHolder 1"/>
          <p:cNvSpPr>
            <a:spLocks noGrp="1"/>
          </p:cNvSpPr>
          <p:nvPr>
            <p:ph type="body"/>
          </p:nvPr>
        </p:nvSpPr>
        <p:spPr>
          <a:xfrm>
            <a:off x="679320" y="4691160"/>
            <a:ext cx="5438160" cy="4442760"/>
          </a:xfrm>
          <a:prstGeom prst="rect">
            <a:avLst/>
          </a:prstGeom>
        </p:spPr>
        <p:txBody>
          <a:bodyPr lIns="0" tIns="0" rIns="0" bIns="0"/>
          <a:lstStyle/>
          <a:p>
            <a:endParaRPr lang="en-US" sz="2000" strike="noStrike" spc="-1">
              <a:solidFill>
                <a:srgbClr val="000000"/>
              </a:solidFill>
              <a:uFill>
                <a:solidFill>
                  <a:srgbClr val="FFFFFF"/>
                </a:solidFill>
              </a:uFill>
              <a:latin typeface="Arial"/>
            </a:endParaRPr>
          </a:p>
        </p:txBody>
      </p:sp>
      <p:sp>
        <p:nvSpPr>
          <p:cNvPr id="1305" name="CustomShape 2"/>
          <p:cNvSpPr/>
          <p:nvPr/>
        </p:nvSpPr>
        <p:spPr>
          <a:xfrm>
            <a:off x="3849840" y="9379080"/>
            <a:ext cx="2945520" cy="492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BD04DC32-72E0-405E-BF93-CC36A3D1D82C}" type="slidenum">
              <a:rPr lang="en-US" sz="1200" strike="noStrike" spc="-1">
                <a:solidFill>
                  <a:srgbClr val="000000"/>
                </a:solidFill>
                <a:uFill>
                  <a:solidFill>
                    <a:srgbClr val="FFFFFF"/>
                  </a:solidFill>
                </a:uFill>
                <a:latin typeface="Times New Roman"/>
              </a:rPr>
              <a:t>22</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6" name="PlaceHolder 1"/>
          <p:cNvSpPr>
            <a:spLocks noGrp="1"/>
          </p:cNvSpPr>
          <p:nvPr>
            <p:ph type="body"/>
          </p:nvPr>
        </p:nvSpPr>
        <p:spPr>
          <a:xfrm>
            <a:off x="679320" y="4691160"/>
            <a:ext cx="5438160" cy="4442760"/>
          </a:xfrm>
          <a:prstGeom prst="rect">
            <a:avLst/>
          </a:prstGeom>
        </p:spPr>
        <p:txBody>
          <a:bodyPr lIns="0" tIns="0" rIns="0" bIns="0"/>
          <a:lstStyle/>
          <a:p>
            <a:endParaRPr lang="en-US" sz="2000" strike="noStrike" spc="-1">
              <a:solidFill>
                <a:srgbClr val="000000"/>
              </a:solidFill>
              <a:uFill>
                <a:solidFill>
                  <a:srgbClr val="FFFFFF"/>
                </a:solidFill>
              </a:uFill>
              <a:latin typeface="Arial"/>
            </a:endParaRPr>
          </a:p>
        </p:txBody>
      </p:sp>
      <p:sp>
        <p:nvSpPr>
          <p:cNvPr id="1307" name="CustomShape 2"/>
          <p:cNvSpPr/>
          <p:nvPr/>
        </p:nvSpPr>
        <p:spPr>
          <a:xfrm>
            <a:off x="3849840" y="9379080"/>
            <a:ext cx="2945520" cy="492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7A5023AD-16E7-46E9-9F3D-ED5E533EEE89}" type="slidenum">
              <a:rPr lang="en-US" sz="1200" strike="noStrike" spc="-1">
                <a:solidFill>
                  <a:srgbClr val="000000"/>
                </a:solidFill>
                <a:uFill>
                  <a:solidFill>
                    <a:srgbClr val="FFFFFF"/>
                  </a:solidFill>
                </a:uFill>
                <a:latin typeface="Times New Roman"/>
              </a:rPr>
              <a:t>23</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8" name="PlaceHolder 1"/>
          <p:cNvSpPr>
            <a:spLocks noGrp="1"/>
          </p:cNvSpPr>
          <p:nvPr>
            <p:ph type="body"/>
          </p:nvPr>
        </p:nvSpPr>
        <p:spPr>
          <a:xfrm>
            <a:off x="679320" y="4691160"/>
            <a:ext cx="5438160" cy="4442760"/>
          </a:xfrm>
          <a:prstGeom prst="rect">
            <a:avLst/>
          </a:prstGeom>
        </p:spPr>
        <p:txBody>
          <a:bodyPr lIns="0" tIns="0" rIns="0" bIns="0"/>
          <a:lstStyle/>
          <a:p>
            <a:pPr marL="216000" indent="-215640">
              <a:lnSpc>
                <a:spcPct val="100000"/>
              </a:lnSpc>
            </a:pPr>
            <a:r>
              <a:rPr lang="en-US" sz="2000" b="1" i="1" u="sng" strike="noStrike" spc="-1">
                <a:solidFill>
                  <a:srgbClr val="000000"/>
                </a:solidFill>
                <a:uFill>
                  <a:solidFill>
                    <a:srgbClr val="FFFFFF"/>
                  </a:solidFill>
                </a:uFill>
                <a:latin typeface="Arial"/>
              </a:rPr>
              <a:t>Figure Caption:</a:t>
            </a:r>
            <a:r>
              <a:rPr lang="en-US" sz="2000" b="1" i="1" strike="noStrike" spc="-1">
                <a:solidFill>
                  <a:srgbClr val="000000"/>
                </a:solidFill>
                <a:uFill>
                  <a:solidFill>
                    <a:srgbClr val="FFFFFF"/>
                  </a:solidFill>
                </a:uFill>
                <a:latin typeface="Arial"/>
              </a:rPr>
              <a:t> </a:t>
            </a:r>
            <a:endParaRPr lang="en-US" sz="2000" strike="noStrike" spc="-1">
              <a:solidFill>
                <a:srgbClr val="000000"/>
              </a:solidFill>
              <a:uFill>
                <a:solidFill>
                  <a:srgbClr val="FFFFFF"/>
                </a:solidFill>
              </a:uFill>
              <a:latin typeface="Arial"/>
            </a:endParaRPr>
          </a:p>
          <a:p>
            <a:pPr marL="216000" indent="-215640">
              <a:lnSpc>
                <a:spcPct val="100000"/>
              </a:lnSpc>
            </a:pPr>
            <a:r>
              <a:rPr lang="en-US" sz="2000" b="1" strike="noStrike" spc="-1">
                <a:solidFill>
                  <a:srgbClr val="000000"/>
                </a:solidFill>
                <a:uFill>
                  <a:solidFill>
                    <a:srgbClr val="FFFFFF"/>
                  </a:solidFill>
                </a:uFill>
                <a:latin typeface="Arial"/>
              </a:rPr>
              <a:t>Figure 4-12: Reallocating Consumption Lowers Consumer Surplus</a:t>
            </a:r>
            <a:endParaRPr lang="en-US" sz="2000" strike="noStrike" spc="-1">
              <a:solidFill>
                <a:srgbClr val="000000"/>
              </a:solidFill>
              <a:uFill>
                <a:solidFill>
                  <a:srgbClr val="FFFFFF"/>
                </a:solidFill>
              </a:uFill>
              <a:latin typeface="Arial"/>
            </a:endParaRPr>
          </a:p>
          <a:p>
            <a:pPr marL="216000" indent="-215640">
              <a:lnSpc>
                <a:spcPct val="100000"/>
              </a:lnSpc>
            </a:pPr>
            <a:r>
              <a:rPr lang="en-US" sz="2000" strike="noStrike" spc="-1">
                <a:solidFill>
                  <a:srgbClr val="000000"/>
                </a:solidFill>
                <a:uFill>
                  <a:solidFill>
                    <a:srgbClr val="FFFFFF"/>
                  </a:solidFill>
                </a:uFill>
                <a:latin typeface="Arial"/>
              </a:rPr>
              <a:t>Ana (point A) has a willingness to pay of $35. Bob (point B) has a willingness to pay of only $25. At the market equilibrium price of $30, Ana purchases a book but Bob does not. If we rearrange consumption by taking a book from Ana and giving it to Bob, consumer surplus declines by $10 and, as a result, total surplus declines by $10.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9" name="PlaceHolder 1"/>
          <p:cNvSpPr>
            <a:spLocks noGrp="1"/>
          </p:cNvSpPr>
          <p:nvPr>
            <p:ph type="body"/>
          </p:nvPr>
        </p:nvSpPr>
        <p:spPr>
          <a:xfrm>
            <a:off x="679320" y="4691160"/>
            <a:ext cx="5438160" cy="4442760"/>
          </a:xfrm>
          <a:prstGeom prst="rect">
            <a:avLst/>
          </a:prstGeom>
        </p:spPr>
        <p:txBody>
          <a:bodyPr lIns="0" tIns="0" rIns="0" bIns="0"/>
          <a:lstStyle/>
          <a:p>
            <a:pPr marL="216000" indent="-215640">
              <a:lnSpc>
                <a:spcPct val="100000"/>
              </a:lnSpc>
            </a:pPr>
            <a:r>
              <a:rPr lang="en-US" sz="2000" b="1" i="1" u="sng" strike="noStrike" spc="-1">
                <a:solidFill>
                  <a:srgbClr val="000000"/>
                </a:solidFill>
                <a:uFill>
                  <a:solidFill>
                    <a:srgbClr val="FFFFFF"/>
                  </a:solidFill>
                </a:uFill>
                <a:latin typeface="Arial"/>
              </a:rPr>
              <a:t>Figure Caption:</a:t>
            </a:r>
            <a:r>
              <a:rPr lang="en-US" sz="2000" b="1" i="1" strike="noStrike" spc="-1">
                <a:solidFill>
                  <a:srgbClr val="000000"/>
                </a:solidFill>
                <a:uFill>
                  <a:solidFill>
                    <a:srgbClr val="FFFFFF"/>
                  </a:solidFill>
                </a:uFill>
                <a:latin typeface="Arial"/>
              </a:rPr>
              <a:t> </a:t>
            </a:r>
            <a:endParaRPr lang="en-US" sz="2000" strike="noStrike" spc="-1">
              <a:solidFill>
                <a:srgbClr val="000000"/>
              </a:solidFill>
              <a:uFill>
                <a:solidFill>
                  <a:srgbClr val="FFFFFF"/>
                </a:solidFill>
              </a:uFill>
              <a:latin typeface="Arial"/>
            </a:endParaRPr>
          </a:p>
          <a:p>
            <a:pPr marL="216000" indent="-215640">
              <a:lnSpc>
                <a:spcPct val="100000"/>
              </a:lnSpc>
            </a:pPr>
            <a:r>
              <a:rPr lang="en-US" sz="2000" b="1" strike="noStrike" spc="-1">
                <a:solidFill>
                  <a:srgbClr val="000000"/>
                </a:solidFill>
                <a:uFill>
                  <a:solidFill>
                    <a:srgbClr val="FFFFFF"/>
                  </a:solidFill>
                </a:uFill>
                <a:latin typeface="Arial"/>
              </a:rPr>
              <a:t>Figure 4-13: Reallocating Sales Lowers Producer Surplus</a:t>
            </a:r>
            <a:endParaRPr lang="en-US" sz="2000" strike="noStrike" spc="-1">
              <a:solidFill>
                <a:srgbClr val="000000"/>
              </a:solidFill>
              <a:uFill>
                <a:solidFill>
                  <a:srgbClr val="FFFFFF"/>
                </a:solidFill>
              </a:uFill>
              <a:latin typeface="Arial"/>
            </a:endParaRPr>
          </a:p>
          <a:p>
            <a:pPr marL="216000" indent="-215640">
              <a:lnSpc>
                <a:spcPct val="100000"/>
              </a:lnSpc>
            </a:pPr>
            <a:r>
              <a:rPr lang="en-US" sz="2000" strike="noStrike" spc="-1">
                <a:solidFill>
                  <a:srgbClr val="000000"/>
                </a:solidFill>
                <a:uFill>
                  <a:solidFill>
                    <a:srgbClr val="FFFFFF"/>
                  </a:solidFill>
                </a:uFill>
                <a:latin typeface="Arial"/>
              </a:rPr>
              <a:t>Yvonne (point Y) has a cost of $35, $10 more than Xavier (point X), who has a cost of $25. At the market equilibrium price of $30, Xavier sells a book but Yvonne does not. If we rearrange sales by preventing Xavier from selling his book and compelling Yvonne to sell hers, producer surplus declines by $10 and, as a result, total surplus declines by $10.</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 name="PlaceHolder 1"/>
          <p:cNvSpPr>
            <a:spLocks noGrp="1"/>
          </p:cNvSpPr>
          <p:nvPr>
            <p:ph type="body"/>
          </p:nvPr>
        </p:nvSpPr>
        <p:spPr>
          <a:xfrm>
            <a:off x="679320" y="4691160"/>
            <a:ext cx="5438160" cy="4442760"/>
          </a:xfrm>
          <a:prstGeom prst="rect">
            <a:avLst/>
          </a:prstGeom>
        </p:spPr>
        <p:txBody>
          <a:bodyPr lIns="0" tIns="0" rIns="0" bIns="0"/>
          <a:lstStyle/>
          <a:p>
            <a:pPr marL="216000" indent="-215640">
              <a:lnSpc>
                <a:spcPct val="100000"/>
              </a:lnSpc>
            </a:pPr>
            <a:r>
              <a:rPr lang="en-US" sz="2000" b="1" i="1" u="sng" strike="noStrike" spc="-1">
                <a:solidFill>
                  <a:srgbClr val="000000"/>
                </a:solidFill>
                <a:uFill>
                  <a:solidFill>
                    <a:srgbClr val="FFFFFF"/>
                  </a:solidFill>
                </a:uFill>
                <a:latin typeface="Arial"/>
              </a:rPr>
              <a:t>Figure Caption:</a:t>
            </a:r>
            <a:r>
              <a:rPr lang="en-US" sz="2000" b="1" i="1" strike="noStrike" spc="-1">
                <a:solidFill>
                  <a:srgbClr val="000000"/>
                </a:solidFill>
                <a:uFill>
                  <a:solidFill>
                    <a:srgbClr val="FFFFFF"/>
                  </a:solidFill>
                </a:uFill>
                <a:latin typeface="Arial"/>
              </a:rPr>
              <a:t> </a:t>
            </a:r>
            <a:endParaRPr lang="en-US" sz="2000" strike="noStrike" spc="-1">
              <a:solidFill>
                <a:srgbClr val="000000"/>
              </a:solidFill>
              <a:uFill>
                <a:solidFill>
                  <a:srgbClr val="FFFFFF"/>
                </a:solidFill>
              </a:uFill>
              <a:latin typeface="Arial"/>
            </a:endParaRPr>
          </a:p>
          <a:p>
            <a:pPr marL="216000" indent="-215640">
              <a:lnSpc>
                <a:spcPct val="100000"/>
              </a:lnSpc>
            </a:pPr>
            <a:r>
              <a:rPr lang="en-US" sz="2000" b="1" strike="noStrike" spc="-1">
                <a:solidFill>
                  <a:srgbClr val="000000"/>
                </a:solidFill>
                <a:uFill>
                  <a:solidFill>
                    <a:srgbClr val="FFFFFF"/>
                  </a:solidFill>
                </a:uFill>
                <a:latin typeface="Arial"/>
              </a:rPr>
              <a:t>Figure 4-14: Changing the Quantity Lowers Total Surplus</a:t>
            </a:r>
            <a:endParaRPr lang="en-US" sz="2000" strike="noStrike" spc="-1">
              <a:solidFill>
                <a:srgbClr val="000000"/>
              </a:solidFill>
              <a:uFill>
                <a:solidFill>
                  <a:srgbClr val="FFFFFF"/>
                </a:solidFill>
              </a:uFill>
              <a:latin typeface="Arial"/>
            </a:endParaRPr>
          </a:p>
          <a:p>
            <a:pPr marL="216000" indent="-215640">
              <a:lnSpc>
                <a:spcPct val="100000"/>
              </a:lnSpc>
            </a:pPr>
            <a:r>
              <a:rPr lang="en-US" sz="2000" strike="noStrike" spc="-1">
                <a:solidFill>
                  <a:srgbClr val="000000"/>
                </a:solidFill>
                <a:uFill>
                  <a:solidFill>
                    <a:srgbClr val="FFFFFF"/>
                  </a:solidFill>
                </a:uFill>
                <a:latin typeface="Arial"/>
              </a:rPr>
              <a:t>If Xavier (point X) were prevented from selling his book to someone like Ana (point A), total surplus would fall by $10, the difference between Ana’s willingness to pay ($35) and Xavier’s cost ($25). This means that total surplus falls whenever fewer than 1,000 books—the equilibrium quantity—are transacted. Likewise, if Yvonne (point Y) were compelled to sell her book to someone like Bob (point B), total surplus would also fall by $10, the difference between Yvonne’s cost ($35) and Bob’s willingness to pay ($25). This means that total surplus falls whenever more than 1,000 books are transacted. These two examples show that at market equilibrium, all mutually beneficial transactions—and only mutually beneficial transactions—occur.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1" name="PlaceHolder 1"/>
          <p:cNvSpPr>
            <a:spLocks noGrp="1"/>
          </p:cNvSpPr>
          <p:nvPr>
            <p:ph type="body"/>
          </p:nvPr>
        </p:nvSpPr>
        <p:spPr>
          <a:xfrm>
            <a:off x="679320" y="4691160"/>
            <a:ext cx="5438160" cy="4442760"/>
          </a:xfrm>
          <a:prstGeom prst="rect">
            <a:avLst/>
          </a:prstGeom>
        </p:spPr>
        <p:txBody>
          <a:bodyPr lIns="0" tIns="0" rIns="0" bIns="0"/>
          <a:lstStyle/>
          <a:p>
            <a:pPr marL="216000" indent="-215640">
              <a:lnSpc>
                <a:spcPct val="100000"/>
              </a:lnSpc>
            </a:pPr>
            <a:r>
              <a:rPr lang="en-US" sz="2000" b="1" i="1" u="sng" strike="noStrike" spc="-1">
                <a:solidFill>
                  <a:srgbClr val="000000"/>
                </a:solidFill>
                <a:uFill>
                  <a:solidFill>
                    <a:srgbClr val="FFFFFF"/>
                  </a:solidFill>
                </a:uFill>
                <a:latin typeface="Arial"/>
              </a:rPr>
              <a:t>Figure Caption:</a:t>
            </a:r>
            <a:r>
              <a:rPr lang="en-US" sz="2000" b="1" i="1" strike="noStrike" spc="-1">
                <a:solidFill>
                  <a:srgbClr val="000000"/>
                </a:solidFill>
                <a:uFill>
                  <a:solidFill>
                    <a:srgbClr val="FFFFFF"/>
                  </a:solidFill>
                </a:uFill>
                <a:latin typeface="Arial"/>
              </a:rPr>
              <a:t> </a:t>
            </a:r>
            <a:endParaRPr lang="en-US" sz="2000" strike="noStrike" spc="-1">
              <a:solidFill>
                <a:srgbClr val="000000"/>
              </a:solidFill>
              <a:uFill>
                <a:solidFill>
                  <a:srgbClr val="FFFFFF"/>
                </a:solidFill>
              </a:uFill>
              <a:latin typeface="Arial"/>
            </a:endParaRPr>
          </a:p>
          <a:p>
            <a:pPr marL="216000" indent="-215640">
              <a:lnSpc>
                <a:spcPct val="100000"/>
              </a:lnSpc>
            </a:pPr>
            <a:r>
              <a:rPr lang="en-US" sz="2000" b="1" strike="noStrike" spc="-1">
                <a:solidFill>
                  <a:srgbClr val="000000"/>
                </a:solidFill>
                <a:uFill>
                  <a:solidFill>
                    <a:srgbClr val="FFFFFF"/>
                  </a:solidFill>
                </a:uFill>
                <a:latin typeface="Arial"/>
              </a:rPr>
              <a:t>Figure 4-14: Changing the Quantity Lowers Total Surplus</a:t>
            </a:r>
            <a:endParaRPr lang="en-US" sz="2000" strike="noStrike" spc="-1">
              <a:solidFill>
                <a:srgbClr val="000000"/>
              </a:solidFill>
              <a:uFill>
                <a:solidFill>
                  <a:srgbClr val="FFFFFF"/>
                </a:solidFill>
              </a:uFill>
              <a:latin typeface="Arial"/>
            </a:endParaRPr>
          </a:p>
          <a:p>
            <a:pPr marL="216000" indent="-215640">
              <a:lnSpc>
                <a:spcPct val="100000"/>
              </a:lnSpc>
            </a:pPr>
            <a:r>
              <a:rPr lang="en-US" sz="2000" strike="noStrike" spc="-1">
                <a:solidFill>
                  <a:srgbClr val="000000"/>
                </a:solidFill>
                <a:uFill>
                  <a:solidFill>
                    <a:srgbClr val="FFFFFF"/>
                  </a:solidFill>
                </a:uFill>
                <a:latin typeface="Arial"/>
              </a:rPr>
              <a:t>If Xavier (point X) were prevented from selling his book to someone like Ana (point A), total surplus would fall by $10, the difference between Ana’s willingness to pay ($35) and Xavier’s cost ($25). This means that total surplus falls whenever fewer than 1,000 books—the equilibrium quantity—are transacted. Likewise, if Yvonne (point Y) were compelled to sell her book to someone like Bob (point B), total surplus would also fall by $10, the difference between Yvonne’s cost ($35) and Bob’s willingness to pay ($25). This means that total surplus falls whenever more than 1,000 books are transacted. These two examples show that at market equilibrium, all mutually beneficial transactions—and only mutually beneficial transactions—occur.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2" name="PlaceHolder 1"/>
          <p:cNvSpPr>
            <a:spLocks noGrp="1"/>
          </p:cNvSpPr>
          <p:nvPr>
            <p:ph type="body"/>
          </p:nvPr>
        </p:nvSpPr>
        <p:spPr>
          <a:xfrm>
            <a:off x="679320" y="4691160"/>
            <a:ext cx="5438160" cy="4442760"/>
          </a:xfrm>
          <a:prstGeom prst="rect">
            <a:avLst/>
          </a:prstGeom>
        </p:spPr>
        <p:txBody>
          <a:bodyPr lIns="0" tIns="0" rIns="0" bIns="0"/>
          <a:lstStyle/>
          <a:p>
            <a:endParaRPr lang="en-US" sz="2000" strike="noStrike" spc="-1">
              <a:solidFill>
                <a:srgbClr val="000000"/>
              </a:solidFill>
              <a:uFill>
                <a:solidFill>
                  <a:srgbClr val="FFFFFF"/>
                </a:solidFill>
              </a:uFill>
              <a:latin typeface="Arial"/>
            </a:endParaRPr>
          </a:p>
        </p:txBody>
      </p:sp>
      <p:sp>
        <p:nvSpPr>
          <p:cNvPr id="1313" name="CustomShape 2"/>
          <p:cNvSpPr/>
          <p:nvPr/>
        </p:nvSpPr>
        <p:spPr>
          <a:xfrm>
            <a:off x="3849840" y="9379080"/>
            <a:ext cx="2945520" cy="492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88DE0A18-98F0-4767-8BC8-B5748DFD0592}" type="slidenum">
              <a:rPr lang="en-US" sz="1200" strike="noStrike" spc="-1">
                <a:solidFill>
                  <a:srgbClr val="000000"/>
                </a:solidFill>
                <a:uFill>
                  <a:solidFill>
                    <a:srgbClr val="FFFFFF"/>
                  </a:solidFill>
                </a:uFill>
                <a:latin typeface="Times New Roman"/>
              </a:rPr>
              <a:t>29</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4" name="PlaceHolder 1"/>
          <p:cNvSpPr>
            <a:spLocks noGrp="1"/>
          </p:cNvSpPr>
          <p:nvPr>
            <p:ph type="body"/>
          </p:nvPr>
        </p:nvSpPr>
        <p:spPr>
          <a:xfrm>
            <a:off x="679320" y="4691160"/>
            <a:ext cx="5438160" cy="4442760"/>
          </a:xfrm>
          <a:prstGeom prst="rect">
            <a:avLst/>
          </a:prstGeom>
        </p:spPr>
        <p:txBody>
          <a:bodyPr lIns="0" tIns="0" rIns="0" bIns="0"/>
          <a:lstStyle/>
          <a:p>
            <a:endParaRPr lang="en-US" sz="2000" strike="noStrike" spc="-1">
              <a:solidFill>
                <a:srgbClr val="000000"/>
              </a:solidFill>
              <a:uFill>
                <a:solidFill>
                  <a:srgbClr val="FFFFFF"/>
                </a:solidFill>
              </a:uFill>
              <a:latin typeface="Arial"/>
            </a:endParaRPr>
          </a:p>
        </p:txBody>
      </p:sp>
      <p:sp>
        <p:nvSpPr>
          <p:cNvPr id="1315" name="CustomShape 2"/>
          <p:cNvSpPr/>
          <p:nvPr/>
        </p:nvSpPr>
        <p:spPr>
          <a:xfrm>
            <a:off x="3849840" y="9379080"/>
            <a:ext cx="2945520" cy="492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58C5015F-2454-473D-9AD0-938F7D74775E}" type="slidenum">
              <a:rPr lang="en-US" sz="1200" strike="noStrike" spc="-1">
                <a:solidFill>
                  <a:srgbClr val="000000"/>
                </a:solidFill>
                <a:uFill>
                  <a:solidFill>
                    <a:srgbClr val="FFFFFF"/>
                  </a:solidFill>
                </a:uFill>
                <a:latin typeface="Times New Roman"/>
              </a:rPr>
              <a:t>30</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6" name="PlaceHolder 1"/>
          <p:cNvSpPr>
            <a:spLocks noGrp="1"/>
          </p:cNvSpPr>
          <p:nvPr>
            <p:ph type="body"/>
          </p:nvPr>
        </p:nvSpPr>
        <p:spPr>
          <a:xfrm>
            <a:off x="679320" y="4691160"/>
            <a:ext cx="5438160" cy="4442760"/>
          </a:xfrm>
          <a:prstGeom prst="rect">
            <a:avLst/>
          </a:prstGeom>
        </p:spPr>
        <p:txBody>
          <a:bodyPr lIns="0" tIns="0" rIns="0" bIns="0"/>
          <a:lstStyle/>
          <a:p>
            <a:endParaRPr lang="en-US" sz="2000" strike="noStrike" spc="-1">
              <a:solidFill>
                <a:srgbClr val="000000"/>
              </a:solidFill>
              <a:uFill>
                <a:solidFill>
                  <a:srgbClr val="FFFFFF"/>
                </a:solidFill>
              </a:uFill>
              <a:latin typeface="Arial"/>
            </a:endParaRPr>
          </a:p>
        </p:txBody>
      </p:sp>
      <p:sp>
        <p:nvSpPr>
          <p:cNvPr id="1317" name="CustomShape 2"/>
          <p:cNvSpPr/>
          <p:nvPr/>
        </p:nvSpPr>
        <p:spPr>
          <a:xfrm>
            <a:off x="3849840" y="9379080"/>
            <a:ext cx="2945520" cy="492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78311F8C-D7D2-45F7-B733-0E6FAF49861B}" type="slidenum">
              <a:rPr lang="en-US" sz="1200" strike="noStrike" spc="-1">
                <a:solidFill>
                  <a:srgbClr val="000000"/>
                </a:solidFill>
                <a:uFill>
                  <a:solidFill>
                    <a:srgbClr val="FFFFFF"/>
                  </a:solidFill>
                </a:uFill>
                <a:latin typeface="Times New Roman"/>
              </a:rPr>
              <a:t>32</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8" name="PlaceHolder 1"/>
          <p:cNvSpPr>
            <a:spLocks noGrp="1"/>
          </p:cNvSpPr>
          <p:nvPr>
            <p:ph type="body"/>
          </p:nvPr>
        </p:nvSpPr>
        <p:spPr>
          <a:xfrm>
            <a:off x="679320" y="4691160"/>
            <a:ext cx="5438160" cy="4442760"/>
          </a:xfrm>
          <a:prstGeom prst="rect">
            <a:avLst/>
          </a:prstGeom>
        </p:spPr>
        <p:txBody>
          <a:bodyPr lIns="0" tIns="0" rIns="0" bIns="0"/>
          <a:lstStyle/>
          <a:p>
            <a:endParaRPr lang="en-US" sz="2000" strike="noStrike" spc="-1">
              <a:solidFill>
                <a:srgbClr val="000000"/>
              </a:solidFill>
              <a:uFill>
                <a:solidFill>
                  <a:srgbClr val="FFFFFF"/>
                </a:solidFill>
              </a:uFill>
              <a:latin typeface="Arial"/>
            </a:endParaRPr>
          </a:p>
        </p:txBody>
      </p:sp>
      <p:sp>
        <p:nvSpPr>
          <p:cNvPr id="1319" name="CustomShape 2"/>
          <p:cNvSpPr/>
          <p:nvPr/>
        </p:nvSpPr>
        <p:spPr>
          <a:xfrm>
            <a:off x="3849840" y="9379080"/>
            <a:ext cx="2945520" cy="492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A9F63682-0445-47B9-BEAD-FAB88E1C0928}" type="slidenum">
              <a:rPr lang="en-US" sz="1200" strike="noStrike" spc="-1">
                <a:solidFill>
                  <a:srgbClr val="000000"/>
                </a:solidFill>
                <a:uFill>
                  <a:solidFill>
                    <a:srgbClr val="FFFFFF"/>
                  </a:solidFill>
                </a:uFill>
                <a:latin typeface="Times New Roman"/>
              </a:rPr>
              <a:t>33</a:t>
            </a:fld>
            <a:endParaRPr lang="en-US" sz="1800" strike="noStrike" spc="-1">
              <a:solidFill>
                <a:srgbClr val="000000"/>
              </a:solidFill>
              <a:uFill>
                <a:solidFill>
                  <a:srgbClr val="FFFFFF"/>
                </a:solidFill>
              </a:uFill>
              <a:latin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 name="PlaceHolder 1"/>
          <p:cNvSpPr>
            <a:spLocks noGrp="1"/>
          </p:cNvSpPr>
          <p:nvPr>
            <p:ph type="body"/>
          </p:nvPr>
        </p:nvSpPr>
        <p:spPr>
          <a:xfrm>
            <a:off x="679320" y="4691160"/>
            <a:ext cx="5438160" cy="4442760"/>
          </a:xfrm>
          <a:prstGeom prst="rect">
            <a:avLst/>
          </a:prstGeom>
        </p:spPr>
        <p:txBody>
          <a:bodyPr lIns="0" tIns="0" rIns="0" bIns="0"/>
          <a:lstStyle/>
          <a:p>
            <a:endParaRPr lang="en-US" sz="2000" strike="noStrike" spc="-1">
              <a:solidFill>
                <a:srgbClr val="000000"/>
              </a:solidFill>
              <a:uFill>
                <a:solidFill>
                  <a:srgbClr val="FFFFFF"/>
                </a:solidFill>
              </a:uFill>
              <a:latin typeface="Arial"/>
            </a:endParaRPr>
          </a:p>
        </p:txBody>
      </p:sp>
      <p:sp>
        <p:nvSpPr>
          <p:cNvPr id="1321" name="CustomShape 2"/>
          <p:cNvSpPr/>
          <p:nvPr/>
        </p:nvSpPr>
        <p:spPr>
          <a:xfrm>
            <a:off x="3849840" y="9379080"/>
            <a:ext cx="2945520" cy="4928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8C53F279-FF4B-4650-871F-D93CD5630EE4}" type="slidenum">
              <a:rPr lang="en-US" sz="1200" strike="noStrike" spc="-1">
                <a:solidFill>
                  <a:srgbClr val="000000"/>
                </a:solidFill>
                <a:uFill>
                  <a:solidFill>
                    <a:srgbClr val="FFFFFF"/>
                  </a:solidFill>
                </a:uFill>
                <a:latin typeface="Calibri"/>
                <a:ea typeface="MS PGothic"/>
              </a:rPr>
              <a:t>34</a:t>
            </a:fld>
            <a:endParaRPr lang="en-US" sz="1800" strike="noStrike" spc="-1">
              <a:solidFill>
                <a:srgbClr val="000000"/>
              </a:solidFill>
              <a:uFill>
                <a:solidFill>
                  <a:srgbClr val="FFFFFF"/>
                </a:solidFill>
              </a:uFill>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4"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6" name="PlaceHolder 2"/>
          <p:cNvSpPr>
            <a:spLocks noGrp="1"/>
          </p:cNvSpPr>
          <p:nvPr>
            <p:ph type="body"/>
          </p:nvPr>
        </p:nvSpPr>
        <p:spPr>
          <a:xfrm>
            <a:off x="457200" y="1604520"/>
            <a:ext cx="822924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8" name="PlaceHolder 2"/>
          <p:cNvSpPr>
            <a:spLocks noGrp="1"/>
          </p:cNvSpPr>
          <p:nvPr>
            <p:ph type="body"/>
          </p:nvPr>
        </p:nvSpPr>
        <p:spPr>
          <a:xfrm>
            <a:off x="45720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9" name="PlaceHolder 3"/>
          <p:cNvSpPr>
            <a:spLocks noGrp="1"/>
          </p:cNvSpPr>
          <p:nvPr>
            <p:ph type="body"/>
          </p:nvPr>
        </p:nvSpPr>
        <p:spPr>
          <a:xfrm>
            <a:off x="467424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3" name="PlaceHolder 2"/>
          <p:cNvSpPr>
            <a:spLocks noGrp="1"/>
          </p:cNvSpPr>
          <p:nvPr>
            <p:ph type="body"/>
          </p:nvPr>
        </p:nvSpPr>
        <p:spPr>
          <a:xfrm>
            <a:off x="45720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4" name="PlaceHolder 3"/>
          <p:cNvSpPr>
            <a:spLocks noGrp="1"/>
          </p:cNvSpPr>
          <p:nvPr>
            <p:ph type="body"/>
          </p:nvPr>
        </p:nvSpPr>
        <p:spPr>
          <a:xfrm>
            <a:off x="45720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5" name="PlaceHolder 4"/>
          <p:cNvSpPr>
            <a:spLocks noGrp="1"/>
          </p:cNvSpPr>
          <p:nvPr>
            <p:ph type="body"/>
          </p:nvPr>
        </p:nvSpPr>
        <p:spPr>
          <a:xfrm>
            <a:off x="467424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7" name="PlaceHolder 2"/>
          <p:cNvSpPr>
            <a:spLocks noGrp="1"/>
          </p:cNvSpPr>
          <p:nvPr>
            <p:ph type="body"/>
          </p:nvPr>
        </p:nvSpPr>
        <p:spPr>
          <a:xfrm>
            <a:off x="45720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8" name="PlaceHolder 3"/>
          <p:cNvSpPr>
            <a:spLocks noGrp="1"/>
          </p:cNvSpPr>
          <p:nvPr>
            <p:ph type="body"/>
          </p:nvPr>
        </p:nvSpPr>
        <p:spPr>
          <a:xfrm>
            <a:off x="467424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9" name="PlaceHolder 4"/>
          <p:cNvSpPr>
            <a:spLocks noGrp="1"/>
          </p:cNvSpPr>
          <p:nvPr>
            <p:ph type="body"/>
          </p:nvPr>
        </p:nvSpPr>
        <p:spPr>
          <a:xfrm>
            <a:off x="467424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21" name="PlaceHolder 2"/>
          <p:cNvSpPr>
            <a:spLocks noGrp="1"/>
          </p:cNvSpPr>
          <p:nvPr>
            <p:ph type="body"/>
          </p:nvPr>
        </p:nvSpPr>
        <p:spPr>
          <a:xfrm>
            <a:off x="45720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22" name="PlaceHolder 3"/>
          <p:cNvSpPr>
            <a:spLocks noGrp="1"/>
          </p:cNvSpPr>
          <p:nvPr>
            <p:ph type="body"/>
          </p:nvPr>
        </p:nvSpPr>
        <p:spPr>
          <a:xfrm>
            <a:off x="467424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23" name="PlaceHolder 4"/>
          <p:cNvSpPr>
            <a:spLocks noGrp="1"/>
          </p:cNvSpPr>
          <p:nvPr>
            <p:ph type="body"/>
          </p:nvPr>
        </p:nvSpPr>
        <p:spPr>
          <a:xfrm>
            <a:off x="457200" y="3682080"/>
            <a:ext cx="822924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25" name="PlaceHolder 2"/>
          <p:cNvSpPr>
            <a:spLocks noGrp="1"/>
          </p:cNvSpPr>
          <p:nvPr>
            <p:ph type="body"/>
          </p:nvPr>
        </p:nvSpPr>
        <p:spPr>
          <a:xfrm>
            <a:off x="457200" y="1604520"/>
            <a:ext cx="822924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26" name="PlaceHolder 3"/>
          <p:cNvSpPr>
            <a:spLocks noGrp="1"/>
          </p:cNvSpPr>
          <p:nvPr>
            <p:ph type="body"/>
          </p:nvPr>
        </p:nvSpPr>
        <p:spPr>
          <a:xfrm>
            <a:off x="457200" y="3682080"/>
            <a:ext cx="822924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28" name="PlaceHolder 2"/>
          <p:cNvSpPr>
            <a:spLocks noGrp="1"/>
          </p:cNvSpPr>
          <p:nvPr>
            <p:ph type="body"/>
          </p:nvPr>
        </p:nvSpPr>
        <p:spPr>
          <a:xfrm>
            <a:off x="45720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29" name="PlaceHolder 3"/>
          <p:cNvSpPr>
            <a:spLocks noGrp="1"/>
          </p:cNvSpPr>
          <p:nvPr>
            <p:ph type="body"/>
          </p:nvPr>
        </p:nvSpPr>
        <p:spPr>
          <a:xfrm>
            <a:off x="467424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30" name="PlaceHolder 4"/>
          <p:cNvSpPr>
            <a:spLocks noGrp="1"/>
          </p:cNvSpPr>
          <p:nvPr>
            <p:ph type="body"/>
          </p:nvPr>
        </p:nvSpPr>
        <p:spPr>
          <a:xfrm>
            <a:off x="467424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31" name="PlaceHolder 5"/>
          <p:cNvSpPr>
            <a:spLocks noGrp="1"/>
          </p:cNvSpPr>
          <p:nvPr>
            <p:ph type="body"/>
          </p:nvPr>
        </p:nvSpPr>
        <p:spPr>
          <a:xfrm>
            <a:off x="45720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33" name="PlaceHolder 2"/>
          <p:cNvSpPr>
            <a:spLocks noGrp="1"/>
          </p:cNvSpPr>
          <p:nvPr>
            <p:ph type="body"/>
          </p:nvPr>
        </p:nvSpPr>
        <p:spPr>
          <a:xfrm>
            <a:off x="457200" y="1604520"/>
            <a:ext cx="822924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34" name="PlaceHolder 3"/>
          <p:cNvSpPr>
            <a:spLocks noGrp="1"/>
          </p:cNvSpPr>
          <p:nvPr>
            <p:ph type="body"/>
          </p:nvPr>
        </p:nvSpPr>
        <p:spPr>
          <a:xfrm>
            <a:off x="457200" y="1604520"/>
            <a:ext cx="822924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pic>
        <p:nvPicPr>
          <p:cNvPr id="35" name="图片 34"/>
          <p:cNvPicPr/>
          <p:nvPr/>
        </p:nvPicPr>
        <p:blipFill>
          <a:blip r:embed="rId2"/>
          <a:stretch/>
        </p:blipFill>
        <p:spPr>
          <a:xfrm>
            <a:off x="2079000" y="1604520"/>
            <a:ext cx="4984920" cy="3977280"/>
          </a:xfrm>
          <a:prstGeom prst="rect">
            <a:avLst/>
          </a:prstGeom>
          <a:ln>
            <a:noFill/>
          </a:ln>
        </p:spPr>
      </p:pic>
      <p:pic>
        <p:nvPicPr>
          <p:cNvPr id="36" name="图片 35"/>
          <p:cNvPicPr/>
          <p:nvPr/>
        </p:nvPicPr>
        <p:blipFill>
          <a:blip r:embed="rId2"/>
          <a:stretch/>
        </p:blipFill>
        <p:spPr>
          <a:xfrm>
            <a:off x="2079000" y="1604520"/>
            <a:ext cx="4984920" cy="397728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41"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43" name="PlaceHolder 2"/>
          <p:cNvSpPr>
            <a:spLocks noGrp="1"/>
          </p:cNvSpPr>
          <p:nvPr>
            <p:ph type="body"/>
          </p:nvPr>
        </p:nvSpPr>
        <p:spPr>
          <a:xfrm>
            <a:off x="457200" y="1604520"/>
            <a:ext cx="822924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45" name="PlaceHolder 2"/>
          <p:cNvSpPr>
            <a:spLocks noGrp="1"/>
          </p:cNvSpPr>
          <p:nvPr>
            <p:ph type="body"/>
          </p:nvPr>
        </p:nvSpPr>
        <p:spPr>
          <a:xfrm>
            <a:off x="45720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46" name="PlaceHolder 3"/>
          <p:cNvSpPr>
            <a:spLocks noGrp="1"/>
          </p:cNvSpPr>
          <p:nvPr>
            <p:ph type="body"/>
          </p:nvPr>
        </p:nvSpPr>
        <p:spPr>
          <a:xfrm>
            <a:off x="467424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50" name="PlaceHolder 2"/>
          <p:cNvSpPr>
            <a:spLocks noGrp="1"/>
          </p:cNvSpPr>
          <p:nvPr>
            <p:ph type="body"/>
          </p:nvPr>
        </p:nvSpPr>
        <p:spPr>
          <a:xfrm>
            <a:off x="45720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51" name="PlaceHolder 3"/>
          <p:cNvSpPr>
            <a:spLocks noGrp="1"/>
          </p:cNvSpPr>
          <p:nvPr>
            <p:ph type="body"/>
          </p:nvPr>
        </p:nvSpPr>
        <p:spPr>
          <a:xfrm>
            <a:off x="45720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52" name="PlaceHolder 4"/>
          <p:cNvSpPr>
            <a:spLocks noGrp="1"/>
          </p:cNvSpPr>
          <p:nvPr>
            <p:ph type="body"/>
          </p:nvPr>
        </p:nvSpPr>
        <p:spPr>
          <a:xfrm>
            <a:off x="467424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54" name="PlaceHolder 2"/>
          <p:cNvSpPr>
            <a:spLocks noGrp="1"/>
          </p:cNvSpPr>
          <p:nvPr>
            <p:ph type="body"/>
          </p:nvPr>
        </p:nvSpPr>
        <p:spPr>
          <a:xfrm>
            <a:off x="45720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55" name="PlaceHolder 3"/>
          <p:cNvSpPr>
            <a:spLocks noGrp="1"/>
          </p:cNvSpPr>
          <p:nvPr>
            <p:ph type="body"/>
          </p:nvPr>
        </p:nvSpPr>
        <p:spPr>
          <a:xfrm>
            <a:off x="467424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56" name="PlaceHolder 4"/>
          <p:cNvSpPr>
            <a:spLocks noGrp="1"/>
          </p:cNvSpPr>
          <p:nvPr>
            <p:ph type="body"/>
          </p:nvPr>
        </p:nvSpPr>
        <p:spPr>
          <a:xfrm>
            <a:off x="467424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58" name="PlaceHolder 2"/>
          <p:cNvSpPr>
            <a:spLocks noGrp="1"/>
          </p:cNvSpPr>
          <p:nvPr>
            <p:ph type="body"/>
          </p:nvPr>
        </p:nvSpPr>
        <p:spPr>
          <a:xfrm>
            <a:off x="45720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59" name="PlaceHolder 3"/>
          <p:cNvSpPr>
            <a:spLocks noGrp="1"/>
          </p:cNvSpPr>
          <p:nvPr>
            <p:ph type="body"/>
          </p:nvPr>
        </p:nvSpPr>
        <p:spPr>
          <a:xfrm>
            <a:off x="467424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60" name="PlaceHolder 4"/>
          <p:cNvSpPr>
            <a:spLocks noGrp="1"/>
          </p:cNvSpPr>
          <p:nvPr>
            <p:ph type="body"/>
          </p:nvPr>
        </p:nvSpPr>
        <p:spPr>
          <a:xfrm>
            <a:off x="457200" y="3682080"/>
            <a:ext cx="822924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62" name="PlaceHolder 2"/>
          <p:cNvSpPr>
            <a:spLocks noGrp="1"/>
          </p:cNvSpPr>
          <p:nvPr>
            <p:ph type="body"/>
          </p:nvPr>
        </p:nvSpPr>
        <p:spPr>
          <a:xfrm>
            <a:off x="457200" y="1604520"/>
            <a:ext cx="822924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63" name="PlaceHolder 3"/>
          <p:cNvSpPr>
            <a:spLocks noGrp="1"/>
          </p:cNvSpPr>
          <p:nvPr>
            <p:ph type="body"/>
          </p:nvPr>
        </p:nvSpPr>
        <p:spPr>
          <a:xfrm>
            <a:off x="457200" y="3682080"/>
            <a:ext cx="822924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65" name="PlaceHolder 2"/>
          <p:cNvSpPr>
            <a:spLocks noGrp="1"/>
          </p:cNvSpPr>
          <p:nvPr>
            <p:ph type="body"/>
          </p:nvPr>
        </p:nvSpPr>
        <p:spPr>
          <a:xfrm>
            <a:off x="45720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66" name="PlaceHolder 3"/>
          <p:cNvSpPr>
            <a:spLocks noGrp="1"/>
          </p:cNvSpPr>
          <p:nvPr>
            <p:ph type="body"/>
          </p:nvPr>
        </p:nvSpPr>
        <p:spPr>
          <a:xfrm>
            <a:off x="467424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67" name="PlaceHolder 4"/>
          <p:cNvSpPr>
            <a:spLocks noGrp="1"/>
          </p:cNvSpPr>
          <p:nvPr>
            <p:ph type="body"/>
          </p:nvPr>
        </p:nvSpPr>
        <p:spPr>
          <a:xfrm>
            <a:off x="467424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68" name="PlaceHolder 5"/>
          <p:cNvSpPr>
            <a:spLocks noGrp="1"/>
          </p:cNvSpPr>
          <p:nvPr>
            <p:ph type="body"/>
          </p:nvPr>
        </p:nvSpPr>
        <p:spPr>
          <a:xfrm>
            <a:off x="45720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70" name="PlaceHolder 2"/>
          <p:cNvSpPr>
            <a:spLocks noGrp="1"/>
          </p:cNvSpPr>
          <p:nvPr>
            <p:ph type="body"/>
          </p:nvPr>
        </p:nvSpPr>
        <p:spPr>
          <a:xfrm>
            <a:off x="457200" y="1604520"/>
            <a:ext cx="822924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71" name="PlaceHolder 3"/>
          <p:cNvSpPr>
            <a:spLocks noGrp="1"/>
          </p:cNvSpPr>
          <p:nvPr>
            <p:ph type="body"/>
          </p:nvPr>
        </p:nvSpPr>
        <p:spPr>
          <a:xfrm>
            <a:off x="457200" y="1604520"/>
            <a:ext cx="822924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pic>
        <p:nvPicPr>
          <p:cNvPr id="72" name="图片 71"/>
          <p:cNvPicPr/>
          <p:nvPr/>
        </p:nvPicPr>
        <p:blipFill>
          <a:blip r:embed="rId2"/>
          <a:stretch/>
        </p:blipFill>
        <p:spPr>
          <a:xfrm>
            <a:off x="2079000" y="1604520"/>
            <a:ext cx="4984920" cy="3977280"/>
          </a:xfrm>
          <a:prstGeom prst="rect">
            <a:avLst/>
          </a:prstGeom>
          <a:ln>
            <a:noFill/>
          </a:ln>
        </p:spPr>
      </p:pic>
      <p:pic>
        <p:nvPicPr>
          <p:cNvPr id="73" name="图片 72"/>
          <p:cNvPicPr/>
          <p:nvPr/>
        </p:nvPicPr>
        <p:blipFill>
          <a:blip r:embed="rId2"/>
          <a:stretch/>
        </p:blipFill>
        <p:spPr>
          <a:xfrm>
            <a:off x="2079000" y="1604520"/>
            <a:ext cx="4984920" cy="3977280"/>
          </a:xfrm>
          <a:prstGeom prst="rect">
            <a:avLst/>
          </a:prstGeom>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78"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80" name="PlaceHolder 2"/>
          <p:cNvSpPr>
            <a:spLocks noGrp="1"/>
          </p:cNvSpPr>
          <p:nvPr>
            <p:ph type="body"/>
          </p:nvPr>
        </p:nvSpPr>
        <p:spPr>
          <a:xfrm>
            <a:off x="457200" y="1604520"/>
            <a:ext cx="822924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82" name="PlaceHolder 2"/>
          <p:cNvSpPr>
            <a:spLocks noGrp="1"/>
          </p:cNvSpPr>
          <p:nvPr>
            <p:ph type="body"/>
          </p:nvPr>
        </p:nvSpPr>
        <p:spPr>
          <a:xfrm>
            <a:off x="45720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83" name="PlaceHolder 3"/>
          <p:cNvSpPr>
            <a:spLocks noGrp="1"/>
          </p:cNvSpPr>
          <p:nvPr>
            <p:ph type="body"/>
          </p:nvPr>
        </p:nvSpPr>
        <p:spPr>
          <a:xfrm>
            <a:off x="467424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5"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87" name="PlaceHolder 2"/>
          <p:cNvSpPr>
            <a:spLocks noGrp="1"/>
          </p:cNvSpPr>
          <p:nvPr>
            <p:ph type="body"/>
          </p:nvPr>
        </p:nvSpPr>
        <p:spPr>
          <a:xfrm>
            <a:off x="45720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88" name="PlaceHolder 3"/>
          <p:cNvSpPr>
            <a:spLocks noGrp="1"/>
          </p:cNvSpPr>
          <p:nvPr>
            <p:ph type="body"/>
          </p:nvPr>
        </p:nvSpPr>
        <p:spPr>
          <a:xfrm>
            <a:off x="45720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89" name="PlaceHolder 4"/>
          <p:cNvSpPr>
            <a:spLocks noGrp="1"/>
          </p:cNvSpPr>
          <p:nvPr>
            <p:ph type="body"/>
          </p:nvPr>
        </p:nvSpPr>
        <p:spPr>
          <a:xfrm>
            <a:off x="467424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91" name="PlaceHolder 2"/>
          <p:cNvSpPr>
            <a:spLocks noGrp="1"/>
          </p:cNvSpPr>
          <p:nvPr>
            <p:ph type="body"/>
          </p:nvPr>
        </p:nvSpPr>
        <p:spPr>
          <a:xfrm>
            <a:off x="45720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92" name="PlaceHolder 3"/>
          <p:cNvSpPr>
            <a:spLocks noGrp="1"/>
          </p:cNvSpPr>
          <p:nvPr>
            <p:ph type="body"/>
          </p:nvPr>
        </p:nvSpPr>
        <p:spPr>
          <a:xfrm>
            <a:off x="467424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93" name="PlaceHolder 4"/>
          <p:cNvSpPr>
            <a:spLocks noGrp="1"/>
          </p:cNvSpPr>
          <p:nvPr>
            <p:ph type="body"/>
          </p:nvPr>
        </p:nvSpPr>
        <p:spPr>
          <a:xfrm>
            <a:off x="467424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95" name="PlaceHolder 2"/>
          <p:cNvSpPr>
            <a:spLocks noGrp="1"/>
          </p:cNvSpPr>
          <p:nvPr>
            <p:ph type="body"/>
          </p:nvPr>
        </p:nvSpPr>
        <p:spPr>
          <a:xfrm>
            <a:off x="45720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96" name="PlaceHolder 3"/>
          <p:cNvSpPr>
            <a:spLocks noGrp="1"/>
          </p:cNvSpPr>
          <p:nvPr>
            <p:ph type="body"/>
          </p:nvPr>
        </p:nvSpPr>
        <p:spPr>
          <a:xfrm>
            <a:off x="467424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97" name="PlaceHolder 4"/>
          <p:cNvSpPr>
            <a:spLocks noGrp="1"/>
          </p:cNvSpPr>
          <p:nvPr>
            <p:ph type="body"/>
          </p:nvPr>
        </p:nvSpPr>
        <p:spPr>
          <a:xfrm>
            <a:off x="457200" y="3682080"/>
            <a:ext cx="822924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99" name="PlaceHolder 2"/>
          <p:cNvSpPr>
            <a:spLocks noGrp="1"/>
          </p:cNvSpPr>
          <p:nvPr>
            <p:ph type="body"/>
          </p:nvPr>
        </p:nvSpPr>
        <p:spPr>
          <a:xfrm>
            <a:off x="457200" y="1604520"/>
            <a:ext cx="822924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00" name="PlaceHolder 3"/>
          <p:cNvSpPr>
            <a:spLocks noGrp="1"/>
          </p:cNvSpPr>
          <p:nvPr>
            <p:ph type="body"/>
          </p:nvPr>
        </p:nvSpPr>
        <p:spPr>
          <a:xfrm>
            <a:off x="457200" y="3682080"/>
            <a:ext cx="822924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02" name="PlaceHolder 2"/>
          <p:cNvSpPr>
            <a:spLocks noGrp="1"/>
          </p:cNvSpPr>
          <p:nvPr>
            <p:ph type="body"/>
          </p:nvPr>
        </p:nvSpPr>
        <p:spPr>
          <a:xfrm>
            <a:off x="45720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03" name="PlaceHolder 3"/>
          <p:cNvSpPr>
            <a:spLocks noGrp="1"/>
          </p:cNvSpPr>
          <p:nvPr>
            <p:ph type="body"/>
          </p:nvPr>
        </p:nvSpPr>
        <p:spPr>
          <a:xfrm>
            <a:off x="467424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04" name="PlaceHolder 4"/>
          <p:cNvSpPr>
            <a:spLocks noGrp="1"/>
          </p:cNvSpPr>
          <p:nvPr>
            <p:ph type="body"/>
          </p:nvPr>
        </p:nvSpPr>
        <p:spPr>
          <a:xfrm>
            <a:off x="467424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05" name="PlaceHolder 5"/>
          <p:cNvSpPr>
            <a:spLocks noGrp="1"/>
          </p:cNvSpPr>
          <p:nvPr>
            <p:ph type="body"/>
          </p:nvPr>
        </p:nvSpPr>
        <p:spPr>
          <a:xfrm>
            <a:off x="45720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07" name="PlaceHolder 2"/>
          <p:cNvSpPr>
            <a:spLocks noGrp="1"/>
          </p:cNvSpPr>
          <p:nvPr>
            <p:ph type="body"/>
          </p:nvPr>
        </p:nvSpPr>
        <p:spPr>
          <a:xfrm>
            <a:off x="457200" y="1604520"/>
            <a:ext cx="822924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08" name="PlaceHolder 3"/>
          <p:cNvSpPr>
            <a:spLocks noGrp="1"/>
          </p:cNvSpPr>
          <p:nvPr>
            <p:ph type="body"/>
          </p:nvPr>
        </p:nvSpPr>
        <p:spPr>
          <a:xfrm>
            <a:off x="457200" y="1604520"/>
            <a:ext cx="822924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pic>
        <p:nvPicPr>
          <p:cNvPr id="109" name="图片 108"/>
          <p:cNvPicPr/>
          <p:nvPr/>
        </p:nvPicPr>
        <p:blipFill>
          <a:blip r:embed="rId2"/>
          <a:stretch/>
        </p:blipFill>
        <p:spPr>
          <a:xfrm>
            <a:off x="2079000" y="1604520"/>
            <a:ext cx="4984920" cy="3977280"/>
          </a:xfrm>
          <a:prstGeom prst="rect">
            <a:avLst/>
          </a:prstGeom>
          <a:ln>
            <a:noFill/>
          </a:ln>
        </p:spPr>
      </p:pic>
      <p:pic>
        <p:nvPicPr>
          <p:cNvPr id="110" name="图片 109"/>
          <p:cNvPicPr/>
          <p:nvPr/>
        </p:nvPicPr>
        <p:blipFill>
          <a:blip r:embed="rId2"/>
          <a:stretch/>
        </p:blipFill>
        <p:spPr>
          <a:xfrm>
            <a:off x="2079000" y="1604520"/>
            <a:ext cx="4984920" cy="3977280"/>
          </a:xfrm>
          <a:prstGeom prst="rect">
            <a:avLst/>
          </a:prstGeom>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15"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17" name="PlaceHolder 2"/>
          <p:cNvSpPr>
            <a:spLocks noGrp="1"/>
          </p:cNvSpPr>
          <p:nvPr>
            <p:ph type="body"/>
          </p:nvPr>
        </p:nvSpPr>
        <p:spPr>
          <a:xfrm>
            <a:off x="457200" y="1604520"/>
            <a:ext cx="822924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19" name="PlaceHolder 2"/>
          <p:cNvSpPr>
            <a:spLocks noGrp="1"/>
          </p:cNvSpPr>
          <p:nvPr>
            <p:ph type="body"/>
          </p:nvPr>
        </p:nvSpPr>
        <p:spPr>
          <a:xfrm>
            <a:off x="45720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20" name="PlaceHolder 3"/>
          <p:cNvSpPr>
            <a:spLocks noGrp="1"/>
          </p:cNvSpPr>
          <p:nvPr>
            <p:ph type="body"/>
          </p:nvPr>
        </p:nvSpPr>
        <p:spPr>
          <a:xfrm>
            <a:off x="467424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2"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24" name="PlaceHolder 2"/>
          <p:cNvSpPr>
            <a:spLocks noGrp="1"/>
          </p:cNvSpPr>
          <p:nvPr>
            <p:ph type="body"/>
          </p:nvPr>
        </p:nvSpPr>
        <p:spPr>
          <a:xfrm>
            <a:off x="45720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25" name="PlaceHolder 3"/>
          <p:cNvSpPr>
            <a:spLocks noGrp="1"/>
          </p:cNvSpPr>
          <p:nvPr>
            <p:ph type="body"/>
          </p:nvPr>
        </p:nvSpPr>
        <p:spPr>
          <a:xfrm>
            <a:off x="45720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26" name="PlaceHolder 4"/>
          <p:cNvSpPr>
            <a:spLocks noGrp="1"/>
          </p:cNvSpPr>
          <p:nvPr>
            <p:ph type="body"/>
          </p:nvPr>
        </p:nvSpPr>
        <p:spPr>
          <a:xfrm>
            <a:off x="467424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28" name="PlaceHolder 2"/>
          <p:cNvSpPr>
            <a:spLocks noGrp="1"/>
          </p:cNvSpPr>
          <p:nvPr>
            <p:ph type="body"/>
          </p:nvPr>
        </p:nvSpPr>
        <p:spPr>
          <a:xfrm>
            <a:off x="45720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29" name="PlaceHolder 3"/>
          <p:cNvSpPr>
            <a:spLocks noGrp="1"/>
          </p:cNvSpPr>
          <p:nvPr>
            <p:ph type="body"/>
          </p:nvPr>
        </p:nvSpPr>
        <p:spPr>
          <a:xfrm>
            <a:off x="467424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30" name="PlaceHolder 4"/>
          <p:cNvSpPr>
            <a:spLocks noGrp="1"/>
          </p:cNvSpPr>
          <p:nvPr>
            <p:ph type="body"/>
          </p:nvPr>
        </p:nvSpPr>
        <p:spPr>
          <a:xfrm>
            <a:off x="467424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3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32" name="PlaceHolder 2"/>
          <p:cNvSpPr>
            <a:spLocks noGrp="1"/>
          </p:cNvSpPr>
          <p:nvPr>
            <p:ph type="body"/>
          </p:nvPr>
        </p:nvSpPr>
        <p:spPr>
          <a:xfrm>
            <a:off x="45720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33" name="PlaceHolder 3"/>
          <p:cNvSpPr>
            <a:spLocks noGrp="1"/>
          </p:cNvSpPr>
          <p:nvPr>
            <p:ph type="body"/>
          </p:nvPr>
        </p:nvSpPr>
        <p:spPr>
          <a:xfrm>
            <a:off x="467424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34" name="PlaceHolder 4"/>
          <p:cNvSpPr>
            <a:spLocks noGrp="1"/>
          </p:cNvSpPr>
          <p:nvPr>
            <p:ph type="body"/>
          </p:nvPr>
        </p:nvSpPr>
        <p:spPr>
          <a:xfrm>
            <a:off x="457200" y="3682080"/>
            <a:ext cx="822924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3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36" name="PlaceHolder 2"/>
          <p:cNvSpPr>
            <a:spLocks noGrp="1"/>
          </p:cNvSpPr>
          <p:nvPr>
            <p:ph type="body"/>
          </p:nvPr>
        </p:nvSpPr>
        <p:spPr>
          <a:xfrm>
            <a:off x="457200" y="1604520"/>
            <a:ext cx="822924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37" name="PlaceHolder 3"/>
          <p:cNvSpPr>
            <a:spLocks noGrp="1"/>
          </p:cNvSpPr>
          <p:nvPr>
            <p:ph type="body"/>
          </p:nvPr>
        </p:nvSpPr>
        <p:spPr>
          <a:xfrm>
            <a:off x="457200" y="3682080"/>
            <a:ext cx="822924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39" name="PlaceHolder 2"/>
          <p:cNvSpPr>
            <a:spLocks noGrp="1"/>
          </p:cNvSpPr>
          <p:nvPr>
            <p:ph type="body"/>
          </p:nvPr>
        </p:nvSpPr>
        <p:spPr>
          <a:xfrm>
            <a:off x="45720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40" name="PlaceHolder 3"/>
          <p:cNvSpPr>
            <a:spLocks noGrp="1"/>
          </p:cNvSpPr>
          <p:nvPr>
            <p:ph type="body"/>
          </p:nvPr>
        </p:nvSpPr>
        <p:spPr>
          <a:xfrm>
            <a:off x="467424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41" name="PlaceHolder 4"/>
          <p:cNvSpPr>
            <a:spLocks noGrp="1"/>
          </p:cNvSpPr>
          <p:nvPr>
            <p:ph type="body"/>
          </p:nvPr>
        </p:nvSpPr>
        <p:spPr>
          <a:xfrm>
            <a:off x="467424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42" name="PlaceHolder 5"/>
          <p:cNvSpPr>
            <a:spLocks noGrp="1"/>
          </p:cNvSpPr>
          <p:nvPr>
            <p:ph type="body"/>
          </p:nvPr>
        </p:nvSpPr>
        <p:spPr>
          <a:xfrm>
            <a:off x="45720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44" name="PlaceHolder 2"/>
          <p:cNvSpPr>
            <a:spLocks noGrp="1"/>
          </p:cNvSpPr>
          <p:nvPr>
            <p:ph type="body"/>
          </p:nvPr>
        </p:nvSpPr>
        <p:spPr>
          <a:xfrm>
            <a:off x="457200" y="1604520"/>
            <a:ext cx="822924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45" name="PlaceHolder 3"/>
          <p:cNvSpPr>
            <a:spLocks noGrp="1"/>
          </p:cNvSpPr>
          <p:nvPr>
            <p:ph type="body"/>
          </p:nvPr>
        </p:nvSpPr>
        <p:spPr>
          <a:xfrm>
            <a:off x="457200" y="1604520"/>
            <a:ext cx="822924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pic>
        <p:nvPicPr>
          <p:cNvPr id="146" name="图片 145"/>
          <p:cNvPicPr/>
          <p:nvPr/>
        </p:nvPicPr>
        <p:blipFill>
          <a:blip r:embed="rId2"/>
          <a:stretch/>
        </p:blipFill>
        <p:spPr>
          <a:xfrm>
            <a:off x="2079000" y="1604520"/>
            <a:ext cx="4984920" cy="3977280"/>
          </a:xfrm>
          <a:prstGeom prst="rect">
            <a:avLst/>
          </a:prstGeom>
          <a:ln>
            <a:noFill/>
          </a:ln>
        </p:spPr>
      </p:pic>
      <p:pic>
        <p:nvPicPr>
          <p:cNvPr id="147" name="图片 146"/>
          <p:cNvPicPr/>
          <p:nvPr/>
        </p:nvPicPr>
        <p:blipFill>
          <a:blip r:embed="rId2"/>
          <a:stretch/>
        </p:blipFill>
        <p:spPr>
          <a:xfrm>
            <a:off x="2079000" y="1604520"/>
            <a:ext cx="4984920" cy="3977280"/>
          </a:xfrm>
          <a:prstGeom prst="rect">
            <a:avLst/>
          </a:prstGeom>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5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52"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54" name="PlaceHolder 2"/>
          <p:cNvSpPr>
            <a:spLocks noGrp="1"/>
          </p:cNvSpPr>
          <p:nvPr>
            <p:ph type="body"/>
          </p:nvPr>
        </p:nvSpPr>
        <p:spPr>
          <a:xfrm>
            <a:off x="457200" y="1604520"/>
            <a:ext cx="822924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56" name="PlaceHolder 2"/>
          <p:cNvSpPr>
            <a:spLocks noGrp="1"/>
          </p:cNvSpPr>
          <p:nvPr>
            <p:ph type="body"/>
          </p:nvPr>
        </p:nvSpPr>
        <p:spPr>
          <a:xfrm>
            <a:off x="45720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57" name="PlaceHolder 3"/>
          <p:cNvSpPr>
            <a:spLocks noGrp="1"/>
          </p:cNvSpPr>
          <p:nvPr>
            <p:ph type="body"/>
          </p:nvPr>
        </p:nvSpPr>
        <p:spPr>
          <a:xfrm>
            <a:off x="467424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58"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9"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61" name="PlaceHolder 2"/>
          <p:cNvSpPr>
            <a:spLocks noGrp="1"/>
          </p:cNvSpPr>
          <p:nvPr>
            <p:ph type="body"/>
          </p:nvPr>
        </p:nvSpPr>
        <p:spPr>
          <a:xfrm>
            <a:off x="45720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62" name="PlaceHolder 3"/>
          <p:cNvSpPr>
            <a:spLocks noGrp="1"/>
          </p:cNvSpPr>
          <p:nvPr>
            <p:ph type="body"/>
          </p:nvPr>
        </p:nvSpPr>
        <p:spPr>
          <a:xfrm>
            <a:off x="45720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63" name="PlaceHolder 4"/>
          <p:cNvSpPr>
            <a:spLocks noGrp="1"/>
          </p:cNvSpPr>
          <p:nvPr>
            <p:ph type="body"/>
          </p:nvPr>
        </p:nvSpPr>
        <p:spPr>
          <a:xfrm>
            <a:off x="467424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65" name="PlaceHolder 2"/>
          <p:cNvSpPr>
            <a:spLocks noGrp="1"/>
          </p:cNvSpPr>
          <p:nvPr>
            <p:ph type="body"/>
          </p:nvPr>
        </p:nvSpPr>
        <p:spPr>
          <a:xfrm>
            <a:off x="45720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66" name="PlaceHolder 3"/>
          <p:cNvSpPr>
            <a:spLocks noGrp="1"/>
          </p:cNvSpPr>
          <p:nvPr>
            <p:ph type="body"/>
          </p:nvPr>
        </p:nvSpPr>
        <p:spPr>
          <a:xfrm>
            <a:off x="467424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67" name="PlaceHolder 4"/>
          <p:cNvSpPr>
            <a:spLocks noGrp="1"/>
          </p:cNvSpPr>
          <p:nvPr>
            <p:ph type="body"/>
          </p:nvPr>
        </p:nvSpPr>
        <p:spPr>
          <a:xfrm>
            <a:off x="467424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69" name="PlaceHolder 2"/>
          <p:cNvSpPr>
            <a:spLocks noGrp="1"/>
          </p:cNvSpPr>
          <p:nvPr>
            <p:ph type="body"/>
          </p:nvPr>
        </p:nvSpPr>
        <p:spPr>
          <a:xfrm>
            <a:off x="45720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70" name="PlaceHolder 3"/>
          <p:cNvSpPr>
            <a:spLocks noGrp="1"/>
          </p:cNvSpPr>
          <p:nvPr>
            <p:ph type="body"/>
          </p:nvPr>
        </p:nvSpPr>
        <p:spPr>
          <a:xfrm>
            <a:off x="467424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71" name="PlaceHolder 4"/>
          <p:cNvSpPr>
            <a:spLocks noGrp="1"/>
          </p:cNvSpPr>
          <p:nvPr>
            <p:ph type="body"/>
          </p:nvPr>
        </p:nvSpPr>
        <p:spPr>
          <a:xfrm>
            <a:off x="457200" y="3682080"/>
            <a:ext cx="822924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7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73" name="PlaceHolder 2"/>
          <p:cNvSpPr>
            <a:spLocks noGrp="1"/>
          </p:cNvSpPr>
          <p:nvPr>
            <p:ph type="body"/>
          </p:nvPr>
        </p:nvSpPr>
        <p:spPr>
          <a:xfrm>
            <a:off x="457200" y="1604520"/>
            <a:ext cx="822924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74" name="PlaceHolder 3"/>
          <p:cNvSpPr>
            <a:spLocks noGrp="1"/>
          </p:cNvSpPr>
          <p:nvPr>
            <p:ph type="body"/>
          </p:nvPr>
        </p:nvSpPr>
        <p:spPr>
          <a:xfrm>
            <a:off x="457200" y="3682080"/>
            <a:ext cx="822924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76" name="PlaceHolder 2"/>
          <p:cNvSpPr>
            <a:spLocks noGrp="1"/>
          </p:cNvSpPr>
          <p:nvPr>
            <p:ph type="body"/>
          </p:nvPr>
        </p:nvSpPr>
        <p:spPr>
          <a:xfrm>
            <a:off x="45720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77" name="PlaceHolder 3"/>
          <p:cNvSpPr>
            <a:spLocks noGrp="1"/>
          </p:cNvSpPr>
          <p:nvPr>
            <p:ph type="body"/>
          </p:nvPr>
        </p:nvSpPr>
        <p:spPr>
          <a:xfrm>
            <a:off x="467424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78" name="PlaceHolder 4"/>
          <p:cNvSpPr>
            <a:spLocks noGrp="1"/>
          </p:cNvSpPr>
          <p:nvPr>
            <p:ph type="body"/>
          </p:nvPr>
        </p:nvSpPr>
        <p:spPr>
          <a:xfrm>
            <a:off x="467424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79" name="PlaceHolder 5"/>
          <p:cNvSpPr>
            <a:spLocks noGrp="1"/>
          </p:cNvSpPr>
          <p:nvPr>
            <p:ph type="body"/>
          </p:nvPr>
        </p:nvSpPr>
        <p:spPr>
          <a:xfrm>
            <a:off x="45720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8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81" name="PlaceHolder 2"/>
          <p:cNvSpPr>
            <a:spLocks noGrp="1"/>
          </p:cNvSpPr>
          <p:nvPr>
            <p:ph type="body"/>
          </p:nvPr>
        </p:nvSpPr>
        <p:spPr>
          <a:xfrm>
            <a:off x="457200" y="1604520"/>
            <a:ext cx="822924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82" name="PlaceHolder 3"/>
          <p:cNvSpPr>
            <a:spLocks noGrp="1"/>
          </p:cNvSpPr>
          <p:nvPr>
            <p:ph type="body"/>
          </p:nvPr>
        </p:nvSpPr>
        <p:spPr>
          <a:xfrm>
            <a:off x="457200" y="1604520"/>
            <a:ext cx="822924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pic>
        <p:nvPicPr>
          <p:cNvPr id="183" name="图片 182"/>
          <p:cNvPicPr/>
          <p:nvPr/>
        </p:nvPicPr>
        <p:blipFill>
          <a:blip r:embed="rId2"/>
          <a:stretch/>
        </p:blipFill>
        <p:spPr>
          <a:xfrm>
            <a:off x="2079000" y="1604520"/>
            <a:ext cx="4984920" cy="3977280"/>
          </a:xfrm>
          <a:prstGeom prst="rect">
            <a:avLst/>
          </a:prstGeom>
          <a:ln>
            <a:noFill/>
          </a:ln>
        </p:spPr>
      </p:pic>
      <p:pic>
        <p:nvPicPr>
          <p:cNvPr id="184" name="图片 183"/>
          <p:cNvPicPr/>
          <p:nvPr/>
        </p:nvPicPr>
        <p:blipFill>
          <a:blip r:embed="rId2"/>
          <a:stretch/>
        </p:blipFill>
        <p:spPr>
          <a:xfrm>
            <a:off x="2079000" y="1604520"/>
            <a:ext cx="4984920" cy="3977280"/>
          </a:xfrm>
          <a:prstGeom prst="rect">
            <a:avLst/>
          </a:prstGeom>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88"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89"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91" name="PlaceHolder 2"/>
          <p:cNvSpPr>
            <a:spLocks noGrp="1"/>
          </p:cNvSpPr>
          <p:nvPr>
            <p:ph type="body"/>
          </p:nvPr>
        </p:nvSpPr>
        <p:spPr>
          <a:xfrm>
            <a:off x="457200" y="1604520"/>
            <a:ext cx="822924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9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93" name="PlaceHolder 2"/>
          <p:cNvSpPr>
            <a:spLocks noGrp="1"/>
          </p:cNvSpPr>
          <p:nvPr>
            <p:ph type="body"/>
          </p:nvPr>
        </p:nvSpPr>
        <p:spPr>
          <a:xfrm>
            <a:off x="45720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94" name="PlaceHolder 3"/>
          <p:cNvSpPr>
            <a:spLocks noGrp="1"/>
          </p:cNvSpPr>
          <p:nvPr>
            <p:ph type="body"/>
          </p:nvPr>
        </p:nvSpPr>
        <p:spPr>
          <a:xfrm>
            <a:off x="467424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9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96"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9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198" name="PlaceHolder 2"/>
          <p:cNvSpPr>
            <a:spLocks noGrp="1"/>
          </p:cNvSpPr>
          <p:nvPr>
            <p:ph type="body"/>
          </p:nvPr>
        </p:nvSpPr>
        <p:spPr>
          <a:xfrm>
            <a:off x="45720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199" name="PlaceHolder 3"/>
          <p:cNvSpPr>
            <a:spLocks noGrp="1"/>
          </p:cNvSpPr>
          <p:nvPr>
            <p:ph type="body"/>
          </p:nvPr>
        </p:nvSpPr>
        <p:spPr>
          <a:xfrm>
            <a:off x="45720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200" name="PlaceHolder 4"/>
          <p:cNvSpPr>
            <a:spLocks noGrp="1"/>
          </p:cNvSpPr>
          <p:nvPr>
            <p:ph type="body"/>
          </p:nvPr>
        </p:nvSpPr>
        <p:spPr>
          <a:xfrm>
            <a:off x="467424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202" name="PlaceHolder 2"/>
          <p:cNvSpPr>
            <a:spLocks noGrp="1"/>
          </p:cNvSpPr>
          <p:nvPr>
            <p:ph type="body"/>
          </p:nvPr>
        </p:nvSpPr>
        <p:spPr>
          <a:xfrm>
            <a:off x="457200" y="1604520"/>
            <a:ext cx="401580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203" name="PlaceHolder 3"/>
          <p:cNvSpPr>
            <a:spLocks noGrp="1"/>
          </p:cNvSpPr>
          <p:nvPr>
            <p:ph type="body"/>
          </p:nvPr>
        </p:nvSpPr>
        <p:spPr>
          <a:xfrm>
            <a:off x="467424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204" name="PlaceHolder 4"/>
          <p:cNvSpPr>
            <a:spLocks noGrp="1"/>
          </p:cNvSpPr>
          <p:nvPr>
            <p:ph type="body"/>
          </p:nvPr>
        </p:nvSpPr>
        <p:spPr>
          <a:xfrm>
            <a:off x="467424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206" name="PlaceHolder 2"/>
          <p:cNvSpPr>
            <a:spLocks noGrp="1"/>
          </p:cNvSpPr>
          <p:nvPr>
            <p:ph type="body"/>
          </p:nvPr>
        </p:nvSpPr>
        <p:spPr>
          <a:xfrm>
            <a:off x="45720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207" name="PlaceHolder 3"/>
          <p:cNvSpPr>
            <a:spLocks noGrp="1"/>
          </p:cNvSpPr>
          <p:nvPr>
            <p:ph type="body"/>
          </p:nvPr>
        </p:nvSpPr>
        <p:spPr>
          <a:xfrm>
            <a:off x="467424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208" name="PlaceHolder 4"/>
          <p:cNvSpPr>
            <a:spLocks noGrp="1"/>
          </p:cNvSpPr>
          <p:nvPr>
            <p:ph type="body"/>
          </p:nvPr>
        </p:nvSpPr>
        <p:spPr>
          <a:xfrm>
            <a:off x="457200" y="3682080"/>
            <a:ext cx="822924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210" name="PlaceHolder 2"/>
          <p:cNvSpPr>
            <a:spLocks noGrp="1"/>
          </p:cNvSpPr>
          <p:nvPr>
            <p:ph type="body"/>
          </p:nvPr>
        </p:nvSpPr>
        <p:spPr>
          <a:xfrm>
            <a:off x="457200" y="1604520"/>
            <a:ext cx="822924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211" name="PlaceHolder 3"/>
          <p:cNvSpPr>
            <a:spLocks noGrp="1"/>
          </p:cNvSpPr>
          <p:nvPr>
            <p:ph type="body"/>
          </p:nvPr>
        </p:nvSpPr>
        <p:spPr>
          <a:xfrm>
            <a:off x="457200" y="3682080"/>
            <a:ext cx="822924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1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213" name="PlaceHolder 2"/>
          <p:cNvSpPr>
            <a:spLocks noGrp="1"/>
          </p:cNvSpPr>
          <p:nvPr>
            <p:ph type="body"/>
          </p:nvPr>
        </p:nvSpPr>
        <p:spPr>
          <a:xfrm>
            <a:off x="45720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214" name="PlaceHolder 3"/>
          <p:cNvSpPr>
            <a:spLocks noGrp="1"/>
          </p:cNvSpPr>
          <p:nvPr>
            <p:ph type="body"/>
          </p:nvPr>
        </p:nvSpPr>
        <p:spPr>
          <a:xfrm>
            <a:off x="4674240" y="160452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215" name="PlaceHolder 4"/>
          <p:cNvSpPr>
            <a:spLocks noGrp="1"/>
          </p:cNvSpPr>
          <p:nvPr>
            <p:ph type="body"/>
          </p:nvPr>
        </p:nvSpPr>
        <p:spPr>
          <a:xfrm>
            <a:off x="467424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216" name="PlaceHolder 5"/>
          <p:cNvSpPr>
            <a:spLocks noGrp="1"/>
          </p:cNvSpPr>
          <p:nvPr>
            <p:ph type="body"/>
          </p:nvPr>
        </p:nvSpPr>
        <p:spPr>
          <a:xfrm>
            <a:off x="457200" y="3682080"/>
            <a:ext cx="4015800" cy="189684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1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218" name="PlaceHolder 2"/>
          <p:cNvSpPr>
            <a:spLocks noGrp="1"/>
          </p:cNvSpPr>
          <p:nvPr>
            <p:ph type="body"/>
          </p:nvPr>
        </p:nvSpPr>
        <p:spPr>
          <a:xfrm>
            <a:off x="457200" y="1604520"/>
            <a:ext cx="822924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sp>
        <p:nvSpPr>
          <p:cNvPr id="219" name="PlaceHolder 3"/>
          <p:cNvSpPr>
            <a:spLocks noGrp="1"/>
          </p:cNvSpPr>
          <p:nvPr>
            <p:ph type="body"/>
          </p:nvPr>
        </p:nvSpPr>
        <p:spPr>
          <a:xfrm>
            <a:off x="457200" y="1604520"/>
            <a:ext cx="8229240" cy="3977280"/>
          </a:xfrm>
          <a:prstGeom prst="rect">
            <a:avLst/>
          </a:prstGeom>
        </p:spPr>
        <p:txBody>
          <a:bodyPr lIns="0" tIns="0" rIns="0" bIns="0"/>
          <a:lstStyle/>
          <a:p>
            <a:endParaRPr lang="en-US" sz="3200" strike="noStrike" spc="-1">
              <a:solidFill>
                <a:srgbClr val="000000"/>
              </a:solidFill>
              <a:uFill>
                <a:solidFill>
                  <a:srgbClr val="FFFFFF"/>
                </a:solidFill>
              </a:uFill>
              <a:latin typeface="Arial"/>
            </a:endParaRPr>
          </a:p>
        </p:txBody>
      </p:sp>
      <p:pic>
        <p:nvPicPr>
          <p:cNvPr id="220" name="图片 219"/>
          <p:cNvPicPr/>
          <p:nvPr/>
        </p:nvPicPr>
        <p:blipFill>
          <a:blip r:embed="rId2"/>
          <a:stretch/>
        </p:blipFill>
        <p:spPr>
          <a:xfrm>
            <a:off x="2079000" y="1604520"/>
            <a:ext cx="4984920" cy="3977280"/>
          </a:xfrm>
          <a:prstGeom prst="rect">
            <a:avLst/>
          </a:prstGeom>
          <a:ln>
            <a:noFill/>
          </a:ln>
        </p:spPr>
      </p:pic>
      <p:pic>
        <p:nvPicPr>
          <p:cNvPr id="221" name="图片 220"/>
          <p:cNvPicPr/>
          <p:nvPr/>
        </p:nvPicPr>
        <p:blipFill>
          <a:blip r:embed="rId2"/>
          <a:stretch/>
        </p:blipFill>
        <p:spPr>
          <a:xfrm>
            <a:off x="2079000" y="1604520"/>
            <a:ext cx="4984920" cy="397728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3.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4.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5.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3" name="CustomShape 1" hidden="1"/>
          <p:cNvSpPr/>
          <p:nvPr/>
        </p:nvSpPr>
        <p:spPr>
          <a:xfrm>
            <a:off x="8459640" y="6381720"/>
            <a:ext cx="592920" cy="3787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r">
              <a:lnSpc>
                <a:spcPct val="100000"/>
              </a:lnSpc>
            </a:pPr>
            <a:fld id="{2992192E-0815-4F76-AC4D-52AFBE2E5142}" type="slidenum">
              <a:rPr lang="en-US" sz="1200" strike="noStrike" spc="-1">
                <a:solidFill>
                  <a:srgbClr val="000000"/>
                </a:solidFill>
                <a:uFill>
                  <a:solidFill>
                    <a:srgbClr val="FFFFFF"/>
                  </a:solidFill>
                </a:uFill>
                <a:latin typeface="Arial"/>
                <a:ea typeface="MS PGothic"/>
              </a:rPr>
              <a:t>‹#›</a:t>
            </a:fld>
            <a:endParaRPr lang="en-US" sz="1800" strike="noStrike" spc="-1">
              <a:solidFill>
                <a:srgbClr val="000000"/>
              </a:solidFill>
              <a:uFill>
                <a:solidFill>
                  <a:srgbClr val="FFFFFF"/>
                </a:solidFill>
              </a:uFill>
              <a:latin typeface="Arial"/>
            </a:endParaRPr>
          </a:p>
        </p:txBody>
      </p:sp>
      <p:sp>
        <p:nvSpPr>
          <p:cNvPr id="4" name="PlaceHolder 2"/>
          <p:cNvSpPr>
            <a:spLocks noGrp="1"/>
          </p:cNvSpPr>
          <p:nvPr>
            <p:ph type="title"/>
          </p:nvPr>
        </p:nvSpPr>
        <p:spPr>
          <a:xfrm>
            <a:off x="1075680" y="40320"/>
            <a:ext cx="8073360" cy="577440"/>
          </a:xfrm>
          <a:prstGeom prst="rect">
            <a:avLst/>
          </a:prstGeom>
        </p:spPr>
        <p:txBody>
          <a:bodyPr lIns="0" tIns="0" rIns="0" bIns="0" anchor="ctr"/>
          <a:lstStyle/>
          <a:p>
            <a:pPr algn="ctr"/>
            <a:endParaRPr lang="en-US" sz="4400" strike="noStrike" spc="-1">
              <a:solidFill>
                <a:srgbClr val="000000"/>
              </a:solidFill>
              <a:uFill>
                <a:solidFill>
                  <a:srgbClr val="FFFFFF"/>
                </a:solidFill>
              </a:uFill>
              <a:latin typeface="Arial"/>
            </a:endParaRPr>
          </a:p>
        </p:txBody>
      </p:sp>
      <p:sp>
        <p:nvSpPr>
          <p:cNvPr id="2" name="PlaceHolder 3"/>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en-US" sz="320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280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240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200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200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200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200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37" name="CustomShape 1"/>
          <p:cNvSpPr/>
          <p:nvPr/>
        </p:nvSpPr>
        <p:spPr>
          <a:xfrm>
            <a:off x="8459640" y="6381720"/>
            <a:ext cx="592920" cy="3787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r">
              <a:lnSpc>
                <a:spcPct val="100000"/>
              </a:lnSpc>
            </a:pPr>
            <a:fld id="{BA57000D-2DDF-4B40-BAF7-6138C20F5079}" type="slidenum">
              <a:rPr lang="en-US" sz="1200" strike="noStrike" spc="-1">
                <a:solidFill>
                  <a:srgbClr val="000000"/>
                </a:solidFill>
                <a:uFill>
                  <a:solidFill>
                    <a:srgbClr val="FFFFFF"/>
                  </a:solidFill>
                </a:uFill>
                <a:latin typeface="Arial"/>
                <a:ea typeface="MS PGothic"/>
              </a:rPr>
              <a:t>‹#›</a:t>
            </a:fld>
            <a:endParaRPr lang="en-US" sz="1800" strike="noStrike" spc="-1">
              <a:solidFill>
                <a:srgbClr val="000000"/>
              </a:solidFill>
              <a:uFill>
                <a:solidFill>
                  <a:srgbClr val="FFFFFF"/>
                </a:solidFill>
              </a:uFill>
              <a:latin typeface="Arial"/>
            </a:endParaRPr>
          </a:p>
        </p:txBody>
      </p:sp>
      <p:sp>
        <p:nvSpPr>
          <p:cNvPr id="38" name="PlaceHolder 2"/>
          <p:cNvSpPr>
            <a:spLocks noGrp="1"/>
          </p:cNvSpPr>
          <p:nvPr>
            <p:ph type="title"/>
          </p:nvPr>
        </p:nvSpPr>
        <p:spPr>
          <a:xfrm>
            <a:off x="457200" y="273600"/>
            <a:ext cx="8229240" cy="1144800"/>
          </a:xfrm>
          <a:prstGeom prst="rect">
            <a:avLst/>
          </a:prstGeom>
        </p:spPr>
        <p:txBody>
          <a:bodyPr lIns="0" tIns="0" rIns="0" bIns="0" anchor="ctr"/>
          <a:lstStyle/>
          <a:p>
            <a:pPr algn="ctr"/>
            <a:r>
              <a:rPr lang="en-US" sz="4400" strike="noStrike" spc="-1">
                <a:solidFill>
                  <a:srgbClr val="000000"/>
                </a:solidFill>
                <a:uFill>
                  <a:solidFill>
                    <a:srgbClr val="FFFFFF"/>
                  </a:solidFill>
                </a:uFill>
                <a:latin typeface="Arial"/>
              </a:rPr>
              <a:t>Click to edit the title text format</a:t>
            </a:r>
          </a:p>
        </p:txBody>
      </p:sp>
      <p:sp>
        <p:nvSpPr>
          <p:cNvPr id="39" name="PlaceHolder 3"/>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en-US" sz="320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280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240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200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200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200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200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74" name="CustomShape 1"/>
          <p:cNvSpPr/>
          <p:nvPr/>
        </p:nvSpPr>
        <p:spPr>
          <a:xfrm>
            <a:off x="8459640" y="6381720"/>
            <a:ext cx="592920" cy="3787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r">
              <a:lnSpc>
                <a:spcPct val="100000"/>
              </a:lnSpc>
            </a:pPr>
            <a:fld id="{B87204EF-A230-4320-9138-4D48CA4BAF57}" type="slidenum">
              <a:rPr lang="en-US" sz="1200" strike="noStrike" spc="-1">
                <a:solidFill>
                  <a:srgbClr val="000000"/>
                </a:solidFill>
                <a:uFill>
                  <a:solidFill>
                    <a:srgbClr val="FFFFFF"/>
                  </a:solidFill>
                </a:uFill>
                <a:latin typeface="Arial"/>
                <a:ea typeface="MS PGothic"/>
              </a:rPr>
              <a:t>‹#›</a:t>
            </a:fld>
            <a:endParaRPr lang="en-US" sz="1800" strike="noStrike" spc="-1">
              <a:solidFill>
                <a:srgbClr val="000000"/>
              </a:solidFill>
              <a:uFill>
                <a:solidFill>
                  <a:srgbClr val="FFFFFF"/>
                </a:solidFill>
              </a:uFill>
              <a:latin typeface="Arial"/>
            </a:endParaRPr>
          </a:p>
        </p:txBody>
      </p:sp>
      <p:sp>
        <p:nvSpPr>
          <p:cNvPr id="75" name="PlaceHolder 2"/>
          <p:cNvSpPr>
            <a:spLocks noGrp="1"/>
          </p:cNvSpPr>
          <p:nvPr>
            <p:ph type="title"/>
          </p:nvPr>
        </p:nvSpPr>
        <p:spPr>
          <a:xfrm>
            <a:off x="457200" y="273600"/>
            <a:ext cx="8229240" cy="1144800"/>
          </a:xfrm>
          <a:prstGeom prst="rect">
            <a:avLst/>
          </a:prstGeom>
        </p:spPr>
        <p:txBody>
          <a:bodyPr lIns="0" tIns="0" rIns="0" bIns="0" anchor="ctr"/>
          <a:lstStyle/>
          <a:p>
            <a:pPr algn="ctr"/>
            <a:r>
              <a:rPr lang="en-US" sz="4400" strike="noStrike" spc="-1">
                <a:solidFill>
                  <a:srgbClr val="000000"/>
                </a:solidFill>
                <a:uFill>
                  <a:solidFill>
                    <a:srgbClr val="FFFFFF"/>
                  </a:solidFill>
                </a:uFill>
                <a:latin typeface="Arial"/>
              </a:rPr>
              <a:t>Click to edit the title text format</a:t>
            </a:r>
          </a:p>
        </p:txBody>
      </p:sp>
      <p:sp>
        <p:nvSpPr>
          <p:cNvPr id="76" name="PlaceHolder 3"/>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en-US" sz="320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280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240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200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200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200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200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111" name="CustomShape 1"/>
          <p:cNvSpPr/>
          <p:nvPr/>
        </p:nvSpPr>
        <p:spPr>
          <a:xfrm>
            <a:off x="8459640" y="6381720"/>
            <a:ext cx="592920" cy="3787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r">
              <a:lnSpc>
                <a:spcPct val="100000"/>
              </a:lnSpc>
            </a:pPr>
            <a:fld id="{AF44CF4C-460D-491F-9A32-B30CD7C95D74}" type="slidenum">
              <a:rPr lang="en-US" sz="1200" strike="noStrike" spc="-1">
                <a:solidFill>
                  <a:srgbClr val="000000"/>
                </a:solidFill>
                <a:uFill>
                  <a:solidFill>
                    <a:srgbClr val="FFFFFF"/>
                  </a:solidFill>
                </a:uFill>
                <a:latin typeface="Arial"/>
                <a:ea typeface="MS PGothic"/>
              </a:rPr>
              <a:t>‹#›</a:t>
            </a:fld>
            <a:endParaRPr lang="en-US" sz="1800" strike="noStrike" spc="-1">
              <a:solidFill>
                <a:srgbClr val="000000"/>
              </a:solidFill>
              <a:uFill>
                <a:solidFill>
                  <a:srgbClr val="FFFFFF"/>
                </a:solidFill>
              </a:uFill>
              <a:latin typeface="Arial"/>
            </a:endParaRPr>
          </a:p>
        </p:txBody>
      </p:sp>
      <p:sp>
        <p:nvSpPr>
          <p:cNvPr id="112" name="PlaceHolder 2"/>
          <p:cNvSpPr>
            <a:spLocks noGrp="1"/>
          </p:cNvSpPr>
          <p:nvPr>
            <p:ph type="title"/>
          </p:nvPr>
        </p:nvSpPr>
        <p:spPr>
          <a:xfrm>
            <a:off x="457200" y="273600"/>
            <a:ext cx="8229240" cy="1144800"/>
          </a:xfrm>
          <a:prstGeom prst="rect">
            <a:avLst/>
          </a:prstGeom>
        </p:spPr>
        <p:txBody>
          <a:bodyPr lIns="0" tIns="0" rIns="0" bIns="0" anchor="ctr"/>
          <a:lstStyle/>
          <a:p>
            <a:pPr algn="ctr"/>
            <a:r>
              <a:rPr lang="en-US" sz="4400" strike="noStrike" spc="-1">
                <a:solidFill>
                  <a:srgbClr val="000000"/>
                </a:solidFill>
                <a:uFill>
                  <a:solidFill>
                    <a:srgbClr val="FFFFFF"/>
                  </a:solidFill>
                </a:uFill>
                <a:latin typeface="Arial"/>
              </a:rPr>
              <a:t>Click to edit the title text format</a:t>
            </a:r>
          </a:p>
        </p:txBody>
      </p:sp>
      <p:sp>
        <p:nvSpPr>
          <p:cNvPr id="113" name="PlaceHolder 3"/>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en-US" sz="320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280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240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200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200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200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200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148" name="CustomShape 1" hidden="1"/>
          <p:cNvSpPr/>
          <p:nvPr/>
        </p:nvSpPr>
        <p:spPr>
          <a:xfrm>
            <a:off x="8459640" y="6381720"/>
            <a:ext cx="592920" cy="3787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r">
              <a:lnSpc>
                <a:spcPct val="100000"/>
              </a:lnSpc>
            </a:pPr>
            <a:fld id="{0725481E-A1AF-4DF2-80BC-FA55A23A25F0}" type="slidenum">
              <a:rPr lang="en-US" sz="1200" strike="noStrike" spc="-1">
                <a:solidFill>
                  <a:srgbClr val="000000"/>
                </a:solidFill>
                <a:uFill>
                  <a:solidFill>
                    <a:srgbClr val="FFFFFF"/>
                  </a:solidFill>
                </a:uFill>
                <a:latin typeface="Arial"/>
                <a:ea typeface="MS PGothic"/>
              </a:rPr>
              <a:t>‹#›</a:t>
            </a:fld>
            <a:endParaRPr lang="en-US" sz="1800" strike="noStrike" spc="-1">
              <a:solidFill>
                <a:srgbClr val="000000"/>
              </a:solidFill>
              <a:uFill>
                <a:solidFill>
                  <a:srgbClr val="FFFFFF"/>
                </a:solidFill>
              </a:uFill>
              <a:latin typeface="Arial"/>
            </a:endParaRPr>
          </a:p>
        </p:txBody>
      </p:sp>
      <p:sp>
        <p:nvSpPr>
          <p:cNvPr id="149" name="PlaceHolder 2"/>
          <p:cNvSpPr>
            <a:spLocks noGrp="1"/>
          </p:cNvSpPr>
          <p:nvPr>
            <p:ph type="title"/>
          </p:nvPr>
        </p:nvSpPr>
        <p:spPr>
          <a:xfrm>
            <a:off x="457200" y="273600"/>
            <a:ext cx="8229240" cy="1144800"/>
          </a:xfrm>
          <a:prstGeom prst="rect">
            <a:avLst/>
          </a:prstGeom>
        </p:spPr>
        <p:txBody>
          <a:bodyPr lIns="0" tIns="0" rIns="0" bIns="0" anchor="ctr"/>
          <a:lstStyle/>
          <a:p>
            <a:pPr algn="ctr"/>
            <a:r>
              <a:rPr lang="en-US" sz="4400" strike="noStrike" spc="-1">
                <a:solidFill>
                  <a:srgbClr val="000000"/>
                </a:solidFill>
                <a:uFill>
                  <a:solidFill>
                    <a:srgbClr val="FFFFFF"/>
                  </a:solidFill>
                </a:uFill>
                <a:latin typeface="Arial"/>
              </a:rPr>
              <a:t>Click to edit the title text format</a:t>
            </a:r>
          </a:p>
        </p:txBody>
      </p:sp>
      <p:sp>
        <p:nvSpPr>
          <p:cNvPr id="150" name="PlaceHolder 3"/>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en-US" sz="320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280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240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200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200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200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200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185" name="CustomShape 1" hidden="1"/>
          <p:cNvSpPr/>
          <p:nvPr/>
        </p:nvSpPr>
        <p:spPr>
          <a:xfrm>
            <a:off x="8459640" y="6381720"/>
            <a:ext cx="592920" cy="3787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gn="r">
              <a:lnSpc>
                <a:spcPct val="100000"/>
              </a:lnSpc>
            </a:pPr>
            <a:fld id="{7E5DC88C-6FE2-421B-8B50-37881FC46D38}" type="slidenum">
              <a:rPr lang="en-US" sz="1200" strike="noStrike" spc="-1">
                <a:solidFill>
                  <a:srgbClr val="000000"/>
                </a:solidFill>
                <a:uFill>
                  <a:solidFill>
                    <a:srgbClr val="FFFFFF"/>
                  </a:solidFill>
                </a:uFill>
                <a:latin typeface="Arial"/>
                <a:ea typeface="MS PGothic"/>
              </a:rPr>
              <a:t>‹#›</a:t>
            </a:fld>
            <a:endParaRPr lang="en-US" sz="1800" strike="noStrike" spc="-1">
              <a:solidFill>
                <a:srgbClr val="000000"/>
              </a:solidFill>
              <a:uFill>
                <a:solidFill>
                  <a:srgbClr val="FFFFFF"/>
                </a:solidFill>
              </a:uFill>
              <a:latin typeface="Arial"/>
            </a:endParaRPr>
          </a:p>
        </p:txBody>
      </p:sp>
      <p:sp>
        <p:nvSpPr>
          <p:cNvPr id="186" name="PlaceHolder 2"/>
          <p:cNvSpPr>
            <a:spLocks noGrp="1"/>
          </p:cNvSpPr>
          <p:nvPr>
            <p:ph type="title"/>
          </p:nvPr>
        </p:nvSpPr>
        <p:spPr>
          <a:xfrm>
            <a:off x="457200" y="273600"/>
            <a:ext cx="8229240" cy="1144800"/>
          </a:xfrm>
          <a:prstGeom prst="rect">
            <a:avLst/>
          </a:prstGeom>
        </p:spPr>
        <p:txBody>
          <a:bodyPr lIns="0" tIns="0" rIns="0" bIns="0" anchor="ctr"/>
          <a:lstStyle/>
          <a:p>
            <a:pPr algn="ctr"/>
            <a:r>
              <a:rPr lang="en-US" sz="4400" strike="noStrike" spc="-1">
                <a:solidFill>
                  <a:srgbClr val="000000"/>
                </a:solidFill>
                <a:uFill>
                  <a:solidFill>
                    <a:srgbClr val="FFFFFF"/>
                  </a:solidFill>
                </a:uFill>
                <a:latin typeface="Arial"/>
              </a:rPr>
              <a:t>Click to edit the title text format</a:t>
            </a:r>
          </a:p>
        </p:txBody>
      </p:sp>
      <p:sp>
        <p:nvSpPr>
          <p:cNvPr id="187" name="PlaceHolder 3"/>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en-US" sz="3200" strike="noStrike" spc="-1">
                <a:solidFill>
                  <a:srgbClr val="000000"/>
                </a:solidFill>
                <a:uFill>
                  <a:solidFill>
                    <a:srgbClr val="FFFFFF"/>
                  </a:solidFill>
                </a:uFill>
                <a:latin typeface="Arial"/>
              </a:rPr>
              <a:t>Click to edit the outline text format</a:t>
            </a:r>
          </a:p>
          <a:p>
            <a:pPr marL="864000" lvl="1" indent="-324000">
              <a:buClr>
                <a:srgbClr val="000000"/>
              </a:buClr>
              <a:buSzPct val="75000"/>
              <a:buFont typeface="Symbol" charset="2"/>
              <a:buChar char=""/>
            </a:pPr>
            <a:r>
              <a:rPr lang="en-US" sz="2800" strike="noStrike" spc="-1">
                <a:solidFill>
                  <a:srgbClr val="000000"/>
                </a:solidFill>
                <a:uFill>
                  <a:solidFill>
                    <a:srgbClr val="FFFFFF"/>
                  </a:solidFill>
                </a:uFill>
                <a:latin typeface="Arial"/>
              </a:rPr>
              <a:t>Second Outline Level</a:t>
            </a:r>
          </a:p>
          <a:p>
            <a:pPr marL="1296000" lvl="2" indent="-288000">
              <a:buClr>
                <a:srgbClr val="000000"/>
              </a:buClr>
              <a:buSzPct val="45000"/>
              <a:buFont typeface="Wingdings" charset="2"/>
              <a:buChar char=""/>
            </a:pPr>
            <a:r>
              <a:rPr lang="en-US" sz="2400" strike="noStrike" spc="-1">
                <a:solidFill>
                  <a:srgbClr val="000000"/>
                </a:solidFill>
                <a:uFill>
                  <a:solidFill>
                    <a:srgbClr val="FFFFFF"/>
                  </a:solidFill>
                </a:uFill>
                <a:latin typeface="Arial"/>
              </a:rPr>
              <a:t>Third Outline Level</a:t>
            </a:r>
          </a:p>
          <a:p>
            <a:pPr marL="1728000" lvl="3" indent="-216000">
              <a:buClr>
                <a:srgbClr val="000000"/>
              </a:buClr>
              <a:buSzPct val="75000"/>
              <a:buFont typeface="Symbol" charset="2"/>
              <a:buChar char=""/>
            </a:pPr>
            <a:r>
              <a:rPr lang="en-US" sz="2000" strike="noStrike" spc="-1">
                <a:solidFill>
                  <a:srgbClr val="000000"/>
                </a:solidFill>
                <a:uFill>
                  <a:solidFill>
                    <a:srgbClr val="FFFFFF"/>
                  </a:solidFill>
                </a:uFill>
                <a:latin typeface="Arial"/>
              </a:rPr>
              <a:t>Fourth Outline Level</a:t>
            </a:r>
          </a:p>
          <a:p>
            <a:pPr marL="2160000" lvl="4" indent="-216000">
              <a:buClr>
                <a:srgbClr val="000000"/>
              </a:buClr>
              <a:buSzPct val="45000"/>
              <a:buFont typeface="Wingdings" charset="2"/>
              <a:buChar char=""/>
            </a:pPr>
            <a:r>
              <a:rPr lang="en-US" sz="2000" strike="noStrike" spc="-1">
                <a:solidFill>
                  <a:srgbClr val="000000"/>
                </a:solidFill>
                <a:uFill>
                  <a:solidFill>
                    <a:srgbClr val="FFFFFF"/>
                  </a:solidFill>
                </a:uFill>
                <a:latin typeface="Arial"/>
              </a:rPr>
              <a:t>Fifth Outline Level</a:t>
            </a:r>
          </a:p>
          <a:p>
            <a:pPr marL="2592000" lvl="5" indent="-216000">
              <a:buClr>
                <a:srgbClr val="000000"/>
              </a:buClr>
              <a:buSzPct val="45000"/>
              <a:buFont typeface="Wingdings" charset="2"/>
              <a:buChar char=""/>
            </a:pPr>
            <a:r>
              <a:rPr lang="en-US" sz="2000" strike="noStrike" spc="-1">
                <a:solidFill>
                  <a:srgbClr val="000000"/>
                </a:solidFill>
                <a:uFill>
                  <a:solidFill>
                    <a:srgbClr val="FFFFFF"/>
                  </a:solidFill>
                </a:uFill>
                <a:latin typeface="Arial"/>
              </a:rPr>
              <a:t>Sixth Outline Level</a:t>
            </a:r>
          </a:p>
          <a:p>
            <a:pPr marL="3024000" lvl="6" indent="-216000">
              <a:buClr>
                <a:srgbClr val="000000"/>
              </a:buClr>
              <a:buSzPct val="45000"/>
              <a:buFont typeface="Wingdings" charset="2"/>
              <a:buChar char=""/>
            </a:pPr>
            <a:r>
              <a:rPr lang="en-US" sz="2000" strike="noStrike" spc="-1">
                <a:solidFill>
                  <a:srgbClr val="000000"/>
                </a:solidFill>
                <a:uFill>
                  <a:solidFill>
                    <a:srgbClr val="FFFFFF"/>
                  </a:solidFill>
                </a:u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CustomShape 1"/>
          <p:cNvSpPr/>
          <p:nvPr/>
        </p:nvSpPr>
        <p:spPr>
          <a:xfrm>
            <a:off x="2209680" y="4965840"/>
            <a:ext cx="6778080" cy="534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r>
              <a:rPr lang="en-US" sz="3600" b="1" strike="noStrike" spc="-1">
                <a:solidFill>
                  <a:srgbClr val="FFFFFF"/>
                </a:solidFill>
                <a:uFill>
                  <a:solidFill>
                    <a:srgbClr val="FFFFFF"/>
                  </a:solidFill>
                </a:uFill>
                <a:latin typeface="Calibri"/>
                <a:ea typeface="MS PGothic"/>
              </a:rPr>
              <a:t>Chapter 4 </a:t>
            </a:r>
            <a:endParaRPr lang="en-US" sz="1800" strike="noStrike" spc="-1">
              <a:solidFill>
                <a:srgbClr val="000000"/>
              </a:solidFill>
              <a:uFill>
                <a:solidFill>
                  <a:srgbClr val="FFFFFF"/>
                </a:solidFill>
              </a:uFill>
              <a:latin typeface="Arial"/>
            </a:endParaRPr>
          </a:p>
          <a:p>
            <a:r>
              <a:rPr lang="en-US" sz="2800" b="1" strike="noStrike" spc="-1">
                <a:solidFill>
                  <a:srgbClr val="FFFFFF"/>
                </a:solidFill>
                <a:uFill>
                  <a:solidFill>
                    <a:srgbClr val="FFFFFF"/>
                  </a:solidFill>
                </a:uFill>
                <a:latin typeface="Calibri"/>
                <a:ea typeface="MS PGothic"/>
              </a:rPr>
              <a:t>Consumer and Producer Surplus</a:t>
            </a:r>
            <a:endParaRPr lang="en-US" sz="1800" strike="noStrike" spc="-1">
              <a:solidFill>
                <a:srgbClr val="000000"/>
              </a:solidFill>
              <a:uFill>
                <a:solidFill>
                  <a:srgbClr val="FFFFFF"/>
                </a:solidFill>
              </a:uFill>
              <a:latin typeface="Arial"/>
            </a:endParaRPr>
          </a:p>
          <a:p>
            <a:pPr algn="r">
              <a:lnSpc>
                <a:spcPct val="100000"/>
              </a:lnSpc>
            </a:pPr>
            <a:endParaRPr lang="en-US" sz="1800" strike="noStrike" spc="-1">
              <a:solidFill>
                <a:srgbClr val="000000"/>
              </a:solidFill>
              <a:uFill>
                <a:solidFill>
                  <a:srgbClr val="FFFFFF"/>
                </a:solidFill>
              </a:uFill>
              <a:latin typeface="Arial"/>
            </a:endParaRPr>
          </a:p>
        </p:txBody>
      </p:sp>
      <p:sp>
        <p:nvSpPr>
          <p:cNvPr id="228" name="CustomShape 2"/>
          <p:cNvSpPr/>
          <p:nvPr/>
        </p:nvSpPr>
        <p:spPr>
          <a:xfrm>
            <a:off x="2286000" y="5500800"/>
            <a:ext cx="6699960" cy="642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80000"/>
              </a:lnSpc>
            </a:pPr>
            <a:endParaRPr lang="en-US" sz="1800" strike="noStrike" spc="-1">
              <a:solidFill>
                <a:srgbClr val="000000"/>
              </a:solidFill>
              <a:uFill>
                <a:solidFill>
                  <a:srgbClr val="FFFFFF"/>
                </a:solidFill>
              </a:uFill>
              <a:latin typeface="Arial"/>
            </a:endParaRPr>
          </a:p>
          <a:p>
            <a:pPr algn="ctr">
              <a:lnSpc>
                <a:spcPct val="80000"/>
              </a:lnSpc>
            </a:pPr>
            <a:endParaRPr lang="en-US" sz="1800" strike="noStrike" spc="-1">
              <a:solidFill>
                <a:srgbClr val="000000"/>
              </a:solidFill>
              <a:uFill>
                <a:solidFill>
                  <a:srgbClr val="FFFFFF"/>
                </a:solidFill>
              </a:uFill>
              <a:latin typeface="Arial"/>
            </a:endParaRPr>
          </a:p>
        </p:txBody>
      </p:sp>
      <p:sp>
        <p:nvSpPr>
          <p:cNvPr id="229" name="CustomShape 3"/>
          <p:cNvSpPr/>
          <p:nvPr/>
        </p:nvSpPr>
        <p:spPr>
          <a:xfrm>
            <a:off x="0" y="2438280"/>
            <a:ext cx="913680" cy="7581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chorCtr="1"/>
          <a:lstStyle/>
          <a:p>
            <a:pPr marL="1440" indent="-720" algn="ctr">
              <a:lnSpc>
                <a:spcPct val="100000"/>
              </a:lnSpc>
            </a:pPr>
            <a:r>
              <a:rPr lang="en-US" sz="4000" b="1" strike="noStrike" spc="-1">
                <a:solidFill>
                  <a:srgbClr val="993366"/>
                </a:solidFill>
                <a:uFill>
                  <a:solidFill>
                    <a:srgbClr val="FFFFFF"/>
                  </a:solidFill>
                </a:uFill>
                <a:latin typeface="Bookman Old Style"/>
                <a:ea typeface="MS PGothic"/>
              </a:rPr>
              <a:t>&gt;&gt;</a:t>
            </a:r>
            <a:endParaRPr lang="en-US" sz="1800" strike="noStrike" spc="-1">
              <a:solidFill>
                <a:srgbClr val="000000"/>
              </a:solidFill>
              <a:uFill>
                <a:solidFill>
                  <a:srgbClr val="FFFFFF"/>
                </a:solidFill>
              </a:uFill>
              <a:latin typeface="Arial"/>
            </a:endParaRPr>
          </a:p>
        </p:txBody>
      </p:sp>
      <p:sp>
        <p:nvSpPr>
          <p:cNvPr id="230" name="CustomShape 4"/>
          <p:cNvSpPr/>
          <p:nvPr/>
        </p:nvSpPr>
        <p:spPr>
          <a:xfrm>
            <a:off x="4435560" y="-1440"/>
            <a:ext cx="4707720" cy="4114080"/>
          </a:xfrm>
          <a:prstGeom prst="rect">
            <a:avLst/>
          </a:prstGeom>
          <a:solidFill>
            <a:schemeClr val="accent4">
              <a:lumMod val="75000"/>
            </a:schemeClr>
          </a:solidFill>
          <a:ln>
            <a:noFill/>
          </a:ln>
        </p:spPr>
        <p:style>
          <a:lnRef idx="0">
            <a:scrgbClr r="0" g="0" b="0"/>
          </a:lnRef>
          <a:fillRef idx="0">
            <a:scrgbClr r="0" g="0" b="0"/>
          </a:fillRef>
          <a:effectRef idx="0">
            <a:scrgbClr r="0" g="0" b="0"/>
          </a:effectRef>
          <a:fontRef idx="minor"/>
        </p:style>
        <p:txBody>
          <a:bodyPr lIns="90000" tIns="45000" rIns="90000" bIns="45000"/>
          <a:lstStyle/>
          <a:p>
            <a:pPr marL="457200" algn="r">
              <a:lnSpc>
                <a:spcPct val="100000"/>
              </a:lnSpc>
            </a:pPr>
            <a:r>
              <a:rPr lang="en-US" sz="3200" strike="noStrike" spc="-1">
                <a:solidFill>
                  <a:srgbClr val="F79646"/>
                </a:solidFill>
                <a:uFill>
                  <a:solidFill>
                    <a:srgbClr val="FFFFFF"/>
                  </a:solidFill>
                </a:uFill>
                <a:latin typeface="Calibri"/>
                <a:ea typeface="MS PGothic"/>
              </a:rPr>
              <a:t>THIRD EDITION</a:t>
            </a:r>
            <a:endParaRPr lang="en-US" sz="1800" strike="noStrike" spc="-1">
              <a:solidFill>
                <a:srgbClr val="000000"/>
              </a:solidFill>
              <a:uFill>
                <a:solidFill>
                  <a:srgbClr val="FFFFFF"/>
                </a:solidFill>
              </a:uFill>
              <a:latin typeface="Arial"/>
            </a:endParaRPr>
          </a:p>
          <a:p>
            <a:pPr marL="457200" algn="r">
              <a:lnSpc>
                <a:spcPct val="100000"/>
              </a:lnSpc>
            </a:pPr>
            <a:endParaRPr lang="en-US" sz="1800" strike="noStrike" spc="-1">
              <a:solidFill>
                <a:srgbClr val="000000"/>
              </a:solidFill>
              <a:uFill>
                <a:solidFill>
                  <a:srgbClr val="FFFFFF"/>
                </a:solidFill>
              </a:uFill>
              <a:latin typeface="Arial"/>
            </a:endParaRPr>
          </a:p>
          <a:p>
            <a:pPr marL="457200" algn="r">
              <a:lnSpc>
                <a:spcPct val="100000"/>
              </a:lnSpc>
            </a:pPr>
            <a:r>
              <a:rPr lang="en-US" sz="3800" b="1" strike="noStrike" spc="-1">
                <a:solidFill>
                  <a:srgbClr val="FFFFFF"/>
                </a:solidFill>
                <a:uFill>
                  <a:solidFill>
                    <a:srgbClr val="FFFFFF"/>
                  </a:solidFill>
                </a:uFill>
                <a:latin typeface="Calibri"/>
                <a:ea typeface="MS PGothic"/>
              </a:rPr>
              <a:t>MICROECONOMICS</a:t>
            </a:r>
            <a:endParaRPr lang="en-US" sz="1800" strike="noStrike" spc="-1">
              <a:solidFill>
                <a:srgbClr val="000000"/>
              </a:solidFill>
              <a:uFill>
                <a:solidFill>
                  <a:srgbClr val="FFFFFF"/>
                </a:solidFill>
              </a:uFill>
              <a:latin typeface="Arial"/>
            </a:endParaRPr>
          </a:p>
          <a:p>
            <a:pPr marL="457200" algn="r">
              <a:lnSpc>
                <a:spcPct val="100000"/>
              </a:lnSpc>
            </a:pPr>
            <a:r>
              <a:rPr lang="en-US" sz="2400" strike="noStrike" spc="-1">
                <a:solidFill>
                  <a:srgbClr val="FFFFFF"/>
                </a:solidFill>
                <a:uFill>
                  <a:solidFill>
                    <a:srgbClr val="FFFFFF"/>
                  </a:solidFill>
                </a:uFill>
                <a:latin typeface="Calibri"/>
                <a:ea typeface="MS PGothic"/>
              </a:rPr>
              <a:t>Paul Krugman | Robin Wells</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CustomShape 1"/>
          <p:cNvSpPr/>
          <p:nvPr/>
        </p:nvSpPr>
        <p:spPr>
          <a:xfrm>
            <a:off x="1071720" y="74520"/>
            <a:ext cx="8078040" cy="537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1" strike="noStrike" spc="-1">
                <a:solidFill>
                  <a:srgbClr val="FFFFFF"/>
                </a:solidFill>
                <a:uFill>
                  <a:solidFill>
                    <a:srgbClr val="FFFFFF"/>
                  </a:solidFill>
                </a:uFill>
                <a:latin typeface="Calibri"/>
                <a:ea typeface="MS PGothic"/>
              </a:rPr>
              <a:t>Consumer and Producer Surplus</a:t>
            </a:r>
            <a:endParaRPr lang="en-US" sz="1800" strike="noStrike" spc="-1">
              <a:solidFill>
                <a:srgbClr val="000000"/>
              </a:solidFill>
              <a:uFill>
                <a:solidFill>
                  <a:srgbClr val="FFFFFF"/>
                </a:solidFill>
              </a:uFill>
              <a:latin typeface="Arial"/>
            </a:endParaRPr>
          </a:p>
        </p:txBody>
      </p:sp>
      <p:sp>
        <p:nvSpPr>
          <p:cNvPr id="232" name="CustomShape 2"/>
          <p:cNvSpPr/>
          <p:nvPr/>
        </p:nvSpPr>
        <p:spPr>
          <a:xfrm>
            <a:off x="539640" y="765000"/>
            <a:ext cx="8424000" cy="59763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100000"/>
              </a:lnSpc>
              <a:buClr>
                <a:srgbClr val="C00000"/>
              </a:buClr>
              <a:buFont typeface="Arial"/>
              <a:buChar char="•"/>
            </a:pPr>
            <a:r>
              <a:rPr lang="en-US" sz="2500" strike="noStrike" spc="-1">
                <a:solidFill>
                  <a:srgbClr val="C00000"/>
                </a:solidFill>
                <a:uFill>
                  <a:solidFill>
                    <a:srgbClr val="FFFFFF"/>
                  </a:solidFill>
                </a:uFill>
                <a:latin typeface="Calibri"/>
                <a:ea typeface="MS PGothic"/>
              </a:rPr>
              <a:t>Welfare economics</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How the allocation of resources affects economic well-being</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343080" indent="-342360">
              <a:lnSpc>
                <a:spcPct val="100000"/>
              </a:lnSpc>
              <a:buClr>
                <a:srgbClr val="C00000"/>
              </a:buClr>
              <a:buFont typeface="Arial"/>
              <a:buChar char="•"/>
            </a:pPr>
            <a:r>
              <a:rPr lang="en-US" sz="2500" strike="noStrike" spc="-1">
                <a:solidFill>
                  <a:srgbClr val="C00000"/>
                </a:solidFill>
                <a:uFill>
                  <a:solidFill>
                    <a:srgbClr val="FFFFFF"/>
                  </a:solidFill>
                </a:uFill>
                <a:latin typeface="Calibri"/>
                <a:ea typeface="MS PGothic"/>
              </a:rPr>
              <a:t>Utility</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Benefit that consumers derive from consumption</a:t>
            </a:r>
            <a:endParaRPr lang="en-US" sz="1800" strike="noStrike" spc="-1">
              <a:solidFill>
                <a:srgbClr val="000000"/>
              </a:solidFill>
              <a:uFill>
                <a:solidFill>
                  <a:srgbClr val="FFFFFF"/>
                </a:solidFill>
              </a:uFill>
              <a:latin typeface="Arial"/>
            </a:endParaRPr>
          </a:p>
          <a:p>
            <a:pPr marL="343080" indent="-342360">
              <a:lnSpc>
                <a:spcPct val="100000"/>
              </a:lnSpc>
              <a:buClr>
                <a:srgbClr val="C00000"/>
              </a:buClr>
              <a:buFont typeface="Arial"/>
              <a:buChar char="•"/>
            </a:pPr>
            <a:r>
              <a:rPr lang="en-US" sz="2500" strike="noStrike" spc="-1">
                <a:solidFill>
                  <a:srgbClr val="C00000"/>
                </a:solidFill>
                <a:uFill>
                  <a:solidFill>
                    <a:srgbClr val="FFFFFF"/>
                  </a:solidFill>
                </a:uFill>
                <a:latin typeface="Calibri"/>
                <a:ea typeface="MS PGothic"/>
              </a:rPr>
              <a:t>Willingness to pay</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Maximum amount that a buyer will pay for a good</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Represents the utility that the buyer will get from the good</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343080" indent="-342360">
              <a:lnSpc>
                <a:spcPct val="100000"/>
              </a:lnSpc>
              <a:buClr>
                <a:srgbClr val="C00000"/>
              </a:buClr>
              <a:buFont typeface="Arial"/>
              <a:buChar char="•"/>
            </a:pPr>
            <a:r>
              <a:rPr lang="en-US" sz="2500" strike="noStrike" spc="-1">
                <a:solidFill>
                  <a:srgbClr val="C00000"/>
                </a:solidFill>
                <a:uFill>
                  <a:solidFill>
                    <a:srgbClr val="FFFFFF"/>
                  </a:solidFill>
                </a:uFill>
                <a:latin typeface="Calibri"/>
                <a:ea typeface="MS PGothic"/>
              </a:rPr>
              <a:t>Production Cost</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Value of everything a seller must give up to produce a good</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Measure of willingness to sell, or the minimum price that sellers will sell at</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33" name="CustomShape 1"/>
          <p:cNvSpPr/>
          <p:nvPr/>
        </p:nvSpPr>
        <p:spPr>
          <a:xfrm>
            <a:off x="3286080" y="428760"/>
            <a:ext cx="5571360" cy="61682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What </a:t>
            </a:r>
            <a:r>
              <a:rPr lang="en-US" sz="2500" b="1" strike="noStrike" spc="-1">
                <a:solidFill>
                  <a:srgbClr val="000000"/>
                </a:solidFill>
                <a:uFill>
                  <a:solidFill>
                    <a:srgbClr val="FFFFFF"/>
                  </a:solidFill>
                </a:uFill>
                <a:latin typeface="Calibri"/>
                <a:ea typeface="MS PGothic"/>
              </a:rPr>
              <a:t>consumer surplus </a:t>
            </a:r>
            <a:r>
              <a:rPr lang="en-US" sz="2500" strike="noStrike" spc="-1">
                <a:solidFill>
                  <a:srgbClr val="000000"/>
                </a:solidFill>
                <a:uFill>
                  <a:solidFill>
                    <a:srgbClr val="FFFFFF"/>
                  </a:solidFill>
                </a:uFill>
                <a:latin typeface="Calibri"/>
                <a:ea typeface="MS PGothic"/>
              </a:rPr>
              <a:t>is and its relationship to the demand curve</a:t>
            </a:r>
            <a:endParaRPr lang="en-US" sz="1800" strike="noStrike" spc="-1">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What </a:t>
            </a:r>
            <a:r>
              <a:rPr lang="en-US" sz="2500" b="1" strike="noStrike" spc="-1">
                <a:solidFill>
                  <a:srgbClr val="000000"/>
                </a:solidFill>
                <a:uFill>
                  <a:solidFill>
                    <a:srgbClr val="FFFFFF"/>
                  </a:solidFill>
                </a:uFill>
                <a:latin typeface="Calibri"/>
                <a:ea typeface="MS PGothic"/>
              </a:rPr>
              <a:t>producer surplus </a:t>
            </a:r>
            <a:r>
              <a:rPr lang="en-US" sz="2500" strike="noStrike" spc="-1">
                <a:solidFill>
                  <a:srgbClr val="000000"/>
                </a:solidFill>
                <a:uFill>
                  <a:solidFill>
                    <a:srgbClr val="FFFFFF"/>
                  </a:solidFill>
                </a:uFill>
                <a:latin typeface="Calibri"/>
                <a:ea typeface="MS PGothic"/>
              </a:rPr>
              <a:t>is and its relationship to the supply curve</a:t>
            </a:r>
            <a:endParaRPr lang="en-US" sz="1800" strike="noStrike" spc="-1">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What </a:t>
            </a:r>
            <a:r>
              <a:rPr lang="en-US" sz="2500" b="1" strike="noStrike" spc="-1">
                <a:solidFill>
                  <a:srgbClr val="000000"/>
                </a:solidFill>
                <a:uFill>
                  <a:solidFill>
                    <a:srgbClr val="FFFFFF"/>
                  </a:solidFill>
                </a:uFill>
                <a:latin typeface="Calibri"/>
                <a:ea typeface="MS PGothic"/>
              </a:rPr>
              <a:t>total surplus </a:t>
            </a:r>
            <a:r>
              <a:rPr lang="en-US" sz="2500" strike="noStrike" spc="-1">
                <a:solidFill>
                  <a:srgbClr val="000000"/>
                </a:solidFill>
                <a:uFill>
                  <a:solidFill>
                    <a:srgbClr val="FFFFFF"/>
                  </a:solidFill>
                </a:uFill>
                <a:latin typeface="Calibri"/>
                <a:ea typeface="MS PGothic"/>
              </a:rPr>
              <a:t>is and how it can be used both to measure the gains from trade and to illustrate why markets work so well</a:t>
            </a:r>
            <a:endParaRPr lang="en-US" sz="1800" strike="noStrike" spc="-1">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Why </a:t>
            </a:r>
            <a:r>
              <a:rPr lang="en-US" sz="2500" b="1" strike="noStrike" spc="-1">
                <a:solidFill>
                  <a:srgbClr val="000000"/>
                </a:solidFill>
                <a:uFill>
                  <a:solidFill>
                    <a:srgbClr val="FFFFFF"/>
                  </a:solidFill>
                </a:uFill>
                <a:latin typeface="Calibri"/>
                <a:ea typeface="MS PGothic"/>
              </a:rPr>
              <a:t>property rights </a:t>
            </a:r>
            <a:r>
              <a:rPr lang="en-US" sz="2500" strike="noStrike" spc="-1">
                <a:solidFill>
                  <a:srgbClr val="000000"/>
                </a:solidFill>
                <a:uFill>
                  <a:solidFill>
                    <a:srgbClr val="FFFFFF"/>
                  </a:solidFill>
                </a:uFill>
                <a:latin typeface="Calibri"/>
                <a:ea typeface="MS PGothic"/>
              </a:rPr>
              <a:t>and prices as </a:t>
            </a:r>
            <a:r>
              <a:rPr lang="en-US" sz="2500" b="1" strike="noStrike" spc="-1">
                <a:solidFill>
                  <a:srgbClr val="000000"/>
                </a:solidFill>
                <a:uFill>
                  <a:solidFill>
                    <a:srgbClr val="FFFFFF"/>
                  </a:solidFill>
                </a:uFill>
                <a:latin typeface="Calibri"/>
                <a:ea typeface="MS PGothic"/>
              </a:rPr>
              <a:t>economic signals </a:t>
            </a:r>
            <a:r>
              <a:rPr lang="en-US" sz="2500" strike="noStrike" spc="-1">
                <a:solidFill>
                  <a:srgbClr val="000000"/>
                </a:solidFill>
                <a:uFill>
                  <a:solidFill>
                    <a:srgbClr val="FFFFFF"/>
                  </a:solidFill>
                </a:uFill>
                <a:latin typeface="Calibri"/>
                <a:ea typeface="MS PGothic"/>
              </a:rPr>
              <a:t>are critical to smooth</a:t>
            </a:r>
            <a:r>
              <a:rPr lang="en-US" sz="2500" b="1" strike="noStrike" spc="-1">
                <a:solidFill>
                  <a:srgbClr val="000000"/>
                </a:solidFill>
                <a:uFill>
                  <a:solidFill>
                    <a:srgbClr val="FFFFFF"/>
                  </a:solidFill>
                </a:uFill>
                <a:latin typeface="Calibri"/>
                <a:ea typeface="MS PGothic"/>
              </a:rPr>
              <a:t> </a:t>
            </a:r>
            <a:r>
              <a:rPr lang="en-US" sz="2500" strike="noStrike" spc="-1">
                <a:solidFill>
                  <a:srgbClr val="000000"/>
                </a:solidFill>
                <a:uFill>
                  <a:solidFill>
                    <a:srgbClr val="FFFFFF"/>
                  </a:solidFill>
                </a:uFill>
                <a:latin typeface="Calibri"/>
                <a:ea typeface="MS PGothic"/>
              </a:rPr>
              <a:t>functioning of a market</a:t>
            </a:r>
            <a:endParaRPr lang="en-US" sz="1800" strike="noStrike" spc="-1">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Why markets typically lead to efficient outcomes despite the fact that they sometimes fail</a:t>
            </a:r>
            <a:endParaRPr lang="en-US" sz="1800" strike="noStrike" spc="-1">
              <a:solidFill>
                <a:srgbClr val="000000"/>
              </a:solidFill>
              <a:uFill>
                <a:solidFill>
                  <a:srgbClr val="FFFFFF"/>
                </a:solidFill>
              </a:uFill>
              <a:latin typeface="Arial"/>
            </a:endParaRPr>
          </a:p>
        </p:txBody>
      </p:sp>
      <p:sp>
        <p:nvSpPr>
          <p:cNvPr id="234" name="CustomShape 2"/>
          <p:cNvSpPr/>
          <p:nvPr/>
        </p:nvSpPr>
        <p:spPr>
          <a:xfrm>
            <a:off x="146160" y="1857240"/>
            <a:ext cx="2493360" cy="2039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3200" b="1" strike="noStrike" spc="-1">
                <a:solidFill>
                  <a:srgbClr val="FFFFFF"/>
                </a:solidFill>
                <a:uFill>
                  <a:solidFill>
                    <a:srgbClr val="FFFFFF"/>
                  </a:solidFill>
                </a:uFill>
                <a:latin typeface="Calibri"/>
                <a:ea typeface="DejaVu Sans"/>
              </a:rPr>
              <a:t>WHAT YOU</a:t>
            </a:r>
            <a:endParaRPr lang="en-US" sz="1800" strike="noStrike" spc="-1">
              <a:solidFill>
                <a:srgbClr val="000000"/>
              </a:solidFill>
              <a:uFill>
                <a:solidFill>
                  <a:srgbClr val="FFFFFF"/>
                </a:solidFill>
              </a:uFill>
              <a:latin typeface="Arial"/>
            </a:endParaRPr>
          </a:p>
          <a:p>
            <a:pPr algn="ctr">
              <a:lnSpc>
                <a:spcPct val="100000"/>
              </a:lnSpc>
            </a:pPr>
            <a:r>
              <a:rPr lang="en-US" sz="3200" b="1" strike="noStrike" spc="-1">
                <a:solidFill>
                  <a:srgbClr val="FFFFFF"/>
                </a:solidFill>
                <a:uFill>
                  <a:solidFill>
                    <a:srgbClr val="FFFFFF"/>
                  </a:solidFill>
                </a:uFill>
                <a:latin typeface="Calibri"/>
                <a:ea typeface="DejaVu Sans"/>
              </a:rPr>
              <a:t>WILL LEARN</a:t>
            </a:r>
            <a:endParaRPr lang="en-US" sz="1800" strike="noStrike" spc="-1">
              <a:solidFill>
                <a:srgbClr val="000000"/>
              </a:solidFill>
              <a:uFill>
                <a:solidFill>
                  <a:srgbClr val="FFFFFF"/>
                </a:solidFill>
              </a:uFill>
              <a:latin typeface="Arial"/>
            </a:endParaRPr>
          </a:p>
          <a:p>
            <a:pPr algn="ctr">
              <a:lnSpc>
                <a:spcPct val="100000"/>
              </a:lnSpc>
            </a:pPr>
            <a:r>
              <a:rPr lang="en-US" sz="3200" b="1" strike="noStrike" spc="-1">
                <a:solidFill>
                  <a:srgbClr val="FFFFFF"/>
                </a:solidFill>
                <a:uFill>
                  <a:solidFill>
                    <a:srgbClr val="FFFFFF"/>
                  </a:solidFill>
                </a:uFill>
                <a:latin typeface="Calibri"/>
                <a:ea typeface="DejaVu Sans"/>
              </a:rPr>
              <a:t>IN THIS CHAPTER</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CustomShape 1"/>
          <p:cNvSpPr/>
          <p:nvPr/>
        </p:nvSpPr>
        <p:spPr>
          <a:xfrm>
            <a:off x="900000" y="60480"/>
            <a:ext cx="824940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Consumer Surplus and the Demand Curve</a:t>
            </a:r>
            <a:endParaRPr lang="en-US" sz="1800" strike="noStrike" spc="-1">
              <a:solidFill>
                <a:srgbClr val="000000"/>
              </a:solidFill>
              <a:uFill>
                <a:solidFill>
                  <a:srgbClr val="FFFFFF"/>
                </a:solidFill>
              </a:uFill>
              <a:latin typeface="Arial"/>
            </a:endParaRPr>
          </a:p>
        </p:txBody>
      </p:sp>
      <p:sp>
        <p:nvSpPr>
          <p:cNvPr id="236" name="CustomShape 2"/>
          <p:cNvSpPr/>
          <p:nvPr/>
        </p:nvSpPr>
        <p:spPr>
          <a:xfrm>
            <a:off x="900000" y="912960"/>
            <a:ext cx="8063640" cy="5323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1280" lvl="1" indent="-226440">
              <a:lnSpc>
                <a:spcPct val="90000"/>
              </a:lnSpc>
              <a:buClr>
                <a:srgbClr val="000000"/>
              </a:buClr>
              <a:buFont typeface="Wingdings" charset="2"/>
              <a:buChar char=""/>
            </a:pPr>
            <a:r>
              <a:rPr lang="en-US" sz="2500" strike="noStrike" spc="-1">
                <a:solidFill>
                  <a:srgbClr val="000000"/>
                </a:solidFill>
                <a:uFill>
                  <a:solidFill>
                    <a:srgbClr val="FFFFFF"/>
                  </a:solidFill>
                </a:uFill>
                <a:latin typeface="Calibri"/>
                <a:ea typeface="MS PGothic"/>
              </a:rPr>
              <a:t>A consumer’s </a:t>
            </a:r>
            <a:r>
              <a:rPr lang="en-US" sz="2500" b="1" strike="noStrike" spc="-1">
                <a:solidFill>
                  <a:srgbClr val="000000"/>
                </a:solidFill>
                <a:uFill>
                  <a:solidFill>
                    <a:srgbClr val="FFFFFF"/>
                  </a:solidFill>
                </a:uFill>
                <a:latin typeface="Calibri"/>
                <a:ea typeface="MS PGothic"/>
              </a:rPr>
              <a:t>willingness to pay </a:t>
            </a:r>
            <a:r>
              <a:rPr lang="en-US" sz="2500" strike="noStrike" spc="-1">
                <a:solidFill>
                  <a:srgbClr val="000000"/>
                </a:solidFill>
                <a:uFill>
                  <a:solidFill>
                    <a:srgbClr val="FFFFFF"/>
                  </a:solidFill>
                </a:uFill>
                <a:latin typeface="Calibri"/>
                <a:ea typeface="MS PGothic"/>
              </a:rPr>
              <a:t>for a good is the maximum price at which he or she would buy that good.</a:t>
            </a:r>
            <a:endParaRPr lang="en-US" sz="1800" strike="noStrike" spc="-1">
              <a:solidFill>
                <a:srgbClr val="000000"/>
              </a:solidFill>
              <a:uFill>
                <a:solidFill>
                  <a:srgbClr val="FFFFFF"/>
                </a:solidFill>
              </a:uFill>
              <a:latin typeface="Arial"/>
            </a:endParaRPr>
          </a:p>
          <a:p>
            <a:pPr marL="341280" lvl="1" indent="-226440">
              <a:lnSpc>
                <a:spcPct val="100000"/>
              </a:lnSpc>
              <a:buClr>
                <a:srgbClr val="000000"/>
              </a:buClr>
              <a:buFont typeface="Wingdings" charset="2"/>
              <a:buChar char=""/>
            </a:pPr>
            <a:r>
              <a:rPr lang="en-US" sz="2500" b="1" strike="noStrike" spc="-1">
                <a:solidFill>
                  <a:srgbClr val="000000"/>
                </a:solidFill>
                <a:uFill>
                  <a:solidFill>
                    <a:srgbClr val="FFFFFF"/>
                  </a:solidFill>
                </a:uFill>
                <a:latin typeface="Calibri"/>
                <a:ea typeface="MS PGothic"/>
              </a:rPr>
              <a:t>Individual consumer surplus</a:t>
            </a:r>
            <a:r>
              <a:rPr lang="en-US" sz="2500" strike="noStrike" spc="-1">
                <a:solidFill>
                  <a:srgbClr val="000000"/>
                </a:solidFill>
                <a:uFill>
                  <a:solidFill>
                    <a:srgbClr val="FFFFFF"/>
                  </a:solidFill>
                </a:uFill>
                <a:latin typeface="Calibri"/>
                <a:ea typeface="MS PGothic"/>
              </a:rPr>
              <a:t> is the net gain to an individual buyer from the purchase of a good. </a:t>
            </a:r>
            <a:endParaRPr lang="en-US" sz="1800" strike="noStrike" spc="-1">
              <a:solidFill>
                <a:srgbClr val="000000"/>
              </a:solidFill>
              <a:uFill>
                <a:solidFill>
                  <a:srgbClr val="FFFFFF"/>
                </a:solidFill>
              </a:uFill>
              <a:latin typeface="Arial"/>
            </a:endParaRPr>
          </a:p>
          <a:p>
            <a:pPr marL="341280" lvl="1" indent="-22644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Measures the benefit buyers receive from participating in a market </a:t>
            </a:r>
            <a:endParaRPr lang="en-US" sz="1800" strike="noStrike" spc="-1">
              <a:solidFill>
                <a:srgbClr val="000000"/>
              </a:solidFill>
              <a:uFill>
                <a:solidFill>
                  <a:srgbClr val="FFFFFF"/>
                </a:solidFill>
              </a:uFill>
              <a:latin typeface="Arial"/>
            </a:endParaRPr>
          </a:p>
          <a:p>
            <a:pPr marL="1143000" lvl="2" indent="-227880">
              <a:lnSpc>
                <a:spcPct val="100000"/>
              </a:lnSpc>
              <a:buClr>
                <a:srgbClr val="000000"/>
              </a:buClr>
              <a:buFont typeface="Wingdings" charset="2"/>
              <a:buChar char=""/>
            </a:pPr>
            <a:r>
              <a:rPr lang="en-US" sz="2300" strike="noStrike" spc="-1">
                <a:solidFill>
                  <a:srgbClr val="000000"/>
                </a:solidFill>
                <a:uFill>
                  <a:solidFill>
                    <a:srgbClr val="FFFFFF"/>
                  </a:solidFill>
                </a:uFill>
                <a:latin typeface="Calibri"/>
                <a:ea typeface="MS PGothic"/>
              </a:rPr>
              <a:t>Amount a buyer is willing to pay for a good minus amount the buyer actually pays for it</a:t>
            </a:r>
            <a:endParaRPr lang="en-US" sz="1800" strike="noStrike" spc="-1">
              <a:solidFill>
                <a:srgbClr val="000000"/>
              </a:solidFill>
              <a:uFill>
                <a:solidFill>
                  <a:srgbClr val="FFFFFF"/>
                </a:solidFill>
              </a:uFill>
              <a:latin typeface="Arial"/>
            </a:endParaRPr>
          </a:p>
          <a:p>
            <a:pPr marL="341280" lvl="1" indent="-226440">
              <a:lnSpc>
                <a:spcPct val="100000"/>
              </a:lnSpc>
              <a:buClr>
                <a:srgbClr val="000000"/>
              </a:buClr>
              <a:buFont typeface="Wingdings" charset="2"/>
              <a:buChar char=""/>
            </a:pPr>
            <a:r>
              <a:rPr lang="en-US" sz="2500" strike="noStrike" spc="-1">
                <a:solidFill>
                  <a:srgbClr val="000000"/>
                </a:solidFill>
                <a:uFill>
                  <a:solidFill>
                    <a:srgbClr val="FFFFFF"/>
                  </a:solidFill>
                </a:uFill>
                <a:latin typeface="Calibri"/>
                <a:ea typeface="MS PGothic"/>
              </a:rPr>
              <a:t>It is equal to the difference between the buyer’s willingness to pay and the market price.</a:t>
            </a:r>
            <a:endParaRPr lang="en-US" sz="1800" strike="noStrike" spc="-1">
              <a:solidFill>
                <a:srgbClr val="000000"/>
              </a:solidFill>
              <a:uFill>
                <a:solidFill>
                  <a:srgbClr val="FFFFFF"/>
                </a:solidFill>
              </a:uFill>
              <a:latin typeface="Arial"/>
            </a:endParaRPr>
          </a:p>
        </p:txBody>
      </p:sp>
      <p:sp>
        <p:nvSpPr>
          <p:cNvPr id="237" name="CustomShape 3"/>
          <p:cNvSpPr/>
          <p:nvPr/>
        </p:nvSpPr>
        <p:spPr>
          <a:xfrm>
            <a:off x="900000" y="152280"/>
            <a:ext cx="8063640" cy="5774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1440" indent="-720">
              <a:lnSpc>
                <a:spcPct val="100000"/>
              </a:lnSpc>
            </a:pPr>
            <a:r>
              <a:rPr lang="en-US" sz="3200" b="1" strike="noStrike" spc="-1">
                <a:solidFill>
                  <a:srgbClr val="1F497D"/>
                </a:solidFill>
                <a:uFill>
                  <a:solidFill>
                    <a:srgbClr val="FFFFFF"/>
                  </a:solidFill>
                </a:uFill>
                <a:latin typeface="Tahoma"/>
                <a:ea typeface="MS PGothic"/>
              </a:rPr>
              <a:t> </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CustomShape 1"/>
          <p:cNvSpPr/>
          <p:nvPr/>
        </p:nvSpPr>
        <p:spPr>
          <a:xfrm>
            <a:off x="5765760" y="1581120"/>
            <a:ext cx="2544120" cy="1966320"/>
          </a:xfrm>
          <a:prstGeom prst="rect">
            <a:avLst/>
          </a:prstGeom>
          <a:no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39" name="CustomShape 2"/>
          <p:cNvSpPr/>
          <p:nvPr/>
        </p:nvSpPr>
        <p:spPr>
          <a:xfrm>
            <a:off x="5791320" y="1600200"/>
            <a:ext cx="2504520" cy="502560"/>
          </a:xfrm>
          <a:prstGeom prst="rect">
            <a:avLst/>
          </a:prstGeom>
          <a:solidFill>
            <a:srgbClr val="EBDFD7"/>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40" name="CustomShape 3"/>
          <p:cNvSpPr/>
          <p:nvPr/>
        </p:nvSpPr>
        <p:spPr>
          <a:xfrm>
            <a:off x="7384680" y="2162160"/>
            <a:ext cx="3402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$59</a:t>
            </a:r>
            <a:endParaRPr lang="en-US" sz="1800" strike="noStrike" spc="-1">
              <a:solidFill>
                <a:srgbClr val="000000"/>
              </a:solidFill>
              <a:uFill>
                <a:solidFill>
                  <a:srgbClr val="FFFFFF"/>
                </a:solidFill>
              </a:uFill>
              <a:latin typeface="Arial"/>
            </a:endParaRPr>
          </a:p>
        </p:txBody>
      </p:sp>
      <p:sp>
        <p:nvSpPr>
          <p:cNvPr id="241" name="CustomShape 4"/>
          <p:cNvSpPr/>
          <p:nvPr/>
        </p:nvSpPr>
        <p:spPr>
          <a:xfrm>
            <a:off x="7482240" y="243828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45</a:t>
            </a:r>
            <a:endParaRPr lang="en-US" sz="1800" strike="noStrike" spc="-1">
              <a:solidFill>
                <a:srgbClr val="000000"/>
              </a:solidFill>
              <a:uFill>
                <a:solidFill>
                  <a:srgbClr val="FFFFFF"/>
                </a:solidFill>
              </a:uFill>
              <a:latin typeface="Arial"/>
            </a:endParaRPr>
          </a:p>
        </p:txBody>
      </p:sp>
      <p:sp>
        <p:nvSpPr>
          <p:cNvPr id="242" name="CustomShape 5"/>
          <p:cNvSpPr/>
          <p:nvPr/>
        </p:nvSpPr>
        <p:spPr>
          <a:xfrm>
            <a:off x="7482240" y="271152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35</a:t>
            </a:r>
            <a:endParaRPr lang="en-US" sz="1800" strike="noStrike" spc="-1">
              <a:solidFill>
                <a:srgbClr val="000000"/>
              </a:solidFill>
              <a:uFill>
                <a:solidFill>
                  <a:srgbClr val="FFFFFF"/>
                </a:solidFill>
              </a:uFill>
              <a:latin typeface="Arial"/>
            </a:endParaRPr>
          </a:p>
        </p:txBody>
      </p:sp>
      <p:sp>
        <p:nvSpPr>
          <p:cNvPr id="243" name="CustomShape 6"/>
          <p:cNvSpPr/>
          <p:nvPr/>
        </p:nvSpPr>
        <p:spPr>
          <a:xfrm>
            <a:off x="7482240" y="298764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25</a:t>
            </a:r>
            <a:endParaRPr lang="en-US" sz="1800" strike="noStrike" spc="-1">
              <a:solidFill>
                <a:srgbClr val="000000"/>
              </a:solidFill>
              <a:uFill>
                <a:solidFill>
                  <a:srgbClr val="FFFFFF"/>
                </a:solidFill>
              </a:uFill>
              <a:latin typeface="Arial"/>
            </a:endParaRPr>
          </a:p>
        </p:txBody>
      </p:sp>
      <p:sp>
        <p:nvSpPr>
          <p:cNvPr id="244" name="CustomShape 7"/>
          <p:cNvSpPr/>
          <p:nvPr/>
        </p:nvSpPr>
        <p:spPr>
          <a:xfrm>
            <a:off x="7482240" y="326376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10</a:t>
            </a:r>
            <a:endParaRPr lang="en-US" sz="1800" strike="noStrike" spc="-1">
              <a:solidFill>
                <a:srgbClr val="000000"/>
              </a:solidFill>
              <a:uFill>
                <a:solidFill>
                  <a:srgbClr val="FFFFFF"/>
                </a:solidFill>
              </a:uFill>
              <a:latin typeface="Arial"/>
            </a:endParaRPr>
          </a:p>
        </p:txBody>
      </p:sp>
      <p:sp>
        <p:nvSpPr>
          <p:cNvPr id="245" name="CustomShape 8"/>
          <p:cNvSpPr/>
          <p:nvPr/>
        </p:nvSpPr>
        <p:spPr>
          <a:xfrm>
            <a:off x="5791320" y="1600200"/>
            <a:ext cx="2504520" cy="1923480"/>
          </a:xfrm>
          <a:prstGeom prst="rect">
            <a:avLst/>
          </a:prstGeom>
          <a:noFill/>
          <a:ln w="39600">
            <a:solidFill>
              <a:srgbClr val="E6D3C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246" name="Line 9"/>
          <p:cNvSpPr/>
          <p:nvPr/>
        </p:nvSpPr>
        <p:spPr>
          <a:xfrm>
            <a:off x="5790960" y="2103120"/>
            <a:ext cx="2505240" cy="360"/>
          </a:xfrm>
          <a:prstGeom prst="line">
            <a:avLst/>
          </a:prstGeom>
          <a:ln w="19080">
            <a:solidFill>
              <a:srgbClr val="E6D3C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247" name="Line 10"/>
          <p:cNvSpPr/>
          <p:nvPr/>
        </p:nvSpPr>
        <p:spPr>
          <a:xfrm>
            <a:off x="5795640" y="2400120"/>
            <a:ext cx="2495520" cy="360"/>
          </a:xfrm>
          <a:prstGeom prst="line">
            <a:avLst/>
          </a:prstGeom>
          <a:ln w="14400">
            <a:solidFill>
              <a:srgbClr val="E6D3C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248" name="Line 11"/>
          <p:cNvSpPr/>
          <p:nvPr/>
        </p:nvSpPr>
        <p:spPr>
          <a:xfrm>
            <a:off x="5795640" y="2674800"/>
            <a:ext cx="2495520" cy="360"/>
          </a:xfrm>
          <a:prstGeom prst="line">
            <a:avLst/>
          </a:prstGeom>
          <a:ln w="14400">
            <a:solidFill>
              <a:srgbClr val="E6D3C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249" name="Line 12"/>
          <p:cNvSpPr/>
          <p:nvPr/>
        </p:nvSpPr>
        <p:spPr>
          <a:xfrm>
            <a:off x="5795640" y="2950920"/>
            <a:ext cx="2495520" cy="360"/>
          </a:xfrm>
          <a:prstGeom prst="line">
            <a:avLst/>
          </a:prstGeom>
          <a:ln w="14400">
            <a:solidFill>
              <a:srgbClr val="E6D3C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250" name="Line 13"/>
          <p:cNvSpPr/>
          <p:nvPr/>
        </p:nvSpPr>
        <p:spPr>
          <a:xfrm>
            <a:off x="5795640" y="3227040"/>
            <a:ext cx="2495520" cy="360"/>
          </a:xfrm>
          <a:prstGeom prst="line">
            <a:avLst/>
          </a:prstGeom>
          <a:ln w="14400">
            <a:solidFill>
              <a:srgbClr val="E6D3C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251" name="Line 14"/>
          <p:cNvSpPr/>
          <p:nvPr/>
        </p:nvSpPr>
        <p:spPr>
          <a:xfrm>
            <a:off x="1531800" y="1780920"/>
            <a:ext cx="112680" cy="36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252" name="Line 15"/>
          <p:cNvSpPr/>
          <p:nvPr/>
        </p:nvSpPr>
        <p:spPr>
          <a:xfrm>
            <a:off x="1531800" y="2552400"/>
            <a:ext cx="112680" cy="36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253" name="Line 16"/>
          <p:cNvSpPr/>
          <p:nvPr/>
        </p:nvSpPr>
        <p:spPr>
          <a:xfrm>
            <a:off x="1531800" y="3105000"/>
            <a:ext cx="112680" cy="36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254" name="Line 17"/>
          <p:cNvSpPr/>
          <p:nvPr/>
        </p:nvSpPr>
        <p:spPr>
          <a:xfrm>
            <a:off x="1531800" y="3657600"/>
            <a:ext cx="112680" cy="36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255" name="Line 18"/>
          <p:cNvSpPr/>
          <p:nvPr/>
        </p:nvSpPr>
        <p:spPr>
          <a:xfrm>
            <a:off x="1531800" y="4485960"/>
            <a:ext cx="112680" cy="36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256" name="Line 19"/>
          <p:cNvSpPr/>
          <p:nvPr/>
        </p:nvSpPr>
        <p:spPr>
          <a:xfrm flipV="1">
            <a:off x="1995480" y="4925880"/>
            <a:ext cx="360" cy="11268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257" name="Line 20"/>
          <p:cNvSpPr/>
          <p:nvPr/>
        </p:nvSpPr>
        <p:spPr>
          <a:xfrm flipV="1">
            <a:off x="2473200" y="4925880"/>
            <a:ext cx="360" cy="11268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258" name="Line 21"/>
          <p:cNvSpPr/>
          <p:nvPr/>
        </p:nvSpPr>
        <p:spPr>
          <a:xfrm flipV="1">
            <a:off x="2941560" y="4925880"/>
            <a:ext cx="360" cy="11268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259" name="Line 22"/>
          <p:cNvSpPr/>
          <p:nvPr/>
        </p:nvSpPr>
        <p:spPr>
          <a:xfrm flipV="1">
            <a:off x="3409920" y="4925880"/>
            <a:ext cx="360" cy="11268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260" name="Line 23"/>
          <p:cNvSpPr/>
          <p:nvPr/>
        </p:nvSpPr>
        <p:spPr>
          <a:xfrm flipV="1">
            <a:off x="3881160" y="4925880"/>
            <a:ext cx="360" cy="11268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261" name="CustomShape 24"/>
          <p:cNvSpPr/>
          <p:nvPr/>
        </p:nvSpPr>
        <p:spPr>
          <a:xfrm>
            <a:off x="3831120" y="5070600"/>
            <a:ext cx="106920" cy="1972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300" strike="noStrike" spc="-1">
                <a:solidFill>
                  <a:srgbClr val="000000"/>
                </a:solidFill>
                <a:uFill>
                  <a:solidFill>
                    <a:srgbClr val="FFFFFF"/>
                  </a:solidFill>
                </a:uFill>
                <a:latin typeface="Myriad Pro"/>
                <a:ea typeface="MS PGothic"/>
              </a:rPr>
              <a:t>5</a:t>
            </a:r>
            <a:endParaRPr lang="en-US" sz="1800" strike="noStrike" spc="-1">
              <a:solidFill>
                <a:srgbClr val="000000"/>
              </a:solidFill>
              <a:uFill>
                <a:solidFill>
                  <a:srgbClr val="FFFFFF"/>
                </a:solidFill>
              </a:uFill>
              <a:latin typeface="Arial"/>
            </a:endParaRPr>
          </a:p>
        </p:txBody>
      </p:sp>
      <p:sp>
        <p:nvSpPr>
          <p:cNvPr id="262" name="CustomShape 25"/>
          <p:cNvSpPr/>
          <p:nvPr/>
        </p:nvSpPr>
        <p:spPr>
          <a:xfrm>
            <a:off x="3360960" y="5070600"/>
            <a:ext cx="106920" cy="1972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300" strike="noStrike" spc="-1">
                <a:solidFill>
                  <a:srgbClr val="000000"/>
                </a:solidFill>
                <a:uFill>
                  <a:solidFill>
                    <a:srgbClr val="FFFFFF"/>
                  </a:solidFill>
                </a:uFill>
                <a:latin typeface="Myriad Pro"/>
                <a:ea typeface="MS PGothic"/>
              </a:rPr>
              <a:t>4</a:t>
            </a:r>
            <a:endParaRPr lang="en-US" sz="1800" strike="noStrike" spc="-1">
              <a:solidFill>
                <a:srgbClr val="000000"/>
              </a:solidFill>
              <a:uFill>
                <a:solidFill>
                  <a:srgbClr val="FFFFFF"/>
                </a:solidFill>
              </a:uFill>
              <a:latin typeface="Arial"/>
            </a:endParaRPr>
          </a:p>
        </p:txBody>
      </p:sp>
      <p:sp>
        <p:nvSpPr>
          <p:cNvPr id="263" name="CustomShape 26"/>
          <p:cNvSpPr/>
          <p:nvPr/>
        </p:nvSpPr>
        <p:spPr>
          <a:xfrm>
            <a:off x="2891160" y="5070600"/>
            <a:ext cx="106920" cy="1972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300" strike="noStrike" spc="-1">
                <a:solidFill>
                  <a:srgbClr val="000000"/>
                </a:solidFill>
                <a:uFill>
                  <a:solidFill>
                    <a:srgbClr val="FFFFFF"/>
                  </a:solidFill>
                </a:uFill>
                <a:latin typeface="Myriad Pro"/>
                <a:ea typeface="MS PGothic"/>
              </a:rPr>
              <a:t>3</a:t>
            </a:r>
            <a:endParaRPr lang="en-US" sz="1800" strike="noStrike" spc="-1">
              <a:solidFill>
                <a:srgbClr val="000000"/>
              </a:solidFill>
              <a:uFill>
                <a:solidFill>
                  <a:srgbClr val="FFFFFF"/>
                </a:solidFill>
              </a:uFill>
              <a:latin typeface="Arial"/>
            </a:endParaRPr>
          </a:p>
        </p:txBody>
      </p:sp>
      <p:sp>
        <p:nvSpPr>
          <p:cNvPr id="264" name="CustomShape 27"/>
          <p:cNvSpPr/>
          <p:nvPr/>
        </p:nvSpPr>
        <p:spPr>
          <a:xfrm>
            <a:off x="2421360" y="5070600"/>
            <a:ext cx="106920" cy="1972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300" strike="noStrike" spc="-1">
                <a:solidFill>
                  <a:srgbClr val="000000"/>
                </a:solidFill>
                <a:uFill>
                  <a:solidFill>
                    <a:srgbClr val="FFFFFF"/>
                  </a:solidFill>
                </a:uFill>
                <a:latin typeface="Myriad Pro"/>
                <a:ea typeface="MS PGothic"/>
              </a:rPr>
              <a:t>2</a:t>
            </a:r>
            <a:endParaRPr lang="en-US" sz="1800" strike="noStrike" spc="-1">
              <a:solidFill>
                <a:srgbClr val="000000"/>
              </a:solidFill>
              <a:uFill>
                <a:solidFill>
                  <a:srgbClr val="FFFFFF"/>
                </a:solidFill>
              </a:uFill>
              <a:latin typeface="Arial"/>
            </a:endParaRPr>
          </a:p>
        </p:txBody>
      </p:sp>
      <p:sp>
        <p:nvSpPr>
          <p:cNvPr id="265" name="CustomShape 28"/>
          <p:cNvSpPr/>
          <p:nvPr/>
        </p:nvSpPr>
        <p:spPr>
          <a:xfrm>
            <a:off x="1946520" y="5070600"/>
            <a:ext cx="106920" cy="1972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300" strike="noStrike" spc="-1">
                <a:solidFill>
                  <a:srgbClr val="000000"/>
                </a:solidFill>
                <a:uFill>
                  <a:solidFill>
                    <a:srgbClr val="FFFFFF"/>
                  </a:solidFill>
                </a:uFill>
                <a:latin typeface="Myriad Pro"/>
                <a:ea typeface="MS PGothic"/>
              </a:rPr>
              <a:t>1</a:t>
            </a:r>
            <a:endParaRPr lang="en-US" sz="1800" strike="noStrike" spc="-1">
              <a:solidFill>
                <a:srgbClr val="000000"/>
              </a:solidFill>
              <a:uFill>
                <a:solidFill>
                  <a:srgbClr val="FFFFFF"/>
                </a:solidFill>
              </a:uFill>
              <a:latin typeface="Arial"/>
            </a:endParaRPr>
          </a:p>
        </p:txBody>
      </p:sp>
      <p:sp>
        <p:nvSpPr>
          <p:cNvPr id="266" name="CustomShape 29"/>
          <p:cNvSpPr/>
          <p:nvPr/>
        </p:nvSpPr>
        <p:spPr>
          <a:xfrm>
            <a:off x="1356120" y="5070600"/>
            <a:ext cx="106920" cy="1972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300" strike="noStrike" spc="-1">
                <a:solidFill>
                  <a:srgbClr val="000000"/>
                </a:solidFill>
                <a:uFill>
                  <a:solidFill>
                    <a:srgbClr val="FFFFFF"/>
                  </a:solidFill>
                </a:uFill>
                <a:latin typeface="Myriad Pro"/>
                <a:ea typeface="MS PGothic"/>
              </a:rPr>
              <a:t>0</a:t>
            </a:r>
            <a:endParaRPr lang="en-US" sz="1800" strike="noStrike" spc="-1">
              <a:solidFill>
                <a:srgbClr val="000000"/>
              </a:solidFill>
              <a:uFill>
                <a:solidFill>
                  <a:srgbClr val="FFFFFF"/>
                </a:solidFill>
              </a:uFill>
              <a:latin typeface="Arial"/>
            </a:endParaRPr>
          </a:p>
        </p:txBody>
      </p:sp>
      <p:sp>
        <p:nvSpPr>
          <p:cNvPr id="267" name="CustomShape 30"/>
          <p:cNvSpPr/>
          <p:nvPr/>
        </p:nvSpPr>
        <p:spPr>
          <a:xfrm>
            <a:off x="3981600" y="4811760"/>
            <a:ext cx="138960" cy="2282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500" i="1" strike="noStrike" spc="-1">
                <a:solidFill>
                  <a:srgbClr val="000000"/>
                </a:solidFill>
                <a:uFill>
                  <a:solidFill>
                    <a:srgbClr val="FFFFFF"/>
                  </a:solidFill>
                </a:uFill>
                <a:latin typeface="Myriad Pro"/>
                <a:ea typeface="MS PGothic"/>
              </a:rPr>
              <a:t>D</a:t>
            </a:r>
            <a:endParaRPr lang="en-US" sz="1800" strike="noStrike" spc="-1">
              <a:solidFill>
                <a:srgbClr val="000000"/>
              </a:solidFill>
              <a:uFill>
                <a:solidFill>
                  <a:srgbClr val="FFFFFF"/>
                </a:solidFill>
              </a:uFill>
              <a:latin typeface="Arial"/>
            </a:endParaRPr>
          </a:p>
        </p:txBody>
      </p:sp>
      <p:sp>
        <p:nvSpPr>
          <p:cNvPr id="268" name="CustomShape 31"/>
          <p:cNvSpPr/>
          <p:nvPr/>
        </p:nvSpPr>
        <p:spPr>
          <a:xfrm>
            <a:off x="1177560" y="1679400"/>
            <a:ext cx="317160" cy="1972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300" strike="noStrike" spc="-1">
                <a:solidFill>
                  <a:srgbClr val="000000"/>
                </a:solidFill>
                <a:uFill>
                  <a:solidFill>
                    <a:srgbClr val="FFFFFF"/>
                  </a:solidFill>
                </a:uFill>
                <a:latin typeface="Myriad Pro"/>
                <a:ea typeface="MS PGothic"/>
              </a:rPr>
              <a:t>$59</a:t>
            </a:r>
            <a:endParaRPr lang="en-US" sz="1800" strike="noStrike" spc="-1">
              <a:solidFill>
                <a:srgbClr val="000000"/>
              </a:solidFill>
              <a:uFill>
                <a:solidFill>
                  <a:srgbClr val="FFFFFF"/>
                </a:solidFill>
              </a:uFill>
              <a:latin typeface="Arial"/>
            </a:endParaRPr>
          </a:p>
        </p:txBody>
      </p:sp>
      <p:sp>
        <p:nvSpPr>
          <p:cNvPr id="269" name="CustomShape 32"/>
          <p:cNvSpPr/>
          <p:nvPr/>
        </p:nvSpPr>
        <p:spPr>
          <a:xfrm>
            <a:off x="1271880" y="2454120"/>
            <a:ext cx="212040" cy="1972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300" strike="noStrike" spc="-1">
                <a:solidFill>
                  <a:srgbClr val="000000"/>
                </a:solidFill>
                <a:uFill>
                  <a:solidFill>
                    <a:srgbClr val="FFFFFF"/>
                  </a:solidFill>
                </a:uFill>
                <a:latin typeface="Myriad Pro"/>
                <a:ea typeface="MS PGothic"/>
              </a:rPr>
              <a:t>45</a:t>
            </a:r>
            <a:endParaRPr lang="en-US" sz="1800" strike="noStrike" spc="-1">
              <a:solidFill>
                <a:srgbClr val="000000"/>
              </a:solidFill>
              <a:uFill>
                <a:solidFill>
                  <a:srgbClr val="FFFFFF"/>
                </a:solidFill>
              </a:uFill>
              <a:latin typeface="Arial"/>
            </a:endParaRPr>
          </a:p>
        </p:txBody>
      </p:sp>
      <p:sp>
        <p:nvSpPr>
          <p:cNvPr id="270" name="CustomShape 33"/>
          <p:cNvSpPr/>
          <p:nvPr/>
        </p:nvSpPr>
        <p:spPr>
          <a:xfrm>
            <a:off x="1271880" y="3002040"/>
            <a:ext cx="212040" cy="1972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300" strike="noStrike" spc="-1">
                <a:solidFill>
                  <a:srgbClr val="000000"/>
                </a:solidFill>
                <a:uFill>
                  <a:solidFill>
                    <a:srgbClr val="FFFFFF"/>
                  </a:solidFill>
                </a:uFill>
                <a:latin typeface="Myriad Pro"/>
                <a:ea typeface="MS PGothic"/>
              </a:rPr>
              <a:t>35</a:t>
            </a:r>
            <a:endParaRPr lang="en-US" sz="1800" strike="noStrike" spc="-1">
              <a:solidFill>
                <a:srgbClr val="000000"/>
              </a:solidFill>
              <a:uFill>
                <a:solidFill>
                  <a:srgbClr val="FFFFFF"/>
                </a:solidFill>
              </a:uFill>
              <a:latin typeface="Arial"/>
            </a:endParaRPr>
          </a:p>
        </p:txBody>
      </p:sp>
      <p:sp>
        <p:nvSpPr>
          <p:cNvPr id="271" name="CustomShape 34"/>
          <p:cNvSpPr/>
          <p:nvPr/>
        </p:nvSpPr>
        <p:spPr>
          <a:xfrm>
            <a:off x="1271880" y="4384800"/>
            <a:ext cx="212040" cy="1972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300" strike="noStrike" spc="-1">
                <a:solidFill>
                  <a:srgbClr val="000000"/>
                </a:solidFill>
                <a:uFill>
                  <a:solidFill>
                    <a:srgbClr val="FFFFFF"/>
                  </a:solidFill>
                </a:uFill>
                <a:latin typeface="Myriad Pro"/>
                <a:ea typeface="MS PGothic"/>
              </a:rPr>
              <a:t>10</a:t>
            </a:r>
            <a:endParaRPr lang="en-US" sz="1800" strike="noStrike" spc="-1">
              <a:solidFill>
                <a:srgbClr val="000000"/>
              </a:solidFill>
              <a:uFill>
                <a:solidFill>
                  <a:srgbClr val="FFFFFF"/>
                </a:solidFill>
              </a:uFill>
              <a:latin typeface="Arial"/>
            </a:endParaRPr>
          </a:p>
        </p:txBody>
      </p:sp>
      <p:sp>
        <p:nvSpPr>
          <p:cNvPr id="272" name="CustomShape 35"/>
          <p:cNvSpPr/>
          <p:nvPr/>
        </p:nvSpPr>
        <p:spPr>
          <a:xfrm>
            <a:off x="1271880" y="3554280"/>
            <a:ext cx="212040" cy="1972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300" strike="noStrike" spc="-1">
                <a:solidFill>
                  <a:srgbClr val="000000"/>
                </a:solidFill>
                <a:uFill>
                  <a:solidFill>
                    <a:srgbClr val="FFFFFF"/>
                  </a:solidFill>
                </a:uFill>
                <a:latin typeface="Myriad Pro"/>
                <a:ea typeface="MS PGothic"/>
              </a:rPr>
              <a:t>25</a:t>
            </a:r>
            <a:endParaRPr lang="en-US" sz="1800" strike="noStrike" spc="-1">
              <a:solidFill>
                <a:srgbClr val="000000"/>
              </a:solidFill>
              <a:uFill>
                <a:solidFill>
                  <a:srgbClr val="FFFFFF"/>
                </a:solidFill>
              </a:uFill>
              <a:latin typeface="Arial"/>
            </a:endParaRPr>
          </a:p>
        </p:txBody>
      </p:sp>
      <p:sp>
        <p:nvSpPr>
          <p:cNvPr id="273" name="CustomShape 36"/>
          <p:cNvSpPr/>
          <p:nvPr/>
        </p:nvSpPr>
        <p:spPr>
          <a:xfrm>
            <a:off x="1550880" y="1233360"/>
            <a:ext cx="2329560" cy="3804480"/>
          </a:xfrm>
          <a:custGeom>
            <a:avLst/>
            <a:gdLst/>
            <a:ahLst/>
            <a:cxnLst/>
            <a:rect l="l" t="t" r="r" b="b"/>
            <a:pathLst>
              <a:path w="1468" h="2397">
                <a:moveTo>
                  <a:pt x="1468" y="2397"/>
                </a:moveTo>
                <a:lnTo>
                  <a:pt x="1468" y="2049"/>
                </a:lnTo>
                <a:lnTo>
                  <a:pt x="1171" y="2049"/>
                </a:lnTo>
                <a:lnTo>
                  <a:pt x="1171" y="1527"/>
                </a:lnTo>
                <a:lnTo>
                  <a:pt x="876" y="1527"/>
                </a:lnTo>
                <a:lnTo>
                  <a:pt x="876" y="1179"/>
                </a:lnTo>
                <a:lnTo>
                  <a:pt x="581" y="1179"/>
                </a:lnTo>
                <a:lnTo>
                  <a:pt x="581" y="831"/>
                </a:lnTo>
                <a:lnTo>
                  <a:pt x="280" y="831"/>
                </a:lnTo>
                <a:lnTo>
                  <a:pt x="280" y="345"/>
                </a:lnTo>
                <a:lnTo>
                  <a:pt x="0" y="345"/>
                </a:lnTo>
                <a:lnTo>
                  <a:pt x="0" y="0"/>
                </a:lnTo>
              </a:path>
            </a:pathLst>
          </a:custGeom>
          <a:noFill/>
          <a:ln w="38160">
            <a:solidFill>
              <a:srgbClr val="3C5DA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274" name="CustomShape 37"/>
          <p:cNvSpPr/>
          <p:nvPr/>
        </p:nvSpPr>
        <p:spPr>
          <a:xfrm>
            <a:off x="1531800" y="1233360"/>
            <a:ext cx="4029840" cy="3804480"/>
          </a:xfrm>
          <a:custGeom>
            <a:avLst/>
            <a:gdLst/>
            <a:ahLst/>
            <a:cxnLst/>
            <a:rect l="l" t="t" r="r" b="b"/>
            <a:pathLst>
              <a:path w="2539" h="2397">
                <a:moveTo>
                  <a:pt x="2539" y="2397"/>
                </a:moveTo>
                <a:lnTo>
                  <a:pt x="0" y="2397"/>
                </a:lnTo>
                <a:lnTo>
                  <a:pt x="0" y="0"/>
                </a:lnTo>
              </a:path>
            </a:pathLst>
          </a:custGeom>
          <a:noFill/>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275" name="CustomShape 38"/>
          <p:cNvSpPr/>
          <p:nvPr/>
        </p:nvSpPr>
        <p:spPr>
          <a:xfrm>
            <a:off x="1986120" y="27446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76" name="CustomShape 39"/>
          <p:cNvSpPr/>
          <p:nvPr/>
        </p:nvSpPr>
        <p:spPr>
          <a:xfrm>
            <a:off x="1986120" y="28195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77" name="CustomShape 40"/>
          <p:cNvSpPr/>
          <p:nvPr/>
        </p:nvSpPr>
        <p:spPr>
          <a:xfrm>
            <a:off x="1986120" y="258588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78" name="CustomShape 41"/>
          <p:cNvSpPr/>
          <p:nvPr/>
        </p:nvSpPr>
        <p:spPr>
          <a:xfrm>
            <a:off x="1986120" y="26654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79" name="CustomShape 42"/>
          <p:cNvSpPr/>
          <p:nvPr/>
        </p:nvSpPr>
        <p:spPr>
          <a:xfrm>
            <a:off x="1986120" y="28987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80" name="CustomShape 43"/>
          <p:cNvSpPr/>
          <p:nvPr/>
        </p:nvSpPr>
        <p:spPr>
          <a:xfrm>
            <a:off x="1986120" y="297972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81" name="CustomShape 44"/>
          <p:cNvSpPr/>
          <p:nvPr/>
        </p:nvSpPr>
        <p:spPr>
          <a:xfrm>
            <a:off x="1986120" y="305928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82" name="CustomShape 45"/>
          <p:cNvSpPr/>
          <p:nvPr/>
        </p:nvSpPr>
        <p:spPr>
          <a:xfrm>
            <a:off x="1986120" y="313848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83" name="CustomShape 46"/>
          <p:cNvSpPr/>
          <p:nvPr/>
        </p:nvSpPr>
        <p:spPr>
          <a:xfrm>
            <a:off x="1986120" y="32180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84" name="CustomShape 47"/>
          <p:cNvSpPr/>
          <p:nvPr/>
        </p:nvSpPr>
        <p:spPr>
          <a:xfrm>
            <a:off x="1986120" y="32925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85" name="CustomShape 48"/>
          <p:cNvSpPr/>
          <p:nvPr/>
        </p:nvSpPr>
        <p:spPr>
          <a:xfrm>
            <a:off x="1986120" y="33717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86" name="CustomShape 49"/>
          <p:cNvSpPr/>
          <p:nvPr/>
        </p:nvSpPr>
        <p:spPr>
          <a:xfrm>
            <a:off x="1986120" y="34513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87" name="CustomShape 50"/>
          <p:cNvSpPr/>
          <p:nvPr/>
        </p:nvSpPr>
        <p:spPr>
          <a:xfrm>
            <a:off x="1986120" y="35305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88" name="CustomShape 51"/>
          <p:cNvSpPr/>
          <p:nvPr/>
        </p:nvSpPr>
        <p:spPr>
          <a:xfrm>
            <a:off x="1986120" y="361152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89" name="CustomShape 52"/>
          <p:cNvSpPr/>
          <p:nvPr/>
        </p:nvSpPr>
        <p:spPr>
          <a:xfrm>
            <a:off x="1986120" y="369108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90" name="CustomShape 53"/>
          <p:cNvSpPr/>
          <p:nvPr/>
        </p:nvSpPr>
        <p:spPr>
          <a:xfrm>
            <a:off x="1986120" y="37656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91" name="CustomShape 54"/>
          <p:cNvSpPr/>
          <p:nvPr/>
        </p:nvSpPr>
        <p:spPr>
          <a:xfrm>
            <a:off x="1986120" y="38448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92" name="CustomShape 55"/>
          <p:cNvSpPr/>
          <p:nvPr/>
        </p:nvSpPr>
        <p:spPr>
          <a:xfrm>
            <a:off x="1986120" y="39243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93" name="CustomShape 56"/>
          <p:cNvSpPr/>
          <p:nvPr/>
        </p:nvSpPr>
        <p:spPr>
          <a:xfrm>
            <a:off x="1986120" y="40035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94" name="CustomShape 57"/>
          <p:cNvSpPr/>
          <p:nvPr/>
        </p:nvSpPr>
        <p:spPr>
          <a:xfrm>
            <a:off x="1986120" y="40831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95" name="CustomShape 58"/>
          <p:cNvSpPr/>
          <p:nvPr/>
        </p:nvSpPr>
        <p:spPr>
          <a:xfrm>
            <a:off x="1986120" y="41623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96" name="CustomShape 59"/>
          <p:cNvSpPr/>
          <p:nvPr/>
        </p:nvSpPr>
        <p:spPr>
          <a:xfrm>
            <a:off x="1986120" y="423864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97" name="CustomShape 60"/>
          <p:cNvSpPr/>
          <p:nvPr/>
        </p:nvSpPr>
        <p:spPr>
          <a:xfrm>
            <a:off x="1986120" y="431784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98" name="CustomShape 61"/>
          <p:cNvSpPr/>
          <p:nvPr/>
        </p:nvSpPr>
        <p:spPr>
          <a:xfrm>
            <a:off x="1986120" y="43974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299" name="CustomShape 62"/>
          <p:cNvSpPr/>
          <p:nvPr/>
        </p:nvSpPr>
        <p:spPr>
          <a:xfrm>
            <a:off x="1986120" y="45561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00" name="CustomShape 63"/>
          <p:cNvSpPr/>
          <p:nvPr/>
        </p:nvSpPr>
        <p:spPr>
          <a:xfrm>
            <a:off x="1986120" y="46353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01" name="CustomShape 64"/>
          <p:cNvSpPr/>
          <p:nvPr/>
        </p:nvSpPr>
        <p:spPr>
          <a:xfrm>
            <a:off x="1986120" y="47102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02" name="CustomShape 65"/>
          <p:cNvSpPr/>
          <p:nvPr/>
        </p:nvSpPr>
        <p:spPr>
          <a:xfrm>
            <a:off x="1986120" y="47894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03" name="CustomShape 66"/>
          <p:cNvSpPr/>
          <p:nvPr/>
        </p:nvSpPr>
        <p:spPr>
          <a:xfrm>
            <a:off x="1986120" y="48690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04" name="CustomShape 67"/>
          <p:cNvSpPr/>
          <p:nvPr/>
        </p:nvSpPr>
        <p:spPr>
          <a:xfrm>
            <a:off x="2463840" y="313848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05" name="CustomShape 68"/>
          <p:cNvSpPr/>
          <p:nvPr/>
        </p:nvSpPr>
        <p:spPr>
          <a:xfrm>
            <a:off x="2463840" y="32180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06" name="CustomShape 69"/>
          <p:cNvSpPr/>
          <p:nvPr/>
        </p:nvSpPr>
        <p:spPr>
          <a:xfrm>
            <a:off x="2463840" y="32925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07" name="CustomShape 70"/>
          <p:cNvSpPr/>
          <p:nvPr/>
        </p:nvSpPr>
        <p:spPr>
          <a:xfrm>
            <a:off x="2463840" y="33717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08" name="CustomShape 71"/>
          <p:cNvSpPr/>
          <p:nvPr/>
        </p:nvSpPr>
        <p:spPr>
          <a:xfrm>
            <a:off x="2463840" y="34513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09" name="CustomShape 72"/>
          <p:cNvSpPr/>
          <p:nvPr/>
        </p:nvSpPr>
        <p:spPr>
          <a:xfrm>
            <a:off x="2463840" y="35305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10" name="CustomShape 73"/>
          <p:cNvSpPr/>
          <p:nvPr/>
        </p:nvSpPr>
        <p:spPr>
          <a:xfrm>
            <a:off x="2463840" y="361152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11" name="CustomShape 74"/>
          <p:cNvSpPr/>
          <p:nvPr/>
        </p:nvSpPr>
        <p:spPr>
          <a:xfrm>
            <a:off x="2463840" y="369108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12" name="CustomShape 75"/>
          <p:cNvSpPr/>
          <p:nvPr/>
        </p:nvSpPr>
        <p:spPr>
          <a:xfrm>
            <a:off x="2463840" y="37656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13" name="CustomShape 76"/>
          <p:cNvSpPr/>
          <p:nvPr/>
        </p:nvSpPr>
        <p:spPr>
          <a:xfrm>
            <a:off x="2463840" y="38448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14" name="CustomShape 77"/>
          <p:cNvSpPr/>
          <p:nvPr/>
        </p:nvSpPr>
        <p:spPr>
          <a:xfrm>
            <a:off x="2463840" y="39243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15" name="CustomShape 78"/>
          <p:cNvSpPr/>
          <p:nvPr/>
        </p:nvSpPr>
        <p:spPr>
          <a:xfrm>
            <a:off x="2463840" y="40035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16" name="CustomShape 79"/>
          <p:cNvSpPr/>
          <p:nvPr/>
        </p:nvSpPr>
        <p:spPr>
          <a:xfrm>
            <a:off x="2463840" y="40831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17" name="CustomShape 80"/>
          <p:cNvSpPr/>
          <p:nvPr/>
        </p:nvSpPr>
        <p:spPr>
          <a:xfrm>
            <a:off x="2463840" y="41623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18" name="CustomShape 81"/>
          <p:cNvSpPr/>
          <p:nvPr/>
        </p:nvSpPr>
        <p:spPr>
          <a:xfrm>
            <a:off x="2463840" y="423864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19" name="CustomShape 82"/>
          <p:cNvSpPr/>
          <p:nvPr/>
        </p:nvSpPr>
        <p:spPr>
          <a:xfrm>
            <a:off x="2463840" y="431784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20" name="CustomShape 83"/>
          <p:cNvSpPr/>
          <p:nvPr/>
        </p:nvSpPr>
        <p:spPr>
          <a:xfrm>
            <a:off x="2463840" y="43974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21" name="CustomShape 84"/>
          <p:cNvSpPr/>
          <p:nvPr/>
        </p:nvSpPr>
        <p:spPr>
          <a:xfrm>
            <a:off x="2463840" y="44766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22" name="CustomShape 85"/>
          <p:cNvSpPr/>
          <p:nvPr/>
        </p:nvSpPr>
        <p:spPr>
          <a:xfrm>
            <a:off x="2463840" y="45561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23" name="CustomShape 86"/>
          <p:cNvSpPr/>
          <p:nvPr/>
        </p:nvSpPr>
        <p:spPr>
          <a:xfrm>
            <a:off x="2463840" y="46353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24" name="CustomShape 87"/>
          <p:cNvSpPr/>
          <p:nvPr/>
        </p:nvSpPr>
        <p:spPr>
          <a:xfrm>
            <a:off x="2463840" y="47102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25" name="CustomShape 88"/>
          <p:cNvSpPr/>
          <p:nvPr/>
        </p:nvSpPr>
        <p:spPr>
          <a:xfrm>
            <a:off x="2463840" y="47894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26" name="CustomShape 89"/>
          <p:cNvSpPr/>
          <p:nvPr/>
        </p:nvSpPr>
        <p:spPr>
          <a:xfrm>
            <a:off x="2463840" y="48690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27" name="CustomShape 90"/>
          <p:cNvSpPr/>
          <p:nvPr/>
        </p:nvSpPr>
        <p:spPr>
          <a:xfrm>
            <a:off x="2936880" y="369108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28" name="CustomShape 91"/>
          <p:cNvSpPr/>
          <p:nvPr/>
        </p:nvSpPr>
        <p:spPr>
          <a:xfrm>
            <a:off x="2936880" y="37656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29" name="CustomShape 92"/>
          <p:cNvSpPr/>
          <p:nvPr/>
        </p:nvSpPr>
        <p:spPr>
          <a:xfrm>
            <a:off x="2936880" y="38448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30" name="CustomShape 93"/>
          <p:cNvSpPr/>
          <p:nvPr/>
        </p:nvSpPr>
        <p:spPr>
          <a:xfrm>
            <a:off x="2936880" y="39243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31" name="CustomShape 94"/>
          <p:cNvSpPr/>
          <p:nvPr/>
        </p:nvSpPr>
        <p:spPr>
          <a:xfrm>
            <a:off x="2936880" y="40035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32" name="CustomShape 95"/>
          <p:cNvSpPr/>
          <p:nvPr/>
        </p:nvSpPr>
        <p:spPr>
          <a:xfrm>
            <a:off x="2936880" y="40831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33" name="CustomShape 96"/>
          <p:cNvSpPr/>
          <p:nvPr/>
        </p:nvSpPr>
        <p:spPr>
          <a:xfrm>
            <a:off x="2936880" y="41623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34" name="CustomShape 97"/>
          <p:cNvSpPr/>
          <p:nvPr/>
        </p:nvSpPr>
        <p:spPr>
          <a:xfrm>
            <a:off x="2936880" y="423864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35" name="CustomShape 98"/>
          <p:cNvSpPr/>
          <p:nvPr/>
        </p:nvSpPr>
        <p:spPr>
          <a:xfrm>
            <a:off x="2936880" y="431784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36" name="CustomShape 99"/>
          <p:cNvSpPr/>
          <p:nvPr/>
        </p:nvSpPr>
        <p:spPr>
          <a:xfrm>
            <a:off x="2936880" y="43974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37" name="CustomShape 100"/>
          <p:cNvSpPr/>
          <p:nvPr/>
        </p:nvSpPr>
        <p:spPr>
          <a:xfrm>
            <a:off x="2936880" y="45561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38" name="CustomShape 101"/>
          <p:cNvSpPr/>
          <p:nvPr/>
        </p:nvSpPr>
        <p:spPr>
          <a:xfrm>
            <a:off x="2936880" y="46353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39" name="CustomShape 102"/>
          <p:cNvSpPr/>
          <p:nvPr/>
        </p:nvSpPr>
        <p:spPr>
          <a:xfrm>
            <a:off x="2936880" y="47102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40" name="CustomShape 103"/>
          <p:cNvSpPr/>
          <p:nvPr/>
        </p:nvSpPr>
        <p:spPr>
          <a:xfrm>
            <a:off x="2936880" y="47894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41" name="CustomShape 104"/>
          <p:cNvSpPr/>
          <p:nvPr/>
        </p:nvSpPr>
        <p:spPr>
          <a:xfrm>
            <a:off x="2936880" y="48690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42" name="CustomShape 105"/>
          <p:cNvSpPr/>
          <p:nvPr/>
        </p:nvSpPr>
        <p:spPr>
          <a:xfrm>
            <a:off x="3405240" y="45561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43" name="CustomShape 106"/>
          <p:cNvSpPr/>
          <p:nvPr/>
        </p:nvSpPr>
        <p:spPr>
          <a:xfrm>
            <a:off x="3405240" y="46353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44" name="CustomShape 107"/>
          <p:cNvSpPr/>
          <p:nvPr/>
        </p:nvSpPr>
        <p:spPr>
          <a:xfrm>
            <a:off x="3405240" y="47102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45" name="CustomShape 108"/>
          <p:cNvSpPr/>
          <p:nvPr/>
        </p:nvSpPr>
        <p:spPr>
          <a:xfrm>
            <a:off x="3405240" y="47894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46" name="CustomShape 109"/>
          <p:cNvSpPr/>
          <p:nvPr/>
        </p:nvSpPr>
        <p:spPr>
          <a:xfrm>
            <a:off x="3405240" y="48690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47" name="CustomShape 110"/>
          <p:cNvSpPr/>
          <p:nvPr/>
        </p:nvSpPr>
        <p:spPr>
          <a:xfrm>
            <a:off x="1692360" y="4476600"/>
            <a:ext cx="1692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48" name="CustomShape 111"/>
          <p:cNvSpPr/>
          <p:nvPr/>
        </p:nvSpPr>
        <p:spPr>
          <a:xfrm>
            <a:off x="1776240" y="4476600"/>
            <a:ext cx="1692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49" name="CustomShape 112"/>
          <p:cNvSpPr/>
          <p:nvPr/>
        </p:nvSpPr>
        <p:spPr>
          <a:xfrm>
            <a:off x="1860480" y="4476600"/>
            <a:ext cx="1692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50" name="CustomShape 113"/>
          <p:cNvSpPr/>
          <p:nvPr/>
        </p:nvSpPr>
        <p:spPr>
          <a:xfrm>
            <a:off x="1949400" y="44766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51" name="CustomShape 114"/>
          <p:cNvSpPr/>
          <p:nvPr/>
        </p:nvSpPr>
        <p:spPr>
          <a:xfrm>
            <a:off x="2033640" y="44766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52" name="CustomShape 115"/>
          <p:cNvSpPr/>
          <p:nvPr/>
        </p:nvSpPr>
        <p:spPr>
          <a:xfrm>
            <a:off x="2122560" y="44766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53" name="CustomShape 116"/>
          <p:cNvSpPr/>
          <p:nvPr/>
        </p:nvSpPr>
        <p:spPr>
          <a:xfrm>
            <a:off x="2206800" y="44766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54" name="CustomShape 117"/>
          <p:cNvSpPr/>
          <p:nvPr/>
        </p:nvSpPr>
        <p:spPr>
          <a:xfrm>
            <a:off x="2290680" y="44766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55" name="CustomShape 118"/>
          <p:cNvSpPr/>
          <p:nvPr/>
        </p:nvSpPr>
        <p:spPr>
          <a:xfrm>
            <a:off x="2379600" y="44766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56" name="CustomShape 119"/>
          <p:cNvSpPr/>
          <p:nvPr/>
        </p:nvSpPr>
        <p:spPr>
          <a:xfrm>
            <a:off x="2548080" y="44766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57" name="CustomShape 120"/>
          <p:cNvSpPr/>
          <p:nvPr/>
        </p:nvSpPr>
        <p:spPr>
          <a:xfrm>
            <a:off x="2637000" y="44766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58" name="CustomShape 121"/>
          <p:cNvSpPr/>
          <p:nvPr/>
        </p:nvSpPr>
        <p:spPr>
          <a:xfrm>
            <a:off x="2720880" y="44766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59" name="CustomShape 122"/>
          <p:cNvSpPr/>
          <p:nvPr/>
        </p:nvSpPr>
        <p:spPr>
          <a:xfrm>
            <a:off x="2805120" y="44766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60" name="CustomShape 123"/>
          <p:cNvSpPr/>
          <p:nvPr/>
        </p:nvSpPr>
        <p:spPr>
          <a:xfrm>
            <a:off x="2894040" y="44766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61" name="CustomShape 124"/>
          <p:cNvSpPr/>
          <p:nvPr/>
        </p:nvSpPr>
        <p:spPr>
          <a:xfrm>
            <a:off x="1692360" y="3648240"/>
            <a:ext cx="1692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62" name="CustomShape 125"/>
          <p:cNvSpPr/>
          <p:nvPr/>
        </p:nvSpPr>
        <p:spPr>
          <a:xfrm>
            <a:off x="1776240" y="3648240"/>
            <a:ext cx="1692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63" name="CustomShape 126"/>
          <p:cNvSpPr/>
          <p:nvPr/>
        </p:nvSpPr>
        <p:spPr>
          <a:xfrm>
            <a:off x="1860480" y="3648240"/>
            <a:ext cx="1692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64" name="CustomShape 127"/>
          <p:cNvSpPr/>
          <p:nvPr/>
        </p:nvSpPr>
        <p:spPr>
          <a:xfrm>
            <a:off x="1949400" y="36482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65" name="CustomShape 128"/>
          <p:cNvSpPr/>
          <p:nvPr/>
        </p:nvSpPr>
        <p:spPr>
          <a:xfrm>
            <a:off x="2033640" y="36482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66" name="CustomShape 129"/>
          <p:cNvSpPr/>
          <p:nvPr/>
        </p:nvSpPr>
        <p:spPr>
          <a:xfrm>
            <a:off x="2122560" y="36482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67" name="CustomShape 130"/>
          <p:cNvSpPr/>
          <p:nvPr/>
        </p:nvSpPr>
        <p:spPr>
          <a:xfrm>
            <a:off x="2206800" y="36482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68" name="CustomShape 131"/>
          <p:cNvSpPr/>
          <p:nvPr/>
        </p:nvSpPr>
        <p:spPr>
          <a:xfrm>
            <a:off x="2290680" y="36482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69" name="CustomShape 132"/>
          <p:cNvSpPr/>
          <p:nvPr/>
        </p:nvSpPr>
        <p:spPr>
          <a:xfrm>
            <a:off x="2379600" y="36482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70" name="CustomShape 133"/>
          <p:cNvSpPr/>
          <p:nvPr/>
        </p:nvSpPr>
        <p:spPr>
          <a:xfrm>
            <a:off x="1692360" y="3095640"/>
            <a:ext cx="1692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71" name="CustomShape 134"/>
          <p:cNvSpPr/>
          <p:nvPr/>
        </p:nvSpPr>
        <p:spPr>
          <a:xfrm>
            <a:off x="1776240" y="3095640"/>
            <a:ext cx="1692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72" name="CustomShape 135"/>
          <p:cNvSpPr/>
          <p:nvPr/>
        </p:nvSpPr>
        <p:spPr>
          <a:xfrm>
            <a:off x="1860480" y="3095640"/>
            <a:ext cx="1692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73" name="CustomShape 136"/>
          <p:cNvSpPr/>
          <p:nvPr/>
        </p:nvSpPr>
        <p:spPr>
          <a:xfrm>
            <a:off x="1949400" y="30956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74" name="CustomShape 137"/>
          <p:cNvSpPr/>
          <p:nvPr/>
        </p:nvSpPr>
        <p:spPr>
          <a:xfrm>
            <a:off x="1692360" y="2543040"/>
            <a:ext cx="1692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75" name="CustomShape 138"/>
          <p:cNvSpPr/>
          <p:nvPr/>
        </p:nvSpPr>
        <p:spPr>
          <a:xfrm>
            <a:off x="1776240" y="2543040"/>
            <a:ext cx="1692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76" name="CustomShape 139"/>
          <p:cNvSpPr/>
          <p:nvPr/>
        </p:nvSpPr>
        <p:spPr>
          <a:xfrm>
            <a:off x="1860480" y="2543040"/>
            <a:ext cx="1692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77" name="CustomShape 140"/>
          <p:cNvSpPr/>
          <p:nvPr/>
        </p:nvSpPr>
        <p:spPr>
          <a:xfrm>
            <a:off x="1949400" y="25430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78" name="CustomShape 141"/>
          <p:cNvSpPr/>
          <p:nvPr/>
        </p:nvSpPr>
        <p:spPr>
          <a:xfrm>
            <a:off x="2033640" y="30956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79" name="CustomShape 142"/>
          <p:cNvSpPr/>
          <p:nvPr/>
        </p:nvSpPr>
        <p:spPr>
          <a:xfrm>
            <a:off x="2122560" y="30956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80" name="CustomShape 143"/>
          <p:cNvSpPr/>
          <p:nvPr/>
        </p:nvSpPr>
        <p:spPr>
          <a:xfrm>
            <a:off x="2206800" y="30956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81" name="CustomShape 144"/>
          <p:cNvSpPr/>
          <p:nvPr/>
        </p:nvSpPr>
        <p:spPr>
          <a:xfrm>
            <a:off x="2290680" y="30956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82" name="CustomShape 145"/>
          <p:cNvSpPr/>
          <p:nvPr/>
        </p:nvSpPr>
        <p:spPr>
          <a:xfrm>
            <a:off x="2379600" y="30956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83" name="CustomShape 146"/>
          <p:cNvSpPr/>
          <p:nvPr/>
        </p:nvSpPr>
        <p:spPr>
          <a:xfrm>
            <a:off x="2548080" y="36482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84" name="CustomShape 147"/>
          <p:cNvSpPr/>
          <p:nvPr/>
        </p:nvSpPr>
        <p:spPr>
          <a:xfrm>
            <a:off x="2637000" y="36482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85" name="CustomShape 148"/>
          <p:cNvSpPr/>
          <p:nvPr/>
        </p:nvSpPr>
        <p:spPr>
          <a:xfrm>
            <a:off x="2720880" y="36482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86" name="CustomShape 149"/>
          <p:cNvSpPr/>
          <p:nvPr/>
        </p:nvSpPr>
        <p:spPr>
          <a:xfrm>
            <a:off x="2805120" y="36482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87" name="CustomShape 150"/>
          <p:cNvSpPr/>
          <p:nvPr/>
        </p:nvSpPr>
        <p:spPr>
          <a:xfrm>
            <a:off x="2894040" y="36482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88" name="CustomShape 151"/>
          <p:cNvSpPr/>
          <p:nvPr/>
        </p:nvSpPr>
        <p:spPr>
          <a:xfrm>
            <a:off x="2978280" y="44766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89" name="CustomShape 152"/>
          <p:cNvSpPr/>
          <p:nvPr/>
        </p:nvSpPr>
        <p:spPr>
          <a:xfrm>
            <a:off x="3067200" y="44766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90" name="CustomShape 153"/>
          <p:cNvSpPr/>
          <p:nvPr/>
        </p:nvSpPr>
        <p:spPr>
          <a:xfrm>
            <a:off x="3151080" y="44766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91" name="CustomShape 154"/>
          <p:cNvSpPr/>
          <p:nvPr/>
        </p:nvSpPr>
        <p:spPr>
          <a:xfrm>
            <a:off x="3236760" y="4476600"/>
            <a:ext cx="1692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92" name="CustomShape 155"/>
          <p:cNvSpPr/>
          <p:nvPr/>
        </p:nvSpPr>
        <p:spPr>
          <a:xfrm>
            <a:off x="3325680" y="4476600"/>
            <a:ext cx="1692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393" name="CustomShape 156"/>
          <p:cNvSpPr/>
          <p:nvPr/>
        </p:nvSpPr>
        <p:spPr>
          <a:xfrm>
            <a:off x="1999800" y="1600200"/>
            <a:ext cx="64944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Aleisha</a:t>
            </a:r>
            <a:endParaRPr lang="en-US" sz="1800" strike="noStrike" spc="-1">
              <a:solidFill>
                <a:srgbClr val="000000"/>
              </a:solidFill>
              <a:uFill>
                <a:solidFill>
                  <a:srgbClr val="FFFFFF"/>
                </a:solidFill>
              </a:uFill>
              <a:latin typeface="Arial"/>
            </a:endParaRPr>
          </a:p>
        </p:txBody>
      </p:sp>
      <p:sp>
        <p:nvSpPr>
          <p:cNvPr id="394" name="CustomShape 157"/>
          <p:cNvSpPr/>
          <p:nvPr/>
        </p:nvSpPr>
        <p:spPr>
          <a:xfrm>
            <a:off x="2523600" y="2395440"/>
            <a:ext cx="4194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Brad</a:t>
            </a:r>
            <a:endParaRPr lang="en-US" sz="1800" strike="noStrike" spc="-1">
              <a:solidFill>
                <a:srgbClr val="000000"/>
              </a:solidFill>
              <a:uFill>
                <a:solidFill>
                  <a:srgbClr val="FFFFFF"/>
                </a:solidFill>
              </a:uFill>
              <a:latin typeface="Arial"/>
            </a:endParaRPr>
          </a:p>
        </p:txBody>
      </p:sp>
      <p:sp>
        <p:nvSpPr>
          <p:cNvPr id="395" name="CustomShape 158"/>
          <p:cNvSpPr/>
          <p:nvPr/>
        </p:nvSpPr>
        <p:spPr>
          <a:xfrm>
            <a:off x="2993400" y="2962440"/>
            <a:ext cx="672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Claudia</a:t>
            </a:r>
            <a:endParaRPr lang="en-US" sz="1800" strike="noStrike" spc="-1">
              <a:solidFill>
                <a:srgbClr val="000000"/>
              </a:solidFill>
              <a:uFill>
                <a:solidFill>
                  <a:srgbClr val="FFFFFF"/>
                </a:solidFill>
              </a:uFill>
              <a:latin typeface="Arial"/>
            </a:endParaRPr>
          </a:p>
        </p:txBody>
      </p:sp>
      <p:sp>
        <p:nvSpPr>
          <p:cNvPr id="396" name="CustomShape 159"/>
          <p:cNvSpPr/>
          <p:nvPr/>
        </p:nvSpPr>
        <p:spPr>
          <a:xfrm>
            <a:off x="3476880" y="3530520"/>
            <a:ext cx="60984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Darren</a:t>
            </a:r>
            <a:endParaRPr lang="en-US" sz="1800" strike="noStrike" spc="-1">
              <a:solidFill>
                <a:srgbClr val="000000"/>
              </a:solidFill>
              <a:uFill>
                <a:solidFill>
                  <a:srgbClr val="FFFFFF"/>
                </a:solidFill>
              </a:uFill>
              <a:latin typeface="Arial"/>
            </a:endParaRPr>
          </a:p>
        </p:txBody>
      </p:sp>
      <p:sp>
        <p:nvSpPr>
          <p:cNvPr id="397" name="CustomShape 160"/>
          <p:cNvSpPr/>
          <p:nvPr/>
        </p:nvSpPr>
        <p:spPr>
          <a:xfrm>
            <a:off x="3960000" y="4381560"/>
            <a:ext cx="64656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Edwina</a:t>
            </a:r>
            <a:endParaRPr lang="en-US" sz="1800" strike="noStrike" spc="-1">
              <a:solidFill>
                <a:srgbClr val="000000"/>
              </a:solidFill>
              <a:uFill>
                <a:solidFill>
                  <a:srgbClr val="FFFFFF"/>
                </a:solidFill>
              </a:uFill>
              <a:latin typeface="Arial"/>
            </a:endParaRPr>
          </a:p>
        </p:txBody>
      </p:sp>
      <p:sp>
        <p:nvSpPr>
          <p:cNvPr id="398" name="CustomShape 161"/>
          <p:cNvSpPr/>
          <p:nvPr/>
        </p:nvSpPr>
        <p:spPr>
          <a:xfrm>
            <a:off x="762120" y="1143000"/>
            <a:ext cx="913680" cy="4255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Calibri"/>
                <a:ea typeface="MS PGothic"/>
              </a:rPr>
              <a:t>Price of book</a:t>
            </a:r>
            <a:endParaRPr lang="en-US" sz="1800" strike="noStrike" spc="-1">
              <a:solidFill>
                <a:srgbClr val="000000"/>
              </a:solidFill>
              <a:uFill>
                <a:solidFill>
                  <a:srgbClr val="FFFFFF"/>
                </a:solidFill>
              </a:uFill>
              <a:latin typeface="Arial"/>
            </a:endParaRPr>
          </a:p>
        </p:txBody>
      </p:sp>
      <p:sp>
        <p:nvSpPr>
          <p:cNvPr id="399" name="CustomShape 162"/>
          <p:cNvSpPr/>
          <p:nvPr/>
        </p:nvSpPr>
        <p:spPr>
          <a:xfrm>
            <a:off x="3962520" y="5164200"/>
            <a:ext cx="220896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Calibri"/>
                <a:ea typeface="MS PGothic"/>
              </a:rPr>
              <a:t>Quantity of books</a:t>
            </a:r>
            <a:endParaRPr lang="en-US" sz="1800" strike="noStrike" spc="-1">
              <a:solidFill>
                <a:srgbClr val="000000"/>
              </a:solidFill>
              <a:uFill>
                <a:solidFill>
                  <a:srgbClr val="FFFFFF"/>
                </a:solidFill>
              </a:uFill>
              <a:latin typeface="Arial"/>
            </a:endParaRPr>
          </a:p>
        </p:txBody>
      </p:sp>
      <p:sp>
        <p:nvSpPr>
          <p:cNvPr id="400" name="CustomShape 163"/>
          <p:cNvSpPr/>
          <p:nvPr/>
        </p:nvSpPr>
        <p:spPr>
          <a:xfrm>
            <a:off x="5867280" y="1676520"/>
            <a:ext cx="913680" cy="42624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Myriad Roman"/>
                <a:ea typeface="MS PGothic"/>
              </a:rPr>
              <a:t>Potential buyers</a:t>
            </a:r>
            <a:endParaRPr lang="en-US" sz="1800" strike="noStrike" spc="-1">
              <a:solidFill>
                <a:srgbClr val="000000"/>
              </a:solidFill>
              <a:uFill>
                <a:solidFill>
                  <a:srgbClr val="FFFFFF"/>
                </a:solidFill>
              </a:uFill>
              <a:latin typeface="Arial"/>
            </a:endParaRPr>
          </a:p>
        </p:txBody>
      </p:sp>
      <p:sp>
        <p:nvSpPr>
          <p:cNvPr id="401" name="CustomShape 164"/>
          <p:cNvSpPr/>
          <p:nvPr/>
        </p:nvSpPr>
        <p:spPr>
          <a:xfrm>
            <a:off x="7238880" y="1676520"/>
            <a:ext cx="1004040" cy="42624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Myriad Roman"/>
                <a:ea typeface="MS PGothic"/>
              </a:rPr>
              <a:t>Willingness to pay</a:t>
            </a:r>
            <a:endParaRPr lang="en-US" sz="1800" strike="noStrike" spc="-1">
              <a:solidFill>
                <a:srgbClr val="000000"/>
              </a:solidFill>
              <a:uFill>
                <a:solidFill>
                  <a:srgbClr val="FFFFFF"/>
                </a:solidFill>
              </a:uFill>
              <a:latin typeface="Arial"/>
            </a:endParaRPr>
          </a:p>
        </p:txBody>
      </p:sp>
      <p:sp>
        <p:nvSpPr>
          <p:cNvPr id="402" name="CustomShape 165"/>
          <p:cNvSpPr/>
          <p:nvPr/>
        </p:nvSpPr>
        <p:spPr>
          <a:xfrm>
            <a:off x="5981400" y="2192400"/>
            <a:ext cx="64944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Aleisha</a:t>
            </a:r>
            <a:endParaRPr lang="en-US" sz="1800" strike="noStrike" spc="-1">
              <a:solidFill>
                <a:srgbClr val="000000"/>
              </a:solidFill>
              <a:uFill>
                <a:solidFill>
                  <a:srgbClr val="FFFFFF"/>
                </a:solidFill>
              </a:uFill>
              <a:latin typeface="Arial"/>
            </a:endParaRPr>
          </a:p>
        </p:txBody>
      </p:sp>
      <p:sp>
        <p:nvSpPr>
          <p:cNvPr id="403" name="CustomShape 166"/>
          <p:cNvSpPr/>
          <p:nvPr/>
        </p:nvSpPr>
        <p:spPr>
          <a:xfrm>
            <a:off x="6003360" y="2438280"/>
            <a:ext cx="4194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Brad</a:t>
            </a:r>
            <a:endParaRPr lang="en-US" sz="1800" strike="noStrike" spc="-1">
              <a:solidFill>
                <a:srgbClr val="000000"/>
              </a:solidFill>
              <a:uFill>
                <a:solidFill>
                  <a:srgbClr val="FFFFFF"/>
                </a:solidFill>
              </a:uFill>
              <a:latin typeface="Arial"/>
            </a:endParaRPr>
          </a:p>
        </p:txBody>
      </p:sp>
      <p:sp>
        <p:nvSpPr>
          <p:cNvPr id="404" name="CustomShape 167"/>
          <p:cNvSpPr/>
          <p:nvPr/>
        </p:nvSpPr>
        <p:spPr>
          <a:xfrm>
            <a:off x="5984280" y="2743200"/>
            <a:ext cx="672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Claudia</a:t>
            </a:r>
            <a:endParaRPr lang="en-US" sz="1800" strike="noStrike" spc="-1">
              <a:solidFill>
                <a:srgbClr val="000000"/>
              </a:solidFill>
              <a:uFill>
                <a:solidFill>
                  <a:srgbClr val="FFFFFF"/>
                </a:solidFill>
              </a:uFill>
              <a:latin typeface="Arial"/>
            </a:endParaRPr>
          </a:p>
        </p:txBody>
      </p:sp>
      <p:sp>
        <p:nvSpPr>
          <p:cNvPr id="405" name="CustomShape 168"/>
          <p:cNvSpPr/>
          <p:nvPr/>
        </p:nvSpPr>
        <p:spPr>
          <a:xfrm>
            <a:off x="5985360" y="3030480"/>
            <a:ext cx="60984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Darren</a:t>
            </a:r>
            <a:endParaRPr lang="en-US" sz="1800" strike="noStrike" spc="-1">
              <a:solidFill>
                <a:srgbClr val="000000"/>
              </a:solidFill>
              <a:uFill>
                <a:solidFill>
                  <a:srgbClr val="FFFFFF"/>
                </a:solidFill>
              </a:uFill>
              <a:latin typeface="Arial"/>
            </a:endParaRPr>
          </a:p>
        </p:txBody>
      </p:sp>
      <p:sp>
        <p:nvSpPr>
          <p:cNvPr id="406" name="CustomShape 169"/>
          <p:cNvSpPr/>
          <p:nvPr/>
        </p:nvSpPr>
        <p:spPr>
          <a:xfrm>
            <a:off x="5987520" y="3276720"/>
            <a:ext cx="64656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Edwina</a:t>
            </a:r>
            <a:endParaRPr lang="en-US" sz="1800" strike="noStrike" spc="-1">
              <a:solidFill>
                <a:srgbClr val="000000"/>
              </a:solidFill>
              <a:uFill>
                <a:solidFill>
                  <a:srgbClr val="FFFFFF"/>
                </a:solidFill>
              </a:uFill>
              <a:latin typeface="Arial"/>
            </a:endParaRPr>
          </a:p>
        </p:txBody>
      </p:sp>
      <p:sp>
        <p:nvSpPr>
          <p:cNvPr id="407" name="CustomShape 170"/>
          <p:cNvSpPr/>
          <p:nvPr/>
        </p:nvSpPr>
        <p:spPr>
          <a:xfrm>
            <a:off x="152280" y="152280"/>
            <a:ext cx="8838360" cy="5774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1440" indent="-720">
              <a:lnSpc>
                <a:spcPct val="100000"/>
              </a:lnSpc>
            </a:pPr>
            <a:r>
              <a:rPr lang="en-US" sz="3200" b="1" strike="noStrike" spc="-1">
                <a:solidFill>
                  <a:srgbClr val="1F497D"/>
                </a:solidFill>
                <a:uFill>
                  <a:solidFill>
                    <a:srgbClr val="FFFFFF"/>
                  </a:solidFill>
                </a:uFill>
                <a:latin typeface="Tahoma"/>
                <a:ea typeface="MS PGothic"/>
              </a:rPr>
              <a:t> </a:t>
            </a:r>
            <a:endParaRPr lang="en-US" sz="1800" strike="noStrike" spc="-1">
              <a:solidFill>
                <a:srgbClr val="000000"/>
              </a:solidFill>
              <a:uFill>
                <a:solidFill>
                  <a:srgbClr val="FFFFFF"/>
                </a:solidFill>
              </a:uFill>
              <a:latin typeface="Arial"/>
            </a:endParaRPr>
          </a:p>
        </p:txBody>
      </p:sp>
      <p:sp>
        <p:nvSpPr>
          <p:cNvPr id="408" name="CustomShape 171"/>
          <p:cNvSpPr/>
          <p:nvPr/>
        </p:nvSpPr>
        <p:spPr>
          <a:xfrm>
            <a:off x="5651640" y="3645000"/>
            <a:ext cx="2818800" cy="1294560"/>
          </a:xfrm>
          <a:prstGeom prst="rect">
            <a:avLst/>
          </a:prstGeom>
          <a:solidFill>
            <a:schemeClr val="accent5">
              <a:lumMod val="20000"/>
              <a:lumOff val="80000"/>
            </a:schemeClr>
          </a:solidFill>
          <a:ln w="12600">
            <a:noFill/>
          </a:ln>
        </p:spPr>
        <p:style>
          <a:lnRef idx="0">
            <a:scrgbClr r="0" g="0" b="0"/>
          </a:lnRef>
          <a:fillRef idx="0">
            <a:scrgbClr r="0" g="0" b="0"/>
          </a:fillRef>
          <a:effectRef idx="0">
            <a:scrgbClr r="0" g="0" b="0"/>
          </a:effectRef>
          <a:fontRef idx="minor"/>
        </p:style>
        <p:txBody>
          <a:bodyPr lIns="90000" tIns="45000" rIns="90000" bIns="45000"/>
          <a:lstStyle/>
          <a:p>
            <a:pPr marL="1440" indent="-720" algn="ctr">
              <a:lnSpc>
                <a:spcPct val="100000"/>
              </a:lnSpc>
            </a:pPr>
            <a:r>
              <a:rPr lang="en-US" sz="1800" strike="noStrike" spc="-1">
                <a:solidFill>
                  <a:srgbClr val="000000"/>
                </a:solidFill>
                <a:uFill>
                  <a:solidFill>
                    <a:srgbClr val="FFFFFF"/>
                  </a:solidFill>
                </a:uFill>
                <a:latin typeface="Calibri"/>
                <a:ea typeface="MS PGothic"/>
              </a:rPr>
              <a:t>A consumer’s willingness to pay for a good is the maximum price at which he or she would buy that good.</a:t>
            </a:r>
            <a:endParaRPr lang="en-US" sz="1800" strike="noStrike" spc="-1">
              <a:solidFill>
                <a:srgbClr val="000000"/>
              </a:solidFill>
              <a:uFill>
                <a:solidFill>
                  <a:srgbClr val="FFFFFF"/>
                </a:solidFill>
              </a:uFill>
              <a:latin typeface="Arial"/>
            </a:endParaRPr>
          </a:p>
        </p:txBody>
      </p:sp>
      <p:sp>
        <p:nvSpPr>
          <p:cNvPr id="409" name="CustomShape 172"/>
          <p:cNvSpPr/>
          <p:nvPr/>
        </p:nvSpPr>
        <p:spPr>
          <a:xfrm>
            <a:off x="971640" y="60480"/>
            <a:ext cx="794304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The Demand Curve for Used Textbooks</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08"/>
                                        </p:tgtEl>
                                        <p:attrNameLst>
                                          <p:attrName>style.visibility</p:attrName>
                                        </p:attrNameLst>
                                      </p:cBhvr>
                                      <p:to>
                                        <p:strVal val="visible"/>
                                      </p:to>
                                    </p:set>
                                    <p:animEffect transition="in" filter="wipe(left)">
                                      <p:cBhvr additive="repl">
                                        <p:cTn id="7" dur="500"/>
                                        <p:tgtEl>
                                          <p:spTgt spid="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CustomShape 1"/>
          <p:cNvSpPr/>
          <p:nvPr/>
        </p:nvSpPr>
        <p:spPr>
          <a:xfrm>
            <a:off x="900000" y="0"/>
            <a:ext cx="7992360" cy="608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Willingness to Pay and Consumer Surplus</a:t>
            </a:r>
            <a:endParaRPr lang="en-US" sz="1800" strike="noStrike" spc="-1">
              <a:solidFill>
                <a:srgbClr val="000000"/>
              </a:solidFill>
              <a:uFill>
                <a:solidFill>
                  <a:srgbClr val="FFFFFF"/>
                </a:solidFill>
              </a:uFill>
              <a:latin typeface="Arial"/>
            </a:endParaRPr>
          </a:p>
        </p:txBody>
      </p:sp>
      <p:sp>
        <p:nvSpPr>
          <p:cNvPr id="411" name="CustomShape 2"/>
          <p:cNvSpPr/>
          <p:nvPr/>
        </p:nvSpPr>
        <p:spPr>
          <a:xfrm>
            <a:off x="900000" y="765000"/>
            <a:ext cx="8014680" cy="54921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341280" lvl="1" indent="-219960">
              <a:lnSpc>
                <a:spcPct val="100000"/>
              </a:lnSpc>
              <a:buClr>
                <a:srgbClr val="000000"/>
              </a:buClr>
              <a:buFont typeface="Wingdings" charset="2"/>
              <a:buChar char=""/>
            </a:pPr>
            <a:r>
              <a:rPr lang="en-US" sz="2500" b="1" strike="noStrike" spc="-1">
                <a:solidFill>
                  <a:srgbClr val="000000"/>
                </a:solidFill>
                <a:uFill>
                  <a:solidFill>
                    <a:srgbClr val="FFFFFF"/>
                  </a:solidFill>
                </a:uFill>
                <a:latin typeface="Calibri"/>
                <a:ea typeface="MS PGothic"/>
              </a:rPr>
              <a:t>Total consumer surplus </a:t>
            </a:r>
            <a:r>
              <a:rPr lang="en-US" sz="2500" strike="noStrike" spc="-1">
                <a:solidFill>
                  <a:srgbClr val="000000"/>
                </a:solidFill>
                <a:uFill>
                  <a:solidFill>
                    <a:srgbClr val="FFFFFF"/>
                  </a:solidFill>
                </a:uFill>
                <a:latin typeface="Calibri"/>
                <a:ea typeface="MS PGothic"/>
              </a:rPr>
              <a:t>is the sum of the individual consumer surpluses of all the buyers of a good.</a:t>
            </a:r>
            <a:endParaRPr lang="en-US" sz="1800" strike="noStrike" spc="-1">
              <a:solidFill>
                <a:srgbClr val="000000"/>
              </a:solidFill>
              <a:uFill>
                <a:solidFill>
                  <a:srgbClr val="FFFFFF"/>
                </a:solidFill>
              </a:uFill>
              <a:latin typeface="Arial"/>
            </a:endParaRPr>
          </a:p>
          <a:p>
            <a:pPr marL="341280" lvl="1" indent="-219960">
              <a:lnSpc>
                <a:spcPct val="100000"/>
              </a:lnSpc>
              <a:buClr>
                <a:srgbClr val="000000"/>
              </a:buClr>
              <a:buFont typeface="Wingdings" charset="2"/>
              <a:buChar char=""/>
            </a:pPr>
            <a:r>
              <a:rPr lang="en-US" sz="2500" strike="noStrike" spc="-1">
                <a:solidFill>
                  <a:srgbClr val="000000"/>
                </a:solidFill>
                <a:uFill>
                  <a:solidFill>
                    <a:srgbClr val="FFFFFF"/>
                  </a:solidFill>
                </a:uFill>
                <a:latin typeface="Calibri"/>
                <a:ea typeface="MS PGothic"/>
              </a:rPr>
              <a:t>The term </a:t>
            </a:r>
            <a:r>
              <a:rPr lang="en-US" sz="2500" b="1" strike="noStrike" spc="-1">
                <a:solidFill>
                  <a:srgbClr val="000000"/>
                </a:solidFill>
                <a:uFill>
                  <a:solidFill>
                    <a:srgbClr val="FFFFFF"/>
                  </a:solidFill>
                </a:uFill>
                <a:latin typeface="Calibri"/>
                <a:ea typeface="MS PGothic"/>
              </a:rPr>
              <a:t>consumer surplus </a:t>
            </a:r>
            <a:r>
              <a:rPr lang="en-US" sz="2500" strike="noStrike" spc="-1">
                <a:solidFill>
                  <a:srgbClr val="000000"/>
                </a:solidFill>
                <a:uFill>
                  <a:solidFill>
                    <a:srgbClr val="FFFFFF"/>
                  </a:solidFill>
                </a:uFill>
                <a:latin typeface="Calibri"/>
                <a:ea typeface="MS PGothic"/>
              </a:rPr>
              <a:t>is often used to refer to both individual and total consumer surplus.</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216000" indent="6480">
              <a:lnSpc>
                <a:spcPct val="100000"/>
              </a:lnSpc>
              <a:buClr>
                <a:srgbClr val="C00000"/>
              </a:buClr>
              <a:buFont typeface="Arial"/>
              <a:buChar char="•"/>
            </a:pPr>
            <a:r>
              <a:rPr lang="en-US" sz="2500" strike="noStrike" spc="-1">
                <a:solidFill>
                  <a:srgbClr val="C00000"/>
                </a:solidFill>
                <a:uFill>
                  <a:solidFill>
                    <a:srgbClr val="FFFFFF"/>
                  </a:solidFill>
                </a:uFill>
                <a:latin typeface="Calibri"/>
                <a:ea typeface="MS PGothic"/>
              </a:rPr>
              <a:t>At any quantity</a:t>
            </a:r>
            <a:endParaRPr lang="en-US" sz="1800" strike="noStrike" spc="-1">
              <a:solidFill>
                <a:srgbClr val="000000"/>
              </a:solidFill>
              <a:uFill>
                <a:solidFill>
                  <a:srgbClr val="FFFFFF"/>
                </a:solidFill>
              </a:uFill>
              <a:latin typeface="Arial"/>
            </a:endParaRPr>
          </a:p>
          <a:p>
            <a:pPr marL="216000" indent="6480">
              <a:lnSpc>
                <a:spcPct val="100000"/>
              </a:lnSpc>
              <a:buClr>
                <a:srgbClr val="C00000"/>
              </a:buClr>
              <a:buFont typeface="Arial"/>
              <a:buChar char="•"/>
            </a:pPr>
            <a:r>
              <a:rPr lang="en-US" sz="2400" strike="noStrike" spc="-1">
                <a:solidFill>
                  <a:srgbClr val="000000"/>
                </a:solidFill>
                <a:uFill>
                  <a:solidFill>
                    <a:srgbClr val="FFFFFF"/>
                  </a:solidFill>
                </a:uFill>
                <a:latin typeface="Calibri"/>
                <a:ea typeface="MS PGothic"/>
              </a:rPr>
              <a:t>Price given by the demand curve is equal to</a:t>
            </a:r>
            <a:endParaRPr lang="en-US" sz="1800" strike="noStrike" spc="-1">
              <a:solidFill>
                <a:srgbClr val="000000"/>
              </a:solidFill>
              <a:uFill>
                <a:solidFill>
                  <a:srgbClr val="FFFFFF"/>
                </a:solidFill>
              </a:uFill>
              <a:latin typeface="Arial"/>
            </a:endParaRPr>
          </a:p>
          <a:p>
            <a:pPr marL="341280" lvl="1" indent="-21996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 Willingness to pay of the marginal buyer</a:t>
            </a:r>
            <a:endParaRPr lang="en-US" sz="1800" strike="noStrike" spc="-1">
              <a:solidFill>
                <a:srgbClr val="000000"/>
              </a:solidFill>
              <a:uFill>
                <a:solidFill>
                  <a:srgbClr val="FFFFFF"/>
                </a:solidFill>
              </a:uFill>
              <a:latin typeface="Arial"/>
            </a:endParaRPr>
          </a:p>
          <a:p>
            <a:pPr marL="216000" indent="6480">
              <a:lnSpc>
                <a:spcPct val="100000"/>
              </a:lnSpc>
              <a:buClr>
                <a:srgbClr val="C00000"/>
              </a:buClr>
              <a:buFont typeface="Arial"/>
              <a:buChar char="•"/>
            </a:pPr>
            <a:r>
              <a:rPr lang="en-US" sz="2500" strike="noStrike" spc="-1">
                <a:solidFill>
                  <a:srgbClr val="C00000"/>
                </a:solidFill>
                <a:uFill>
                  <a:solidFill>
                    <a:srgbClr val="FFFFFF"/>
                  </a:solidFill>
                </a:uFill>
                <a:latin typeface="Calibri"/>
                <a:ea typeface="MS PGothic"/>
              </a:rPr>
              <a:t>Demand curve</a:t>
            </a:r>
            <a:endParaRPr lang="en-US" sz="1800" strike="noStrike" spc="-1">
              <a:solidFill>
                <a:srgbClr val="000000"/>
              </a:solidFill>
              <a:uFill>
                <a:solidFill>
                  <a:srgbClr val="FFFFFF"/>
                </a:solidFill>
              </a:uFill>
              <a:latin typeface="Arial"/>
            </a:endParaRPr>
          </a:p>
          <a:p>
            <a:pPr marL="341280" lvl="1" indent="-21996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Reflects buyers’ willingness to pay</a:t>
            </a:r>
            <a:endParaRPr lang="en-US" sz="1800" strike="noStrike" spc="-1">
              <a:solidFill>
                <a:srgbClr val="000000"/>
              </a:solidFill>
              <a:uFill>
                <a:solidFill>
                  <a:srgbClr val="FFFFFF"/>
                </a:solidFill>
              </a:uFill>
              <a:latin typeface="Arial"/>
            </a:endParaRPr>
          </a:p>
          <a:p>
            <a:pPr marL="341280" lvl="1" indent="-21996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Measure consumer surplus</a:t>
            </a:r>
            <a:endParaRPr lang="en-US" sz="1800" strike="noStrike" spc="-1">
              <a:solidFill>
                <a:srgbClr val="000000"/>
              </a:solidFill>
              <a:uFill>
                <a:solidFill>
                  <a:srgbClr val="FFFFFF"/>
                </a:solidFill>
              </a:uFill>
              <a:latin typeface="Arial"/>
            </a:endParaRPr>
          </a:p>
          <a:p>
            <a:pPr marL="216000" indent="6480">
              <a:lnSpc>
                <a:spcPct val="100000"/>
              </a:lnSpc>
              <a:buClr>
                <a:srgbClr val="C00000"/>
              </a:buClr>
              <a:buFont typeface="Arial"/>
              <a:buChar char="•"/>
            </a:pPr>
            <a:r>
              <a:rPr lang="en-US" sz="2700" strike="noStrike" spc="-1">
                <a:solidFill>
                  <a:srgbClr val="C00000"/>
                </a:solidFill>
                <a:uFill>
                  <a:solidFill>
                    <a:srgbClr val="FFFFFF"/>
                  </a:solidFill>
                </a:uFill>
                <a:latin typeface="Calibri"/>
                <a:ea typeface="MS PGothic"/>
              </a:rPr>
              <a:t>Consumer surplus in a market</a:t>
            </a:r>
            <a:endParaRPr lang="en-US" sz="1800" strike="noStrike" spc="-1">
              <a:solidFill>
                <a:srgbClr val="000000"/>
              </a:solidFill>
              <a:uFill>
                <a:solidFill>
                  <a:srgbClr val="FFFFFF"/>
                </a:solidFill>
              </a:uFill>
              <a:latin typeface="Arial"/>
            </a:endParaRPr>
          </a:p>
          <a:p>
            <a:pPr marL="341280" lvl="1" indent="-21996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Area below the demand curve and above the price</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 name="CustomShape 1"/>
          <p:cNvSpPr/>
          <p:nvPr/>
        </p:nvSpPr>
        <p:spPr>
          <a:xfrm>
            <a:off x="1441440" y="2228760"/>
            <a:ext cx="529560" cy="1769400"/>
          </a:xfrm>
          <a:prstGeom prst="rect">
            <a:avLst/>
          </a:prstGeom>
          <a:solidFill>
            <a:srgbClr val="4B8FCC"/>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13" name="CustomShape 2"/>
          <p:cNvSpPr/>
          <p:nvPr/>
        </p:nvSpPr>
        <p:spPr>
          <a:xfrm>
            <a:off x="2685960" y="2968560"/>
            <a:ext cx="720" cy="243720"/>
          </a:xfrm>
          <a:prstGeom prst="rect">
            <a:avLst/>
          </a:prstGeom>
          <a:no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14" name="CustomShape 3"/>
          <p:cNvSpPr/>
          <p:nvPr/>
        </p:nvSpPr>
        <p:spPr>
          <a:xfrm>
            <a:off x="3937680" y="4191120"/>
            <a:ext cx="2880" cy="2736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800" strike="noStrike" spc="-1">
                <a:solidFill>
                  <a:srgbClr val="000000"/>
                </a:solidFill>
                <a:uFill>
                  <a:solidFill>
                    <a:srgbClr val="FFFFFF"/>
                  </a:solidFill>
                </a:uFill>
                <a:latin typeface="Tahoma"/>
                <a:ea typeface="MS PGothic"/>
              </a:rPr>
              <a:t>	</a:t>
            </a:r>
            <a:endParaRPr lang="en-US" sz="1800" strike="noStrike" spc="-1">
              <a:solidFill>
                <a:srgbClr val="000000"/>
              </a:solidFill>
              <a:uFill>
                <a:solidFill>
                  <a:srgbClr val="FFFFFF"/>
                </a:solidFill>
              </a:uFill>
              <a:latin typeface="Arial"/>
            </a:endParaRPr>
          </a:p>
        </p:txBody>
      </p:sp>
      <p:sp>
        <p:nvSpPr>
          <p:cNvPr id="415" name="Line 4"/>
          <p:cNvSpPr/>
          <p:nvPr/>
        </p:nvSpPr>
        <p:spPr>
          <a:xfrm>
            <a:off x="1441440" y="3998880"/>
            <a:ext cx="3384360" cy="360"/>
          </a:xfrm>
          <a:prstGeom prst="line">
            <a:avLst/>
          </a:prstGeom>
          <a:ln w="2844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416" name="CustomShape 5"/>
          <p:cNvSpPr/>
          <p:nvPr/>
        </p:nvSpPr>
        <p:spPr>
          <a:xfrm>
            <a:off x="4848120" y="3886200"/>
            <a:ext cx="103824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Price = $30</a:t>
            </a:r>
            <a:endParaRPr lang="en-US" sz="1800" strike="noStrike" spc="-1">
              <a:solidFill>
                <a:srgbClr val="000000"/>
              </a:solidFill>
              <a:uFill>
                <a:solidFill>
                  <a:srgbClr val="FFFFFF"/>
                </a:solidFill>
              </a:uFill>
              <a:latin typeface="Arial"/>
            </a:endParaRPr>
          </a:p>
        </p:txBody>
      </p:sp>
      <p:sp>
        <p:nvSpPr>
          <p:cNvPr id="417" name="Line 6"/>
          <p:cNvSpPr/>
          <p:nvPr/>
        </p:nvSpPr>
        <p:spPr>
          <a:xfrm flipV="1">
            <a:off x="1682640" y="2062080"/>
            <a:ext cx="1560600" cy="81756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418" name="CustomShape 7"/>
          <p:cNvSpPr/>
          <p:nvPr/>
        </p:nvSpPr>
        <p:spPr>
          <a:xfrm>
            <a:off x="2666880" y="1371600"/>
            <a:ext cx="2361600" cy="608760"/>
          </a:xfrm>
          <a:custGeom>
            <a:avLst/>
            <a:gdLst/>
            <a:ahLst/>
            <a:cxnLst/>
            <a:rect l="l" t="t" r="r" b="b"/>
            <a:pathLst>
              <a:path w="397" h="95">
                <a:moveTo>
                  <a:pt x="397" y="79"/>
                </a:moveTo>
                <a:cubicBezTo>
                  <a:pt x="397" y="87"/>
                  <a:pt x="390" y="95"/>
                  <a:pt x="381" y="95"/>
                </a:cubicBezTo>
                <a:cubicBezTo>
                  <a:pt x="16" y="95"/>
                  <a:pt x="16" y="95"/>
                  <a:pt x="16" y="95"/>
                </a:cubicBezTo>
                <a:cubicBezTo>
                  <a:pt x="8" y="95"/>
                  <a:pt x="0" y="87"/>
                  <a:pt x="0" y="79"/>
                </a:cubicBezTo>
                <a:cubicBezTo>
                  <a:pt x="0" y="16"/>
                  <a:pt x="0" y="16"/>
                  <a:pt x="0" y="16"/>
                </a:cubicBezTo>
                <a:cubicBezTo>
                  <a:pt x="0" y="8"/>
                  <a:pt x="8" y="0"/>
                  <a:pt x="16" y="0"/>
                </a:cubicBezTo>
                <a:cubicBezTo>
                  <a:pt x="381" y="0"/>
                  <a:pt x="381" y="0"/>
                  <a:pt x="381" y="0"/>
                </a:cubicBezTo>
                <a:cubicBezTo>
                  <a:pt x="390" y="0"/>
                  <a:pt x="397" y="8"/>
                  <a:pt x="397" y="16"/>
                </a:cubicBezTo>
                <a:lnTo>
                  <a:pt x="397" y="79"/>
                </a:lnTo>
                <a:close/>
              </a:path>
            </a:pathLst>
          </a:custGeom>
          <a:solidFill>
            <a:srgbClr val="D7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19" name="CustomShape 8"/>
          <p:cNvSpPr/>
          <p:nvPr/>
        </p:nvSpPr>
        <p:spPr>
          <a:xfrm flipH="1">
            <a:off x="2766240" y="1474920"/>
            <a:ext cx="2208960" cy="42624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Calibri"/>
                <a:ea typeface="MS PGothic"/>
              </a:rPr>
              <a:t>Aleisha’s consumer surplus: </a:t>
            </a:r>
            <a:endParaRPr lang="en-US" sz="1800" strike="noStrike" spc="-1">
              <a:solidFill>
                <a:srgbClr val="000000"/>
              </a:solidFill>
              <a:uFill>
                <a:solidFill>
                  <a:srgbClr val="FFFFFF"/>
                </a:solidFill>
              </a:uFill>
              <a:latin typeface="Arial"/>
            </a:endParaRPr>
          </a:p>
          <a:p>
            <a:pPr marL="1440" indent="-720" algn="ctr">
              <a:lnSpc>
                <a:spcPct val="100000"/>
              </a:lnSpc>
            </a:pPr>
            <a:r>
              <a:rPr lang="en-US" sz="1400" strike="noStrike" spc="-1">
                <a:solidFill>
                  <a:srgbClr val="000000"/>
                </a:solidFill>
                <a:uFill>
                  <a:solidFill>
                    <a:srgbClr val="FFFFFF"/>
                  </a:solidFill>
                </a:uFill>
                <a:latin typeface="Calibri"/>
                <a:ea typeface="MS PGothic"/>
              </a:rPr>
              <a:t>$59 − $39 = $29</a:t>
            </a:r>
            <a:endParaRPr lang="en-US" sz="1800" strike="noStrike" spc="-1">
              <a:solidFill>
                <a:srgbClr val="000000"/>
              </a:solidFill>
              <a:uFill>
                <a:solidFill>
                  <a:srgbClr val="FFFFFF"/>
                </a:solidFill>
              </a:uFill>
              <a:latin typeface="Arial"/>
            </a:endParaRPr>
          </a:p>
        </p:txBody>
      </p:sp>
      <p:sp>
        <p:nvSpPr>
          <p:cNvPr id="420" name="CustomShape 9"/>
          <p:cNvSpPr/>
          <p:nvPr/>
        </p:nvSpPr>
        <p:spPr>
          <a:xfrm>
            <a:off x="1971720" y="3081240"/>
            <a:ext cx="543960" cy="916920"/>
          </a:xfrm>
          <a:prstGeom prst="rect">
            <a:avLst/>
          </a:prstGeom>
          <a:solidFill>
            <a:srgbClr val="95B6DF"/>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21" name="Line 10"/>
          <p:cNvSpPr/>
          <p:nvPr/>
        </p:nvSpPr>
        <p:spPr>
          <a:xfrm flipV="1">
            <a:off x="2287440" y="2798640"/>
            <a:ext cx="1427040" cy="77472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422" name="CustomShape 11"/>
          <p:cNvSpPr/>
          <p:nvPr/>
        </p:nvSpPr>
        <p:spPr>
          <a:xfrm>
            <a:off x="3371760" y="2209680"/>
            <a:ext cx="2113920" cy="588240"/>
          </a:xfrm>
          <a:custGeom>
            <a:avLst/>
            <a:gdLst/>
            <a:ahLst/>
            <a:cxnLst/>
            <a:rect l="l" t="t" r="r" b="b"/>
            <a:pathLst>
              <a:path w="366" h="96">
                <a:moveTo>
                  <a:pt x="349" y="96"/>
                </a:moveTo>
                <a:cubicBezTo>
                  <a:pt x="358" y="96"/>
                  <a:pt x="366" y="88"/>
                  <a:pt x="366" y="79"/>
                </a:cubicBezTo>
                <a:cubicBezTo>
                  <a:pt x="366" y="16"/>
                  <a:pt x="366" y="16"/>
                  <a:pt x="366" y="16"/>
                </a:cubicBezTo>
                <a:cubicBezTo>
                  <a:pt x="366" y="7"/>
                  <a:pt x="358" y="0"/>
                  <a:pt x="349" y="0"/>
                </a:cubicBezTo>
                <a:cubicBezTo>
                  <a:pt x="16" y="0"/>
                  <a:pt x="16" y="0"/>
                  <a:pt x="16" y="0"/>
                </a:cubicBezTo>
                <a:cubicBezTo>
                  <a:pt x="7" y="0"/>
                  <a:pt x="0" y="7"/>
                  <a:pt x="0" y="16"/>
                </a:cubicBezTo>
                <a:cubicBezTo>
                  <a:pt x="0" y="79"/>
                  <a:pt x="0" y="79"/>
                  <a:pt x="0" y="79"/>
                </a:cubicBezTo>
                <a:cubicBezTo>
                  <a:pt x="0" y="88"/>
                  <a:pt x="7" y="96"/>
                  <a:pt x="16" y="96"/>
                </a:cubicBezTo>
                <a:lnTo>
                  <a:pt x="349" y="96"/>
                </a:lnTo>
                <a:close/>
              </a:path>
            </a:pathLst>
          </a:custGeom>
          <a:solidFill>
            <a:srgbClr val="D7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23" name="CustomShape 12"/>
          <p:cNvSpPr/>
          <p:nvPr/>
        </p:nvSpPr>
        <p:spPr>
          <a:xfrm flipH="1">
            <a:off x="3428280" y="2276640"/>
            <a:ext cx="2031120" cy="42624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Calibri"/>
                <a:ea typeface="MS PGothic"/>
              </a:rPr>
              <a:t>Brad’s consumer surplus: </a:t>
            </a:r>
            <a:endParaRPr lang="en-US" sz="1800" strike="noStrike" spc="-1">
              <a:solidFill>
                <a:srgbClr val="000000"/>
              </a:solidFill>
              <a:uFill>
                <a:solidFill>
                  <a:srgbClr val="FFFFFF"/>
                </a:solidFill>
              </a:uFill>
              <a:latin typeface="Arial"/>
            </a:endParaRPr>
          </a:p>
          <a:p>
            <a:pPr marL="1440" indent="-720" algn="ctr">
              <a:lnSpc>
                <a:spcPct val="100000"/>
              </a:lnSpc>
            </a:pPr>
            <a:r>
              <a:rPr lang="en-US" sz="1400" strike="noStrike" spc="-1">
                <a:solidFill>
                  <a:srgbClr val="000000"/>
                </a:solidFill>
                <a:uFill>
                  <a:solidFill>
                    <a:srgbClr val="FFFFFF"/>
                  </a:solidFill>
                </a:uFill>
                <a:latin typeface="Calibri"/>
                <a:ea typeface="MS PGothic"/>
              </a:rPr>
              <a:t>$45 − $30 = $15</a:t>
            </a:r>
            <a:endParaRPr lang="en-US" sz="1800" strike="noStrike" spc="-1">
              <a:solidFill>
                <a:srgbClr val="000000"/>
              </a:solidFill>
              <a:uFill>
                <a:solidFill>
                  <a:srgbClr val="FFFFFF"/>
                </a:solidFill>
              </a:uFill>
              <a:latin typeface="Arial"/>
            </a:endParaRPr>
          </a:p>
        </p:txBody>
      </p:sp>
      <p:sp>
        <p:nvSpPr>
          <p:cNvPr id="424" name="CustomShape 13"/>
          <p:cNvSpPr/>
          <p:nvPr/>
        </p:nvSpPr>
        <p:spPr>
          <a:xfrm>
            <a:off x="2516040" y="3693960"/>
            <a:ext cx="534240" cy="304200"/>
          </a:xfrm>
          <a:prstGeom prst="rect">
            <a:avLst/>
          </a:prstGeom>
          <a:solidFill>
            <a:srgbClr val="C7D6EE"/>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25" name="CustomShape 14"/>
          <p:cNvSpPr/>
          <p:nvPr/>
        </p:nvSpPr>
        <p:spPr>
          <a:xfrm>
            <a:off x="2874960" y="3497400"/>
            <a:ext cx="1580400" cy="366120"/>
          </a:xfrm>
          <a:custGeom>
            <a:avLst/>
            <a:gdLst/>
            <a:ahLst/>
            <a:cxnLst/>
            <a:rect l="l" t="t" r="r" b="b"/>
            <a:pathLst>
              <a:path w="897" h="215">
                <a:moveTo>
                  <a:pt x="0" y="215"/>
                </a:moveTo>
                <a:lnTo>
                  <a:pt x="528" y="215"/>
                </a:lnTo>
                <a:lnTo>
                  <a:pt x="897" y="0"/>
                </a:lnTo>
              </a:path>
            </a:pathLst>
          </a:custGeom>
          <a:noFill/>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426" name="CustomShape 15"/>
          <p:cNvSpPr/>
          <p:nvPr/>
        </p:nvSpPr>
        <p:spPr>
          <a:xfrm>
            <a:off x="4056120" y="3025800"/>
            <a:ext cx="1886760" cy="496080"/>
          </a:xfrm>
          <a:custGeom>
            <a:avLst/>
            <a:gdLst/>
            <a:ahLst/>
            <a:cxnLst/>
            <a:rect l="l" t="t" r="r" b="b"/>
            <a:pathLst>
              <a:path w="402" h="96">
                <a:moveTo>
                  <a:pt x="386" y="96"/>
                </a:moveTo>
                <a:cubicBezTo>
                  <a:pt x="395" y="96"/>
                  <a:pt x="402" y="88"/>
                  <a:pt x="402" y="79"/>
                </a:cubicBezTo>
                <a:cubicBezTo>
                  <a:pt x="402" y="17"/>
                  <a:pt x="402" y="17"/>
                  <a:pt x="402" y="17"/>
                </a:cubicBezTo>
                <a:cubicBezTo>
                  <a:pt x="402" y="7"/>
                  <a:pt x="395" y="0"/>
                  <a:pt x="386" y="0"/>
                </a:cubicBezTo>
                <a:cubicBezTo>
                  <a:pt x="16" y="0"/>
                  <a:pt x="16" y="0"/>
                  <a:pt x="16" y="0"/>
                </a:cubicBezTo>
                <a:cubicBezTo>
                  <a:pt x="7" y="0"/>
                  <a:pt x="0" y="7"/>
                  <a:pt x="0" y="17"/>
                </a:cubicBezTo>
                <a:cubicBezTo>
                  <a:pt x="0" y="79"/>
                  <a:pt x="0" y="79"/>
                  <a:pt x="0" y="79"/>
                </a:cubicBezTo>
                <a:cubicBezTo>
                  <a:pt x="0" y="88"/>
                  <a:pt x="7" y="96"/>
                  <a:pt x="16" y="96"/>
                </a:cubicBezTo>
                <a:lnTo>
                  <a:pt x="386" y="96"/>
                </a:lnTo>
                <a:close/>
              </a:path>
            </a:pathLst>
          </a:custGeom>
          <a:solidFill>
            <a:srgbClr val="D7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27" name="CustomShape 16"/>
          <p:cNvSpPr/>
          <p:nvPr/>
        </p:nvSpPr>
        <p:spPr>
          <a:xfrm flipH="1">
            <a:off x="4123440" y="3071880"/>
            <a:ext cx="1818720" cy="42624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Calibri"/>
                <a:ea typeface="MS PGothic"/>
              </a:rPr>
              <a:t>Claudia’s consumer surplus: $35 − $30 = $5</a:t>
            </a:r>
            <a:endParaRPr lang="en-US" sz="1800" strike="noStrike" spc="-1">
              <a:solidFill>
                <a:srgbClr val="000000"/>
              </a:solidFill>
              <a:uFill>
                <a:solidFill>
                  <a:srgbClr val="FFFFFF"/>
                </a:solidFill>
              </a:uFill>
              <a:latin typeface="Arial"/>
            </a:endParaRPr>
          </a:p>
        </p:txBody>
      </p:sp>
      <p:sp>
        <p:nvSpPr>
          <p:cNvPr id="428" name="CustomShape 17"/>
          <p:cNvSpPr/>
          <p:nvPr/>
        </p:nvSpPr>
        <p:spPr>
          <a:xfrm>
            <a:off x="6172200" y="2209680"/>
            <a:ext cx="2791800" cy="2356560"/>
          </a:xfrm>
          <a:prstGeom prst="rect">
            <a:avLst/>
          </a:prstGeom>
          <a:solidFill>
            <a:schemeClr val="accent5">
              <a:lumMod val="20000"/>
              <a:lumOff val="80000"/>
            </a:schemeClr>
          </a:solidFill>
          <a:ln w="12600">
            <a:noFill/>
          </a:ln>
        </p:spPr>
        <p:style>
          <a:lnRef idx="0">
            <a:scrgbClr r="0" g="0" b="0"/>
          </a:lnRef>
          <a:fillRef idx="0">
            <a:scrgbClr r="0" g="0" b="0"/>
          </a:fillRef>
          <a:effectRef idx="0">
            <a:scrgbClr r="0" g="0" b="0"/>
          </a:effectRef>
          <a:fontRef idx="minor"/>
        </p:style>
        <p:txBody>
          <a:bodyPr lIns="90000" tIns="45000" rIns="90000" bIns="45000"/>
          <a:lstStyle/>
          <a:p>
            <a:r>
              <a:rPr lang="en-US" sz="1800" strike="noStrike" spc="-1">
                <a:solidFill>
                  <a:srgbClr val="000000"/>
                </a:solidFill>
                <a:uFill>
                  <a:solidFill>
                    <a:srgbClr val="FFFFFF"/>
                  </a:solidFill>
                </a:uFill>
                <a:latin typeface="Calibri"/>
                <a:ea typeface="MS PGothic"/>
              </a:rPr>
              <a:t>The total consumer surplus is given by the entire shaded area — </a:t>
            </a:r>
            <a:endParaRPr lang="en-US" sz="1800" strike="noStrike" spc="-1">
              <a:solidFill>
                <a:srgbClr val="000000"/>
              </a:solidFill>
              <a:uFill>
                <a:solidFill>
                  <a:srgbClr val="FFFFFF"/>
                </a:solidFill>
              </a:uFill>
              <a:latin typeface="Arial"/>
            </a:endParaRPr>
          </a:p>
          <a:p>
            <a:r>
              <a:rPr lang="en-US" sz="1800" strike="noStrike" spc="-1">
                <a:solidFill>
                  <a:srgbClr val="000000"/>
                </a:solidFill>
                <a:uFill>
                  <a:solidFill>
                    <a:srgbClr val="FFFFFF"/>
                  </a:solidFill>
                </a:uFill>
                <a:latin typeface="Calibri"/>
                <a:ea typeface="MS PGothic"/>
              </a:rPr>
              <a:t>the sum of the individual consumer surpluses of Aleisha, Brad, and Claudia — equal to </a:t>
            </a:r>
            <a:endParaRPr lang="en-US" sz="1800" strike="noStrike" spc="-1">
              <a:solidFill>
                <a:srgbClr val="000000"/>
              </a:solidFill>
              <a:uFill>
                <a:solidFill>
                  <a:srgbClr val="FFFFFF"/>
                </a:solidFill>
              </a:uFill>
              <a:latin typeface="Arial"/>
            </a:endParaRPr>
          </a:p>
          <a:p>
            <a:pPr marL="1440" indent="-720" algn="ctr">
              <a:lnSpc>
                <a:spcPct val="100000"/>
              </a:lnSpc>
            </a:pPr>
            <a:r>
              <a:rPr lang="en-US" sz="1800" strike="noStrike" spc="-1">
                <a:solidFill>
                  <a:srgbClr val="000000"/>
                </a:solidFill>
                <a:uFill>
                  <a:solidFill>
                    <a:srgbClr val="FFFFFF"/>
                  </a:solidFill>
                </a:uFill>
                <a:latin typeface="Calibri"/>
                <a:ea typeface="MS PGothic"/>
              </a:rPr>
              <a:t>$29 + $15 + $5 = $49.</a:t>
            </a:r>
            <a:endParaRPr lang="en-US" sz="1800" strike="noStrike" spc="-1">
              <a:solidFill>
                <a:srgbClr val="000000"/>
              </a:solidFill>
              <a:uFill>
                <a:solidFill>
                  <a:srgbClr val="FFFFFF"/>
                </a:solidFill>
              </a:uFill>
              <a:latin typeface="Arial"/>
            </a:endParaRPr>
          </a:p>
        </p:txBody>
      </p:sp>
      <p:sp>
        <p:nvSpPr>
          <p:cNvPr id="429" name="Line 18"/>
          <p:cNvSpPr/>
          <p:nvPr/>
        </p:nvSpPr>
        <p:spPr>
          <a:xfrm flipV="1">
            <a:off x="1963440" y="5716440"/>
            <a:ext cx="360" cy="11412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430" name="Line 19"/>
          <p:cNvSpPr/>
          <p:nvPr/>
        </p:nvSpPr>
        <p:spPr>
          <a:xfrm>
            <a:off x="1433160" y="2228760"/>
            <a:ext cx="130320" cy="36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431" name="Line 20"/>
          <p:cNvSpPr/>
          <p:nvPr/>
        </p:nvSpPr>
        <p:spPr>
          <a:xfrm>
            <a:off x="1433160" y="3081240"/>
            <a:ext cx="130320" cy="36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432" name="Line 21"/>
          <p:cNvSpPr/>
          <p:nvPr/>
        </p:nvSpPr>
        <p:spPr>
          <a:xfrm>
            <a:off x="1433160" y="3693960"/>
            <a:ext cx="130320" cy="36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433" name="Line 22"/>
          <p:cNvSpPr/>
          <p:nvPr/>
        </p:nvSpPr>
        <p:spPr>
          <a:xfrm>
            <a:off x="1433160" y="4305240"/>
            <a:ext cx="130320" cy="36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434" name="Line 23"/>
          <p:cNvSpPr/>
          <p:nvPr/>
        </p:nvSpPr>
        <p:spPr>
          <a:xfrm>
            <a:off x="1433160" y="5219640"/>
            <a:ext cx="130320" cy="36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435" name="Line 24"/>
          <p:cNvSpPr/>
          <p:nvPr/>
        </p:nvSpPr>
        <p:spPr>
          <a:xfrm flipV="1">
            <a:off x="2508120" y="5716440"/>
            <a:ext cx="360" cy="11412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436" name="Line 25"/>
          <p:cNvSpPr/>
          <p:nvPr/>
        </p:nvSpPr>
        <p:spPr>
          <a:xfrm flipV="1">
            <a:off x="3043080" y="5716440"/>
            <a:ext cx="360" cy="11412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437" name="Line 26"/>
          <p:cNvSpPr/>
          <p:nvPr/>
        </p:nvSpPr>
        <p:spPr>
          <a:xfrm flipV="1">
            <a:off x="3576600" y="5716440"/>
            <a:ext cx="360" cy="11412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438" name="CustomShape 27"/>
          <p:cNvSpPr/>
          <p:nvPr/>
        </p:nvSpPr>
        <p:spPr>
          <a:xfrm>
            <a:off x="1952640" y="322740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39" name="CustomShape 28"/>
          <p:cNvSpPr/>
          <p:nvPr/>
        </p:nvSpPr>
        <p:spPr>
          <a:xfrm>
            <a:off x="1952640" y="33256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40" name="CustomShape 29"/>
          <p:cNvSpPr/>
          <p:nvPr/>
        </p:nvSpPr>
        <p:spPr>
          <a:xfrm>
            <a:off x="1952640" y="31240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41" name="CustomShape 30"/>
          <p:cNvSpPr/>
          <p:nvPr/>
        </p:nvSpPr>
        <p:spPr>
          <a:xfrm>
            <a:off x="1952640" y="3429000"/>
            <a:ext cx="198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42" name="CustomShape 31"/>
          <p:cNvSpPr/>
          <p:nvPr/>
        </p:nvSpPr>
        <p:spPr>
          <a:xfrm>
            <a:off x="1952640" y="353232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43" name="CustomShape 32"/>
          <p:cNvSpPr/>
          <p:nvPr/>
        </p:nvSpPr>
        <p:spPr>
          <a:xfrm>
            <a:off x="1952640" y="363204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44" name="CustomShape 33"/>
          <p:cNvSpPr/>
          <p:nvPr/>
        </p:nvSpPr>
        <p:spPr>
          <a:xfrm>
            <a:off x="1952640" y="373392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45" name="CustomShape 34"/>
          <p:cNvSpPr/>
          <p:nvPr/>
        </p:nvSpPr>
        <p:spPr>
          <a:xfrm>
            <a:off x="1952640" y="38386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46" name="CustomShape 35"/>
          <p:cNvSpPr/>
          <p:nvPr/>
        </p:nvSpPr>
        <p:spPr>
          <a:xfrm>
            <a:off x="1952640" y="3935520"/>
            <a:ext cx="198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47" name="CustomShape 36"/>
          <p:cNvSpPr/>
          <p:nvPr/>
        </p:nvSpPr>
        <p:spPr>
          <a:xfrm>
            <a:off x="1952640" y="40402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48" name="CustomShape 37"/>
          <p:cNvSpPr/>
          <p:nvPr/>
        </p:nvSpPr>
        <p:spPr>
          <a:xfrm>
            <a:off x="1952640" y="414504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49" name="CustomShape 38"/>
          <p:cNvSpPr/>
          <p:nvPr/>
        </p:nvSpPr>
        <p:spPr>
          <a:xfrm>
            <a:off x="1952640" y="42418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50" name="CustomShape 39"/>
          <p:cNvSpPr/>
          <p:nvPr/>
        </p:nvSpPr>
        <p:spPr>
          <a:xfrm>
            <a:off x="1952640" y="434484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51" name="CustomShape 40"/>
          <p:cNvSpPr/>
          <p:nvPr/>
        </p:nvSpPr>
        <p:spPr>
          <a:xfrm>
            <a:off x="1952640" y="4448160"/>
            <a:ext cx="198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52" name="CustomShape 41"/>
          <p:cNvSpPr/>
          <p:nvPr/>
        </p:nvSpPr>
        <p:spPr>
          <a:xfrm>
            <a:off x="1952640" y="454644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53" name="CustomShape 42"/>
          <p:cNvSpPr/>
          <p:nvPr/>
        </p:nvSpPr>
        <p:spPr>
          <a:xfrm>
            <a:off x="1952640" y="465120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54" name="CustomShape 43"/>
          <p:cNvSpPr/>
          <p:nvPr/>
        </p:nvSpPr>
        <p:spPr>
          <a:xfrm>
            <a:off x="1952640" y="475452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55" name="CustomShape 44"/>
          <p:cNvSpPr/>
          <p:nvPr/>
        </p:nvSpPr>
        <p:spPr>
          <a:xfrm>
            <a:off x="1952640" y="485316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56" name="CustomShape 45"/>
          <p:cNvSpPr/>
          <p:nvPr/>
        </p:nvSpPr>
        <p:spPr>
          <a:xfrm>
            <a:off x="1952640" y="495612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57" name="CustomShape 46"/>
          <p:cNvSpPr/>
          <p:nvPr/>
        </p:nvSpPr>
        <p:spPr>
          <a:xfrm>
            <a:off x="1952640" y="505944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58" name="CustomShape 47"/>
          <p:cNvSpPr/>
          <p:nvPr/>
        </p:nvSpPr>
        <p:spPr>
          <a:xfrm>
            <a:off x="1952640" y="515952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59" name="CustomShape 48"/>
          <p:cNvSpPr/>
          <p:nvPr/>
        </p:nvSpPr>
        <p:spPr>
          <a:xfrm>
            <a:off x="1952640" y="526104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60" name="CustomShape 49"/>
          <p:cNvSpPr/>
          <p:nvPr/>
        </p:nvSpPr>
        <p:spPr>
          <a:xfrm>
            <a:off x="1952640" y="536580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61" name="CustomShape 50"/>
          <p:cNvSpPr/>
          <p:nvPr/>
        </p:nvSpPr>
        <p:spPr>
          <a:xfrm>
            <a:off x="1952640" y="5462640"/>
            <a:ext cx="198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62" name="CustomShape 51"/>
          <p:cNvSpPr/>
          <p:nvPr/>
        </p:nvSpPr>
        <p:spPr>
          <a:xfrm>
            <a:off x="1952640" y="556740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63" name="CustomShape 52"/>
          <p:cNvSpPr/>
          <p:nvPr/>
        </p:nvSpPr>
        <p:spPr>
          <a:xfrm>
            <a:off x="1952640" y="56656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64" name="CustomShape 53"/>
          <p:cNvSpPr/>
          <p:nvPr/>
        </p:nvSpPr>
        <p:spPr>
          <a:xfrm>
            <a:off x="2496960" y="383868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65" name="CustomShape 54"/>
          <p:cNvSpPr/>
          <p:nvPr/>
        </p:nvSpPr>
        <p:spPr>
          <a:xfrm>
            <a:off x="2496960" y="393552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66" name="CustomShape 55"/>
          <p:cNvSpPr/>
          <p:nvPr/>
        </p:nvSpPr>
        <p:spPr>
          <a:xfrm>
            <a:off x="2496960" y="404028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67" name="CustomShape 56"/>
          <p:cNvSpPr/>
          <p:nvPr/>
        </p:nvSpPr>
        <p:spPr>
          <a:xfrm>
            <a:off x="2496960" y="4145040"/>
            <a:ext cx="216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68" name="CustomShape 57"/>
          <p:cNvSpPr/>
          <p:nvPr/>
        </p:nvSpPr>
        <p:spPr>
          <a:xfrm>
            <a:off x="2496960" y="424188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69" name="CustomShape 58"/>
          <p:cNvSpPr/>
          <p:nvPr/>
        </p:nvSpPr>
        <p:spPr>
          <a:xfrm>
            <a:off x="2496960" y="434484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70" name="CustomShape 59"/>
          <p:cNvSpPr/>
          <p:nvPr/>
        </p:nvSpPr>
        <p:spPr>
          <a:xfrm>
            <a:off x="2496960" y="444816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71" name="CustomShape 60"/>
          <p:cNvSpPr/>
          <p:nvPr/>
        </p:nvSpPr>
        <p:spPr>
          <a:xfrm>
            <a:off x="2496960" y="454644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72" name="CustomShape 61"/>
          <p:cNvSpPr/>
          <p:nvPr/>
        </p:nvSpPr>
        <p:spPr>
          <a:xfrm>
            <a:off x="2496960" y="465120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73" name="CustomShape 62"/>
          <p:cNvSpPr/>
          <p:nvPr/>
        </p:nvSpPr>
        <p:spPr>
          <a:xfrm>
            <a:off x="2496960" y="4754520"/>
            <a:ext cx="216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74" name="CustomShape 63"/>
          <p:cNvSpPr/>
          <p:nvPr/>
        </p:nvSpPr>
        <p:spPr>
          <a:xfrm>
            <a:off x="2496960" y="485316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75" name="CustomShape 64"/>
          <p:cNvSpPr/>
          <p:nvPr/>
        </p:nvSpPr>
        <p:spPr>
          <a:xfrm>
            <a:off x="2496960" y="495612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76" name="CustomShape 65"/>
          <p:cNvSpPr/>
          <p:nvPr/>
        </p:nvSpPr>
        <p:spPr>
          <a:xfrm>
            <a:off x="2496960" y="505944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77" name="CustomShape 66"/>
          <p:cNvSpPr/>
          <p:nvPr/>
        </p:nvSpPr>
        <p:spPr>
          <a:xfrm>
            <a:off x="2496960" y="5159520"/>
            <a:ext cx="216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78" name="CustomShape 67"/>
          <p:cNvSpPr/>
          <p:nvPr/>
        </p:nvSpPr>
        <p:spPr>
          <a:xfrm>
            <a:off x="2496960" y="526104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79" name="CustomShape 68"/>
          <p:cNvSpPr/>
          <p:nvPr/>
        </p:nvSpPr>
        <p:spPr>
          <a:xfrm>
            <a:off x="2496960" y="536580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80" name="CustomShape 69"/>
          <p:cNvSpPr/>
          <p:nvPr/>
        </p:nvSpPr>
        <p:spPr>
          <a:xfrm>
            <a:off x="2496960" y="546264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81" name="CustomShape 70"/>
          <p:cNvSpPr/>
          <p:nvPr/>
        </p:nvSpPr>
        <p:spPr>
          <a:xfrm>
            <a:off x="2496960" y="556740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82" name="CustomShape 71"/>
          <p:cNvSpPr/>
          <p:nvPr/>
        </p:nvSpPr>
        <p:spPr>
          <a:xfrm>
            <a:off x="2496960" y="566568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83" name="CustomShape 72"/>
          <p:cNvSpPr/>
          <p:nvPr/>
        </p:nvSpPr>
        <p:spPr>
          <a:xfrm>
            <a:off x="3032280" y="434484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84" name="CustomShape 73"/>
          <p:cNvSpPr/>
          <p:nvPr/>
        </p:nvSpPr>
        <p:spPr>
          <a:xfrm>
            <a:off x="3032280" y="4448160"/>
            <a:ext cx="198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85" name="CustomShape 74"/>
          <p:cNvSpPr/>
          <p:nvPr/>
        </p:nvSpPr>
        <p:spPr>
          <a:xfrm>
            <a:off x="3032280" y="454644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86" name="CustomShape 75"/>
          <p:cNvSpPr/>
          <p:nvPr/>
        </p:nvSpPr>
        <p:spPr>
          <a:xfrm>
            <a:off x="3032280" y="465120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87" name="CustomShape 76"/>
          <p:cNvSpPr/>
          <p:nvPr/>
        </p:nvSpPr>
        <p:spPr>
          <a:xfrm>
            <a:off x="3032280" y="475452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88" name="CustomShape 77"/>
          <p:cNvSpPr/>
          <p:nvPr/>
        </p:nvSpPr>
        <p:spPr>
          <a:xfrm>
            <a:off x="3032280" y="485316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89" name="CustomShape 78"/>
          <p:cNvSpPr/>
          <p:nvPr/>
        </p:nvSpPr>
        <p:spPr>
          <a:xfrm>
            <a:off x="3032280" y="495612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90" name="CustomShape 79"/>
          <p:cNvSpPr/>
          <p:nvPr/>
        </p:nvSpPr>
        <p:spPr>
          <a:xfrm>
            <a:off x="3032280" y="505944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91" name="CustomShape 80"/>
          <p:cNvSpPr/>
          <p:nvPr/>
        </p:nvSpPr>
        <p:spPr>
          <a:xfrm>
            <a:off x="3032280" y="515952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92" name="CustomShape 81"/>
          <p:cNvSpPr/>
          <p:nvPr/>
        </p:nvSpPr>
        <p:spPr>
          <a:xfrm>
            <a:off x="3032280" y="526104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93" name="CustomShape 82"/>
          <p:cNvSpPr/>
          <p:nvPr/>
        </p:nvSpPr>
        <p:spPr>
          <a:xfrm>
            <a:off x="3032280" y="536580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94" name="CustomShape 83"/>
          <p:cNvSpPr/>
          <p:nvPr/>
        </p:nvSpPr>
        <p:spPr>
          <a:xfrm>
            <a:off x="3032280" y="5462640"/>
            <a:ext cx="198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95" name="CustomShape 84"/>
          <p:cNvSpPr/>
          <p:nvPr/>
        </p:nvSpPr>
        <p:spPr>
          <a:xfrm>
            <a:off x="3032280" y="556740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96" name="CustomShape 85"/>
          <p:cNvSpPr/>
          <p:nvPr/>
        </p:nvSpPr>
        <p:spPr>
          <a:xfrm>
            <a:off x="3032280" y="56656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97" name="CustomShape 86"/>
          <p:cNvSpPr/>
          <p:nvPr/>
        </p:nvSpPr>
        <p:spPr>
          <a:xfrm>
            <a:off x="3567240" y="526104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98" name="CustomShape 87"/>
          <p:cNvSpPr/>
          <p:nvPr/>
        </p:nvSpPr>
        <p:spPr>
          <a:xfrm>
            <a:off x="3567240" y="536580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499" name="CustomShape 88"/>
          <p:cNvSpPr/>
          <p:nvPr/>
        </p:nvSpPr>
        <p:spPr>
          <a:xfrm>
            <a:off x="3567240" y="5462640"/>
            <a:ext cx="198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00" name="CustomShape 89"/>
          <p:cNvSpPr/>
          <p:nvPr/>
        </p:nvSpPr>
        <p:spPr>
          <a:xfrm>
            <a:off x="3567240" y="556740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01" name="CustomShape 90"/>
          <p:cNvSpPr/>
          <p:nvPr/>
        </p:nvSpPr>
        <p:spPr>
          <a:xfrm>
            <a:off x="3567240" y="56656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02" name="CustomShape 91"/>
          <p:cNvSpPr/>
          <p:nvPr/>
        </p:nvSpPr>
        <p:spPr>
          <a:xfrm>
            <a:off x="1611360" y="52102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03" name="CustomShape 92"/>
          <p:cNvSpPr/>
          <p:nvPr/>
        </p:nvSpPr>
        <p:spPr>
          <a:xfrm>
            <a:off x="1712880" y="52102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04" name="CustomShape 93"/>
          <p:cNvSpPr/>
          <p:nvPr/>
        </p:nvSpPr>
        <p:spPr>
          <a:xfrm>
            <a:off x="1808280" y="52102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05" name="CustomShape 94"/>
          <p:cNvSpPr/>
          <p:nvPr/>
        </p:nvSpPr>
        <p:spPr>
          <a:xfrm>
            <a:off x="1909800" y="521028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06" name="CustomShape 95"/>
          <p:cNvSpPr/>
          <p:nvPr/>
        </p:nvSpPr>
        <p:spPr>
          <a:xfrm>
            <a:off x="2004840" y="521028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07" name="CustomShape 96"/>
          <p:cNvSpPr/>
          <p:nvPr/>
        </p:nvSpPr>
        <p:spPr>
          <a:xfrm>
            <a:off x="2103480" y="52102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08" name="CustomShape 97"/>
          <p:cNvSpPr/>
          <p:nvPr/>
        </p:nvSpPr>
        <p:spPr>
          <a:xfrm>
            <a:off x="2203560" y="521028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09" name="CustomShape 98"/>
          <p:cNvSpPr/>
          <p:nvPr/>
        </p:nvSpPr>
        <p:spPr>
          <a:xfrm>
            <a:off x="2300400" y="52102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10" name="CustomShape 99"/>
          <p:cNvSpPr/>
          <p:nvPr/>
        </p:nvSpPr>
        <p:spPr>
          <a:xfrm>
            <a:off x="2397240" y="52102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11" name="CustomShape 100"/>
          <p:cNvSpPr/>
          <p:nvPr/>
        </p:nvSpPr>
        <p:spPr>
          <a:xfrm>
            <a:off x="2595600" y="52102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12" name="CustomShape 101"/>
          <p:cNvSpPr/>
          <p:nvPr/>
        </p:nvSpPr>
        <p:spPr>
          <a:xfrm>
            <a:off x="2690640" y="52102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13" name="CustomShape 102"/>
          <p:cNvSpPr/>
          <p:nvPr/>
        </p:nvSpPr>
        <p:spPr>
          <a:xfrm>
            <a:off x="2792520" y="52102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14" name="CustomShape 103"/>
          <p:cNvSpPr/>
          <p:nvPr/>
        </p:nvSpPr>
        <p:spPr>
          <a:xfrm>
            <a:off x="2887560" y="521028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15" name="CustomShape 104"/>
          <p:cNvSpPr/>
          <p:nvPr/>
        </p:nvSpPr>
        <p:spPr>
          <a:xfrm>
            <a:off x="2989440" y="521028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16" name="CustomShape 105"/>
          <p:cNvSpPr/>
          <p:nvPr/>
        </p:nvSpPr>
        <p:spPr>
          <a:xfrm>
            <a:off x="1611360" y="42940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17" name="CustomShape 106"/>
          <p:cNvSpPr/>
          <p:nvPr/>
        </p:nvSpPr>
        <p:spPr>
          <a:xfrm>
            <a:off x="1712880" y="42940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18" name="CustomShape 107"/>
          <p:cNvSpPr/>
          <p:nvPr/>
        </p:nvSpPr>
        <p:spPr>
          <a:xfrm>
            <a:off x="1808280" y="42940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19" name="CustomShape 108"/>
          <p:cNvSpPr/>
          <p:nvPr/>
        </p:nvSpPr>
        <p:spPr>
          <a:xfrm>
            <a:off x="1909800" y="429408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20" name="CustomShape 109"/>
          <p:cNvSpPr/>
          <p:nvPr/>
        </p:nvSpPr>
        <p:spPr>
          <a:xfrm>
            <a:off x="2004840" y="429408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21" name="CustomShape 110"/>
          <p:cNvSpPr/>
          <p:nvPr/>
        </p:nvSpPr>
        <p:spPr>
          <a:xfrm>
            <a:off x="2103480" y="42940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22" name="CustomShape 111"/>
          <p:cNvSpPr/>
          <p:nvPr/>
        </p:nvSpPr>
        <p:spPr>
          <a:xfrm>
            <a:off x="2203560" y="429408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23" name="CustomShape 112"/>
          <p:cNvSpPr/>
          <p:nvPr/>
        </p:nvSpPr>
        <p:spPr>
          <a:xfrm>
            <a:off x="2300400" y="42940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24" name="CustomShape 113"/>
          <p:cNvSpPr/>
          <p:nvPr/>
        </p:nvSpPr>
        <p:spPr>
          <a:xfrm>
            <a:off x="2397240" y="42940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25" name="CustomShape 114"/>
          <p:cNvSpPr/>
          <p:nvPr/>
        </p:nvSpPr>
        <p:spPr>
          <a:xfrm>
            <a:off x="1611360" y="368316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26" name="CustomShape 115"/>
          <p:cNvSpPr/>
          <p:nvPr/>
        </p:nvSpPr>
        <p:spPr>
          <a:xfrm>
            <a:off x="1712880" y="368316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27" name="CustomShape 116"/>
          <p:cNvSpPr/>
          <p:nvPr/>
        </p:nvSpPr>
        <p:spPr>
          <a:xfrm>
            <a:off x="1808280" y="368316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28" name="CustomShape 117"/>
          <p:cNvSpPr/>
          <p:nvPr/>
        </p:nvSpPr>
        <p:spPr>
          <a:xfrm>
            <a:off x="1909800" y="368316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29" name="CustomShape 118"/>
          <p:cNvSpPr/>
          <p:nvPr/>
        </p:nvSpPr>
        <p:spPr>
          <a:xfrm>
            <a:off x="1611360" y="30718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30" name="CustomShape 119"/>
          <p:cNvSpPr/>
          <p:nvPr/>
        </p:nvSpPr>
        <p:spPr>
          <a:xfrm>
            <a:off x="1712880" y="30718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31" name="CustomShape 120"/>
          <p:cNvSpPr/>
          <p:nvPr/>
        </p:nvSpPr>
        <p:spPr>
          <a:xfrm>
            <a:off x="1808280" y="30718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32" name="CustomShape 121"/>
          <p:cNvSpPr/>
          <p:nvPr/>
        </p:nvSpPr>
        <p:spPr>
          <a:xfrm>
            <a:off x="1909800" y="307188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33" name="CustomShape 122"/>
          <p:cNvSpPr/>
          <p:nvPr/>
        </p:nvSpPr>
        <p:spPr>
          <a:xfrm>
            <a:off x="2004840" y="368316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34" name="CustomShape 123"/>
          <p:cNvSpPr/>
          <p:nvPr/>
        </p:nvSpPr>
        <p:spPr>
          <a:xfrm>
            <a:off x="2103480" y="368316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35" name="CustomShape 124"/>
          <p:cNvSpPr/>
          <p:nvPr/>
        </p:nvSpPr>
        <p:spPr>
          <a:xfrm>
            <a:off x="2203560" y="368316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36" name="CustomShape 125"/>
          <p:cNvSpPr/>
          <p:nvPr/>
        </p:nvSpPr>
        <p:spPr>
          <a:xfrm>
            <a:off x="2300400" y="368316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37" name="CustomShape 126"/>
          <p:cNvSpPr/>
          <p:nvPr/>
        </p:nvSpPr>
        <p:spPr>
          <a:xfrm>
            <a:off x="2397240" y="368316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38" name="CustomShape 127"/>
          <p:cNvSpPr/>
          <p:nvPr/>
        </p:nvSpPr>
        <p:spPr>
          <a:xfrm>
            <a:off x="2595600" y="42940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39" name="CustomShape 128"/>
          <p:cNvSpPr/>
          <p:nvPr/>
        </p:nvSpPr>
        <p:spPr>
          <a:xfrm>
            <a:off x="2690640" y="42940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40" name="CustomShape 129"/>
          <p:cNvSpPr/>
          <p:nvPr/>
        </p:nvSpPr>
        <p:spPr>
          <a:xfrm>
            <a:off x="2792520" y="42940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41" name="CustomShape 130"/>
          <p:cNvSpPr/>
          <p:nvPr/>
        </p:nvSpPr>
        <p:spPr>
          <a:xfrm>
            <a:off x="2887560" y="429408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42" name="CustomShape 131"/>
          <p:cNvSpPr/>
          <p:nvPr/>
        </p:nvSpPr>
        <p:spPr>
          <a:xfrm>
            <a:off x="2989440" y="4294080"/>
            <a:ext cx="216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43" name="CustomShape 132"/>
          <p:cNvSpPr/>
          <p:nvPr/>
        </p:nvSpPr>
        <p:spPr>
          <a:xfrm>
            <a:off x="3087720" y="52102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44" name="CustomShape 133"/>
          <p:cNvSpPr/>
          <p:nvPr/>
        </p:nvSpPr>
        <p:spPr>
          <a:xfrm>
            <a:off x="3182760" y="52102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45" name="CustomShape 134"/>
          <p:cNvSpPr/>
          <p:nvPr/>
        </p:nvSpPr>
        <p:spPr>
          <a:xfrm>
            <a:off x="3284640" y="52102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46" name="CustomShape 135"/>
          <p:cNvSpPr/>
          <p:nvPr/>
        </p:nvSpPr>
        <p:spPr>
          <a:xfrm>
            <a:off x="3379680" y="52102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47" name="CustomShape 136"/>
          <p:cNvSpPr/>
          <p:nvPr/>
        </p:nvSpPr>
        <p:spPr>
          <a:xfrm>
            <a:off x="3476520" y="521028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48" name="CustomShape 137"/>
          <p:cNvSpPr/>
          <p:nvPr/>
        </p:nvSpPr>
        <p:spPr>
          <a:xfrm>
            <a:off x="4059000" y="586116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5</a:t>
            </a:r>
            <a:endParaRPr lang="en-US" sz="1800" strike="noStrike" spc="-1">
              <a:solidFill>
                <a:srgbClr val="000000"/>
              </a:solidFill>
              <a:uFill>
                <a:solidFill>
                  <a:srgbClr val="FFFFFF"/>
                </a:solidFill>
              </a:uFill>
              <a:latin typeface="Arial"/>
            </a:endParaRPr>
          </a:p>
        </p:txBody>
      </p:sp>
      <p:sp>
        <p:nvSpPr>
          <p:cNvPr id="549" name="CustomShape 138"/>
          <p:cNvSpPr/>
          <p:nvPr/>
        </p:nvSpPr>
        <p:spPr>
          <a:xfrm>
            <a:off x="3524040" y="586116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4</a:t>
            </a:r>
            <a:endParaRPr lang="en-US" sz="1800" strike="noStrike" spc="-1">
              <a:solidFill>
                <a:srgbClr val="000000"/>
              </a:solidFill>
              <a:uFill>
                <a:solidFill>
                  <a:srgbClr val="FFFFFF"/>
                </a:solidFill>
              </a:uFill>
              <a:latin typeface="Arial"/>
            </a:endParaRPr>
          </a:p>
        </p:txBody>
      </p:sp>
      <p:sp>
        <p:nvSpPr>
          <p:cNvPr id="550" name="CustomShape 139"/>
          <p:cNvSpPr/>
          <p:nvPr/>
        </p:nvSpPr>
        <p:spPr>
          <a:xfrm>
            <a:off x="2987280" y="586116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3</a:t>
            </a:r>
            <a:endParaRPr lang="en-US" sz="1800" strike="noStrike" spc="-1">
              <a:solidFill>
                <a:srgbClr val="000000"/>
              </a:solidFill>
              <a:uFill>
                <a:solidFill>
                  <a:srgbClr val="FFFFFF"/>
                </a:solidFill>
              </a:uFill>
              <a:latin typeface="Arial"/>
            </a:endParaRPr>
          </a:p>
        </p:txBody>
      </p:sp>
      <p:sp>
        <p:nvSpPr>
          <p:cNvPr id="551" name="CustomShape 140"/>
          <p:cNvSpPr/>
          <p:nvPr/>
        </p:nvSpPr>
        <p:spPr>
          <a:xfrm>
            <a:off x="2450880" y="586116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2</a:t>
            </a:r>
            <a:endParaRPr lang="en-US" sz="1800" strike="noStrike" spc="-1">
              <a:solidFill>
                <a:srgbClr val="000000"/>
              </a:solidFill>
              <a:uFill>
                <a:solidFill>
                  <a:srgbClr val="FFFFFF"/>
                </a:solidFill>
              </a:uFill>
              <a:latin typeface="Arial"/>
            </a:endParaRPr>
          </a:p>
        </p:txBody>
      </p:sp>
      <p:sp>
        <p:nvSpPr>
          <p:cNvPr id="552" name="CustomShape 141"/>
          <p:cNvSpPr/>
          <p:nvPr/>
        </p:nvSpPr>
        <p:spPr>
          <a:xfrm>
            <a:off x="1909440" y="586116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1</a:t>
            </a:r>
            <a:endParaRPr lang="en-US" sz="1800" strike="noStrike" spc="-1">
              <a:solidFill>
                <a:srgbClr val="000000"/>
              </a:solidFill>
              <a:uFill>
                <a:solidFill>
                  <a:srgbClr val="FFFFFF"/>
                </a:solidFill>
              </a:uFill>
              <a:latin typeface="Arial"/>
            </a:endParaRPr>
          </a:p>
        </p:txBody>
      </p:sp>
      <p:sp>
        <p:nvSpPr>
          <p:cNvPr id="553" name="CustomShape 142"/>
          <p:cNvSpPr/>
          <p:nvPr/>
        </p:nvSpPr>
        <p:spPr>
          <a:xfrm>
            <a:off x="1233000" y="586116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0</a:t>
            </a:r>
            <a:endParaRPr lang="en-US" sz="1800" strike="noStrike" spc="-1">
              <a:solidFill>
                <a:srgbClr val="000000"/>
              </a:solidFill>
              <a:uFill>
                <a:solidFill>
                  <a:srgbClr val="FFFFFF"/>
                </a:solidFill>
              </a:uFill>
              <a:latin typeface="Arial"/>
            </a:endParaRPr>
          </a:p>
        </p:txBody>
      </p:sp>
      <p:sp>
        <p:nvSpPr>
          <p:cNvPr id="554" name="CustomShape 143"/>
          <p:cNvSpPr/>
          <p:nvPr/>
        </p:nvSpPr>
        <p:spPr>
          <a:xfrm>
            <a:off x="1996560" y="2112840"/>
            <a:ext cx="64944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Aleisha</a:t>
            </a:r>
            <a:endParaRPr lang="en-US" sz="1800" strike="noStrike" spc="-1">
              <a:solidFill>
                <a:srgbClr val="000000"/>
              </a:solidFill>
              <a:uFill>
                <a:solidFill>
                  <a:srgbClr val="FFFFFF"/>
                </a:solidFill>
              </a:uFill>
              <a:latin typeface="Arial"/>
            </a:endParaRPr>
          </a:p>
        </p:txBody>
      </p:sp>
      <p:sp>
        <p:nvSpPr>
          <p:cNvPr id="555" name="CustomShape 144"/>
          <p:cNvSpPr/>
          <p:nvPr/>
        </p:nvSpPr>
        <p:spPr>
          <a:xfrm>
            <a:off x="2550600" y="2968560"/>
            <a:ext cx="4194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Brad</a:t>
            </a:r>
            <a:endParaRPr lang="en-US" sz="1800" strike="noStrike" spc="-1">
              <a:solidFill>
                <a:srgbClr val="000000"/>
              </a:solidFill>
              <a:uFill>
                <a:solidFill>
                  <a:srgbClr val="FFFFFF"/>
                </a:solidFill>
              </a:uFill>
              <a:latin typeface="Arial"/>
            </a:endParaRPr>
          </a:p>
        </p:txBody>
      </p:sp>
      <p:sp>
        <p:nvSpPr>
          <p:cNvPr id="556" name="CustomShape 145"/>
          <p:cNvSpPr/>
          <p:nvPr/>
        </p:nvSpPr>
        <p:spPr>
          <a:xfrm>
            <a:off x="3074400" y="3578400"/>
            <a:ext cx="672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Claudia</a:t>
            </a:r>
            <a:endParaRPr lang="en-US" sz="1800" strike="noStrike" spc="-1">
              <a:solidFill>
                <a:srgbClr val="000000"/>
              </a:solidFill>
              <a:uFill>
                <a:solidFill>
                  <a:srgbClr val="FFFFFF"/>
                </a:solidFill>
              </a:uFill>
              <a:latin typeface="Arial"/>
            </a:endParaRPr>
          </a:p>
        </p:txBody>
      </p:sp>
      <p:sp>
        <p:nvSpPr>
          <p:cNvPr id="557" name="CustomShape 146"/>
          <p:cNvSpPr/>
          <p:nvPr/>
        </p:nvSpPr>
        <p:spPr>
          <a:xfrm>
            <a:off x="3611880" y="4191120"/>
            <a:ext cx="60984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Darren</a:t>
            </a:r>
            <a:endParaRPr lang="en-US" sz="1800" strike="noStrike" spc="-1">
              <a:solidFill>
                <a:srgbClr val="000000"/>
              </a:solidFill>
              <a:uFill>
                <a:solidFill>
                  <a:srgbClr val="FFFFFF"/>
                </a:solidFill>
              </a:uFill>
              <a:latin typeface="Arial"/>
            </a:endParaRPr>
          </a:p>
        </p:txBody>
      </p:sp>
      <p:sp>
        <p:nvSpPr>
          <p:cNvPr id="558" name="CustomShape 147"/>
          <p:cNvSpPr/>
          <p:nvPr/>
        </p:nvSpPr>
        <p:spPr>
          <a:xfrm>
            <a:off x="4232160" y="5570640"/>
            <a:ext cx="138960" cy="2282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500" i="1" strike="noStrike" spc="-1">
                <a:solidFill>
                  <a:srgbClr val="000000"/>
                </a:solidFill>
                <a:uFill>
                  <a:solidFill>
                    <a:srgbClr val="FFFFFF"/>
                  </a:solidFill>
                </a:uFill>
                <a:latin typeface="Myriad Pro"/>
                <a:ea typeface="MS PGothic"/>
              </a:rPr>
              <a:t>D</a:t>
            </a:r>
            <a:endParaRPr lang="en-US" sz="1800" strike="noStrike" spc="-1">
              <a:solidFill>
                <a:srgbClr val="000000"/>
              </a:solidFill>
              <a:uFill>
                <a:solidFill>
                  <a:srgbClr val="FFFFFF"/>
                </a:solidFill>
              </a:uFill>
              <a:latin typeface="Arial"/>
            </a:endParaRPr>
          </a:p>
        </p:txBody>
      </p:sp>
      <p:sp>
        <p:nvSpPr>
          <p:cNvPr id="559" name="CustomShape 148"/>
          <p:cNvSpPr/>
          <p:nvPr/>
        </p:nvSpPr>
        <p:spPr>
          <a:xfrm>
            <a:off x="4147560" y="5105520"/>
            <a:ext cx="64656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Edwina</a:t>
            </a:r>
            <a:endParaRPr lang="en-US" sz="1800" strike="noStrike" spc="-1">
              <a:solidFill>
                <a:srgbClr val="000000"/>
              </a:solidFill>
              <a:uFill>
                <a:solidFill>
                  <a:srgbClr val="FFFFFF"/>
                </a:solidFill>
              </a:uFill>
              <a:latin typeface="Arial"/>
            </a:endParaRPr>
          </a:p>
        </p:txBody>
      </p:sp>
      <p:sp>
        <p:nvSpPr>
          <p:cNvPr id="560" name="CustomShape 149"/>
          <p:cNvSpPr/>
          <p:nvPr/>
        </p:nvSpPr>
        <p:spPr>
          <a:xfrm>
            <a:off x="1029960" y="2109960"/>
            <a:ext cx="3402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$59</a:t>
            </a:r>
            <a:endParaRPr lang="en-US" sz="1800" strike="noStrike" spc="-1">
              <a:solidFill>
                <a:srgbClr val="000000"/>
              </a:solidFill>
              <a:uFill>
                <a:solidFill>
                  <a:srgbClr val="FFFFFF"/>
                </a:solidFill>
              </a:uFill>
              <a:latin typeface="Arial"/>
            </a:endParaRPr>
          </a:p>
        </p:txBody>
      </p:sp>
      <p:sp>
        <p:nvSpPr>
          <p:cNvPr id="561" name="CustomShape 150"/>
          <p:cNvSpPr/>
          <p:nvPr/>
        </p:nvSpPr>
        <p:spPr>
          <a:xfrm>
            <a:off x="1136880" y="296712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45</a:t>
            </a:r>
            <a:endParaRPr lang="en-US" sz="1800" strike="noStrike" spc="-1">
              <a:solidFill>
                <a:srgbClr val="000000"/>
              </a:solidFill>
              <a:uFill>
                <a:solidFill>
                  <a:srgbClr val="FFFFFF"/>
                </a:solidFill>
              </a:uFill>
              <a:latin typeface="Arial"/>
            </a:endParaRPr>
          </a:p>
        </p:txBody>
      </p:sp>
      <p:sp>
        <p:nvSpPr>
          <p:cNvPr id="562" name="CustomShape 151"/>
          <p:cNvSpPr/>
          <p:nvPr/>
        </p:nvSpPr>
        <p:spPr>
          <a:xfrm>
            <a:off x="1136880" y="357336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35</a:t>
            </a:r>
            <a:endParaRPr lang="en-US" sz="1800" strike="noStrike" spc="-1">
              <a:solidFill>
                <a:srgbClr val="000000"/>
              </a:solidFill>
              <a:uFill>
                <a:solidFill>
                  <a:srgbClr val="FFFFFF"/>
                </a:solidFill>
              </a:uFill>
              <a:latin typeface="Arial"/>
            </a:endParaRPr>
          </a:p>
        </p:txBody>
      </p:sp>
      <p:sp>
        <p:nvSpPr>
          <p:cNvPr id="563" name="CustomShape 152"/>
          <p:cNvSpPr/>
          <p:nvPr/>
        </p:nvSpPr>
        <p:spPr>
          <a:xfrm>
            <a:off x="1136880" y="387828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30</a:t>
            </a:r>
            <a:endParaRPr lang="en-US" sz="1800" strike="noStrike" spc="-1">
              <a:solidFill>
                <a:srgbClr val="000000"/>
              </a:solidFill>
              <a:uFill>
                <a:solidFill>
                  <a:srgbClr val="FFFFFF"/>
                </a:solidFill>
              </a:uFill>
              <a:latin typeface="Arial"/>
            </a:endParaRPr>
          </a:p>
        </p:txBody>
      </p:sp>
      <p:sp>
        <p:nvSpPr>
          <p:cNvPr id="564" name="CustomShape 153"/>
          <p:cNvSpPr/>
          <p:nvPr/>
        </p:nvSpPr>
        <p:spPr>
          <a:xfrm>
            <a:off x="1136880" y="510228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10</a:t>
            </a:r>
            <a:endParaRPr lang="en-US" sz="1800" strike="noStrike" spc="-1">
              <a:solidFill>
                <a:srgbClr val="000000"/>
              </a:solidFill>
              <a:uFill>
                <a:solidFill>
                  <a:srgbClr val="FFFFFF"/>
                </a:solidFill>
              </a:uFill>
              <a:latin typeface="Arial"/>
            </a:endParaRPr>
          </a:p>
        </p:txBody>
      </p:sp>
      <p:sp>
        <p:nvSpPr>
          <p:cNvPr id="565" name="CustomShape 154"/>
          <p:cNvSpPr/>
          <p:nvPr/>
        </p:nvSpPr>
        <p:spPr>
          <a:xfrm>
            <a:off x="1136880" y="418320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25</a:t>
            </a:r>
            <a:endParaRPr lang="en-US" sz="1800" strike="noStrike" spc="-1">
              <a:solidFill>
                <a:srgbClr val="000000"/>
              </a:solidFill>
              <a:uFill>
                <a:solidFill>
                  <a:srgbClr val="FFFFFF"/>
                </a:solidFill>
              </a:uFill>
              <a:latin typeface="Arial"/>
            </a:endParaRPr>
          </a:p>
        </p:txBody>
      </p:sp>
      <p:sp>
        <p:nvSpPr>
          <p:cNvPr id="566" name="CustomShape 155"/>
          <p:cNvSpPr/>
          <p:nvPr/>
        </p:nvSpPr>
        <p:spPr>
          <a:xfrm>
            <a:off x="1455840" y="1370160"/>
            <a:ext cx="2660040" cy="4496760"/>
          </a:xfrm>
          <a:custGeom>
            <a:avLst/>
            <a:gdLst/>
            <a:ahLst/>
            <a:cxnLst/>
            <a:rect l="l" t="t" r="r" b="b"/>
            <a:pathLst>
              <a:path w="1509" h="2634">
                <a:moveTo>
                  <a:pt x="1509" y="2634"/>
                </a:moveTo>
                <a:lnTo>
                  <a:pt x="1509" y="2276"/>
                </a:lnTo>
                <a:lnTo>
                  <a:pt x="1203" y="2276"/>
                </a:lnTo>
                <a:lnTo>
                  <a:pt x="1203" y="1740"/>
                </a:lnTo>
                <a:lnTo>
                  <a:pt x="900" y="1740"/>
                </a:lnTo>
                <a:lnTo>
                  <a:pt x="900" y="1382"/>
                </a:lnTo>
                <a:lnTo>
                  <a:pt x="597" y="1382"/>
                </a:lnTo>
                <a:lnTo>
                  <a:pt x="597" y="1024"/>
                </a:lnTo>
                <a:lnTo>
                  <a:pt x="288" y="1024"/>
                </a:lnTo>
                <a:lnTo>
                  <a:pt x="288" y="524"/>
                </a:lnTo>
                <a:lnTo>
                  <a:pt x="0" y="524"/>
                </a:lnTo>
                <a:lnTo>
                  <a:pt x="0" y="0"/>
                </a:lnTo>
              </a:path>
            </a:pathLst>
          </a:custGeom>
          <a:noFill/>
          <a:ln w="39600">
            <a:solidFill>
              <a:srgbClr val="3C5DA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567" name="CustomShape 156"/>
          <p:cNvSpPr/>
          <p:nvPr/>
        </p:nvSpPr>
        <p:spPr>
          <a:xfrm>
            <a:off x="1433520" y="1333440"/>
            <a:ext cx="5052240" cy="4496760"/>
          </a:xfrm>
          <a:custGeom>
            <a:avLst/>
            <a:gdLst/>
            <a:ahLst/>
            <a:cxnLst/>
            <a:rect l="l" t="t" r="r" b="b"/>
            <a:pathLst>
              <a:path w="2864" h="2634">
                <a:moveTo>
                  <a:pt x="2864" y="2634"/>
                </a:moveTo>
                <a:lnTo>
                  <a:pt x="0" y="2634"/>
                </a:lnTo>
                <a:lnTo>
                  <a:pt x="0" y="0"/>
                </a:lnTo>
              </a:path>
            </a:pathLst>
          </a:custGeom>
          <a:noFill/>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568" name="CustomShape 157"/>
          <p:cNvSpPr/>
          <p:nvPr/>
        </p:nvSpPr>
        <p:spPr>
          <a:xfrm>
            <a:off x="762120" y="1219320"/>
            <a:ext cx="634320" cy="42624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Calibri"/>
                <a:ea typeface="MS PGothic"/>
              </a:rPr>
              <a:t>Price of book</a:t>
            </a:r>
            <a:endParaRPr lang="en-US" sz="1800" strike="noStrike" spc="-1">
              <a:solidFill>
                <a:srgbClr val="000000"/>
              </a:solidFill>
              <a:uFill>
                <a:solidFill>
                  <a:srgbClr val="FFFFFF"/>
                </a:solidFill>
              </a:uFill>
              <a:latin typeface="Arial"/>
            </a:endParaRPr>
          </a:p>
        </p:txBody>
      </p:sp>
      <p:sp>
        <p:nvSpPr>
          <p:cNvPr id="569" name="CustomShape 158"/>
          <p:cNvSpPr/>
          <p:nvPr/>
        </p:nvSpPr>
        <p:spPr>
          <a:xfrm>
            <a:off x="4869000" y="5943600"/>
            <a:ext cx="245520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Calibri"/>
                <a:ea typeface="MS PGothic"/>
              </a:rPr>
              <a:t>Quantity of books</a:t>
            </a:r>
            <a:endParaRPr lang="en-US" sz="1800" strike="noStrike" spc="-1">
              <a:solidFill>
                <a:srgbClr val="000000"/>
              </a:solidFill>
              <a:uFill>
                <a:solidFill>
                  <a:srgbClr val="FFFFFF"/>
                </a:solidFill>
              </a:uFill>
              <a:latin typeface="Arial"/>
            </a:endParaRPr>
          </a:p>
        </p:txBody>
      </p:sp>
      <p:sp>
        <p:nvSpPr>
          <p:cNvPr id="570" name="CustomShape 159"/>
          <p:cNvSpPr/>
          <p:nvPr/>
        </p:nvSpPr>
        <p:spPr>
          <a:xfrm>
            <a:off x="838080" y="0"/>
            <a:ext cx="8605080" cy="777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Consumer Surplus in the Used Textbook Market</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412"/>
                                        </p:tgtEl>
                                        <p:attrNameLst>
                                          <p:attrName>style.visibility</p:attrName>
                                        </p:attrNameLst>
                                      </p:cBhvr>
                                      <p:to>
                                        <p:strVal val="visible"/>
                                      </p:to>
                                    </p:set>
                                    <p:animEffect transition="in" filter="plus(in)">
                                      <p:cBhvr additive="repl">
                                        <p:cTn id="7" dur="1000"/>
                                        <p:tgtEl>
                                          <p:spTgt spid="412"/>
                                        </p:tgtEl>
                                      </p:cBhvr>
                                    </p:animEffect>
                                  </p:childTnLst>
                                </p:cTn>
                              </p:par>
                              <p:par>
                                <p:cTn id="8" presetID="13" presetClass="entr" presetSubtype="16" fill="hold" nodeType="withEffect">
                                  <p:stCondLst>
                                    <p:cond delay="0"/>
                                  </p:stCondLst>
                                  <p:childTnLst>
                                    <p:set>
                                      <p:cBhvr>
                                        <p:cTn id="9" dur="1" fill="hold">
                                          <p:stCondLst>
                                            <p:cond delay="0"/>
                                          </p:stCondLst>
                                        </p:cTn>
                                        <p:tgtEl>
                                          <p:spTgt spid="417"/>
                                        </p:tgtEl>
                                        <p:attrNameLst>
                                          <p:attrName>style.visibility</p:attrName>
                                        </p:attrNameLst>
                                      </p:cBhvr>
                                      <p:to>
                                        <p:strVal val="visible"/>
                                      </p:to>
                                    </p:set>
                                    <p:animEffect transition="in" filter="plus(in)">
                                      <p:cBhvr additive="repl">
                                        <p:cTn id="10" dur="1000"/>
                                        <p:tgtEl>
                                          <p:spTgt spid="417"/>
                                        </p:tgtEl>
                                      </p:cBhvr>
                                    </p:animEffect>
                                  </p:childTnLst>
                                </p:cTn>
                              </p:par>
                              <p:par>
                                <p:cTn id="11" presetID="22" presetClass="entr" presetSubtype="8" fill="hold" nodeType="withEffect">
                                  <p:stCondLst>
                                    <p:cond delay="0"/>
                                  </p:stCondLst>
                                  <p:childTnLst>
                                    <p:set>
                                      <p:cBhvr>
                                        <p:cTn id="12" dur="1" fill="hold">
                                          <p:stCondLst>
                                            <p:cond delay="0"/>
                                          </p:stCondLst>
                                        </p:cTn>
                                        <p:tgtEl>
                                          <p:spTgt spid="418"/>
                                        </p:tgtEl>
                                        <p:attrNameLst>
                                          <p:attrName>style.visibility</p:attrName>
                                        </p:attrNameLst>
                                      </p:cBhvr>
                                      <p:to>
                                        <p:strVal val="visible"/>
                                      </p:to>
                                    </p:set>
                                    <p:animEffect transition="in" filter="wipe(left)">
                                      <p:cBhvr additive="repl">
                                        <p:cTn id="13" dur="500"/>
                                        <p:tgtEl>
                                          <p:spTgt spid="418"/>
                                        </p:tgtEl>
                                      </p:cBhvr>
                                    </p:animEffect>
                                  </p:childTnLst>
                                </p:cTn>
                              </p:par>
                              <p:par>
                                <p:cTn id="14" presetID="22" presetClass="entr" presetSubtype="8" fill="hold" nodeType="withEffect">
                                  <p:stCondLst>
                                    <p:cond delay="0"/>
                                  </p:stCondLst>
                                  <p:childTnLst>
                                    <p:set>
                                      <p:cBhvr>
                                        <p:cTn id="15" dur="1" fill="hold">
                                          <p:stCondLst>
                                            <p:cond delay="0"/>
                                          </p:stCondLst>
                                        </p:cTn>
                                        <p:tgtEl>
                                          <p:spTgt spid="419"/>
                                        </p:tgtEl>
                                        <p:attrNameLst>
                                          <p:attrName>style.visibility</p:attrName>
                                        </p:attrNameLst>
                                      </p:cBhvr>
                                      <p:to>
                                        <p:strVal val="visible"/>
                                      </p:to>
                                    </p:set>
                                    <p:animEffect transition="in" filter="wipe(left)">
                                      <p:cBhvr additive="repl">
                                        <p:cTn id="16" dur="500"/>
                                        <p:tgtEl>
                                          <p:spTgt spid="41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28"/>
                                        </p:tgtEl>
                                        <p:attrNameLst>
                                          <p:attrName>style.visibility</p:attrName>
                                        </p:attrNameLst>
                                      </p:cBhvr>
                                      <p:to>
                                        <p:strVal val="visible"/>
                                      </p:to>
                                    </p:set>
                                    <p:animEffect transition="in" filter="wipe(left)">
                                      <p:cBhvr additive="repl">
                                        <p:cTn id="21" dur="500"/>
                                        <p:tgtEl>
                                          <p:spTgt spid="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 name="CustomShape 1"/>
          <p:cNvSpPr/>
          <p:nvPr/>
        </p:nvSpPr>
        <p:spPr>
          <a:xfrm>
            <a:off x="900000" y="0"/>
            <a:ext cx="8014680" cy="707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2800" b="1" strike="noStrike" spc="-1">
                <a:solidFill>
                  <a:srgbClr val="FFFFFF"/>
                </a:solidFill>
                <a:uFill>
                  <a:solidFill>
                    <a:srgbClr val="FFFFFF"/>
                  </a:solidFill>
                </a:uFill>
                <a:latin typeface="Calibri"/>
                <a:ea typeface="MS PGothic"/>
              </a:rPr>
              <a:t>Consumer Surplus in the Used Textbook Market</a:t>
            </a:r>
            <a:endParaRPr lang="en-US" sz="1800" strike="noStrike" spc="-1">
              <a:solidFill>
                <a:srgbClr val="000000"/>
              </a:solidFill>
              <a:uFill>
                <a:solidFill>
                  <a:srgbClr val="FFFFFF"/>
                </a:solidFill>
              </a:uFill>
              <a:latin typeface="Arial"/>
            </a:endParaRPr>
          </a:p>
        </p:txBody>
      </p:sp>
      <p:pic>
        <p:nvPicPr>
          <p:cNvPr id="572" name="Picture 1"/>
          <p:cNvPicPr/>
          <p:nvPr/>
        </p:nvPicPr>
        <p:blipFill>
          <a:blip r:embed="rId2"/>
          <a:stretch/>
        </p:blipFill>
        <p:spPr>
          <a:xfrm>
            <a:off x="879480" y="1557360"/>
            <a:ext cx="8228880" cy="2826720"/>
          </a:xfrm>
          <a:prstGeom prst="rect">
            <a:avLst/>
          </a:prstGeom>
          <a:ln w="9360">
            <a:noFill/>
          </a:ln>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 name="CustomShape 1"/>
          <p:cNvSpPr/>
          <p:nvPr/>
        </p:nvSpPr>
        <p:spPr>
          <a:xfrm>
            <a:off x="4859280" y="939960"/>
            <a:ext cx="3961800" cy="2056680"/>
          </a:xfrm>
          <a:prstGeom prst="rect">
            <a:avLst/>
          </a:prstGeom>
          <a:solidFill>
            <a:schemeClr val="accent5">
              <a:lumMod val="20000"/>
              <a:lumOff val="80000"/>
            </a:schemeClr>
          </a:solidFill>
          <a:ln w="12600">
            <a:noFill/>
          </a:ln>
        </p:spPr>
        <p:style>
          <a:lnRef idx="0">
            <a:scrgbClr r="0" g="0" b="0"/>
          </a:lnRef>
          <a:fillRef idx="0">
            <a:scrgbClr r="0" g="0" b="0"/>
          </a:fillRef>
          <a:effectRef idx="0">
            <a:scrgbClr r="0" g="0" b="0"/>
          </a:effectRef>
          <a:fontRef idx="minor"/>
        </p:style>
        <p:txBody>
          <a:bodyPr lIns="90000" tIns="45000" rIns="90000" bIns="45000"/>
          <a:lstStyle/>
          <a:p>
            <a:pPr marL="1440" indent="-720" algn="ctr">
              <a:lnSpc>
                <a:spcPct val="100000"/>
              </a:lnSpc>
            </a:pPr>
            <a:r>
              <a:rPr lang="en-US" sz="2400" strike="noStrike" spc="-1">
                <a:solidFill>
                  <a:srgbClr val="000000"/>
                </a:solidFill>
                <a:uFill>
                  <a:solidFill>
                    <a:srgbClr val="FFFFFF"/>
                  </a:solidFill>
                </a:uFill>
                <a:latin typeface="Calibri"/>
                <a:ea typeface="MS PGothic"/>
              </a:rPr>
              <a:t>The total consumer surplus generated by purchases of a good at a given price is equal to the area below the demand curve but above that price.</a:t>
            </a:r>
            <a:endParaRPr lang="en-US" sz="1800" strike="noStrike" spc="-1">
              <a:solidFill>
                <a:srgbClr val="000000"/>
              </a:solidFill>
              <a:uFill>
                <a:solidFill>
                  <a:srgbClr val="FFFFFF"/>
                </a:solidFill>
              </a:uFill>
              <a:latin typeface="Arial"/>
            </a:endParaRPr>
          </a:p>
        </p:txBody>
      </p:sp>
      <p:sp>
        <p:nvSpPr>
          <p:cNvPr id="574" name="CustomShape 2"/>
          <p:cNvSpPr/>
          <p:nvPr/>
        </p:nvSpPr>
        <p:spPr>
          <a:xfrm>
            <a:off x="6005520" y="4587840"/>
            <a:ext cx="138960" cy="22824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500" i="1" strike="noStrike" spc="-1">
                <a:solidFill>
                  <a:srgbClr val="000000"/>
                </a:solidFill>
                <a:uFill>
                  <a:solidFill>
                    <a:srgbClr val="FFFFFF"/>
                  </a:solidFill>
                </a:uFill>
                <a:latin typeface="Myriad Pro"/>
                <a:ea typeface="MS PGothic"/>
              </a:rPr>
              <a:t>D</a:t>
            </a:r>
            <a:endParaRPr lang="en-US" sz="1800" strike="noStrike" spc="-1">
              <a:solidFill>
                <a:srgbClr val="000000"/>
              </a:solidFill>
              <a:uFill>
                <a:solidFill>
                  <a:srgbClr val="FFFFFF"/>
                </a:solidFill>
              </a:uFill>
              <a:latin typeface="Arial"/>
            </a:endParaRPr>
          </a:p>
        </p:txBody>
      </p:sp>
      <p:sp>
        <p:nvSpPr>
          <p:cNvPr id="575" name="Line 3"/>
          <p:cNvSpPr/>
          <p:nvPr/>
        </p:nvSpPr>
        <p:spPr>
          <a:xfrm>
            <a:off x="2504880" y="1996920"/>
            <a:ext cx="3468600" cy="2646360"/>
          </a:xfrm>
          <a:prstGeom prst="line">
            <a:avLst/>
          </a:prstGeom>
          <a:ln w="36360">
            <a:solidFill>
              <a:srgbClr val="3C5DA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576" name="CustomShape 4"/>
          <p:cNvSpPr/>
          <p:nvPr/>
        </p:nvSpPr>
        <p:spPr>
          <a:xfrm>
            <a:off x="2514600" y="2006640"/>
            <a:ext cx="2998080" cy="2282040"/>
          </a:xfrm>
          <a:custGeom>
            <a:avLst/>
            <a:gdLst/>
            <a:ahLst/>
            <a:cxnLst/>
            <a:rect l="l" t="t" r="r" b="b"/>
            <a:pathLst>
              <a:path w="1889" h="1438">
                <a:moveTo>
                  <a:pt x="0" y="1438"/>
                </a:moveTo>
                <a:lnTo>
                  <a:pt x="0" y="0"/>
                </a:lnTo>
                <a:lnTo>
                  <a:pt x="1889" y="1438"/>
                </a:lnTo>
                <a:lnTo>
                  <a:pt x="0" y="1438"/>
                </a:lnTo>
                <a:close/>
              </a:path>
            </a:pathLst>
          </a:custGeom>
          <a:solidFill>
            <a:srgbClr val="C7D6EE"/>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77" name="CustomShape 5"/>
          <p:cNvSpPr/>
          <p:nvPr/>
        </p:nvSpPr>
        <p:spPr>
          <a:xfrm>
            <a:off x="2743200" y="3429000"/>
            <a:ext cx="913680" cy="4255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Myriad Roman"/>
                <a:ea typeface="MS PGothic"/>
              </a:rPr>
              <a:t>Consumer surplus</a:t>
            </a:r>
            <a:endParaRPr lang="en-US" sz="1800" strike="noStrike" spc="-1">
              <a:solidFill>
                <a:srgbClr val="000000"/>
              </a:solidFill>
              <a:uFill>
                <a:solidFill>
                  <a:srgbClr val="FFFFFF"/>
                </a:solidFill>
              </a:uFill>
              <a:latin typeface="Arial"/>
            </a:endParaRPr>
          </a:p>
        </p:txBody>
      </p:sp>
      <p:sp>
        <p:nvSpPr>
          <p:cNvPr id="578" name="Line 6"/>
          <p:cNvSpPr/>
          <p:nvPr/>
        </p:nvSpPr>
        <p:spPr>
          <a:xfrm flipV="1">
            <a:off x="5513040" y="4962240"/>
            <a:ext cx="360" cy="11268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579" name="CustomShape 7"/>
          <p:cNvSpPr/>
          <p:nvPr/>
        </p:nvSpPr>
        <p:spPr>
          <a:xfrm>
            <a:off x="5157000" y="5111640"/>
            <a:ext cx="705960" cy="1972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300" strike="noStrike" spc="-1">
                <a:solidFill>
                  <a:srgbClr val="000000"/>
                </a:solidFill>
                <a:uFill>
                  <a:solidFill>
                    <a:srgbClr val="FFFFFF"/>
                  </a:solidFill>
                </a:uFill>
                <a:latin typeface="Myriad Pro"/>
                <a:ea typeface="MS PGothic"/>
              </a:rPr>
              <a:t>1 million</a:t>
            </a:r>
            <a:endParaRPr lang="en-US" sz="1800" strike="noStrike" spc="-1">
              <a:solidFill>
                <a:srgbClr val="000000"/>
              </a:solidFill>
              <a:uFill>
                <a:solidFill>
                  <a:srgbClr val="FFFFFF"/>
                </a:solidFill>
              </a:uFill>
              <a:latin typeface="Arial"/>
            </a:endParaRPr>
          </a:p>
        </p:txBody>
      </p:sp>
      <p:sp>
        <p:nvSpPr>
          <p:cNvPr id="580" name="CustomShape 8"/>
          <p:cNvSpPr/>
          <p:nvPr/>
        </p:nvSpPr>
        <p:spPr>
          <a:xfrm>
            <a:off x="2346840" y="5111640"/>
            <a:ext cx="106920" cy="1972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300" strike="noStrike" spc="-1">
                <a:solidFill>
                  <a:srgbClr val="000000"/>
                </a:solidFill>
                <a:uFill>
                  <a:solidFill>
                    <a:srgbClr val="FFFFFF"/>
                  </a:solidFill>
                </a:uFill>
                <a:latin typeface="Myriad Pro"/>
                <a:ea typeface="MS PGothic"/>
              </a:rPr>
              <a:t>0</a:t>
            </a:r>
            <a:endParaRPr lang="en-US" sz="1800" strike="noStrike" spc="-1">
              <a:solidFill>
                <a:srgbClr val="000000"/>
              </a:solidFill>
              <a:uFill>
                <a:solidFill>
                  <a:srgbClr val="FFFFFF"/>
                </a:solidFill>
              </a:uFill>
              <a:latin typeface="Arial"/>
            </a:endParaRPr>
          </a:p>
        </p:txBody>
      </p:sp>
      <p:sp>
        <p:nvSpPr>
          <p:cNvPr id="581" name="CustomShape 9"/>
          <p:cNvSpPr/>
          <p:nvPr/>
        </p:nvSpPr>
        <p:spPr>
          <a:xfrm>
            <a:off x="1879560" y="4197240"/>
            <a:ext cx="422280" cy="1972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300" strike="noStrike" spc="-1">
                <a:solidFill>
                  <a:srgbClr val="000000"/>
                </a:solidFill>
                <a:uFill>
                  <a:solidFill>
                    <a:srgbClr val="FFFFFF"/>
                  </a:solidFill>
                </a:uFill>
                <a:latin typeface="Myriad Pro"/>
                <a:ea typeface="MS PGothic"/>
              </a:rPr>
              <a:t>$500</a:t>
            </a:r>
            <a:endParaRPr lang="en-US" sz="1800" strike="noStrike" spc="-1">
              <a:solidFill>
                <a:srgbClr val="000000"/>
              </a:solidFill>
              <a:uFill>
                <a:solidFill>
                  <a:srgbClr val="FFFFFF"/>
                </a:solidFill>
              </a:uFill>
              <a:latin typeface="Arial"/>
            </a:endParaRPr>
          </a:p>
        </p:txBody>
      </p:sp>
      <p:sp>
        <p:nvSpPr>
          <p:cNvPr id="582" name="CustomShape 10"/>
          <p:cNvSpPr/>
          <p:nvPr/>
        </p:nvSpPr>
        <p:spPr>
          <a:xfrm>
            <a:off x="2514600" y="1386000"/>
            <a:ext cx="4419000" cy="3688560"/>
          </a:xfrm>
          <a:custGeom>
            <a:avLst/>
            <a:gdLst/>
            <a:ahLst/>
            <a:cxnLst/>
            <a:rect l="l" t="t" r="r" b="b"/>
            <a:pathLst>
              <a:path w="2784" h="2324">
                <a:moveTo>
                  <a:pt x="2784" y="2324"/>
                </a:moveTo>
                <a:lnTo>
                  <a:pt x="0" y="2324"/>
                </a:lnTo>
                <a:lnTo>
                  <a:pt x="0" y="0"/>
                </a:lnTo>
              </a:path>
            </a:pathLst>
          </a:custGeom>
          <a:noFill/>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583" name="CustomShape 11"/>
          <p:cNvSpPr/>
          <p:nvPr/>
        </p:nvSpPr>
        <p:spPr>
          <a:xfrm>
            <a:off x="1523880" y="1371600"/>
            <a:ext cx="913680" cy="4255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Calibri"/>
                <a:ea typeface="MS PGothic"/>
              </a:rPr>
              <a:t>Price of iPad</a:t>
            </a:r>
            <a:endParaRPr lang="en-US" sz="1800" strike="noStrike" spc="-1">
              <a:solidFill>
                <a:srgbClr val="000000"/>
              </a:solidFill>
              <a:uFill>
                <a:solidFill>
                  <a:srgbClr val="FFFFFF"/>
                </a:solidFill>
              </a:uFill>
              <a:latin typeface="Arial"/>
            </a:endParaRPr>
          </a:p>
        </p:txBody>
      </p:sp>
      <p:sp>
        <p:nvSpPr>
          <p:cNvPr id="584" name="CustomShape 12"/>
          <p:cNvSpPr/>
          <p:nvPr/>
        </p:nvSpPr>
        <p:spPr>
          <a:xfrm>
            <a:off x="5257800" y="5410080"/>
            <a:ext cx="220896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Calibri"/>
                <a:ea typeface="MS PGothic"/>
              </a:rPr>
              <a:t>Quantity of iPads</a:t>
            </a:r>
            <a:endParaRPr lang="en-US" sz="1800" strike="noStrike" spc="-1">
              <a:solidFill>
                <a:srgbClr val="000000"/>
              </a:solidFill>
              <a:uFill>
                <a:solidFill>
                  <a:srgbClr val="FFFFFF"/>
                </a:solidFill>
              </a:uFill>
              <a:latin typeface="Arial"/>
            </a:endParaRPr>
          </a:p>
        </p:txBody>
      </p:sp>
      <p:sp>
        <p:nvSpPr>
          <p:cNvPr id="585" name="Line 13"/>
          <p:cNvSpPr/>
          <p:nvPr/>
        </p:nvSpPr>
        <p:spPr>
          <a:xfrm>
            <a:off x="2514600" y="4290840"/>
            <a:ext cx="3247920" cy="360"/>
          </a:xfrm>
          <a:prstGeom prst="line">
            <a:avLst/>
          </a:prstGeom>
          <a:ln w="2700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586" name="CustomShape 14"/>
          <p:cNvSpPr/>
          <p:nvPr/>
        </p:nvSpPr>
        <p:spPr>
          <a:xfrm>
            <a:off x="5504040" y="437976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87" name="CustomShape 15"/>
          <p:cNvSpPr/>
          <p:nvPr/>
        </p:nvSpPr>
        <p:spPr>
          <a:xfrm>
            <a:off x="5504040" y="44640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88" name="CustomShape 16"/>
          <p:cNvSpPr/>
          <p:nvPr/>
        </p:nvSpPr>
        <p:spPr>
          <a:xfrm>
            <a:off x="5504040" y="45482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89" name="CustomShape 17"/>
          <p:cNvSpPr/>
          <p:nvPr/>
        </p:nvSpPr>
        <p:spPr>
          <a:xfrm>
            <a:off x="5504040" y="46339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90" name="CustomShape 18"/>
          <p:cNvSpPr/>
          <p:nvPr/>
        </p:nvSpPr>
        <p:spPr>
          <a:xfrm>
            <a:off x="5504040" y="47181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91" name="CustomShape 19"/>
          <p:cNvSpPr/>
          <p:nvPr/>
        </p:nvSpPr>
        <p:spPr>
          <a:xfrm>
            <a:off x="5504040" y="48020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92" name="CustomShape 20"/>
          <p:cNvSpPr/>
          <p:nvPr/>
        </p:nvSpPr>
        <p:spPr>
          <a:xfrm>
            <a:off x="5504040" y="48927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93" name="CustomShape 21"/>
          <p:cNvSpPr/>
          <p:nvPr/>
        </p:nvSpPr>
        <p:spPr>
          <a:xfrm>
            <a:off x="5791320" y="4191120"/>
            <a:ext cx="1142280" cy="19728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300" strike="noStrike" spc="-1">
                <a:solidFill>
                  <a:srgbClr val="000000"/>
                </a:solidFill>
                <a:uFill>
                  <a:solidFill>
                    <a:srgbClr val="FFFFFF"/>
                  </a:solidFill>
                </a:uFill>
                <a:latin typeface="Myriad Roman"/>
                <a:ea typeface="MS PGothic"/>
              </a:rPr>
              <a:t>Price = $500</a:t>
            </a:r>
            <a:endParaRPr lang="en-US" sz="1800" strike="noStrike" spc="-1">
              <a:solidFill>
                <a:srgbClr val="000000"/>
              </a:solidFill>
              <a:uFill>
                <a:solidFill>
                  <a:srgbClr val="FFFFFF"/>
                </a:solidFill>
              </a:uFill>
              <a:latin typeface="Arial"/>
            </a:endParaRPr>
          </a:p>
        </p:txBody>
      </p:sp>
      <p:sp>
        <p:nvSpPr>
          <p:cNvPr id="594" name="CustomShape 22"/>
          <p:cNvSpPr/>
          <p:nvPr/>
        </p:nvSpPr>
        <p:spPr>
          <a:xfrm>
            <a:off x="5465880" y="4248000"/>
            <a:ext cx="92880" cy="9288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95" name="CustomShape 23"/>
          <p:cNvSpPr/>
          <p:nvPr/>
        </p:nvSpPr>
        <p:spPr>
          <a:xfrm>
            <a:off x="900000" y="60480"/>
            <a:ext cx="824940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Consumer Surplus</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73"/>
                                        </p:tgtEl>
                                        <p:attrNameLst>
                                          <p:attrName>style.visibility</p:attrName>
                                        </p:attrNameLst>
                                      </p:cBhvr>
                                      <p:to>
                                        <p:strVal val="visible"/>
                                      </p:to>
                                    </p:set>
                                    <p:animEffect transition="in" filter="wipe(left)">
                                      <p:cBhvr additive="repl">
                                        <p:cTn id="7" dur="500"/>
                                        <p:tgtEl>
                                          <p:spTgt spid="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 name="CustomShape 1"/>
          <p:cNvSpPr/>
          <p:nvPr/>
        </p:nvSpPr>
        <p:spPr>
          <a:xfrm>
            <a:off x="971640" y="60480"/>
            <a:ext cx="806364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How Changing Prices Affect Consumer Surplus</a:t>
            </a:r>
            <a:endParaRPr lang="en-US" sz="1800" strike="noStrike" spc="-1">
              <a:solidFill>
                <a:srgbClr val="000000"/>
              </a:solidFill>
              <a:uFill>
                <a:solidFill>
                  <a:srgbClr val="FFFFFF"/>
                </a:solidFill>
              </a:uFill>
              <a:latin typeface="Arial"/>
            </a:endParaRPr>
          </a:p>
        </p:txBody>
      </p:sp>
      <p:sp>
        <p:nvSpPr>
          <p:cNvPr id="597" name="CustomShape 2"/>
          <p:cNvSpPr/>
          <p:nvPr/>
        </p:nvSpPr>
        <p:spPr>
          <a:xfrm>
            <a:off x="731880" y="892080"/>
            <a:ext cx="8303400" cy="5344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100000"/>
              </a:lnSpc>
              <a:buClr>
                <a:srgbClr val="C00000"/>
              </a:buClr>
              <a:buFont typeface="Arial"/>
              <a:buChar char="•"/>
            </a:pPr>
            <a:r>
              <a:rPr lang="en-US" sz="2500" strike="noStrike" spc="-1">
                <a:solidFill>
                  <a:srgbClr val="C00000"/>
                </a:solidFill>
                <a:uFill>
                  <a:solidFill>
                    <a:srgbClr val="FFFFFF"/>
                  </a:solidFill>
                </a:uFill>
                <a:latin typeface="Calibri"/>
                <a:ea typeface="MS PGothic"/>
              </a:rPr>
              <a:t>A lower price raises consumer surplus </a:t>
            </a:r>
            <a:endParaRPr lang="en-US" sz="1800" strike="noStrike" spc="-1">
              <a:solidFill>
                <a:srgbClr val="000000"/>
              </a:solidFill>
              <a:uFill>
                <a:solidFill>
                  <a:srgbClr val="FFFFFF"/>
                </a:solidFill>
              </a:uFill>
              <a:latin typeface="Arial"/>
            </a:endParaRPr>
          </a:p>
          <a:p>
            <a:pPr marL="914400" lvl="2" indent="-456480">
              <a:lnSpc>
                <a:spcPct val="100000"/>
              </a:lnSpc>
              <a:buClr>
                <a:srgbClr val="000000"/>
              </a:buClr>
              <a:buFont typeface="Wingdings" charset="2"/>
              <a:buChar char=""/>
            </a:pPr>
            <a:r>
              <a:rPr lang="en-US" sz="2300" strike="noStrike" spc="-1">
                <a:solidFill>
                  <a:srgbClr val="000000"/>
                </a:solidFill>
                <a:uFill>
                  <a:solidFill>
                    <a:srgbClr val="FFFFFF"/>
                  </a:solidFill>
                </a:uFill>
                <a:latin typeface="Calibri"/>
                <a:ea typeface="MS PGothic"/>
              </a:rPr>
              <a:t>Buyers - always want to pay less</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465120" lvl="1" indent="-464400">
              <a:lnSpc>
                <a:spcPct val="100000"/>
              </a:lnSpc>
              <a:buClr>
                <a:srgbClr val="000000"/>
              </a:buClr>
              <a:buFont typeface="Wingdings" charset="2"/>
              <a:buChar char=""/>
            </a:pPr>
            <a:r>
              <a:rPr lang="en-US" sz="2500" strike="noStrike" spc="-1">
                <a:solidFill>
                  <a:srgbClr val="000000"/>
                </a:solidFill>
                <a:uFill>
                  <a:solidFill>
                    <a:srgbClr val="FFFFFF"/>
                  </a:solidFill>
                </a:uFill>
                <a:latin typeface="Calibri"/>
                <a:ea typeface="MS PGothic"/>
              </a:rPr>
              <a:t>A fall in the price of a good increases consumer surplus through two channels:</a:t>
            </a:r>
            <a:endParaRPr lang="en-US" sz="1800" strike="noStrike" spc="-1">
              <a:solidFill>
                <a:srgbClr val="000000"/>
              </a:solidFill>
              <a:uFill>
                <a:solidFill>
                  <a:srgbClr val="FFFFFF"/>
                </a:solidFill>
              </a:uFill>
              <a:latin typeface="Arial"/>
            </a:endParaRPr>
          </a:p>
          <a:p>
            <a:pPr marL="914400" lvl="2" indent="-456480">
              <a:lnSpc>
                <a:spcPct val="100000"/>
              </a:lnSpc>
              <a:buClr>
                <a:srgbClr val="000000"/>
              </a:buClr>
              <a:buFont typeface="Wingdings" charset="2"/>
              <a:buAutoNum type="arabicPeriod"/>
            </a:pPr>
            <a:r>
              <a:rPr lang="en-US" sz="2800" strike="noStrike" spc="-1">
                <a:solidFill>
                  <a:srgbClr val="000000"/>
                </a:solidFill>
                <a:uFill>
                  <a:solidFill>
                    <a:srgbClr val="FFFFFF"/>
                  </a:solidFill>
                </a:uFill>
                <a:latin typeface="Calibri"/>
                <a:ea typeface="MS PGothic"/>
              </a:rPr>
              <a:t>a gain to consumers who would have bought at the original price</a:t>
            </a:r>
            <a:endParaRPr lang="en-US" sz="1800" strike="noStrike" spc="-1">
              <a:solidFill>
                <a:srgbClr val="000000"/>
              </a:solidFill>
              <a:uFill>
                <a:solidFill>
                  <a:srgbClr val="FFFFFF"/>
                </a:solidFill>
              </a:uFill>
              <a:latin typeface="Arial"/>
            </a:endParaRPr>
          </a:p>
          <a:p>
            <a:pPr marL="914400" lvl="2" indent="-456480">
              <a:lnSpc>
                <a:spcPct val="100000"/>
              </a:lnSpc>
              <a:buClr>
                <a:srgbClr val="000000"/>
              </a:buClr>
              <a:buFont typeface="Wingdings" charset="2"/>
              <a:buAutoNum type="arabicPeriod"/>
            </a:pPr>
            <a:r>
              <a:rPr lang="en-US" sz="2800" strike="noStrike" spc="-1">
                <a:solidFill>
                  <a:srgbClr val="000000"/>
                </a:solidFill>
                <a:uFill>
                  <a:solidFill>
                    <a:srgbClr val="FFFFFF"/>
                  </a:solidFill>
                </a:uFill>
                <a:latin typeface="Calibri"/>
                <a:ea typeface="MS PGothic"/>
              </a:rPr>
              <a:t>a gain to consumers who are persuaded to buy by the lower price</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 name="CustomShape 1"/>
          <p:cNvSpPr/>
          <p:nvPr/>
        </p:nvSpPr>
        <p:spPr>
          <a:xfrm>
            <a:off x="5452920" y="4811760"/>
            <a:ext cx="1556640" cy="704160"/>
          </a:xfrm>
          <a:custGeom>
            <a:avLst/>
            <a:gdLst/>
            <a:ahLst/>
            <a:cxnLst/>
            <a:rect l="l" t="t" r="r" b="b"/>
            <a:pathLst>
              <a:path w="160" h="133">
                <a:moveTo>
                  <a:pt x="144" y="133"/>
                </a:moveTo>
                <a:cubicBezTo>
                  <a:pt x="153" y="133"/>
                  <a:pt x="160" y="125"/>
                  <a:pt x="160" y="116"/>
                </a:cubicBezTo>
                <a:cubicBezTo>
                  <a:pt x="160" y="17"/>
                  <a:pt x="160" y="17"/>
                  <a:pt x="160" y="17"/>
                </a:cubicBezTo>
                <a:cubicBezTo>
                  <a:pt x="160" y="7"/>
                  <a:pt x="153" y="0"/>
                  <a:pt x="144" y="0"/>
                </a:cubicBezTo>
                <a:cubicBezTo>
                  <a:pt x="16" y="0"/>
                  <a:pt x="16" y="0"/>
                  <a:pt x="16" y="0"/>
                </a:cubicBezTo>
                <a:cubicBezTo>
                  <a:pt x="7" y="0"/>
                  <a:pt x="0" y="7"/>
                  <a:pt x="0" y="17"/>
                </a:cubicBezTo>
                <a:cubicBezTo>
                  <a:pt x="0" y="116"/>
                  <a:pt x="0" y="116"/>
                  <a:pt x="0" y="116"/>
                </a:cubicBezTo>
                <a:cubicBezTo>
                  <a:pt x="0" y="125"/>
                  <a:pt x="7" y="133"/>
                  <a:pt x="16" y="133"/>
                </a:cubicBezTo>
                <a:lnTo>
                  <a:pt x="144" y="133"/>
                </a:lnTo>
                <a:close/>
              </a:path>
            </a:pathLst>
          </a:custGeom>
          <a:solidFill>
            <a:srgbClr val="D7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599" name="CustomShape 2"/>
          <p:cNvSpPr/>
          <p:nvPr/>
        </p:nvSpPr>
        <p:spPr>
          <a:xfrm>
            <a:off x="3598920" y="4089240"/>
            <a:ext cx="529560" cy="340560"/>
          </a:xfrm>
          <a:prstGeom prst="rect">
            <a:avLst/>
          </a:prstGeom>
          <a:solidFill>
            <a:srgbClr val="C7D6EE"/>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00" name="Line 3"/>
          <p:cNvSpPr/>
          <p:nvPr/>
        </p:nvSpPr>
        <p:spPr>
          <a:xfrm>
            <a:off x="3865320" y="4262400"/>
            <a:ext cx="1631880" cy="61092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601" name="CustomShape 4"/>
          <p:cNvSpPr/>
          <p:nvPr/>
        </p:nvSpPr>
        <p:spPr>
          <a:xfrm>
            <a:off x="5559480" y="4853160"/>
            <a:ext cx="1374120" cy="6393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Myriad Pro"/>
                <a:ea typeface="MS PGothic"/>
              </a:rPr>
              <a:t>Darren’s consumer surplus</a:t>
            </a:r>
            <a:endParaRPr lang="en-US" sz="1800" strike="noStrike" spc="-1">
              <a:solidFill>
                <a:srgbClr val="000000"/>
              </a:solidFill>
              <a:uFill>
                <a:solidFill>
                  <a:srgbClr val="FFFFFF"/>
                </a:solidFill>
              </a:uFill>
              <a:latin typeface="Arial"/>
            </a:endParaRPr>
          </a:p>
        </p:txBody>
      </p:sp>
      <p:sp>
        <p:nvSpPr>
          <p:cNvPr id="602" name="CustomShape 5"/>
          <p:cNvSpPr/>
          <p:nvPr/>
        </p:nvSpPr>
        <p:spPr>
          <a:xfrm>
            <a:off x="3389400" y="1366920"/>
            <a:ext cx="1715400" cy="693000"/>
          </a:xfrm>
          <a:custGeom>
            <a:avLst/>
            <a:gdLst/>
            <a:ahLst/>
            <a:cxnLst/>
            <a:rect l="l" t="t" r="r" b="b"/>
            <a:pathLst>
              <a:path w="306" h="94">
                <a:moveTo>
                  <a:pt x="306" y="78"/>
                </a:moveTo>
                <a:cubicBezTo>
                  <a:pt x="306" y="87"/>
                  <a:pt x="299" y="94"/>
                  <a:pt x="290" y="94"/>
                </a:cubicBezTo>
                <a:cubicBezTo>
                  <a:pt x="16" y="94"/>
                  <a:pt x="16" y="94"/>
                  <a:pt x="16" y="94"/>
                </a:cubicBezTo>
                <a:cubicBezTo>
                  <a:pt x="7" y="94"/>
                  <a:pt x="0" y="87"/>
                  <a:pt x="0" y="78"/>
                </a:cubicBezTo>
                <a:cubicBezTo>
                  <a:pt x="0" y="16"/>
                  <a:pt x="0" y="16"/>
                  <a:pt x="0" y="16"/>
                </a:cubicBezTo>
                <a:cubicBezTo>
                  <a:pt x="0" y="7"/>
                  <a:pt x="7" y="0"/>
                  <a:pt x="16" y="0"/>
                </a:cubicBezTo>
                <a:cubicBezTo>
                  <a:pt x="290" y="0"/>
                  <a:pt x="290" y="0"/>
                  <a:pt x="290" y="0"/>
                </a:cubicBezTo>
                <a:cubicBezTo>
                  <a:pt x="299" y="0"/>
                  <a:pt x="306" y="7"/>
                  <a:pt x="306" y="16"/>
                </a:cubicBezTo>
                <a:lnTo>
                  <a:pt x="306" y="78"/>
                </a:lnTo>
                <a:close/>
              </a:path>
            </a:pathLst>
          </a:custGeom>
          <a:solidFill>
            <a:srgbClr val="D7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03" name="CustomShape 6"/>
          <p:cNvSpPr/>
          <p:nvPr/>
        </p:nvSpPr>
        <p:spPr>
          <a:xfrm>
            <a:off x="3754440" y="2133720"/>
            <a:ext cx="1578960" cy="532800"/>
          </a:xfrm>
          <a:custGeom>
            <a:avLst/>
            <a:gdLst/>
            <a:ahLst/>
            <a:cxnLst/>
            <a:rect l="l" t="t" r="r" b="b"/>
            <a:pathLst>
              <a:path w="272" h="96">
                <a:moveTo>
                  <a:pt x="256" y="96"/>
                </a:moveTo>
                <a:cubicBezTo>
                  <a:pt x="265" y="96"/>
                  <a:pt x="272" y="88"/>
                  <a:pt x="272" y="79"/>
                </a:cubicBezTo>
                <a:cubicBezTo>
                  <a:pt x="272" y="17"/>
                  <a:pt x="272" y="17"/>
                  <a:pt x="272" y="17"/>
                </a:cubicBezTo>
                <a:cubicBezTo>
                  <a:pt x="272" y="7"/>
                  <a:pt x="265" y="0"/>
                  <a:pt x="256" y="0"/>
                </a:cubicBezTo>
                <a:cubicBezTo>
                  <a:pt x="16" y="0"/>
                  <a:pt x="16" y="0"/>
                  <a:pt x="16" y="0"/>
                </a:cubicBezTo>
                <a:cubicBezTo>
                  <a:pt x="7" y="0"/>
                  <a:pt x="0" y="7"/>
                  <a:pt x="0" y="17"/>
                </a:cubicBezTo>
                <a:cubicBezTo>
                  <a:pt x="0" y="79"/>
                  <a:pt x="0" y="79"/>
                  <a:pt x="0" y="79"/>
                </a:cubicBezTo>
                <a:cubicBezTo>
                  <a:pt x="0" y="88"/>
                  <a:pt x="7" y="96"/>
                  <a:pt x="16" y="96"/>
                </a:cubicBezTo>
                <a:lnTo>
                  <a:pt x="256" y="96"/>
                </a:lnTo>
                <a:close/>
              </a:path>
            </a:pathLst>
          </a:custGeom>
          <a:solidFill>
            <a:srgbClr val="D7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04" name="CustomShape 7"/>
          <p:cNvSpPr/>
          <p:nvPr/>
        </p:nvSpPr>
        <p:spPr>
          <a:xfrm>
            <a:off x="2016000" y="3757680"/>
            <a:ext cx="1581840" cy="672480"/>
          </a:xfrm>
          <a:prstGeom prst="rect">
            <a:avLst/>
          </a:prstGeom>
          <a:solidFill>
            <a:srgbClr val="7DA7D8"/>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05" name="Line 8"/>
          <p:cNvSpPr/>
          <p:nvPr/>
        </p:nvSpPr>
        <p:spPr>
          <a:xfrm flipV="1">
            <a:off x="2277720" y="1801800"/>
            <a:ext cx="1155960" cy="212220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606" name="Line 9"/>
          <p:cNvSpPr/>
          <p:nvPr/>
        </p:nvSpPr>
        <p:spPr>
          <a:xfrm flipV="1">
            <a:off x="2798640" y="2627280"/>
            <a:ext cx="988920" cy="134280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607" name="Line 10"/>
          <p:cNvSpPr/>
          <p:nvPr/>
        </p:nvSpPr>
        <p:spPr>
          <a:xfrm flipV="1">
            <a:off x="3354120" y="3398760"/>
            <a:ext cx="1241640" cy="58248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608" name="CustomShape 11"/>
          <p:cNvSpPr/>
          <p:nvPr/>
        </p:nvSpPr>
        <p:spPr>
          <a:xfrm>
            <a:off x="3533760" y="1419120"/>
            <a:ext cx="1480320" cy="8517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Myriad Pro"/>
                <a:ea typeface="MS PGothic"/>
              </a:rPr>
              <a:t>Increase in Aleisha’s consumer surplus</a:t>
            </a:r>
            <a:endParaRPr lang="en-US" sz="1800" strike="noStrike" spc="-1">
              <a:solidFill>
                <a:srgbClr val="000000"/>
              </a:solidFill>
              <a:uFill>
                <a:solidFill>
                  <a:srgbClr val="FFFFFF"/>
                </a:solidFill>
              </a:uFill>
              <a:latin typeface="Arial"/>
            </a:endParaRPr>
          </a:p>
        </p:txBody>
      </p:sp>
      <p:sp>
        <p:nvSpPr>
          <p:cNvPr id="609" name="CustomShape 12"/>
          <p:cNvSpPr/>
          <p:nvPr/>
        </p:nvSpPr>
        <p:spPr>
          <a:xfrm>
            <a:off x="4560840" y="3048120"/>
            <a:ext cx="1762920" cy="532800"/>
          </a:xfrm>
          <a:custGeom>
            <a:avLst/>
            <a:gdLst/>
            <a:ahLst/>
            <a:cxnLst/>
            <a:rect l="l" t="t" r="r" b="b"/>
            <a:pathLst>
              <a:path w="308" h="96">
                <a:moveTo>
                  <a:pt x="292" y="96"/>
                </a:moveTo>
                <a:cubicBezTo>
                  <a:pt x="301" y="96"/>
                  <a:pt x="308" y="88"/>
                  <a:pt x="308" y="79"/>
                </a:cubicBezTo>
                <a:cubicBezTo>
                  <a:pt x="308" y="17"/>
                  <a:pt x="308" y="17"/>
                  <a:pt x="308" y="17"/>
                </a:cubicBezTo>
                <a:cubicBezTo>
                  <a:pt x="308" y="7"/>
                  <a:pt x="301" y="0"/>
                  <a:pt x="292" y="0"/>
                </a:cubicBezTo>
                <a:cubicBezTo>
                  <a:pt x="16" y="0"/>
                  <a:pt x="16" y="0"/>
                  <a:pt x="16" y="0"/>
                </a:cubicBezTo>
                <a:cubicBezTo>
                  <a:pt x="7" y="0"/>
                  <a:pt x="0" y="7"/>
                  <a:pt x="0" y="17"/>
                </a:cubicBezTo>
                <a:cubicBezTo>
                  <a:pt x="0" y="79"/>
                  <a:pt x="0" y="79"/>
                  <a:pt x="0" y="79"/>
                </a:cubicBezTo>
                <a:cubicBezTo>
                  <a:pt x="0" y="88"/>
                  <a:pt x="7" y="96"/>
                  <a:pt x="16" y="96"/>
                </a:cubicBezTo>
                <a:lnTo>
                  <a:pt x="292" y="96"/>
                </a:lnTo>
                <a:close/>
              </a:path>
            </a:pathLst>
          </a:custGeom>
          <a:solidFill>
            <a:srgbClr val="D7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10" name="CustomShape 13"/>
          <p:cNvSpPr/>
          <p:nvPr/>
        </p:nvSpPr>
        <p:spPr>
          <a:xfrm>
            <a:off x="3828960" y="2181240"/>
            <a:ext cx="1447200" cy="8517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Myriad Pro"/>
                <a:ea typeface="MS PGothic"/>
              </a:rPr>
              <a:t>Increase in Brad’s consumer surplus</a:t>
            </a:r>
            <a:endParaRPr lang="en-US" sz="1800" strike="noStrike" spc="-1">
              <a:solidFill>
                <a:srgbClr val="000000"/>
              </a:solidFill>
              <a:uFill>
                <a:solidFill>
                  <a:srgbClr val="FFFFFF"/>
                </a:solidFill>
              </a:uFill>
              <a:latin typeface="Arial"/>
            </a:endParaRPr>
          </a:p>
        </p:txBody>
      </p:sp>
      <p:sp>
        <p:nvSpPr>
          <p:cNvPr id="611" name="CustomShape 14"/>
          <p:cNvSpPr/>
          <p:nvPr/>
        </p:nvSpPr>
        <p:spPr>
          <a:xfrm>
            <a:off x="4648320" y="3110040"/>
            <a:ext cx="1675800" cy="63864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Myriad Pro"/>
                <a:ea typeface="MS PGothic"/>
              </a:rPr>
              <a:t>Increase in Claude’s consumer surplus</a:t>
            </a:r>
            <a:endParaRPr lang="en-US" sz="1800" strike="noStrike" spc="-1">
              <a:solidFill>
                <a:srgbClr val="000000"/>
              </a:solidFill>
              <a:uFill>
                <a:solidFill>
                  <a:srgbClr val="FFFFFF"/>
                </a:solidFill>
              </a:uFill>
              <a:latin typeface="Arial"/>
            </a:endParaRPr>
          </a:p>
        </p:txBody>
      </p:sp>
      <p:sp>
        <p:nvSpPr>
          <p:cNvPr id="612" name="Line 15"/>
          <p:cNvSpPr/>
          <p:nvPr/>
        </p:nvSpPr>
        <p:spPr>
          <a:xfrm>
            <a:off x="2016000" y="3757320"/>
            <a:ext cx="11592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613" name="Line 16"/>
          <p:cNvSpPr/>
          <p:nvPr/>
        </p:nvSpPr>
        <p:spPr>
          <a:xfrm>
            <a:off x="2016000" y="4430520"/>
            <a:ext cx="11592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614" name="CustomShape 17"/>
          <p:cNvSpPr/>
          <p:nvPr/>
        </p:nvSpPr>
        <p:spPr>
          <a:xfrm>
            <a:off x="2739960" y="4081320"/>
            <a:ext cx="1980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15" name="CustomShape 18"/>
          <p:cNvSpPr/>
          <p:nvPr/>
        </p:nvSpPr>
        <p:spPr>
          <a:xfrm>
            <a:off x="4606920" y="5816520"/>
            <a:ext cx="99360" cy="1818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200" strike="noStrike" spc="-1">
                <a:solidFill>
                  <a:srgbClr val="000000"/>
                </a:solidFill>
                <a:uFill>
                  <a:solidFill>
                    <a:srgbClr val="FFFFFF"/>
                  </a:solidFill>
                </a:uFill>
                <a:latin typeface="Myriad Pro"/>
                <a:ea typeface="MS PGothic"/>
              </a:rPr>
              <a:t>5</a:t>
            </a:r>
            <a:endParaRPr lang="en-US" sz="1800" strike="noStrike" spc="-1">
              <a:solidFill>
                <a:srgbClr val="000000"/>
              </a:solidFill>
              <a:uFill>
                <a:solidFill>
                  <a:srgbClr val="FFFFFF"/>
                </a:solidFill>
              </a:uFill>
              <a:latin typeface="Arial"/>
            </a:endParaRPr>
          </a:p>
        </p:txBody>
      </p:sp>
      <p:sp>
        <p:nvSpPr>
          <p:cNvPr id="616" name="Line 19"/>
          <p:cNvSpPr/>
          <p:nvPr/>
        </p:nvSpPr>
        <p:spPr>
          <a:xfrm>
            <a:off x="2020680" y="2736720"/>
            <a:ext cx="11592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617" name="Line 20"/>
          <p:cNvSpPr/>
          <p:nvPr/>
        </p:nvSpPr>
        <p:spPr>
          <a:xfrm>
            <a:off x="2020680" y="3412800"/>
            <a:ext cx="11592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618" name="Line 21"/>
          <p:cNvSpPr/>
          <p:nvPr/>
        </p:nvSpPr>
        <p:spPr>
          <a:xfrm>
            <a:off x="2020680" y="4084560"/>
            <a:ext cx="115920" cy="14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619" name="Line 22"/>
          <p:cNvSpPr/>
          <p:nvPr/>
        </p:nvSpPr>
        <p:spPr>
          <a:xfrm>
            <a:off x="2020680" y="5101920"/>
            <a:ext cx="115920" cy="180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620" name="Line 23"/>
          <p:cNvSpPr/>
          <p:nvPr/>
        </p:nvSpPr>
        <p:spPr>
          <a:xfrm flipV="1">
            <a:off x="2546280" y="5661000"/>
            <a:ext cx="1440" cy="11268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621" name="Line 24"/>
          <p:cNvSpPr/>
          <p:nvPr/>
        </p:nvSpPr>
        <p:spPr>
          <a:xfrm flipV="1">
            <a:off x="3076560" y="5661000"/>
            <a:ext cx="1440" cy="11268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622" name="Line 25"/>
          <p:cNvSpPr/>
          <p:nvPr/>
        </p:nvSpPr>
        <p:spPr>
          <a:xfrm flipV="1">
            <a:off x="3603600" y="5661000"/>
            <a:ext cx="1440" cy="11268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623" name="Line 26"/>
          <p:cNvSpPr/>
          <p:nvPr/>
        </p:nvSpPr>
        <p:spPr>
          <a:xfrm flipV="1">
            <a:off x="4133520" y="5661000"/>
            <a:ext cx="1800" cy="11268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624" name="CustomShape 27"/>
          <p:cNvSpPr/>
          <p:nvPr/>
        </p:nvSpPr>
        <p:spPr>
          <a:xfrm>
            <a:off x="4078440" y="5816520"/>
            <a:ext cx="99360" cy="1818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200" strike="noStrike" spc="-1">
                <a:solidFill>
                  <a:srgbClr val="000000"/>
                </a:solidFill>
                <a:uFill>
                  <a:solidFill>
                    <a:srgbClr val="FFFFFF"/>
                  </a:solidFill>
                </a:uFill>
                <a:latin typeface="Myriad Pro"/>
                <a:ea typeface="MS PGothic"/>
              </a:rPr>
              <a:t>4</a:t>
            </a:r>
            <a:endParaRPr lang="en-US" sz="1800" strike="noStrike" spc="-1">
              <a:solidFill>
                <a:srgbClr val="000000"/>
              </a:solidFill>
              <a:uFill>
                <a:solidFill>
                  <a:srgbClr val="FFFFFF"/>
                </a:solidFill>
              </a:uFill>
              <a:latin typeface="Arial"/>
            </a:endParaRPr>
          </a:p>
        </p:txBody>
      </p:sp>
      <p:sp>
        <p:nvSpPr>
          <p:cNvPr id="625" name="CustomShape 28"/>
          <p:cNvSpPr/>
          <p:nvPr/>
        </p:nvSpPr>
        <p:spPr>
          <a:xfrm>
            <a:off x="3551400" y="5816520"/>
            <a:ext cx="99360" cy="1818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200" strike="noStrike" spc="-1">
                <a:solidFill>
                  <a:srgbClr val="000000"/>
                </a:solidFill>
                <a:uFill>
                  <a:solidFill>
                    <a:srgbClr val="FFFFFF"/>
                  </a:solidFill>
                </a:uFill>
                <a:latin typeface="Myriad Pro"/>
                <a:ea typeface="MS PGothic"/>
              </a:rPr>
              <a:t>3</a:t>
            </a:r>
            <a:endParaRPr lang="en-US" sz="1800" strike="noStrike" spc="-1">
              <a:solidFill>
                <a:srgbClr val="000000"/>
              </a:solidFill>
              <a:uFill>
                <a:solidFill>
                  <a:srgbClr val="FFFFFF"/>
                </a:solidFill>
              </a:uFill>
              <a:latin typeface="Arial"/>
            </a:endParaRPr>
          </a:p>
        </p:txBody>
      </p:sp>
      <p:sp>
        <p:nvSpPr>
          <p:cNvPr id="626" name="CustomShape 29"/>
          <p:cNvSpPr/>
          <p:nvPr/>
        </p:nvSpPr>
        <p:spPr>
          <a:xfrm>
            <a:off x="3024360" y="5816520"/>
            <a:ext cx="99360" cy="1818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200" strike="noStrike" spc="-1">
                <a:solidFill>
                  <a:srgbClr val="000000"/>
                </a:solidFill>
                <a:uFill>
                  <a:solidFill>
                    <a:srgbClr val="FFFFFF"/>
                  </a:solidFill>
                </a:uFill>
                <a:latin typeface="Myriad Pro"/>
                <a:ea typeface="MS PGothic"/>
              </a:rPr>
              <a:t>2</a:t>
            </a:r>
            <a:endParaRPr lang="en-US" sz="1800" strike="noStrike" spc="-1">
              <a:solidFill>
                <a:srgbClr val="000000"/>
              </a:solidFill>
              <a:uFill>
                <a:solidFill>
                  <a:srgbClr val="FFFFFF"/>
                </a:solidFill>
              </a:uFill>
              <a:latin typeface="Arial"/>
            </a:endParaRPr>
          </a:p>
        </p:txBody>
      </p:sp>
      <p:sp>
        <p:nvSpPr>
          <p:cNvPr id="627" name="CustomShape 30"/>
          <p:cNvSpPr/>
          <p:nvPr/>
        </p:nvSpPr>
        <p:spPr>
          <a:xfrm>
            <a:off x="2490840" y="5816520"/>
            <a:ext cx="99360" cy="1818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200" strike="noStrike" spc="-1">
                <a:solidFill>
                  <a:srgbClr val="000000"/>
                </a:solidFill>
                <a:uFill>
                  <a:solidFill>
                    <a:srgbClr val="FFFFFF"/>
                  </a:solidFill>
                </a:uFill>
                <a:latin typeface="Myriad Pro"/>
                <a:ea typeface="MS PGothic"/>
              </a:rPr>
              <a:t>1</a:t>
            </a:r>
            <a:endParaRPr lang="en-US" sz="1800" strike="noStrike" spc="-1">
              <a:solidFill>
                <a:srgbClr val="000000"/>
              </a:solidFill>
              <a:uFill>
                <a:solidFill>
                  <a:srgbClr val="FFFFFF"/>
                </a:solidFill>
              </a:uFill>
              <a:latin typeface="Arial"/>
            </a:endParaRPr>
          </a:p>
        </p:txBody>
      </p:sp>
      <p:sp>
        <p:nvSpPr>
          <p:cNvPr id="628" name="CustomShape 31"/>
          <p:cNvSpPr/>
          <p:nvPr/>
        </p:nvSpPr>
        <p:spPr>
          <a:xfrm>
            <a:off x="1836720" y="5816520"/>
            <a:ext cx="99360" cy="1818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200" strike="noStrike" spc="-1">
                <a:solidFill>
                  <a:srgbClr val="000000"/>
                </a:solidFill>
                <a:uFill>
                  <a:solidFill>
                    <a:srgbClr val="FFFFFF"/>
                  </a:solidFill>
                </a:uFill>
                <a:latin typeface="Myriad Pro"/>
                <a:ea typeface="MS PGothic"/>
              </a:rPr>
              <a:t>0</a:t>
            </a:r>
            <a:endParaRPr lang="en-US" sz="1800" strike="noStrike" spc="-1">
              <a:solidFill>
                <a:srgbClr val="000000"/>
              </a:solidFill>
              <a:uFill>
                <a:solidFill>
                  <a:srgbClr val="FFFFFF"/>
                </a:solidFill>
              </a:uFill>
              <a:latin typeface="Arial"/>
            </a:endParaRPr>
          </a:p>
        </p:txBody>
      </p:sp>
      <p:sp>
        <p:nvSpPr>
          <p:cNvPr id="629" name="CustomShape 32"/>
          <p:cNvSpPr/>
          <p:nvPr/>
        </p:nvSpPr>
        <p:spPr>
          <a:xfrm>
            <a:off x="4773240" y="5546880"/>
            <a:ext cx="120600" cy="1980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300" i="1" strike="noStrike" spc="-1">
                <a:solidFill>
                  <a:srgbClr val="000000"/>
                </a:solidFill>
                <a:uFill>
                  <a:solidFill>
                    <a:srgbClr val="FFFFFF"/>
                  </a:solidFill>
                </a:uFill>
                <a:latin typeface="Myriad Pro"/>
                <a:ea typeface="MS PGothic"/>
              </a:rPr>
              <a:t>D</a:t>
            </a:r>
            <a:endParaRPr lang="en-US" sz="1800" strike="noStrike" spc="-1">
              <a:solidFill>
                <a:srgbClr val="000000"/>
              </a:solidFill>
              <a:uFill>
                <a:solidFill>
                  <a:srgbClr val="FFFFFF"/>
                </a:solidFill>
              </a:uFill>
              <a:latin typeface="Arial"/>
            </a:endParaRPr>
          </a:p>
        </p:txBody>
      </p:sp>
      <p:sp>
        <p:nvSpPr>
          <p:cNvPr id="630" name="CustomShape 33"/>
          <p:cNvSpPr/>
          <p:nvPr/>
        </p:nvSpPr>
        <p:spPr>
          <a:xfrm>
            <a:off x="1652040" y="1697040"/>
            <a:ext cx="294480" cy="1818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200" strike="noStrike" spc="-1">
                <a:solidFill>
                  <a:srgbClr val="000000"/>
                </a:solidFill>
                <a:uFill>
                  <a:solidFill>
                    <a:srgbClr val="FFFFFF"/>
                  </a:solidFill>
                </a:uFill>
                <a:latin typeface="Myriad Pro"/>
                <a:ea typeface="MS PGothic"/>
              </a:rPr>
              <a:t>$59</a:t>
            </a:r>
            <a:endParaRPr lang="en-US" sz="1800" strike="noStrike" spc="-1">
              <a:solidFill>
                <a:srgbClr val="000000"/>
              </a:solidFill>
              <a:uFill>
                <a:solidFill>
                  <a:srgbClr val="FFFFFF"/>
                </a:solidFill>
              </a:uFill>
              <a:latin typeface="Arial"/>
            </a:endParaRPr>
          </a:p>
        </p:txBody>
      </p:sp>
      <p:sp>
        <p:nvSpPr>
          <p:cNvPr id="631" name="CustomShape 34"/>
          <p:cNvSpPr/>
          <p:nvPr/>
        </p:nvSpPr>
        <p:spPr>
          <a:xfrm>
            <a:off x="1747440" y="2646360"/>
            <a:ext cx="196920" cy="1818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200" strike="noStrike" spc="-1">
                <a:solidFill>
                  <a:srgbClr val="000000"/>
                </a:solidFill>
                <a:uFill>
                  <a:solidFill>
                    <a:srgbClr val="FFFFFF"/>
                  </a:solidFill>
                </a:uFill>
                <a:latin typeface="Myriad Pro"/>
                <a:ea typeface="MS PGothic"/>
              </a:rPr>
              <a:t>45</a:t>
            </a:r>
            <a:endParaRPr lang="en-US" sz="1800" strike="noStrike" spc="-1">
              <a:solidFill>
                <a:srgbClr val="000000"/>
              </a:solidFill>
              <a:uFill>
                <a:solidFill>
                  <a:srgbClr val="FFFFFF"/>
                </a:solidFill>
              </a:uFill>
              <a:latin typeface="Arial"/>
            </a:endParaRPr>
          </a:p>
        </p:txBody>
      </p:sp>
      <p:sp>
        <p:nvSpPr>
          <p:cNvPr id="632" name="CustomShape 35"/>
          <p:cNvSpPr/>
          <p:nvPr/>
        </p:nvSpPr>
        <p:spPr>
          <a:xfrm>
            <a:off x="1747440" y="3314880"/>
            <a:ext cx="196920" cy="1818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200" strike="noStrike" spc="-1">
                <a:solidFill>
                  <a:srgbClr val="000000"/>
                </a:solidFill>
                <a:uFill>
                  <a:solidFill>
                    <a:srgbClr val="FFFFFF"/>
                  </a:solidFill>
                </a:uFill>
                <a:latin typeface="Myriad Pro"/>
                <a:ea typeface="MS PGothic"/>
              </a:rPr>
              <a:t>35</a:t>
            </a:r>
            <a:endParaRPr lang="en-US" sz="1800" strike="noStrike" spc="-1">
              <a:solidFill>
                <a:srgbClr val="000000"/>
              </a:solidFill>
              <a:uFill>
                <a:solidFill>
                  <a:srgbClr val="FFFFFF"/>
                </a:solidFill>
              </a:uFill>
              <a:latin typeface="Arial"/>
            </a:endParaRPr>
          </a:p>
        </p:txBody>
      </p:sp>
      <p:sp>
        <p:nvSpPr>
          <p:cNvPr id="633" name="CustomShape 36"/>
          <p:cNvSpPr/>
          <p:nvPr/>
        </p:nvSpPr>
        <p:spPr>
          <a:xfrm>
            <a:off x="1742760" y="3652920"/>
            <a:ext cx="196920" cy="1818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200" strike="noStrike" spc="-1">
                <a:solidFill>
                  <a:srgbClr val="000000"/>
                </a:solidFill>
                <a:uFill>
                  <a:solidFill>
                    <a:srgbClr val="FFFFFF"/>
                  </a:solidFill>
                </a:uFill>
                <a:latin typeface="Myriad Pro"/>
                <a:ea typeface="MS PGothic"/>
              </a:rPr>
              <a:t>30</a:t>
            </a:r>
            <a:endParaRPr lang="en-US" sz="1800" strike="noStrike" spc="-1">
              <a:solidFill>
                <a:srgbClr val="000000"/>
              </a:solidFill>
              <a:uFill>
                <a:solidFill>
                  <a:srgbClr val="FFFFFF"/>
                </a:solidFill>
              </a:uFill>
              <a:latin typeface="Arial"/>
            </a:endParaRPr>
          </a:p>
        </p:txBody>
      </p:sp>
      <p:sp>
        <p:nvSpPr>
          <p:cNvPr id="634" name="CustomShape 37"/>
          <p:cNvSpPr/>
          <p:nvPr/>
        </p:nvSpPr>
        <p:spPr>
          <a:xfrm>
            <a:off x="1747440" y="5016600"/>
            <a:ext cx="196920" cy="1818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200" strike="noStrike" spc="-1">
                <a:solidFill>
                  <a:srgbClr val="000000"/>
                </a:solidFill>
                <a:uFill>
                  <a:solidFill>
                    <a:srgbClr val="FFFFFF"/>
                  </a:solidFill>
                </a:uFill>
                <a:latin typeface="Myriad Pro"/>
                <a:ea typeface="MS PGothic"/>
              </a:rPr>
              <a:t>10</a:t>
            </a:r>
            <a:endParaRPr lang="en-US" sz="1800" strike="noStrike" spc="-1">
              <a:solidFill>
                <a:srgbClr val="000000"/>
              </a:solidFill>
              <a:uFill>
                <a:solidFill>
                  <a:srgbClr val="FFFFFF"/>
                </a:solidFill>
              </a:uFill>
              <a:latin typeface="Arial"/>
            </a:endParaRPr>
          </a:p>
        </p:txBody>
      </p:sp>
      <p:sp>
        <p:nvSpPr>
          <p:cNvPr id="635" name="CustomShape 38"/>
          <p:cNvSpPr/>
          <p:nvPr/>
        </p:nvSpPr>
        <p:spPr>
          <a:xfrm>
            <a:off x="1747440" y="3998880"/>
            <a:ext cx="196920" cy="1818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200" strike="noStrike" spc="-1">
                <a:solidFill>
                  <a:srgbClr val="000000"/>
                </a:solidFill>
                <a:uFill>
                  <a:solidFill>
                    <a:srgbClr val="FFFFFF"/>
                  </a:solidFill>
                </a:uFill>
                <a:latin typeface="Myriad Pro"/>
                <a:ea typeface="MS PGothic"/>
              </a:rPr>
              <a:t>25</a:t>
            </a:r>
            <a:endParaRPr lang="en-US" sz="1800" strike="noStrike" spc="-1">
              <a:solidFill>
                <a:srgbClr val="000000"/>
              </a:solidFill>
              <a:uFill>
                <a:solidFill>
                  <a:srgbClr val="FFFFFF"/>
                </a:solidFill>
              </a:uFill>
              <a:latin typeface="Arial"/>
            </a:endParaRPr>
          </a:p>
        </p:txBody>
      </p:sp>
      <p:sp>
        <p:nvSpPr>
          <p:cNvPr id="636" name="CustomShape 39"/>
          <p:cNvSpPr/>
          <p:nvPr/>
        </p:nvSpPr>
        <p:spPr>
          <a:xfrm>
            <a:off x="1747440" y="4334040"/>
            <a:ext cx="196920" cy="1818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200" strike="noStrike" spc="-1">
                <a:solidFill>
                  <a:srgbClr val="000000"/>
                </a:solidFill>
                <a:uFill>
                  <a:solidFill>
                    <a:srgbClr val="FFFFFF"/>
                  </a:solidFill>
                </a:uFill>
                <a:latin typeface="Myriad Pro"/>
                <a:ea typeface="MS PGothic"/>
              </a:rPr>
              <a:t>20</a:t>
            </a:r>
            <a:endParaRPr lang="en-US" sz="1800" strike="noStrike" spc="-1">
              <a:solidFill>
                <a:srgbClr val="000000"/>
              </a:solidFill>
              <a:uFill>
                <a:solidFill>
                  <a:srgbClr val="FFFFFF"/>
                </a:solidFill>
              </a:uFill>
              <a:latin typeface="Arial"/>
            </a:endParaRPr>
          </a:p>
        </p:txBody>
      </p:sp>
      <p:sp>
        <p:nvSpPr>
          <p:cNvPr id="637" name="CustomShape 40"/>
          <p:cNvSpPr/>
          <p:nvPr/>
        </p:nvSpPr>
        <p:spPr>
          <a:xfrm>
            <a:off x="2038320" y="1003320"/>
            <a:ext cx="2620080" cy="4763520"/>
          </a:xfrm>
          <a:custGeom>
            <a:avLst/>
            <a:gdLst/>
            <a:ahLst/>
            <a:cxnLst/>
            <a:rect l="l" t="t" r="r" b="b"/>
            <a:pathLst>
              <a:path w="1442" h="2677">
                <a:moveTo>
                  <a:pt x="1442" y="2677"/>
                </a:moveTo>
                <a:lnTo>
                  <a:pt x="1442" y="2299"/>
                </a:lnTo>
                <a:lnTo>
                  <a:pt x="1153" y="2299"/>
                </a:lnTo>
                <a:lnTo>
                  <a:pt x="1153" y="1728"/>
                </a:lnTo>
                <a:lnTo>
                  <a:pt x="861" y="1728"/>
                </a:lnTo>
                <a:lnTo>
                  <a:pt x="861" y="1350"/>
                </a:lnTo>
                <a:lnTo>
                  <a:pt x="571" y="1350"/>
                </a:lnTo>
                <a:lnTo>
                  <a:pt x="571" y="970"/>
                </a:lnTo>
                <a:lnTo>
                  <a:pt x="279" y="970"/>
                </a:lnTo>
                <a:lnTo>
                  <a:pt x="279" y="439"/>
                </a:lnTo>
                <a:lnTo>
                  <a:pt x="0" y="439"/>
                </a:lnTo>
                <a:lnTo>
                  <a:pt x="0" y="0"/>
                </a:lnTo>
              </a:path>
            </a:pathLst>
          </a:custGeom>
          <a:noFill/>
          <a:ln w="33480">
            <a:solidFill>
              <a:srgbClr val="3C5DA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638" name="CustomShape 41"/>
          <p:cNvSpPr/>
          <p:nvPr/>
        </p:nvSpPr>
        <p:spPr>
          <a:xfrm>
            <a:off x="2021040" y="1003320"/>
            <a:ext cx="5112720" cy="4763520"/>
          </a:xfrm>
          <a:custGeom>
            <a:avLst/>
            <a:gdLst/>
            <a:ahLst/>
            <a:cxnLst/>
            <a:rect l="l" t="t" r="r" b="b"/>
            <a:pathLst>
              <a:path w="2814" h="2677">
                <a:moveTo>
                  <a:pt x="2814" y="2677"/>
                </a:moveTo>
                <a:lnTo>
                  <a:pt x="0" y="2677"/>
                </a:lnTo>
                <a:lnTo>
                  <a:pt x="0" y="0"/>
                </a:lnTo>
              </a:path>
            </a:pathLst>
          </a:custGeom>
          <a:noFill/>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639" name="CustomShape 42"/>
          <p:cNvSpPr/>
          <p:nvPr/>
        </p:nvSpPr>
        <p:spPr>
          <a:xfrm>
            <a:off x="2536920" y="35514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40" name="CustomShape 43"/>
          <p:cNvSpPr/>
          <p:nvPr/>
        </p:nvSpPr>
        <p:spPr>
          <a:xfrm>
            <a:off x="2536920" y="3627360"/>
            <a:ext cx="1836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41" name="CustomShape 44"/>
          <p:cNvSpPr/>
          <p:nvPr/>
        </p:nvSpPr>
        <p:spPr>
          <a:xfrm>
            <a:off x="2536920" y="37051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42" name="CustomShape 45"/>
          <p:cNvSpPr/>
          <p:nvPr/>
        </p:nvSpPr>
        <p:spPr>
          <a:xfrm>
            <a:off x="2536920" y="37814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43" name="CustomShape 46"/>
          <p:cNvSpPr/>
          <p:nvPr/>
        </p:nvSpPr>
        <p:spPr>
          <a:xfrm>
            <a:off x="2536920" y="38527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44" name="CustomShape 47"/>
          <p:cNvSpPr/>
          <p:nvPr/>
        </p:nvSpPr>
        <p:spPr>
          <a:xfrm>
            <a:off x="2536920" y="39290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45" name="CustomShape 48"/>
          <p:cNvSpPr/>
          <p:nvPr/>
        </p:nvSpPr>
        <p:spPr>
          <a:xfrm>
            <a:off x="2536920" y="40053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46" name="CustomShape 49"/>
          <p:cNvSpPr/>
          <p:nvPr/>
        </p:nvSpPr>
        <p:spPr>
          <a:xfrm>
            <a:off x="2536920" y="31035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47" name="CustomShape 50"/>
          <p:cNvSpPr/>
          <p:nvPr/>
        </p:nvSpPr>
        <p:spPr>
          <a:xfrm>
            <a:off x="2536920" y="317988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48" name="CustomShape 51"/>
          <p:cNvSpPr/>
          <p:nvPr/>
        </p:nvSpPr>
        <p:spPr>
          <a:xfrm>
            <a:off x="2536920" y="32511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49" name="CustomShape 52"/>
          <p:cNvSpPr/>
          <p:nvPr/>
        </p:nvSpPr>
        <p:spPr>
          <a:xfrm>
            <a:off x="2536920" y="332748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50" name="CustomShape 53"/>
          <p:cNvSpPr/>
          <p:nvPr/>
        </p:nvSpPr>
        <p:spPr>
          <a:xfrm>
            <a:off x="2536920" y="2878200"/>
            <a:ext cx="1836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51" name="CustomShape 54"/>
          <p:cNvSpPr/>
          <p:nvPr/>
        </p:nvSpPr>
        <p:spPr>
          <a:xfrm>
            <a:off x="2536920" y="280188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52" name="CustomShape 55"/>
          <p:cNvSpPr/>
          <p:nvPr/>
        </p:nvSpPr>
        <p:spPr>
          <a:xfrm>
            <a:off x="2536920" y="295128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53" name="CustomShape 56"/>
          <p:cNvSpPr/>
          <p:nvPr/>
        </p:nvSpPr>
        <p:spPr>
          <a:xfrm>
            <a:off x="2536920" y="3025800"/>
            <a:ext cx="1836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54" name="CustomShape 57"/>
          <p:cNvSpPr/>
          <p:nvPr/>
        </p:nvSpPr>
        <p:spPr>
          <a:xfrm>
            <a:off x="2536920" y="3479760"/>
            <a:ext cx="1836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55" name="CustomShape 58"/>
          <p:cNvSpPr/>
          <p:nvPr/>
        </p:nvSpPr>
        <p:spPr>
          <a:xfrm>
            <a:off x="2536920" y="41576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56" name="CustomShape 59"/>
          <p:cNvSpPr/>
          <p:nvPr/>
        </p:nvSpPr>
        <p:spPr>
          <a:xfrm>
            <a:off x="2536920" y="422928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57" name="CustomShape 60"/>
          <p:cNvSpPr/>
          <p:nvPr/>
        </p:nvSpPr>
        <p:spPr>
          <a:xfrm>
            <a:off x="2536920" y="43052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58" name="CustomShape 61"/>
          <p:cNvSpPr/>
          <p:nvPr/>
        </p:nvSpPr>
        <p:spPr>
          <a:xfrm>
            <a:off x="2536920" y="43815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59" name="CustomShape 62"/>
          <p:cNvSpPr/>
          <p:nvPr/>
        </p:nvSpPr>
        <p:spPr>
          <a:xfrm>
            <a:off x="2536920" y="445788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60" name="CustomShape 63"/>
          <p:cNvSpPr/>
          <p:nvPr/>
        </p:nvSpPr>
        <p:spPr>
          <a:xfrm>
            <a:off x="2536920" y="453060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61" name="CustomShape 64"/>
          <p:cNvSpPr/>
          <p:nvPr/>
        </p:nvSpPr>
        <p:spPr>
          <a:xfrm>
            <a:off x="2536920" y="460548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62" name="CustomShape 65"/>
          <p:cNvSpPr/>
          <p:nvPr/>
        </p:nvSpPr>
        <p:spPr>
          <a:xfrm>
            <a:off x="2536920" y="46814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63" name="CustomShape 66"/>
          <p:cNvSpPr/>
          <p:nvPr/>
        </p:nvSpPr>
        <p:spPr>
          <a:xfrm>
            <a:off x="2536920" y="4757760"/>
            <a:ext cx="1836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64" name="CustomShape 67"/>
          <p:cNvSpPr/>
          <p:nvPr/>
        </p:nvSpPr>
        <p:spPr>
          <a:xfrm>
            <a:off x="2536920" y="48290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65" name="CustomShape 68"/>
          <p:cNvSpPr/>
          <p:nvPr/>
        </p:nvSpPr>
        <p:spPr>
          <a:xfrm>
            <a:off x="2536920" y="4905360"/>
            <a:ext cx="1836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66" name="CustomShape 69"/>
          <p:cNvSpPr/>
          <p:nvPr/>
        </p:nvSpPr>
        <p:spPr>
          <a:xfrm>
            <a:off x="2536920" y="49831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67" name="CustomShape 70"/>
          <p:cNvSpPr/>
          <p:nvPr/>
        </p:nvSpPr>
        <p:spPr>
          <a:xfrm>
            <a:off x="2536920" y="50594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68" name="CustomShape 71"/>
          <p:cNvSpPr/>
          <p:nvPr/>
        </p:nvSpPr>
        <p:spPr>
          <a:xfrm>
            <a:off x="2536920" y="51307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69" name="CustomShape 72"/>
          <p:cNvSpPr/>
          <p:nvPr/>
        </p:nvSpPr>
        <p:spPr>
          <a:xfrm>
            <a:off x="2536920" y="52070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70" name="CustomShape 73"/>
          <p:cNvSpPr/>
          <p:nvPr/>
        </p:nvSpPr>
        <p:spPr>
          <a:xfrm>
            <a:off x="2536920" y="52833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71" name="CustomShape 74"/>
          <p:cNvSpPr/>
          <p:nvPr/>
        </p:nvSpPr>
        <p:spPr>
          <a:xfrm>
            <a:off x="2536920" y="5359320"/>
            <a:ext cx="1836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72" name="CustomShape 75"/>
          <p:cNvSpPr/>
          <p:nvPr/>
        </p:nvSpPr>
        <p:spPr>
          <a:xfrm>
            <a:off x="2536920" y="54309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73" name="CustomShape 76"/>
          <p:cNvSpPr/>
          <p:nvPr/>
        </p:nvSpPr>
        <p:spPr>
          <a:xfrm>
            <a:off x="2536920" y="558468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74" name="CustomShape 77"/>
          <p:cNvSpPr/>
          <p:nvPr/>
        </p:nvSpPr>
        <p:spPr>
          <a:xfrm>
            <a:off x="2536920" y="5506920"/>
            <a:ext cx="1836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75" name="CustomShape 78"/>
          <p:cNvSpPr/>
          <p:nvPr/>
        </p:nvSpPr>
        <p:spPr>
          <a:xfrm>
            <a:off x="3071880" y="355140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76" name="CustomShape 79"/>
          <p:cNvSpPr/>
          <p:nvPr/>
        </p:nvSpPr>
        <p:spPr>
          <a:xfrm>
            <a:off x="3071880" y="3627360"/>
            <a:ext cx="1836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77" name="CustomShape 80"/>
          <p:cNvSpPr/>
          <p:nvPr/>
        </p:nvSpPr>
        <p:spPr>
          <a:xfrm>
            <a:off x="3071880" y="37051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78" name="CustomShape 81"/>
          <p:cNvSpPr/>
          <p:nvPr/>
        </p:nvSpPr>
        <p:spPr>
          <a:xfrm>
            <a:off x="3071880" y="37814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79" name="CustomShape 82"/>
          <p:cNvSpPr/>
          <p:nvPr/>
        </p:nvSpPr>
        <p:spPr>
          <a:xfrm>
            <a:off x="3071880" y="38527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80" name="CustomShape 83"/>
          <p:cNvSpPr/>
          <p:nvPr/>
        </p:nvSpPr>
        <p:spPr>
          <a:xfrm>
            <a:off x="3071880" y="39290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81" name="CustomShape 84"/>
          <p:cNvSpPr/>
          <p:nvPr/>
        </p:nvSpPr>
        <p:spPr>
          <a:xfrm>
            <a:off x="3071880" y="40053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82" name="CustomShape 85"/>
          <p:cNvSpPr/>
          <p:nvPr/>
        </p:nvSpPr>
        <p:spPr>
          <a:xfrm>
            <a:off x="3071880" y="3479760"/>
            <a:ext cx="1836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83" name="CustomShape 86"/>
          <p:cNvSpPr/>
          <p:nvPr/>
        </p:nvSpPr>
        <p:spPr>
          <a:xfrm>
            <a:off x="3071880" y="408132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84" name="CustomShape 87"/>
          <p:cNvSpPr/>
          <p:nvPr/>
        </p:nvSpPr>
        <p:spPr>
          <a:xfrm>
            <a:off x="3071880" y="41576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85" name="CustomShape 88"/>
          <p:cNvSpPr/>
          <p:nvPr/>
        </p:nvSpPr>
        <p:spPr>
          <a:xfrm>
            <a:off x="3071880" y="422928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86" name="CustomShape 89"/>
          <p:cNvSpPr/>
          <p:nvPr/>
        </p:nvSpPr>
        <p:spPr>
          <a:xfrm>
            <a:off x="3071880" y="43052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87" name="CustomShape 90"/>
          <p:cNvSpPr/>
          <p:nvPr/>
        </p:nvSpPr>
        <p:spPr>
          <a:xfrm>
            <a:off x="3071880" y="43815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88" name="CustomShape 91"/>
          <p:cNvSpPr/>
          <p:nvPr/>
        </p:nvSpPr>
        <p:spPr>
          <a:xfrm>
            <a:off x="3071880" y="445788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89" name="CustomShape 92"/>
          <p:cNvSpPr/>
          <p:nvPr/>
        </p:nvSpPr>
        <p:spPr>
          <a:xfrm>
            <a:off x="3071880" y="453060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90" name="CustomShape 93"/>
          <p:cNvSpPr/>
          <p:nvPr/>
        </p:nvSpPr>
        <p:spPr>
          <a:xfrm>
            <a:off x="3071880" y="460548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91" name="CustomShape 94"/>
          <p:cNvSpPr/>
          <p:nvPr/>
        </p:nvSpPr>
        <p:spPr>
          <a:xfrm>
            <a:off x="3071880" y="46814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92" name="CustomShape 95"/>
          <p:cNvSpPr/>
          <p:nvPr/>
        </p:nvSpPr>
        <p:spPr>
          <a:xfrm>
            <a:off x="3071880" y="4757760"/>
            <a:ext cx="1836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93" name="CustomShape 96"/>
          <p:cNvSpPr/>
          <p:nvPr/>
        </p:nvSpPr>
        <p:spPr>
          <a:xfrm>
            <a:off x="3071880" y="48290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94" name="CustomShape 97"/>
          <p:cNvSpPr/>
          <p:nvPr/>
        </p:nvSpPr>
        <p:spPr>
          <a:xfrm>
            <a:off x="3071880" y="4905360"/>
            <a:ext cx="1836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95" name="CustomShape 98"/>
          <p:cNvSpPr/>
          <p:nvPr/>
        </p:nvSpPr>
        <p:spPr>
          <a:xfrm>
            <a:off x="3071880" y="49831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96" name="CustomShape 99"/>
          <p:cNvSpPr/>
          <p:nvPr/>
        </p:nvSpPr>
        <p:spPr>
          <a:xfrm>
            <a:off x="3071880" y="50594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97" name="CustomShape 100"/>
          <p:cNvSpPr/>
          <p:nvPr/>
        </p:nvSpPr>
        <p:spPr>
          <a:xfrm>
            <a:off x="3071880" y="51307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98" name="CustomShape 101"/>
          <p:cNvSpPr/>
          <p:nvPr/>
        </p:nvSpPr>
        <p:spPr>
          <a:xfrm>
            <a:off x="3071880" y="52070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699" name="CustomShape 102"/>
          <p:cNvSpPr/>
          <p:nvPr/>
        </p:nvSpPr>
        <p:spPr>
          <a:xfrm>
            <a:off x="3071880" y="52833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00" name="CustomShape 103"/>
          <p:cNvSpPr/>
          <p:nvPr/>
        </p:nvSpPr>
        <p:spPr>
          <a:xfrm>
            <a:off x="3071880" y="5359320"/>
            <a:ext cx="1836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01" name="CustomShape 104"/>
          <p:cNvSpPr/>
          <p:nvPr/>
        </p:nvSpPr>
        <p:spPr>
          <a:xfrm>
            <a:off x="3071880" y="54309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02" name="CustomShape 105"/>
          <p:cNvSpPr/>
          <p:nvPr/>
        </p:nvSpPr>
        <p:spPr>
          <a:xfrm>
            <a:off x="3071880" y="558468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03" name="CustomShape 106"/>
          <p:cNvSpPr/>
          <p:nvPr/>
        </p:nvSpPr>
        <p:spPr>
          <a:xfrm>
            <a:off x="3071880" y="5506920"/>
            <a:ext cx="1836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04" name="CustomShape 107"/>
          <p:cNvSpPr/>
          <p:nvPr/>
        </p:nvSpPr>
        <p:spPr>
          <a:xfrm>
            <a:off x="3597120" y="415764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05" name="CustomShape 108"/>
          <p:cNvSpPr/>
          <p:nvPr/>
        </p:nvSpPr>
        <p:spPr>
          <a:xfrm>
            <a:off x="3597120" y="4229280"/>
            <a:ext cx="1980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06" name="CustomShape 109"/>
          <p:cNvSpPr/>
          <p:nvPr/>
        </p:nvSpPr>
        <p:spPr>
          <a:xfrm>
            <a:off x="3597120" y="430524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07" name="CustomShape 110"/>
          <p:cNvSpPr/>
          <p:nvPr/>
        </p:nvSpPr>
        <p:spPr>
          <a:xfrm>
            <a:off x="3597120" y="438156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08" name="CustomShape 111"/>
          <p:cNvSpPr/>
          <p:nvPr/>
        </p:nvSpPr>
        <p:spPr>
          <a:xfrm>
            <a:off x="3597120" y="445788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09" name="CustomShape 112"/>
          <p:cNvSpPr/>
          <p:nvPr/>
        </p:nvSpPr>
        <p:spPr>
          <a:xfrm>
            <a:off x="3597120" y="4530600"/>
            <a:ext cx="1980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10" name="CustomShape 113"/>
          <p:cNvSpPr/>
          <p:nvPr/>
        </p:nvSpPr>
        <p:spPr>
          <a:xfrm>
            <a:off x="3597120" y="460548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11" name="CustomShape 114"/>
          <p:cNvSpPr/>
          <p:nvPr/>
        </p:nvSpPr>
        <p:spPr>
          <a:xfrm>
            <a:off x="3597120" y="468144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12" name="CustomShape 115"/>
          <p:cNvSpPr/>
          <p:nvPr/>
        </p:nvSpPr>
        <p:spPr>
          <a:xfrm>
            <a:off x="3597120" y="475776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13" name="CustomShape 116"/>
          <p:cNvSpPr/>
          <p:nvPr/>
        </p:nvSpPr>
        <p:spPr>
          <a:xfrm>
            <a:off x="3597120" y="482904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14" name="CustomShape 117"/>
          <p:cNvSpPr/>
          <p:nvPr/>
        </p:nvSpPr>
        <p:spPr>
          <a:xfrm>
            <a:off x="3597120" y="490536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15" name="CustomShape 118"/>
          <p:cNvSpPr/>
          <p:nvPr/>
        </p:nvSpPr>
        <p:spPr>
          <a:xfrm>
            <a:off x="3597120" y="498312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16" name="CustomShape 119"/>
          <p:cNvSpPr/>
          <p:nvPr/>
        </p:nvSpPr>
        <p:spPr>
          <a:xfrm>
            <a:off x="3597120" y="505944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17" name="CustomShape 120"/>
          <p:cNvSpPr/>
          <p:nvPr/>
        </p:nvSpPr>
        <p:spPr>
          <a:xfrm>
            <a:off x="3597120" y="513072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18" name="CustomShape 121"/>
          <p:cNvSpPr/>
          <p:nvPr/>
        </p:nvSpPr>
        <p:spPr>
          <a:xfrm>
            <a:off x="3597120" y="520704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19" name="CustomShape 122"/>
          <p:cNvSpPr/>
          <p:nvPr/>
        </p:nvSpPr>
        <p:spPr>
          <a:xfrm>
            <a:off x="3597120" y="528336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20" name="CustomShape 123"/>
          <p:cNvSpPr/>
          <p:nvPr/>
        </p:nvSpPr>
        <p:spPr>
          <a:xfrm>
            <a:off x="3597120" y="535932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21" name="CustomShape 124"/>
          <p:cNvSpPr/>
          <p:nvPr/>
        </p:nvSpPr>
        <p:spPr>
          <a:xfrm>
            <a:off x="3597120" y="543096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22" name="CustomShape 125"/>
          <p:cNvSpPr/>
          <p:nvPr/>
        </p:nvSpPr>
        <p:spPr>
          <a:xfrm>
            <a:off x="3597120" y="558468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23" name="CustomShape 126"/>
          <p:cNvSpPr/>
          <p:nvPr/>
        </p:nvSpPr>
        <p:spPr>
          <a:xfrm>
            <a:off x="3597120" y="550692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24" name="CustomShape 127"/>
          <p:cNvSpPr/>
          <p:nvPr/>
        </p:nvSpPr>
        <p:spPr>
          <a:xfrm>
            <a:off x="4124160" y="513072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25" name="CustomShape 128"/>
          <p:cNvSpPr/>
          <p:nvPr/>
        </p:nvSpPr>
        <p:spPr>
          <a:xfrm>
            <a:off x="4124160" y="52070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26" name="CustomShape 129"/>
          <p:cNvSpPr/>
          <p:nvPr/>
        </p:nvSpPr>
        <p:spPr>
          <a:xfrm>
            <a:off x="4124160" y="52833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27" name="CustomShape 130"/>
          <p:cNvSpPr/>
          <p:nvPr/>
        </p:nvSpPr>
        <p:spPr>
          <a:xfrm>
            <a:off x="4124160" y="5359320"/>
            <a:ext cx="1836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28" name="CustomShape 131"/>
          <p:cNvSpPr/>
          <p:nvPr/>
        </p:nvSpPr>
        <p:spPr>
          <a:xfrm>
            <a:off x="4124160" y="54309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29" name="CustomShape 132"/>
          <p:cNvSpPr/>
          <p:nvPr/>
        </p:nvSpPr>
        <p:spPr>
          <a:xfrm>
            <a:off x="4124160" y="558468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30" name="CustomShape 133"/>
          <p:cNvSpPr/>
          <p:nvPr/>
        </p:nvSpPr>
        <p:spPr>
          <a:xfrm>
            <a:off x="4124160" y="5506920"/>
            <a:ext cx="1836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31" name="CustomShape 134"/>
          <p:cNvSpPr/>
          <p:nvPr/>
        </p:nvSpPr>
        <p:spPr>
          <a:xfrm>
            <a:off x="2171880" y="50925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32" name="CustomShape 135"/>
          <p:cNvSpPr/>
          <p:nvPr/>
        </p:nvSpPr>
        <p:spPr>
          <a:xfrm>
            <a:off x="2252520" y="509256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33" name="CustomShape 136"/>
          <p:cNvSpPr/>
          <p:nvPr/>
        </p:nvSpPr>
        <p:spPr>
          <a:xfrm>
            <a:off x="2330280" y="509256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34" name="CustomShape 137"/>
          <p:cNvSpPr/>
          <p:nvPr/>
        </p:nvSpPr>
        <p:spPr>
          <a:xfrm>
            <a:off x="2414520" y="509256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35" name="CustomShape 138"/>
          <p:cNvSpPr/>
          <p:nvPr/>
        </p:nvSpPr>
        <p:spPr>
          <a:xfrm>
            <a:off x="2496960" y="50925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36" name="CustomShape 139"/>
          <p:cNvSpPr/>
          <p:nvPr/>
        </p:nvSpPr>
        <p:spPr>
          <a:xfrm>
            <a:off x="2579760" y="509256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37" name="CustomShape 140"/>
          <p:cNvSpPr/>
          <p:nvPr/>
        </p:nvSpPr>
        <p:spPr>
          <a:xfrm>
            <a:off x="2658960" y="50925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38" name="CustomShape 141"/>
          <p:cNvSpPr/>
          <p:nvPr/>
        </p:nvSpPr>
        <p:spPr>
          <a:xfrm>
            <a:off x="2739960" y="509256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39" name="CustomShape 142"/>
          <p:cNvSpPr/>
          <p:nvPr/>
        </p:nvSpPr>
        <p:spPr>
          <a:xfrm>
            <a:off x="2824200" y="50925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40" name="CustomShape 143"/>
          <p:cNvSpPr/>
          <p:nvPr/>
        </p:nvSpPr>
        <p:spPr>
          <a:xfrm>
            <a:off x="2905200" y="509256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41" name="CustomShape 144"/>
          <p:cNvSpPr/>
          <p:nvPr/>
        </p:nvSpPr>
        <p:spPr>
          <a:xfrm>
            <a:off x="2989440" y="50925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42" name="CustomShape 145"/>
          <p:cNvSpPr/>
          <p:nvPr/>
        </p:nvSpPr>
        <p:spPr>
          <a:xfrm>
            <a:off x="3151080" y="5092560"/>
            <a:ext cx="1692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43" name="CustomShape 146"/>
          <p:cNvSpPr/>
          <p:nvPr/>
        </p:nvSpPr>
        <p:spPr>
          <a:xfrm>
            <a:off x="3232080" y="509256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44" name="CustomShape 147"/>
          <p:cNvSpPr/>
          <p:nvPr/>
        </p:nvSpPr>
        <p:spPr>
          <a:xfrm>
            <a:off x="3316320" y="5092560"/>
            <a:ext cx="1692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45" name="CustomShape 148"/>
          <p:cNvSpPr/>
          <p:nvPr/>
        </p:nvSpPr>
        <p:spPr>
          <a:xfrm>
            <a:off x="3397320" y="509256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46" name="CustomShape 149"/>
          <p:cNvSpPr/>
          <p:nvPr/>
        </p:nvSpPr>
        <p:spPr>
          <a:xfrm>
            <a:off x="3476520" y="50925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47" name="CustomShape 150"/>
          <p:cNvSpPr/>
          <p:nvPr/>
        </p:nvSpPr>
        <p:spPr>
          <a:xfrm>
            <a:off x="3559320" y="50925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48" name="CustomShape 151"/>
          <p:cNvSpPr/>
          <p:nvPr/>
        </p:nvSpPr>
        <p:spPr>
          <a:xfrm>
            <a:off x="2171880" y="408132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49" name="CustomShape 152"/>
          <p:cNvSpPr/>
          <p:nvPr/>
        </p:nvSpPr>
        <p:spPr>
          <a:xfrm>
            <a:off x="2252520" y="4081320"/>
            <a:ext cx="1980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50" name="CustomShape 153"/>
          <p:cNvSpPr/>
          <p:nvPr/>
        </p:nvSpPr>
        <p:spPr>
          <a:xfrm>
            <a:off x="2330280" y="4081320"/>
            <a:ext cx="1980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51" name="CustomShape 154"/>
          <p:cNvSpPr/>
          <p:nvPr/>
        </p:nvSpPr>
        <p:spPr>
          <a:xfrm>
            <a:off x="2414520" y="4081320"/>
            <a:ext cx="1980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52" name="CustomShape 155"/>
          <p:cNvSpPr/>
          <p:nvPr/>
        </p:nvSpPr>
        <p:spPr>
          <a:xfrm>
            <a:off x="2496960" y="408132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53" name="CustomShape 156"/>
          <p:cNvSpPr/>
          <p:nvPr/>
        </p:nvSpPr>
        <p:spPr>
          <a:xfrm>
            <a:off x="2579760" y="4081320"/>
            <a:ext cx="1980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54" name="CustomShape 157"/>
          <p:cNvSpPr/>
          <p:nvPr/>
        </p:nvSpPr>
        <p:spPr>
          <a:xfrm>
            <a:off x="2658960" y="408132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55" name="CustomShape 158"/>
          <p:cNvSpPr/>
          <p:nvPr/>
        </p:nvSpPr>
        <p:spPr>
          <a:xfrm>
            <a:off x="2824200" y="408132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56" name="CustomShape 159"/>
          <p:cNvSpPr/>
          <p:nvPr/>
        </p:nvSpPr>
        <p:spPr>
          <a:xfrm>
            <a:off x="2905200" y="4081320"/>
            <a:ext cx="1980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57" name="CustomShape 160"/>
          <p:cNvSpPr/>
          <p:nvPr/>
        </p:nvSpPr>
        <p:spPr>
          <a:xfrm>
            <a:off x="2989440" y="408132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58" name="CustomShape 161"/>
          <p:cNvSpPr/>
          <p:nvPr/>
        </p:nvSpPr>
        <p:spPr>
          <a:xfrm>
            <a:off x="2171880" y="34034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59" name="CustomShape 162"/>
          <p:cNvSpPr/>
          <p:nvPr/>
        </p:nvSpPr>
        <p:spPr>
          <a:xfrm>
            <a:off x="2252520" y="340344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60" name="CustomShape 163"/>
          <p:cNvSpPr/>
          <p:nvPr/>
        </p:nvSpPr>
        <p:spPr>
          <a:xfrm>
            <a:off x="2330280" y="340344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61" name="CustomShape 164"/>
          <p:cNvSpPr/>
          <p:nvPr/>
        </p:nvSpPr>
        <p:spPr>
          <a:xfrm>
            <a:off x="2414520" y="340344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62" name="CustomShape 165"/>
          <p:cNvSpPr/>
          <p:nvPr/>
        </p:nvSpPr>
        <p:spPr>
          <a:xfrm>
            <a:off x="2496960" y="34034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63" name="CustomShape 166"/>
          <p:cNvSpPr/>
          <p:nvPr/>
        </p:nvSpPr>
        <p:spPr>
          <a:xfrm>
            <a:off x="2171880" y="2730600"/>
            <a:ext cx="1836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64" name="CustomShape 167"/>
          <p:cNvSpPr/>
          <p:nvPr/>
        </p:nvSpPr>
        <p:spPr>
          <a:xfrm>
            <a:off x="2252520" y="273060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65" name="CustomShape 168"/>
          <p:cNvSpPr/>
          <p:nvPr/>
        </p:nvSpPr>
        <p:spPr>
          <a:xfrm>
            <a:off x="2330280" y="273060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66" name="CustomShape 169"/>
          <p:cNvSpPr/>
          <p:nvPr/>
        </p:nvSpPr>
        <p:spPr>
          <a:xfrm>
            <a:off x="2414520" y="2730600"/>
            <a:ext cx="1980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67" name="CustomShape 170"/>
          <p:cNvSpPr/>
          <p:nvPr/>
        </p:nvSpPr>
        <p:spPr>
          <a:xfrm>
            <a:off x="2496960" y="2730600"/>
            <a:ext cx="18360" cy="198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68" name="CustomShape 171"/>
          <p:cNvSpPr/>
          <p:nvPr/>
        </p:nvSpPr>
        <p:spPr>
          <a:xfrm>
            <a:off x="2579760" y="340344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69" name="CustomShape 172"/>
          <p:cNvSpPr/>
          <p:nvPr/>
        </p:nvSpPr>
        <p:spPr>
          <a:xfrm>
            <a:off x="2658960" y="34034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70" name="CustomShape 173"/>
          <p:cNvSpPr/>
          <p:nvPr/>
        </p:nvSpPr>
        <p:spPr>
          <a:xfrm>
            <a:off x="2739960" y="340344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71" name="CustomShape 174"/>
          <p:cNvSpPr/>
          <p:nvPr/>
        </p:nvSpPr>
        <p:spPr>
          <a:xfrm>
            <a:off x="2824200" y="34034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72" name="CustomShape 175"/>
          <p:cNvSpPr/>
          <p:nvPr/>
        </p:nvSpPr>
        <p:spPr>
          <a:xfrm>
            <a:off x="2905200" y="340344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73" name="CustomShape 176"/>
          <p:cNvSpPr/>
          <p:nvPr/>
        </p:nvSpPr>
        <p:spPr>
          <a:xfrm>
            <a:off x="2989440" y="340344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74" name="CustomShape 177"/>
          <p:cNvSpPr/>
          <p:nvPr/>
        </p:nvSpPr>
        <p:spPr>
          <a:xfrm>
            <a:off x="3151080" y="4081320"/>
            <a:ext cx="1692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75" name="CustomShape 178"/>
          <p:cNvSpPr/>
          <p:nvPr/>
        </p:nvSpPr>
        <p:spPr>
          <a:xfrm>
            <a:off x="3232080" y="4081320"/>
            <a:ext cx="1980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76" name="CustomShape 179"/>
          <p:cNvSpPr/>
          <p:nvPr/>
        </p:nvSpPr>
        <p:spPr>
          <a:xfrm>
            <a:off x="3316320" y="4081320"/>
            <a:ext cx="1692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77" name="CustomShape 180"/>
          <p:cNvSpPr/>
          <p:nvPr/>
        </p:nvSpPr>
        <p:spPr>
          <a:xfrm>
            <a:off x="3397320" y="4081320"/>
            <a:ext cx="1980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78" name="CustomShape 181"/>
          <p:cNvSpPr/>
          <p:nvPr/>
        </p:nvSpPr>
        <p:spPr>
          <a:xfrm>
            <a:off x="3476520" y="408132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79" name="CustomShape 182"/>
          <p:cNvSpPr/>
          <p:nvPr/>
        </p:nvSpPr>
        <p:spPr>
          <a:xfrm>
            <a:off x="3559320" y="4081320"/>
            <a:ext cx="18360" cy="169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80" name="CustomShape 183"/>
          <p:cNvSpPr/>
          <p:nvPr/>
        </p:nvSpPr>
        <p:spPr>
          <a:xfrm>
            <a:off x="3641760" y="50925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81" name="CustomShape 184"/>
          <p:cNvSpPr/>
          <p:nvPr/>
        </p:nvSpPr>
        <p:spPr>
          <a:xfrm>
            <a:off x="3724200" y="5092560"/>
            <a:ext cx="1836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82" name="CustomShape 185"/>
          <p:cNvSpPr/>
          <p:nvPr/>
        </p:nvSpPr>
        <p:spPr>
          <a:xfrm>
            <a:off x="3803760" y="5092560"/>
            <a:ext cx="1692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83" name="CustomShape 186"/>
          <p:cNvSpPr/>
          <p:nvPr/>
        </p:nvSpPr>
        <p:spPr>
          <a:xfrm>
            <a:off x="3884760" y="509256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84" name="CustomShape 187"/>
          <p:cNvSpPr/>
          <p:nvPr/>
        </p:nvSpPr>
        <p:spPr>
          <a:xfrm>
            <a:off x="3968640" y="5092560"/>
            <a:ext cx="1692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85" name="CustomShape 188"/>
          <p:cNvSpPr/>
          <p:nvPr/>
        </p:nvSpPr>
        <p:spPr>
          <a:xfrm>
            <a:off x="4049640" y="5092560"/>
            <a:ext cx="19800" cy="183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86" name="CustomShape 189"/>
          <p:cNvSpPr/>
          <p:nvPr/>
        </p:nvSpPr>
        <p:spPr>
          <a:xfrm>
            <a:off x="2565000" y="1773360"/>
            <a:ext cx="64944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Aleisha</a:t>
            </a:r>
            <a:endParaRPr lang="en-US" sz="1800" strike="noStrike" spc="-1">
              <a:solidFill>
                <a:srgbClr val="000000"/>
              </a:solidFill>
              <a:uFill>
                <a:solidFill>
                  <a:srgbClr val="FFFFFF"/>
                </a:solidFill>
              </a:uFill>
              <a:latin typeface="Arial"/>
            </a:endParaRPr>
          </a:p>
        </p:txBody>
      </p:sp>
      <p:sp>
        <p:nvSpPr>
          <p:cNvPr id="787" name="CustomShape 190"/>
          <p:cNvSpPr/>
          <p:nvPr/>
        </p:nvSpPr>
        <p:spPr>
          <a:xfrm>
            <a:off x="3134880" y="2665440"/>
            <a:ext cx="4194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Brad</a:t>
            </a:r>
            <a:endParaRPr lang="en-US" sz="1800" strike="noStrike" spc="-1">
              <a:solidFill>
                <a:srgbClr val="000000"/>
              </a:solidFill>
              <a:uFill>
                <a:solidFill>
                  <a:srgbClr val="FFFFFF"/>
                </a:solidFill>
              </a:uFill>
              <a:latin typeface="Arial"/>
            </a:endParaRPr>
          </a:p>
        </p:txBody>
      </p:sp>
      <p:sp>
        <p:nvSpPr>
          <p:cNvPr id="788" name="CustomShape 191"/>
          <p:cNvSpPr/>
          <p:nvPr/>
        </p:nvSpPr>
        <p:spPr>
          <a:xfrm>
            <a:off x="3674520" y="3300480"/>
            <a:ext cx="672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Claudia</a:t>
            </a:r>
            <a:endParaRPr lang="en-US" sz="1800" strike="noStrike" spc="-1">
              <a:solidFill>
                <a:srgbClr val="000000"/>
              </a:solidFill>
              <a:uFill>
                <a:solidFill>
                  <a:srgbClr val="FFFFFF"/>
                </a:solidFill>
              </a:uFill>
              <a:latin typeface="Arial"/>
            </a:endParaRPr>
          </a:p>
        </p:txBody>
      </p:sp>
      <p:sp>
        <p:nvSpPr>
          <p:cNvPr id="789" name="CustomShape 192"/>
          <p:cNvSpPr/>
          <p:nvPr/>
        </p:nvSpPr>
        <p:spPr>
          <a:xfrm>
            <a:off x="4227840" y="3936960"/>
            <a:ext cx="60984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Darren</a:t>
            </a:r>
            <a:endParaRPr lang="en-US" sz="1800" strike="noStrike" spc="-1">
              <a:solidFill>
                <a:srgbClr val="000000"/>
              </a:solidFill>
              <a:uFill>
                <a:solidFill>
                  <a:srgbClr val="FFFFFF"/>
                </a:solidFill>
              </a:uFill>
              <a:latin typeface="Arial"/>
            </a:endParaRPr>
          </a:p>
        </p:txBody>
      </p:sp>
      <p:sp>
        <p:nvSpPr>
          <p:cNvPr id="790" name="CustomShape 193"/>
          <p:cNvSpPr/>
          <p:nvPr/>
        </p:nvSpPr>
        <p:spPr>
          <a:xfrm>
            <a:off x="4704840" y="5019840"/>
            <a:ext cx="64656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Edwina</a:t>
            </a:r>
            <a:endParaRPr lang="en-US" sz="1800" strike="noStrike" spc="-1">
              <a:solidFill>
                <a:srgbClr val="000000"/>
              </a:solidFill>
              <a:uFill>
                <a:solidFill>
                  <a:srgbClr val="FFFFFF"/>
                </a:solidFill>
              </a:uFill>
              <a:latin typeface="Arial"/>
            </a:endParaRPr>
          </a:p>
        </p:txBody>
      </p:sp>
      <p:sp>
        <p:nvSpPr>
          <p:cNvPr id="791" name="CustomShape 194"/>
          <p:cNvSpPr/>
          <p:nvPr/>
        </p:nvSpPr>
        <p:spPr>
          <a:xfrm>
            <a:off x="941400" y="933480"/>
            <a:ext cx="870840" cy="4255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Calibri"/>
                <a:ea typeface="MS PGothic"/>
              </a:rPr>
              <a:t>Price of book</a:t>
            </a:r>
            <a:endParaRPr lang="en-US" sz="1800" strike="noStrike" spc="-1">
              <a:solidFill>
                <a:srgbClr val="000000"/>
              </a:solidFill>
              <a:uFill>
                <a:solidFill>
                  <a:srgbClr val="FFFFFF"/>
                </a:solidFill>
              </a:uFill>
              <a:latin typeface="Arial"/>
            </a:endParaRPr>
          </a:p>
        </p:txBody>
      </p:sp>
      <p:sp>
        <p:nvSpPr>
          <p:cNvPr id="792" name="CustomShape 195"/>
          <p:cNvSpPr/>
          <p:nvPr/>
        </p:nvSpPr>
        <p:spPr>
          <a:xfrm>
            <a:off x="5477040" y="5952960"/>
            <a:ext cx="252828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Calibri"/>
                <a:ea typeface="MS PGothic"/>
              </a:rPr>
              <a:t>Quantity of books</a:t>
            </a:r>
            <a:endParaRPr lang="en-US" sz="1800" strike="noStrike" spc="-1">
              <a:solidFill>
                <a:srgbClr val="000000"/>
              </a:solidFill>
              <a:uFill>
                <a:solidFill>
                  <a:srgbClr val="FFFFFF"/>
                </a:solidFill>
              </a:uFill>
              <a:latin typeface="Arial"/>
            </a:endParaRPr>
          </a:p>
        </p:txBody>
      </p:sp>
      <p:sp>
        <p:nvSpPr>
          <p:cNvPr id="793" name="Line 196"/>
          <p:cNvSpPr/>
          <p:nvPr/>
        </p:nvSpPr>
        <p:spPr>
          <a:xfrm>
            <a:off x="2016000" y="3752640"/>
            <a:ext cx="3495600" cy="360"/>
          </a:xfrm>
          <a:prstGeom prst="line">
            <a:avLst/>
          </a:prstGeom>
          <a:ln w="255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794" name="CustomShape 197"/>
          <p:cNvSpPr/>
          <p:nvPr/>
        </p:nvSpPr>
        <p:spPr>
          <a:xfrm>
            <a:off x="5452920" y="3657600"/>
            <a:ext cx="18018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Original price = $30</a:t>
            </a:r>
            <a:endParaRPr lang="en-US" sz="1800" strike="noStrike" spc="-1">
              <a:solidFill>
                <a:srgbClr val="000000"/>
              </a:solidFill>
              <a:uFill>
                <a:solidFill>
                  <a:srgbClr val="FFFFFF"/>
                </a:solidFill>
              </a:uFill>
              <a:latin typeface="Arial"/>
            </a:endParaRPr>
          </a:p>
        </p:txBody>
      </p:sp>
      <p:sp>
        <p:nvSpPr>
          <p:cNvPr id="795" name="Line 198"/>
          <p:cNvSpPr/>
          <p:nvPr/>
        </p:nvSpPr>
        <p:spPr>
          <a:xfrm>
            <a:off x="2016000" y="4424040"/>
            <a:ext cx="3495600" cy="360"/>
          </a:xfrm>
          <a:prstGeom prst="line">
            <a:avLst/>
          </a:prstGeom>
          <a:ln w="255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796" name="CustomShape 199"/>
          <p:cNvSpPr/>
          <p:nvPr/>
        </p:nvSpPr>
        <p:spPr>
          <a:xfrm>
            <a:off x="5479920" y="4325760"/>
            <a:ext cx="14922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New price = $20</a:t>
            </a:r>
            <a:endParaRPr lang="en-US" sz="1800" strike="noStrike" spc="-1">
              <a:solidFill>
                <a:srgbClr val="000000"/>
              </a:solidFill>
              <a:uFill>
                <a:solidFill>
                  <a:srgbClr val="FFFFFF"/>
                </a:solidFill>
              </a:uFill>
              <a:latin typeface="Arial"/>
            </a:endParaRPr>
          </a:p>
        </p:txBody>
      </p:sp>
      <p:sp>
        <p:nvSpPr>
          <p:cNvPr id="797" name="CustomShape 200"/>
          <p:cNvSpPr/>
          <p:nvPr/>
        </p:nvSpPr>
        <p:spPr>
          <a:xfrm>
            <a:off x="941400" y="60480"/>
            <a:ext cx="802260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2400" b="1" strike="noStrike" spc="-1">
                <a:solidFill>
                  <a:srgbClr val="FFFFFF"/>
                </a:solidFill>
                <a:uFill>
                  <a:solidFill>
                    <a:srgbClr val="FFFFFF"/>
                  </a:solidFill>
                </a:uFill>
                <a:latin typeface="Calibri"/>
                <a:ea typeface="MS PGothic"/>
              </a:rPr>
              <a:t>Consumer Surplus and a Fall in the Price of Used Textbooks</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 name="CustomShape 1"/>
          <p:cNvSpPr/>
          <p:nvPr/>
        </p:nvSpPr>
        <p:spPr>
          <a:xfrm>
            <a:off x="2333520" y="2371680"/>
            <a:ext cx="731160" cy="2194920"/>
          </a:xfrm>
          <a:prstGeom prst="rect">
            <a:avLst/>
          </a:prstGeom>
          <a:solidFill>
            <a:srgbClr val="7DA7D8"/>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799" name="Line 2"/>
          <p:cNvSpPr/>
          <p:nvPr/>
        </p:nvSpPr>
        <p:spPr>
          <a:xfrm flipV="1">
            <a:off x="2676240" y="2298600"/>
            <a:ext cx="1184400" cy="92232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800" name="CustomShape 3"/>
          <p:cNvSpPr/>
          <p:nvPr/>
        </p:nvSpPr>
        <p:spPr>
          <a:xfrm>
            <a:off x="3819600" y="1771560"/>
            <a:ext cx="1971000" cy="742320"/>
          </a:xfrm>
          <a:custGeom>
            <a:avLst/>
            <a:gdLst/>
            <a:ahLst/>
            <a:cxnLst/>
            <a:rect l="l" t="t" r="r" b="b"/>
            <a:pathLst>
              <a:path w="371" h="100">
                <a:moveTo>
                  <a:pt x="356" y="100"/>
                </a:moveTo>
                <a:cubicBezTo>
                  <a:pt x="364" y="100"/>
                  <a:pt x="371" y="92"/>
                  <a:pt x="371" y="83"/>
                </a:cubicBezTo>
                <a:cubicBezTo>
                  <a:pt x="371" y="17"/>
                  <a:pt x="371" y="17"/>
                  <a:pt x="371" y="17"/>
                </a:cubicBezTo>
                <a:cubicBezTo>
                  <a:pt x="371" y="8"/>
                  <a:pt x="364" y="0"/>
                  <a:pt x="356" y="0"/>
                </a:cubicBezTo>
                <a:cubicBezTo>
                  <a:pt x="14" y="0"/>
                  <a:pt x="14" y="0"/>
                  <a:pt x="14" y="0"/>
                </a:cubicBezTo>
                <a:cubicBezTo>
                  <a:pt x="6" y="0"/>
                  <a:pt x="0" y="8"/>
                  <a:pt x="0" y="17"/>
                </a:cubicBezTo>
                <a:cubicBezTo>
                  <a:pt x="0" y="83"/>
                  <a:pt x="0" y="83"/>
                  <a:pt x="0" y="83"/>
                </a:cubicBezTo>
                <a:cubicBezTo>
                  <a:pt x="0" y="92"/>
                  <a:pt x="6" y="100"/>
                  <a:pt x="14" y="100"/>
                </a:cubicBezTo>
                <a:lnTo>
                  <a:pt x="356" y="100"/>
                </a:lnTo>
                <a:close/>
              </a:path>
            </a:pathLst>
          </a:custGeom>
          <a:solidFill>
            <a:srgbClr val="D7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01" name="CustomShape 4"/>
          <p:cNvSpPr/>
          <p:nvPr/>
        </p:nvSpPr>
        <p:spPr>
          <a:xfrm>
            <a:off x="3827520" y="1908000"/>
            <a:ext cx="1905840" cy="42624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Calibri"/>
                <a:ea typeface="MS PGothic"/>
              </a:rPr>
              <a:t>Increase in consumer surplus to original buyers</a:t>
            </a:r>
            <a:endParaRPr lang="en-US" sz="1800" strike="noStrike" spc="-1">
              <a:solidFill>
                <a:srgbClr val="000000"/>
              </a:solidFill>
              <a:uFill>
                <a:solidFill>
                  <a:srgbClr val="FFFFFF"/>
                </a:solidFill>
              </a:uFill>
              <a:latin typeface="Arial"/>
            </a:endParaRPr>
          </a:p>
        </p:txBody>
      </p:sp>
      <p:sp>
        <p:nvSpPr>
          <p:cNvPr id="802" name="CustomShape 5"/>
          <p:cNvSpPr/>
          <p:nvPr/>
        </p:nvSpPr>
        <p:spPr>
          <a:xfrm>
            <a:off x="5537520" y="5545080"/>
            <a:ext cx="76824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1 million</a:t>
            </a:r>
            <a:endParaRPr lang="en-US" sz="1800" strike="noStrike" spc="-1">
              <a:solidFill>
                <a:srgbClr val="000000"/>
              </a:solidFill>
              <a:uFill>
                <a:solidFill>
                  <a:srgbClr val="FFFFFF"/>
                </a:solidFill>
              </a:uFill>
              <a:latin typeface="Arial"/>
            </a:endParaRPr>
          </a:p>
        </p:txBody>
      </p:sp>
      <p:sp>
        <p:nvSpPr>
          <p:cNvPr id="803" name="CustomShape 6"/>
          <p:cNvSpPr/>
          <p:nvPr/>
        </p:nvSpPr>
        <p:spPr>
          <a:xfrm>
            <a:off x="2125080" y="5545080"/>
            <a:ext cx="106920" cy="1972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300" strike="noStrike" spc="-1">
                <a:solidFill>
                  <a:srgbClr val="000000"/>
                </a:solidFill>
                <a:uFill>
                  <a:solidFill>
                    <a:srgbClr val="FFFFFF"/>
                  </a:solidFill>
                </a:uFill>
                <a:latin typeface="Myriad Pro"/>
                <a:ea typeface="MS PGothic"/>
              </a:rPr>
              <a:t>0</a:t>
            </a:r>
            <a:endParaRPr lang="en-US" sz="1800" strike="noStrike" spc="-1">
              <a:solidFill>
                <a:srgbClr val="000000"/>
              </a:solidFill>
              <a:uFill>
                <a:solidFill>
                  <a:srgbClr val="FFFFFF"/>
                </a:solidFill>
              </a:uFill>
              <a:latin typeface="Arial"/>
            </a:endParaRPr>
          </a:p>
        </p:txBody>
      </p:sp>
      <p:sp>
        <p:nvSpPr>
          <p:cNvPr id="804" name="Line 7"/>
          <p:cNvSpPr/>
          <p:nvPr/>
        </p:nvSpPr>
        <p:spPr>
          <a:xfrm flipV="1">
            <a:off x="5976720" y="5370480"/>
            <a:ext cx="360" cy="1346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805" name="CustomShape 8"/>
          <p:cNvSpPr/>
          <p:nvPr/>
        </p:nvSpPr>
        <p:spPr>
          <a:xfrm>
            <a:off x="2649600" y="5545080"/>
            <a:ext cx="73476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200,000</a:t>
            </a:r>
            <a:endParaRPr lang="en-US" sz="1800" strike="noStrike" spc="-1">
              <a:solidFill>
                <a:srgbClr val="000000"/>
              </a:solidFill>
              <a:uFill>
                <a:solidFill>
                  <a:srgbClr val="FFFFFF"/>
                </a:solidFill>
              </a:uFill>
              <a:latin typeface="Arial"/>
            </a:endParaRPr>
          </a:p>
        </p:txBody>
      </p:sp>
      <p:sp>
        <p:nvSpPr>
          <p:cNvPr id="806" name="Line 9"/>
          <p:cNvSpPr/>
          <p:nvPr/>
        </p:nvSpPr>
        <p:spPr>
          <a:xfrm flipV="1">
            <a:off x="3065400" y="5370480"/>
            <a:ext cx="360" cy="1346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807" name="CustomShape 10"/>
          <p:cNvSpPr/>
          <p:nvPr/>
        </p:nvSpPr>
        <p:spPr>
          <a:xfrm>
            <a:off x="1755720" y="4444920"/>
            <a:ext cx="3402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500</a:t>
            </a:r>
            <a:endParaRPr lang="en-US" sz="1800" strike="noStrike" spc="-1">
              <a:solidFill>
                <a:srgbClr val="000000"/>
              </a:solidFill>
              <a:uFill>
                <a:solidFill>
                  <a:srgbClr val="FFFFFF"/>
                </a:solidFill>
              </a:uFill>
              <a:latin typeface="Arial"/>
            </a:endParaRPr>
          </a:p>
        </p:txBody>
      </p:sp>
      <p:sp>
        <p:nvSpPr>
          <p:cNvPr id="808" name="CustomShape 11"/>
          <p:cNvSpPr/>
          <p:nvPr/>
        </p:nvSpPr>
        <p:spPr>
          <a:xfrm>
            <a:off x="2333520" y="1069920"/>
            <a:ext cx="5369760" cy="4434840"/>
          </a:xfrm>
          <a:custGeom>
            <a:avLst/>
            <a:gdLst/>
            <a:ahLst/>
            <a:cxnLst/>
            <a:rect l="l" t="t" r="r" b="b"/>
            <a:pathLst>
              <a:path w="2624" h="2192">
                <a:moveTo>
                  <a:pt x="2624" y="2192"/>
                </a:moveTo>
                <a:lnTo>
                  <a:pt x="0" y="2192"/>
                </a:lnTo>
                <a:lnTo>
                  <a:pt x="0" y="0"/>
                </a:lnTo>
              </a:path>
            </a:pathLst>
          </a:custGeom>
          <a:noFill/>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809" name="CustomShape 12"/>
          <p:cNvSpPr/>
          <p:nvPr/>
        </p:nvSpPr>
        <p:spPr>
          <a:xfrm>
            <a:off x="1634760" y="2251080"/>
            <a:ext cx="6220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$2,000</a:t>
            </a:r>
            <a:endParaRPr lang="en-US" sz="1800" strike="noStrike" spc="-1">
              <a:solidFill>
                <a:srgbClr val="000000"/>
              </a:solidFill>
              <a:uFill>
                <a:solidFill>
                  <a:srgbClr val="FFFFFF"/>
                </a:solidFill>
              </a:uFill>
              <a:latin typeface="Arial"/>
            </a:endParaRPr>
          </a:p>
        </p:txBody>
      </p:sp>
      <p:sp>
        <p:nvSpPr>
          <p:cNvPr id="810" name="Line 13"/>
          <p:cNvSpPr/>
          <p:nvPr/>
        </p:nvSpPr>
        <p:spPr>
          <a:xfrm>
            <a:off x="2333520" y="2371680"/>
            <a:ext cx="13644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811" name="Line 14"/>
          <p:cNvSpPr/>
          <p:nvPr/>
        </p:nvSpPr>
        <p:spPr>
          <a:xfrm>
            <a:off x="2333520" y="4566960"/>
            <a:ext cx="13644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812" name="CustomShape 15"/>
          <p:cNvSpPr/>
          <p:nvPr/>
        </p:nvSpPr>
        <p:spPr>
          <a:xfrm>
            <a:off x="1143000" y="914400"/>
            <a:ext cx="117864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Calibri"/>
                <a:ea typeface="MS PGothic"/>
              </a:rPr>
              <a:t>Price of iPad</a:t>
            </a:r>
            <a:endParaRPr lang="en-US" sz="1800" strike="noStrike" spc="-1">
              <a:solidFill>
                <a:srgbClr val="000000"/>
              </a:solidFill>
              <a:uFill>
                <a:solidFill>
                  <a:srgbClr val="FFFFFF"/>
                </a:solidFill>
              </a:uFill>
              <a:latin typeface="Arial"/>
            </a:endParaRPr>
          </a:p>
        </p:txBody>
      </p:sp>
      <p:sp>
        <p:nvSpPr>
          <p:cNvPr id="813" name="CustomShape 16"/>
          <p:cNvSpPr/>
          <p:nvPr/>
        </p:nvSpPr>
        <p:spPr>
          <a:xfrm>
            <a:off x="6019920" y="5562720"/>
            <a:ext cx="284868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Calibri"/>
                <a:ea typeface="MS PGothic"/>
              </a:rPr>
              <a:t>Quantity of iPads</a:t>
            </a:r>
            <a:endParaRPr lang="en-US" sz="1800" strike="noStrike" spc="-1">
              <a:solidFill>
                <a:srgbClr val="000000"/>
              </a:solidFill>
              <a:uFill>
                <a:solidFill>
                  <a:srgbClr val="FFFFFF"/>
                </a:solidFill>
              </a:uFill>
              <a:latin typeface="Arial"/>
            </a:endParaRPr>
          </a:p>
        </p:txBody>
      </p:sp>
      <p:sp>
        <p:nvSpPr>
          <p:cNvPr id="814" name="CustomShape 17"/>
          <p:cNvSpPr/>
          <p:nvPr/>
        </p:nvSpPr>
        <p:spPr>
          <a:xfrm>
            <a:off x="3065400" y="2371680"/>
            <a:ext cx="2910600" cy="2194920"/>
          </a:xfrm>
          <a:custGeom>
            <a:avLst/>
            <a:gdLst/>
            <a:ahLst/>
            <a:cxnLst/>
            <a:rect l="l" t="t" r="r" b="b"/>
            <a:pathLst>
              <a:path w="1422" h="1085">
                <a:moveTo>
                  <a:pt x="0" y="1085"/>
                </a:moveTo>
                <a:lnTo>
                  <a:pt x="0" y="0"/>
                </a:lnTo>
                <a:lnTo>
                  <a:pt x="1422" y="1085"/>
                </a:lnTo>
                <a:lnTo>
                  <a:pt x="0" y="1085"/>
                </a:lnTo>
                <a:close/>
              </a:path>
            </a:pathLst>
          </a:custGeom>
          <a:solidFill>
            <a:srgbClr val="C7D6EE"/>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15" name="Line 18"/>
          <p:cNvSpPr/>
          <p:nvPr/>
        </p:nvSpPr>
        <p:spPr>
          <a:xfrm flipV="1">
            <a:off x="3911400" y="3192120"/>
            <a:ext cx="1047600" cy="5270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816" name="CustomShape 19"/>
          <p:cNvSpPr/>
          <p:nvPr/>
        </p:nvSpPr>
        <p:spPr>
          <a:xfrm>
            <a:off x="4924440" y="2852640"/>
            <a:ext cx="1551960" cy="791280"/>
          </a:xfrm>
          <a:custGeom>
            <a:avLst/>
            <a:gdLst/>
            <a:ahLst/>
            <a:cxnLst/>
            <a:rect l="l" t="t" r="r" b="b"/>
            <a:pathLst>
              <a:path w="324" h="100">
                <a:moveTo>
                  <a:pt x="310" y="100"/>
                </a:moveTo>
                <a:cubicBezTo>
                  <a:pt x="318" y="100"/>
                  <a:pt x="324" y="92"/>
                  <a:pt x="324" y="83"/>
                </a:cubicBezTo>
                <a:cubicBezTo>
                  <a:pt x="324" y="17"/>
                  <a:pt x="324" y="17"/>
                  <a:pt x="324" y="17"/>
                </a:cubicBezTo>
                <a:cubicBezTo>
                  <a:pt x="324" y="8"/>
                  <a:pt x="318" y="0"/>
                  <a:pt x="310" y="0"/>
                </a:cubicBezTo>
                <a:cubicBezTo>
                  <a:pt x="15" y="0"/>
                  <a:pt x="15" y="0"/>
                  <a:pt x="15" y="0"/>
                </a:cubicBezTo>
                <a:cubicBezTo>
                  <a:pt x="7" y="0"/>
                  <a:pt x="0" y="8"/>
                  <a:pt x="0" y="17"/>
                </a:cubicBezTo>
                <a:cubicBezTo>
                  <a:pt x="0" y="83"/>
                  <a:pt x="0" y="83"/>
                  <a:pt x="0" y="83"/>
                </a:cubicBezTo>
                <a:cubicBezTo>
                  <a:pt x="0" y="92"/>
                  <a:pt x="7" y="100"/>
                  <a:pt x="15" y="100"/>
                </a:cubicBezTo>
                <a:lnTo>
                  <a:pt x="310" y="100"/>
                </a:lnTo>
                <a:close/>
              </a:path>
            </a:pathLst>
          </a:custGeom>
          <a:solidFill>
            <a:srgbClr val="D7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17" name="CustomShape 20"/>
          <p:cNvSpPr/>
          <p:nvPr/>
        </p:nvSpPr>
        <p:spPr>
          <a:xfrm>
            <a:off x="4952880" y="2895480"/>
            <a:ext cx="1472400" cy="6393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Calibri"/>
                <a:ea typeface="MS PGothic"/>
              </a:rPr>
              <a:t>Consumer surplus gained by new buyers</a:t>
            </a:r>
            <a:endParaRPr lang="en-US" sz="1800" strike="noStrike" spc="-1">
              <a:solidFill>
                <a:srgbClr val="000000"/>
              </a:solidFill>
              <a:uFill>
                <a:solidFill>
                  <a:srgbClr val="FFFFFF"/>
                </a:solidFill>
              </a:uFill>
              <a:latin typeface="Arial"/>
            </a:endParaRPr>
          </a:p>
        </p:txBody>
      </p:sp>
      <p:sp>
        <p:nvSpPr>
          <p:cNvPr id="818" name="CustomShape 21"/>
          <p:cNvSpPr/>
          <p:nvPr/>
        </p:nvSpPr>
        <p:spPr>
          <a:xfrm>
            <a:off x="6576120" y="4919760"/>
            <a:ext cx="13140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D</a:t>
            </a:r>
            <a:endParaRPr lang="en-US" sz="1800" strike="noStrike" spc="-1">
              <a:solidFill>
                <a:srgbClr val="000000"/>
              </a:solidFill>
              <a:uFill>
                <a:solidFill>
                  <a:srgbClr val="FFFFFF"/>
                </a:solidFill>
              </a:uFill>
              <a:latin typeface="Arial"/>
            </a:endParaRPr>
          </a:p>
        </p:txBody>
      </p:sp>
      <p:sp>
        <p:nvSpPr>
          <p:cNvPr id="819" name="Line 22"/>
          <p:cNvSpPr/>
          <p:nvPr/>
        </p:nvSpPr>
        <p:spPr>
          <a:xfrm>
            <a:off x="2320920" y="1806480"/>
            <a:ext cx="4216320" cy="3179520"/>
          </a:xfrm>
          <a:prstGeom prst="line">
            <a:avLst/>
          </a:prstGeom>
          <a:ln w="34920">
            <a:solidFill>
              <a:srgbClr val="3C5DA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820" name="CustomShape 23"/>
          <p:cNvSpPr/>
          <p:nvPr/>
        </p:nvSpPr>
        <p:spPr>
          <a:xfrm>
            <a:off x="5919840" y="4510080"/>
            <a:ext cx="113760" cy="1137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21" name="CustomShape 24"/>
          <p:cNvSpPr/>
          <p:nvPr/>
        </p:nvSpPr>
        <p:spPr>
          <a:xfrm>
            <a:off x="3008160" y="2314440"/>
            <a:ext cx="111960" cy="1119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22" name="Line 25"/>
          <p:cNvSpPr/>
          <p:nvPr/>
        </p:nvSpPr>
        <p:spPr>
          <a:xfrm>
            <a:off x="3557520" y="5670360"/>
            <a:ext cx="1806480" cy="360"/>
          </a:xfrm>
          <a:prstGeom prst="line">
            <a:avLst/>
          </a:prstGeom>
          <a:ln w="1260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823" name="CustomShape 26"/>
          <p:cNvSpPr/>
          <p:nvPr/>
        </p:nvSpPr>
        <p:spPr>
          <a:xfrm>
            <a:off x="5329080" y="5629320"/>
            <a:ext cx="126360" cy="73800"/>
          </a:xfrm>
          <a:custGeom>
            <a:avLst/>
            <a:gdLst/>
            <a:ahLst/>
            <a:cxnLst/>
            <a:rect l="l" t="t" r="r" b="b"/>
            <a:pathLst>
              <a:path w="22" h="13">
                <a:moveTo>
                  <a:pt x="4" y="7"/>
                </a:moveTo>
                <a:cubicBezTo>
                  <a:pt x="0" y="0"/>
                  <a:pt x="0" y="0"/>
                  <a:pt x="0" y="0"/>
                </a:cubicBezTo>
                <a:cubicBezTo>
                  <a:pt x="0" y="0"/>
                  <a:pt x="0" y="0"/>
                  <a:pt x="0" y="0"/>
                </a:cubicBezTo>
                <a:cubicBezTo>
                  <a:pt x="11" y="4"/>
                  <a:pt x="11" y="4"/>
                  <a:pt x="11" y="4"/>
                </a:cubicBezTo>
                <a:cubicBezTo>
                  <a:pt x="15" y="5"/>
                  <a:pt x="18" y="6"/>
                  <a:pt x="22" y="7"/>
                </a:cubicBezTo>
                <a:cubicBezTo>
                  <a:pt x="18" y="7"/>
                  <a:pt x="15" y="8"/>
                  <a:pt x="11" y="9"/>
                </a:cubicBezTo>
                <a:cubicBezTo>
                  <a:pt x="0" y="13"/>
                  <a:pt x="0" y="13"/>
                  <a:pt x="0" y="13"/>
                </a:cubicBezTo>
                <a:cubicBezTo>
                  <a:pt x="0" y="13"/>
                  <a:pt x="0" y="13"/>
                  <a:pt x="0" y="13"/>
                </a:cubicBezTo>
                <a:lnTo>
                  <a:pt x="4" y="7"/>
                </a:lnTo>
                <a:close/>
              </a:path>
            </a:pathLst>
          </a:cu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24" name="Line 27"/>
          <p:cNvSpPr/>
          <p:nvPr/>
        </p:nvSpPr>
        <p:spPr>
          <a:xfrm>
            <a:off x="2008080" y="2574720"/>
            <a:ext cx="360" cy="1692360"/>
          </a:xfrm>
          <a:prstGeom prst="line">
            <a:avLst/>
          </a:prstGeom>
          <a:ln w="1260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825" name="CustomShape 28"/>
          <p:cNvSpPr/>
          <p:nvPr/>
        </p:nvSpPr>
        <p:spPr>
          <a:xfrm>
            <a:off x="1967040" y="4233960"/>
            <a:ext cx="72360" cy="124560"/>
          </a:xfrm>
          <a:custGeom>
            <a:avLst/>
            <a:gdLst/>
            <a:ahLst/>
            <a:cxnLst/>
            <a:rect l="l" t="t" r="r" b="b"/>
            <a:pathLst>
              <a:path w="13" h="22">
                <a:moveTo>
                  <a:pt x="7" y="4"/>
                </a:moveTo>
                <a:cubicBezTo>
                  <a:pt x="13" y="0"/>
                  <a:pt x="13" y="0"/>
                  <a:pt x="13" y="0"/>
                </a:cubicBezTo>
                <a:cubicBezTo>
                  <a:pt x="13" y="1"/>
                  <a:pt x="13" y="1"/>
                  <a:pt x="13" y="1"/>
                </a:cubicBezTo>
                <a:cubicBezTo>
                  <a:pt x="9" y="11"/>
                  <a:pt x="9" y="11"/>
                  <a:pt x="9" y="11"/>
                </a:cubicBezTo>
                <a:cubicBezTo>
                  <a:pt x="8" y="15"/>
                  <a:pt x="7" y="19"/>
                  <a:pt x="7" y="22"/>
                </a:cubicBezTo>
                <a:cubicBezTo>
                  <a:pt x="6" y="19"/>
                  <a:pt x="5" y="15"/>
                  <a:pt x="4" y="11"/>
                </a:cubicBezTo>
                <a:cubicBezTo>
                  <a:pt x="0" y="1"/>
                  <a:pt x="0" y="1"/>
                  <a:pt x="0" y="1"/>
                </a:cubicBezTo>
                <a:cubicBezTo>
                  <a:pt x="0" y="0"/>
                  <a:pt x="0" y="0"/>
                  <a:pt x="0" y="0"/>
                </a:cubicBezTo>
                <a:lnTo>
                  <a:pt x="7" y="4"/>
                </a:lnTo>
                <a:close/>
              </a:path>
            </a:pathLst>
          </a:cu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26" name="CustomShape 29"/>
          <p:cNvSpPr/>
          <p:nvPr/>
        </p:nvSpPr>
        <p:spPr>
          <a:xfrm>
            <a:off x="2538360" y="4554360"/>
            <a:ext cx="2304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27" name="CustomShape 30"/>
          <p:cNvSpPr/>
          <p:nvPr/>
        </p:nvSpPr>
        <p:spPr>
          <a:xfrm>
            <a:off x="2641680" y="4554360"/>
            <a:ext cx="2304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28" name="CustomShape 31"/>
          <p:cNvSpPr/>
          <p:nvPr/>
        </p:nvSpPr>
        <p:spPr>
          <a:xfrm>
            <a:off x="274464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29" name="CustomShape 32"/>
          <p:cNvSpPr/>
          <p:nvPr/>
        </p:nvSpPr>
        <p:spPr>
          <a:xfrm>
            <a:off x="2846520" y="4554360"/>
            <a:ext cx="2484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30" name="CustomShape 33"/>
          <p:cNvSpPr/>
          <p:nvPr/>
        </p:nvSpPr>
        <p:spPr>
          <a:xfrm>
            <a:off x="295128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31" name="CustomShape 34"/>
          <p:cNvSpPr/>
          <p:nvPr/>
        </p:nvSpPr>
        <p:spPr>
          <a:xfrm>
            <a:off x="2538360" y="2360520"/>
            <a:ext cx="2304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32" name="CustomShape 35"/>
          <p:cNvSpPr/>
          <p:nvPr/>
        </p:nvSpPr>
        <p:spPr>
          <a:xfrm>
            <a:off x="2641680" y="2360520"/>
            <a:ext cx="2304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33" name="CustomShape 36"/>
          <p:cNvSpPr/>
          <p:nvPr/>
        </p:nvSpPr>
        <p:spPr>
          <a:xfrm>
            <a:off x="2744640" y="236052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34" name="CustomShape 37"/>
          <p:cNvSpPr/>
          <p:nvPr/>
        </p:nvSpPr>
        <p:spPr>
          <a:xfrm>
            <a:off x="2846520" y="2360520"/>
            <a:ext cx="2484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35" name="CustomShape 38"/>
          <p:cNvSpPr/>
          <p:nvPr/>
        </p:nvSpPr>
        <p:spPr>
          <a:xfrm>
            <a:off x="2951280" y="236052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36" name="CustomShape 39"/>
          <p:cNvSpPr/>
          <p:nvPr/>
        </p:nvSpPr>
        <p:spPr>
          <a:xfrm>
            <a:off x="305424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37" name="CustomShape 40"/>
          <p:cNvSpPr/>
          <p:nvPr/>
        </p:nvSpPr>
        <p:spPr>
          <a:xfrm>
            <a:off x="315612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38" name="CustomShape 41"/>
          <p:cNvSpPr/>
          <p:nvPr/>
        </p:nvSpPr>
        <p:spPr>
          <a:xfrm>
            <a:off x="326088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39" name="CustomShape 42"/>
          <p:cNvSpPr/>
          <p:nvPr/>
        </p:nvSpPr>
        <p:spPr>
          <a:xfrm>
            <a:off x="336240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40" name="CustomShape 43"/>
          <p:cNvSpPr/>
          <p:nvPr/>
        </p:nvSpPr>
        <p:spPr>
          <a:xfrm>
            <a:off x="346536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41" name="CustomShape 44"/>
          <p:cNvSpPr/>
          <p:nvPr/>
        </p:nvSpPr>
        <p:spPr>
          <a:xfrm>
            <a:off x="3567240" y="4554360"/>
            <a:ext cx="2484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42" name="CustomShape 45"/>
          <p:cNvSpPr/>
          <p:nvPr/>
        </p:nvSpPr>
        <p:spPr>
          <a:xfrm>
            <a:off x="367200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43" name="CustomShape 46"/>
          <p:cNvSpPr/>
          <p:nvPr/>
        </p:nvSpPr>
        <p:spPr>
          <a:xfrm>
            <a:off x="3773520" y="4554360"/>
            <a:ext cx="2304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44" name="CustomShape 47"/>
          <p:cNvSpPr/>
          <p:nvPr/>
        </p:nvSpPr>
        <p:spPr>
          <a:xfrm>
            <a:off x="3876840" y="4554360"/>
            <a:ext cx="2304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45" name="CustomShape 48"/>
          <p:cNvSpPr/>
          <p:nvPr/>
        </p:nvSpPr>
        <p:spPr>
          <a:xfrm>
            <a:off x="398160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46" name="CustomShape 49"/>
          <p:cNvSpPr/>
          <p:nvPr/>
        </p:nvSpPr>
        <p:spPr>
          <a:xfrm>
            <a:off x="408312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47" name="CustomShape 50"/>
          <p:cNvSpPr/>
          <p:nvPr/>
        </p:nvSpPr>
        <p:spPr>
          <a:xfrm>
            <a:off x="418608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48" name="CustomShape 51"/>
          <p:cNvSpPr/>
          <p:nvPr/>
        </p:nvSpPr>
        <p:spPr>
          <a:xfrm>
            <a:off x="4289400" y="4554360"/>
            <a:ext cx="2304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49" name="CustomShape 52"/>
          <p:cNvSpPr/>
          <p:nvPr/>
        </p:nvSpPr>
        <p:spPr>
          <a:xfrm>
            <a:off x="439272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50" name="CustomShape 53"/>
          <p:cNvSpPr/>
          <p:nvPr/>
        </p:nvSpPr>
        <p:spPr>
          <a:xfrm>
            <a:off x="449424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51" name="CustomShape 54"/>
          <p:cNvSpPr/>
          <p:nvPr/>
        </p:nvSpPr>
        <p:spPr>
          <a:xfrm>
            <a:off x="459900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52" name="CustomShape 55"/>
          <p:cNvSpPr/>
          <p:nvPr/>
        </p:nvSpPr>
        <p:spPr>
          <a:xfrm>
            <a:off x="4707000" y="4554360"/>
            <a:ext cx="2304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53" name="CustomShape 56"/>
          <p:cNvSpPr/>
          <p:nvPr/>
        </p:nvSpPr>
        <p:spPr>
          <a:xfrm>
            <a:off x="480996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54" name="CustomShape 57"/>
          <p:cNvSpPr/>
          <p:nvPr/>
        </p:nvSpPr>
        <p:spPr>
          <a:xfrm>
            <a:off x="4911840" y="4554360"/>
            <a:ext cx="2304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55" name="CustomShape 58"/>
          <p:cNvSpPr/>
          <p:nvPr/>
        </p:nvSpPr>
        <p:spPr>
          <a:xfrm>
            <a:off x="501660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56" name="CustomShape 59"/>
          <p:cNvSpPr/>
          <p:nvPr/>
        </p:nvSpPr>
        <p:spPr>
          <a:xfrm>
            <a:off x="511956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57" name="CustomShape 60"/>
          <p:cNvSpPr/>
          <p:nvPr/>
        </p:nvSpPr>
        <p:spPr>
          <a:xfrm>
            <a:off x="522144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58" name="CustomShape 61"/>
          <p:cNvSpPr/>
          <p:nvPr/>
        </p:nvSpPr>
        <p:spPr>
          <a:xfrm>
            <a:off x="5324400" y="4554360"/>
            <a:ext cx="2304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59" name="CustomShape 62"/>
          <p:cNvSpPr/>
          <p:nvPr/>
        </p:nvSpPr>
        <p:spPr>
          <a:xfrm>
            <a:off x="542772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60" name="CustomShape 63"/>
          <p:cNvSpPr/>
          <p:nvPr/>
        </p:nvSpPr>
        <p:spPr>
          <a:xfrm>
            <a:off x="553068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61" name="CustomShape 64"/>
          <p:cNvSpPr/>
          <p:nvPr/>
        </p:nvSpPr>
        <p:spPr>
          <a:xfrm>
            <a:off x="5632560" y="4554360"/>
            <a:ext cx="2484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62" name="CustomShape 65"/>
          <p:cNvSpPr/>
          <p:nvPr/>
        </p:nvSpPr>
        <p:spPr>
          <a:xfrm>
            <a:off x="5737320" y="4554360"/>
            <a:ext cx="2160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63" name="CustomShape 66"/>
          <p:cNvSpPr/>
          <p:nvPr/>
        </p:nvSpPr>
        <p:spPr>
          <a:xfrm>
            <a:off x="5838840" y="4554360"/>
            <a:ext cx="23040" cy="248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64" name="CustomShape 67"/>
          <p:cNvSpPr/>
          <p:nvPr/>
        </p:nvSpPr>
        <p:spPr>
          <a:xfrm>
            <a:off x="3054240" y="251316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65" name="CustomShape 68"/>
          <p:cNvSpPr/>
          <p:nvPr/>
        </p:nvSpPr>
        <p:spPr>
          <a:xfrm>
            <a:off x="3054240" y="261612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66" name="CustomShape 69"/>
          <p:cNvSpPr/>
          <p:nvPr/>
        </p:nvSpPr>
        <p:spPr>
          <a:xfrm>
            <a:off x="3054240" y="271764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67" name="CustomShape 70"/>
          <p:cNvSpPr/>
          <p:nvPr/>
        </p:nvSpPr>
        <p:spPr>
          <a:xfrm>
            <a:off x="3054240" y="281772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68" name="CustomShape 71"/>
          <p:cNvSpPr/>
          <p:nvPr/>
        </p:nvSpPr>
        <p:spPr>
          <a:xfrm>
            <a:off x="3054240" y="2919240"/>
            <a:ext cx="21600" cy="230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69" name="CustomShape 72"/>
          <p:cNvSpPr/>
          <p:nvPr/>
        </p:nvSpPr>
        <p:spPr>
          <a:xfrm>
            <a:off x="3054240" y="302256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70" name="CustomShape 73"/>
          <p:cNvSpPr/>
          <p:nvPr/>
        </p:nvSpPr>
        <p:spPr>
          <a:xfrm>
            <a:off x="3054240" y="312408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71" name="CustomShape 74"/>
          <p:cNvSpPr/>
          <p:nvPr/>
        </p:nvSpPr>
        <p:spPr>
          <a:xfrm>
            <a:off x="3054240" y="3225960"/>
            <a:ext cx="21600" cy="230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72" name="CustomShape 75"/>
          <p:cNvSpPr/>
          <p:nvPr/>
        </p:nvSpPr>
        <p:spPr>
          <a:xfrm>
            <a:off x="3054240" y="332892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73" name="CustomShape 76"/>
          <p:cNvSpPr/>
          <p:nvPr/>
        </p:nvSpPr>
        <p:spPr>
          <a:xfrm>
            <a:off x="3054240" y="342900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74" name="CustomShape 77"/>
          <p:cNvSpPr/>
          <p:nvPr/>
        </p:nvSpPr>
        <p:spPr>
          <a:xfrm>
            <a:off x="3054240" y="3530520"/>
            <a:ext cx="21600" cy="230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75" name="CustomShape 78"/>
          <p:cNvSpPr/>
          <p:nvPr/>
        </p:nvSpPr>
        <p:spPr>
          <a:xfrm>
            <a:off x="3054240" y="363384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76" name="CustomShape 79"/>
          <p:cNvSpPr/>
          <p:nvPr/>
        </p:nvSpPr>
        <p:spPr>
          <a:xfrm>
            <a:off x="3054240" y="373536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77" name="CustomShape 80"/>
          <p:cNvSpPr/>
          <p:nvPr/>
        </p:nvSpPr>
        <p:spPr>
          <a:xfrm>
            <a:off x="3054240" y="3836880"/>
            <a:ext cx="21600" cy="230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78" name="CustomShape 81"/>
          <p:cNvSpPr/>
          <p:nvPr/>
        </p:nvSpPr>
        <p:spPr>
          <a:xfrm>
            <a:off x="3054240" y="394020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79" name="CustomShape 82"/>
          <p:cNvSpPr/>
          <p:nvPr/>
        </p:nvSpPr>
        <p:spPr>
          <a:xfrm>
            <a:off x="3054240" y="404640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80" name="CustomShape 83"/>
          <p:cNvSpPr/>
          <p:nvPr/>
        </p:nvSpPr>
        <p:spPr>
          <a:xfrm>
            <a:off x="3054240" y="414828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81" name="CustomShape 84"/>
          <p:cNvSpPr/>
          <p:nvPr/>
        </p:nvSpPr>
        <p:spPr>
          <a:xfrm>
            <a:off x="3054240" y="4249800"/>
            <a:ext cx="21600" cy="230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82" name="CustomShape 85"/>
          <p:cNvSpPr/>
          <p:nvPr/>
        </p:nvSpPr>
        <p:spPr>
          <a:xfrm>
            <a:off x="3054240" y="435276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83" name="CustomShape 86"/>
          <p:cNvSpPr/>
          <p:nvPr/>
        </p:nvSpPr>
        <p:spPr>
          <a:xfrm>
            <a:off x="3054240" y="445464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84" name="CustomShape 87"/>
          <p:cNvSpPr/>
          <p:nvPr/>
        </p:nvSpPr>
        <p:spPr>
          <a:xfrm>
            <a:off x="3054240" y="465768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85" name="CustomShape 88"/>
          <p:cNvSpPr/>
          <p:nvPr/>
        </p:nvSpPr>
        <p:spPr>
          <a:xfrm>
            <a:off x="3054240" y="475920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86" name="CustomShape 89"/>
          <p:cNvSpPr/>
          <p:nvPr/>
        </p:nvSpPr>
        <p:spPr>
          <a:xfrm>
            <a:off x="3054240" y="486108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87" name="CustomShape 90"/>
          <p:cNvSpPr/>
          <p:nvPr/>
        </p:nvSpPr>
        <p:spPr>
          <a:xfrm>
            <a:off x="3054240" y="496404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88" name="CustomShape 91"/>
          <p:cNvSpPr/>
          <p:nvPr/>
        </p:nvSpPr>
        <p:spPr>
          <a:xfrm>
            <a:off x="3054240" y="506556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89" name="CustomShape 92"/>
          <p:cNvSpPr/>
          <p:nvPr/>
        </p:nvSpPr>
        <p:spPr>
          <a:xfrm>
            <a:off x="3054240" y="516564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90" name="CustomShape 93"/>
          <p:cNvSpPr/>
          <p:nvPr/>
        </p:nvSpPr>
        <p:spPr>
          <a:xfrm>
            <a:off x="3054240" y="5268960"/>
            <a:ext cx="2160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91" name="CustomShape 94"/>
          <p:cNvSpPr/>
          <p:nvPr/>
        </p:nvSpPr>
        <p:spPr>
          <a:xfrm>
            <a:off x="5964120" y="4657680"/>
            <a:ext cx="2484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92" name="CustomShape 95"/>
          <p:cNvSpPr/>
          <p:nvPr/>
        </p:nvSpPr>
        <p:spPr>
          <a:xfrm>
            <a:off x="5964120" y="4759200"/>
            <a:ext cx="2484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93" name="CustomShape 96"/>
          <p:cNvSpPr/>
          <p:nvPr/>
        </p:nvSpPr>
        <p:spPr>
          <a:xfrm>
            <a:off x="5964120" y="4861080"/>
            <a:ext cx="2484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94" name="CustomShape 97"/>
          <p:cNvSpPr/>
          <p:nvPr/>
        </p:nvSpPr>
        <p:spPr>
          <a:xfrm>
            <a:off x="5964120" y="4964040"/>
            <a:ext cx="2484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95" name="CustomShape 98"/>
          <p:cNvSpPr/>
          <p:nvPr/>
        </p:nvSpPr>
        <p:spPr>
          <a:xfrm>
            <a:off x="5964120" y="5065560"/>
            <a:ext cx="2484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96" name="CustomShape 99"/>
          <p:cNvSpPr/>
          <p:nvPr/>
        </p:nvSpPr>
        <p:spPr>
          <a:xfrm>
            <a:off x="5964120" y="5165640"/>
            <a:ext cx="2484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97" name="CustomShape 100"/>
          <p:cNvSpPr/>
          <p:nvPr/>
        </p:nvSpPr>
        <p:spPr>
          <a:xfrm>
            <a:off x="5964120" y="5268960"/>
            <a:ext cx="24840" cy="21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898" name="CustomShape 101"/>
          <p:cNvSpPr/>
          <p:nvPr/>
        </p:nvSpPr>
        <p:spPr>
          <a:xfrm>
            <a:off x="900000" y="60480"/>
            <a:ext cx="796860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2400" b="1" strike="noStrike" spc="-1">
                <a:solidFill>
                  <a:srgbClr val="FFFFFF"/>
                </a:solidFill>
                <a:uFill>
                  <a:solidFill>
                    <a:srgbClr val="FFFFFF"/>
                  </a:solidFill>
                </a:uFill>
                <a:latin typeface="Calibri"/>
                <a:ea typeface="MS PGothic"/>
              </a:rPr>
              <a:t>A Fall in the Market Price Increases Consumer Surplus</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 name="CustomShape 1"/>
          <p:cNvSpPr/>
          <p:nvPr/>
        </p:nvSpPr>
        <p:spPr>
          <a:xfrm>
            <a:off x="900000" y="76320"/>
            <a:ext cx="7992360" cy="608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rPr>
              <a:t>Producer Surplus and the Supply Curve</a:t>
            </a:r>
            <a:endParaRPr lang="en-US" sz="1800" strike="noStrike" spc="-1">
              <a:solidFill>
                <a:srgbClr val="000000"/>
              </a:solidFill>
              <a:uFill>
                <a:solidFill>
                  <a:srgbClr val="FFFFFF"/>
                </a:solidFill>
              </a:uFill>
              <a:latin typeface="Arial"/>
            </a:endParaRPr>
          </a:p>
        </p:txBody>
      </p:sp>
      <p:sp>
        <p:nvSpPr>
          <p:cNvPr id="900" name="CustomShape 2"/>
          <p:cNvSpPr/>
          <p:nvPr/>
        </p:nvSpPr>
        <p:spPr>
          <a:xfrm>
            <a:off x="971640" y="987480"/>
            <a:ext cx="7921080" cy="52189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341280" lvl="1" indent="-219960">
              <a:lnSpc>
                <a:spcPct val="100000"/>
              </a:lnSpc>
              <a:buClr>
                <a:srgbClr val="000000"/>
              </a:buClr>
              <a:buFont typeface="Wingdings" charset="2"/>
              <a:buChar char=""/>
            </a:pPr>
            <a:r>
              <a:rPr lang="en-US" sz="2500" strike="noStrike" spc="-1">
                <a:solidFill>
                  <a:srgbClr val="000000"/>
                </a:solidFill>
                <a:uFill>
                  <a:solidFill>
                    <a:srgbClr val="FFFFFF"/>
                  </a:solidFill>
                </a:uFill>
                <a:latin typeface="Calibri"/>
                <a:ea typeface="MS PGothic"/>
              </a:rPr>
              <a:t>A potential seller’s </a:t>
            </a:r>
            <a:r>
              <a:rPr lang="en-US" sz="2500" b="1" strike="noStrike" spc="-1">
                <a:solidFill>
                  <a:srgbClr val="000000"/>
                </a:solidFill>
                <a:uFill>
                  <a:solidFill>
                    <a:srgbClr val="FFFFFF"/>
                  </a:solidFill>
                </a:uFill>
                <a:latin typeface="Calibri"/>
                <a:ea typeface="MS PGothic"/>
              </a:rPr>
              <a:t>cost </a:t>
            </a:r>
            <a:r>
              <a:rPr lang="en-US" sz="2500" strike="noStrike" spc="-1">
                <a:solidFill>
                  <a:srgbClr val="000000"/>
                </a:solidFill>
                <a:uFill>
                  <a:solidFill>
                    <a:srgbClr val="FFFFFF"/>
                  </a:solidFill>
                </a:uFill>
                <a:latin typeface="Calibri"/>
                <a:ea typeface="MS PGothic"/>
              </a:rPr>
              <a:t>is the lowest price at which he or she is willing to sell a good.</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341280" lvl="1" indent="-219960">
              <a:lnSpc>
                <a:spcPct val="100000"/>
              </a:lnSpc>
              <a:buClr>
                <a:srgbClr val="000000"/>
              </a:buClr>
              <a:buFont typeface="Wingdings" charset="2"/>
              <a:buChar char=""/>
            </a:pPr>
            <a:r>
              <a:rPr lang="en-US" sz="2500" b="1" strike="noStrike" spc="-1">
                <a:solidFill>
                  <a:srgbClr val="000000"/>
                </a:solidFill>
                <a:uFill>
                  <a:solidFill>
                    <a:srgbClr val="FFFFFF"/>
                  </a:solidFill>
                </a:uFill>
                <a:latin typeface="Calibri"/>
                <a:ea typeface="MS PGothic"/>
              </a:rPr>
              <a:t>Individual producer surplus </a:t>
            </a:r>
            <a:r>
              <a:rPr lang="en-US" sz="2500" strike="noStrike" spc="-1">
                <a:solidFill>
                  <a:srgbClr val="000000"/>
                </a:solidFill>
                <a:uFill>
                  <a:solidFill>
                    <a:srgbClr val="FFFFFF"/>
                  </a:solidFill>
                </a:uFill>
                <a:latin typeface="Calibri"/>
                <a:ea typeface="MS PGothic"/>
              </a:rPr>
              <a:t>is the net gain to a seller from selling a good. It is equal to the difference between the price received and the seller’s cost. </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341280" lvl="1" indent="-219960">
              <a:lnSpc>
                <a:spcPct val="100000"/>
              </a:lnSpc>
              <a:buClr>
                <a:srgbClr val="000000"/>
              </a:buClr>
              <a:buFont typeface="Wingdings" charset="2"/>
              <a:buChar char=""/>
            </a:pPr>
            <a:r>
              <a:rPr lang="en-US" sz="2500" b="1" strike="noStrike" spc="-1">
                <a:solidFill>
                  <a:srgbClr val="000000"/>
                </a:solidFill>
                <a:uFill>
                  <a:solidFill>
                    <a:srgbClr val="FFFFFF"/>
                  </a:solidFill>
                </a:uFill>
                <a:latin typeface="Calibri"/>
                <a:ea typeface="MS PGothic"/>
              </a:rPr>
              <a:t>Total producer surplus </a:t>
            </a:r>
            <a:r>
              <a:rPr lang="en-US" sz="2500" strike="noStrike" spc="-1">
                <a:solidFill>
                  <a:srgbClr val="000000"/>
                </a:solidFill>
                <a:uFill>
                  <a:solidFill>
                    <a:srgbClr val="FFFFFF"/>
                  </a:solidFill>
                </a:uFill>
                <a:latin typeface="Calibri"/>
                <a:ea typeface="MS PGothic"/>
              </a:rPr>
              <a:t>in a market is the sum of the individual producer surpluses of all the sellers of a good.</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 name="CustomShape 1"/>
          <p:cNvSpPr/>
          <p:nvPr/>
        </p:nvSpPr>
        <p:spPr>
          <a:xfrm>
            <a:off x="3053880" y="3519360"/>
            <a:ext cx="470880" cy="957960"/>
          </a:xfrm>
          <a:prstGeom prst="rect">
            <a:avLst/>
          </a:prstGeom>
          <a:solidFill>
            <a:srgbClr val="FBD4D2"/>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902" name="CustomShape 2"/>
          <p:cNvSpPr/>
          <p:nvPr/>
        </p:nvSpPr>
        <p:spPr>
          <a:xfrm>
            <a:off x="6200280" y="4294080"/>
            <a:ext cx="812160" cy="654840"/>
          </a:xfrm>
          <a:custGeom>
            <a:avLst/>
            <a:gdLst/>
            <a:ahLst/>
            <a:cxnLst/>
            <a:rect l="l" t="t" r="r" b="b"/>
            <a:pathLst>
              <a:path w="150" h="133">
                <a:moveTo>
                  <a:pt x="134" y="133"/>
                </a:moveTo>
                <a:cubicBezTo>
                  <a:pt x="143" y="133"/>
                  <a:pt x="150" y="125"/>
                  <a:pt x="150" y="116"/>
                </a:cubicBezTo>
                <a:cubicBezTo>
                  <a:pt x="150" y="17"/>
                  <a:pt x="150" y="17"/>
                  <a:pt x="150" y="17"/>
                </a:cubicBezTo>
                <a:cubicBezTo>
                  <a:pt x="150" y="7"/>
                  <a:pt x="143" y="0"/>
                  <a:pt x="134" y="0"/>
                </a:cubicBezTo>
                <a:cubicBezTo>
                  <a:pt x="16" y="0"/>
                  <a:pt x="16" y="0"/>
                  <a:pt x="16" y="0"/>
                </a:cubicBezTo>
                <a:cubicBezTo>
                  <a:pt x="7" y="0"/>
                  <a:pt x="0" y="7"/>
                  <a:pt x="0" y="17"/>
                </a:cubicBezTo>
                <a:cubicBezTo>
                  <a:pt x="0" y="116"/>
                  <a:pt x="0" y="116"/>
                  <a:pt x="0" y="116"/>
                </a:cubicBezTo>
                <a:cubicBezTo>
                  <a:pt x="0" y="125"/>
                  <a:pt x="7" y="133"/>
                  <a:pt x="16" y="133"/>
                </a:cubicBezTo>
                <a:lnTo>
                  <a:pt x="134" y="133"/>
                </a:lnTo>
                <a:close/>
              </a:path>
            </a:pathLst>
          </a:custGeom>
          <a:solidFill>
            <a:srgbClr val="D6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903" name="CustomShape 3"/>
          <p:cNvSpPr/>
          <p:nvPr/>
        </p:nvSpPr>
        <p:spPr>
          <a:xfrm flipH="1">
            <a:off x="6250320" y="4323960"/>
            <a:ext cx="761400" cy="6393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Calibri"/>
                <a:ea typeface="MS PGothic"/>
              </a:rPr>
              <a:t>Betty’s producer surplus</a:t>
            </a:r>
            <a:endParaRPr lang="en-US" sz="1800" strike="noStrike" spc="-1">
              <a:solidFill>
                <a:srgbClr val="000000"/>
              </a:solidFill>
              <a:uFill>
                <a:solidFill>
                  <a:srgbClr val="FFFFFF"/>
                </a:solidFill>
              </a:uFill>
              <a:latin typeface="Arial"/>
            </a:endParaRPr>
          </a:p>
        </p:txBody>
      </p:sp>
      <p:sp>
        <p:nvSpPr>
          <p:cNvPr id="904" name="Line 4"/>
          <p:cNvSpPr/>
          <p:nvPr/>
        </p:nvSpPr>
        <p:spPr>
          <a:xfrm>
            <a:off x="3331440" y="4155840"/>
            <a:ext cx="2766960" cy="4125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05" name="CustomShape 5"/>
          <p:cNvSpPr/>
          <p:nvPr/>
        </p:nvSpPr>
        <p:spPr>
          <a:xfrm>
            <a:off x="2595240" y="3519360"/>
            <a:ext cx="457920" cy="1596240"/>
          </a:xfrm>
          <a:prstGeom prst="rect">
            <a:avLst/>
          </a:prstGeom>
          <a:solidFill>
            <a:srgbClr val="F3716D"/>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906" name="CustomShape 6"/>
          <p:cNvSpPr/>
          <p:nvPr/>
        </p:nvSpPr>
        <p:spPr>
          <a:xfrm>
            <a:off x="5239800" y="4692600"/>
            <a:ext cx="934200" cy="761400"/>
          </a:xfrm>
          <a:custGeom>
            <a:avLst/>
            <a:gdLst/>
            <a:ahLst/>
            <a:cxnLst/>
            <a:rect l="l" t="t" r="r" b="b"/>
            <a:pathLst>
              <a:path w="151" h="133">
                <a:moveTo>
                  <a:pt x="134" y="133"/>
                </a:moveTo>
                <a:cubicBezTo>
                  <a:pt x="143" y="133"/>
                  <a:pt x="151" y="125"/>
                  <a:pt x="151" y="116"/>
                </a:cubicBezTo>
                <a:cubicBezTo>
                  <a:pt x="151" y="17"/>
                  <a:pt x="151" y="17"/>
                  <a:pt x="151" y="17"/>
                </a:cubicBezTo>
                <a:cubicBezTo>
                  <a:pt x="151" y="7"/>
                  <a:pt x="143" y="0"/>
                  <a:pt x="134" y="0"/>
                </a:cubicBezTo>
                <a:cubicBezTo>
                  <a:pt x="17" y="0"/>
                  <a:pt x="17" y="0"/>
                  <a:pt x="17" y="0"/>
                </a:cubicBezTo>
                <a:cubicBezTo>
                  <a:pt x="8" y="0"/>
                  <a:pt x="0" y="7"/>
                  <a:pt x="0" y="17"/>
                </a:cubicBezTo>
                <a:cubicBezTo>
                  <a:pt x="0" y="116"/>
                  <a:pt x="0" y="116"/>
                  <a:pt x="0" y="116"/>
                </a:cubicBezTo>
                <a:cubicBezTo>
                  <a:pt x="0" y="125"/>
                  <a:pt x="8" y="133"/>
                  <a:pt x="17" y="133"/>
                </a:cubicBezTo>
                <a:lnTo>
                  <a:pt x="134" y="133"/>
                </a:lnTo>
                <a:close/>
              </a:path>
            </a:pathLst>
          </a:custGeom>
          <a:solidFill>
            <a:srgbClr val="D6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907" name="CustomShape 7"/>
          <p:cNvSpPr/>
          <p:nvPr/>
        </p:nvSpPr>
        <p:spPr>
          <a:xfrm flipH="1">
            <a:off x="5259960" y="4749480"/>
            <a:ext cx="913680" cy="6393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Calibri"/>
                <a:ea typeface="MS PGothic"/>
              </a:rPr>
              <a:t>Andrew’s producer surplus</a:t>
            </a:r>
            <a:endParaRPr lang="en-US" sz="1800" strike="noStrike" spc="-1">
              <a:solidFill>
                <a:srgbClr val="000000"/>
              </a:solidFill>
              <a:uFill>
                <a:solidFill>
                  <a:srgbClr val="FFFFFF"/>
                </a:solidFill>
              </a:uFill>
              <a:latin typeface="Arial"/>
            </a:endParaRPr>
          </a:p>
        </p:txBody>
      </p:sp>
      <p:sp>
        <p:nvSpPr>
          <p:cNvPr id="908" name="Line 8"/>
          <p:cNvSpPr/>
          <p:nvPr/>
        </p:nvSpPr>
        <p:spPr>
          <a:xfrm>
            <a:off x="2874240" y="4706640"/>
            <a:ext cx="2309760" cy="16668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09" name="CustomShape 9"/>
          <p:cNvSpPr/>
          <p:nvPr/>
        </p:nvSpPr>
        <p:spPr>
          <a:xfrm>
            <a:off x="3525480" y="3519360"/>
            <a:ext cx="461160" cy="316800"/>
          </a:xfrm>
          <a:prstGeom prst="rect">
            <a:avLst/>
          </a:prstGeom>
          <a:solidFill>
            <a:srgbClr val="F69796"/>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910" name="CustomShape 10"/>
          <p:cNvSpPr/>
          <p:nvPr/>
        </p:nvSpPr>
        <p:spPr>
          <a:xfrm>
            <a:off x="5184360" y="3673080"/>
            <a:ext cx="934200" cy="666000"/>
          </a:xfrm>
          <a:custGeom>
            <a:avLst/>
            <a:gdLst/>
            <a:ahLst/>
            <a:cxnLst/>
            <a:rect l="l" t="t" r="r" b="b"/>
            <a:pathLst>
              <a:path w="150" h="133">
                <a:moveTo>
                  <a:pt x="134" y="133"/>
                </a:moveTo>
                <a:cubicBezTo>
                  <a:pt x="143" y="133"/>
                  <a:pt x="150" y="126"/>
                  <a:pt x="150" y="116"/>
                </a:cubicBezTo>
                <a:cubicBezTo>
                  <a:pt x="150" y="17"/>
                  <a:pt x="150" y="17"/>
                  <a:pt x="150" y="17"/>
                </a:cubicBezTo>
                <a:cubicBezTo>
                  <a:pt x="150" y="7"/>
                  <a:pt x="143" y="0"/>
                  <a:pt x="134" y="0"/>
                </a:cubicBezTo>
                <a:cubicBezTo>
                  <a:pt x="17" y="0"/>
                  <a:pt x="17" y="0"/>
                  <a:pt x="17" y="0"/>
                </a:cubicBezTo>
                <a:cubicBezTo>
                  <a:pt x="8" y="0"/>
                  <a:pt x="0" y="7"/>
                  <a:pt x="0" y="17"/>
                </a:cubicBezTo>
                <a:cubicBezTo>
                  <a:pt x="0" y="116"/>
                  <a:pt x="0" y="116"/>
                  <a:pt x="0" y="116"/>
                </a:cubicBezTo>
                <a:cubicBezTo>
                  <a:pt x="0" y="126"/>
                  <a:pt x="8" y="133"/>
                  <a:pt x="17" y="133"/>
                </a:cubicBezTo>
                <a:lnTo>
                  <a:pt x="134" y="133"/>
                </a:lnTo>
                <a:close/>
              </a:path>
            </a:pathLst>
          </a:custGeom>
          <a:solidFill>
            <a:srgbClr val="D6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911" name="CustomShape 11"/>
          <p:cNvSpPr/>
          <p:nvPr/>
        </p:nvSpPr>
        <p:spPr>
          <a:xfrm flipH="1">
            <a:off x="5259960" y="3678120"/>
            <a:ext cx="761400" cy="6393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Calibri"/>
                <a:ea typeface="MS PGothic"/>
              </a:rPr>
              <a:t>Carlos’s producer surplus</a:t>
            </a:r>
            <a:endParaRPr lang="en-US" sz="1800" strike="noStrike" spc="-1">
              <a:solidFill>
                <a:srgbClr val="000000"/>
              </a:solidFill>
              <a:uFill>
                <a:solidFill>
                  <a:srgbClr val="FFFFFF"/>
                </a:solidFill>
              </a:uFill>
              <a:latin typeface="Arial"/>
            </a:endParaRPr>
          </a:p>
        </p:txBody>
      </p:sp>
      <p:sp>
        <p:nvSpPr>
          <p:cNvPr id="912" name="Line 12"/>
          <p:cNvSpPr/>
          <p:nvPr/>
        </p:nvSpPr>
        <p:spPr>
          <a:xfrm>
            <a:off x="3807720" y="3655440"/>
            <a:ext cx="1266840" cy="14292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13" name="CustomShape 13"/>
          <p:cNvSpPr/>
          <p:nvPr/>
        </p:nvSpPr>
        <p:spPr>
          <a:xfrm>
            <a:off x="5863320" y="3416040"/>
            <a:ext cx="10944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Price = $30 </a:t>
            </a:r>
            <a:endParaRPr lang="en-US" sz="1800" strike="noStrike" spc="-1">
              <a:solidFill>
                <a:srgbClr val="000000"/>
              </a:solidFill>
              <a:uFill>
                <a:solidFill>
                  <a:srgbClr val="FFFFFF"/>
                </a:solidFill>
              </a:uFill>
              <a:latin typeface="Arial"/>
            </a:endParaRPr>
          </a:p>
        </p:txBody>
      </p:sp>
      <p:sp>
        <p:nvSpPr>
          <p:cNvPr id="914" name="Line 14"/>
          <p:cNvSpPr/>
          <p:nvPr/>
        </p:nvSpPr>
        <p:spPr>
          <a:xfrm>
            <a:off x="2594880" y="3519000"/>
            <a:ext cx="3268800" cy="360"/>
          </a:xfrm>
          <a:prstGeom prst="line">
            <a:avLst/>
          </a:prstGeom>
          <a:ln w="237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15" name="Line 15"/>
          <p:cNvSpPr/>
          <p:nvPr/>
        </p:nvSpPr>
        <p:spPr>
          <a:xfrm>
            <a:off x="2594880" y="2561760"/>
            <a:ext cx="11268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16" name="Line 16"/>
          <p:cNvSpPr/>
          <p:nvPr/>
        </p:nvSpPr>
        <p:spPr>
          <a:xfrm>
            <a:off x="2594880" y="3200040"/>
            <a:ext cx="11268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17" name="Line 17"/>
          <p:cNvSpPr/>
          <p:nvPr/>
        </p:nvSpPr>
        <p:spPr>
          <a:xfrm>
            <a:off x="2594880" y="3836520"/>
            <a:ext cx="11268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18" name="Line 18"/>
          <p:cNvSpPr/>
          <p:nvPr/>
        </p:nvSpPr>
        <p:spPr>
          <a:xfrm>
            <a:off x="2594880" y="4478040"/>
            <a:ext cx="11268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19" name="Line 19"/>
          <p:cNvSpPr/>
          <p:nvPr/>
        </p:nvSpPr>
        <p:spPr>
          <a:xfrm flipV="1">
            <a:off x="3053520" y="5330520"/>
            <a:ext cx="360" cy="1094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20" name="Line 20"/>
          <p:cNvSpPr/>
          <p:nvPr/>
        </p:nvSpPr>
        <p:spPr>
          <a:xfrm flipV="1">
            <a:off x="3525120" y="5330520"/>
            <a:ext cx="360" cy="1094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21" name="Line 21"/>
          <p:cNvSpPr/>
          <p:nvPr/>
        </p:nvSpPr>
        <p:spPr>
          <a:xfrm flipV="1">
            <a:off x="3987000" y="5330520"/>
            <a:ext cx="360" cy="1094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22" name="Line 22"/>
          <p:cNvSpPr/>
          <p:nvPr/>
        </p:nvSpPr>
        <p:spPr>
          <a:xfrm flipV="1">
            <a:off x="4449240" y="5330520"/>
            <a:ext cx="360" cy="1094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23" name="Line 23"/>
          <p:cNvSpPr/>
          <p:nvPr/>
        </p:nvSpPr>
        <p:spPr>
          <a:xfrm flipV="1">
            <a:off x="4917600" y="5330520"/>
            <a:ext cx="360" cy="1094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24" name="CustomShape 24"/>
          <p:cNvSpPr/>
          <p:nvPr/>
        </p:nvSpPr>
        <p:spPr>
          <a:xfrm>
            <a:off x="4863240" y="547524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5</a:t>
            </a:r>
            <a:endParaRPr lang="en-US" sz="1800" strike="noStrike" spc="-1">
              <a:solidFill>
                <a:srgbClr val="000000"/>
              </a:solidFill>
              <a:uFill>
                <a:solidFill>
                  <a:srgbClr val="FFFFFF"/>
                </a:solidFill>
              </a:uFill>
              <a:latin typeface="Arial"/>
            </a:endParaRPr>
          </a:p>
        </p:txBody>
      </p:sp>
      <p:sp>
        <p:nvSpPr>
          <p:cNvPr id="925" name="CustomShape 25"/>
          <p:cNvSpPr/>
          <p:nvPr/>
        </p:nvSpPr>
        <p:spPr>
          <a:xfrm>
            <a:off x="4401360" y="547524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4</a:t>
            </a:r>
            <a:endParaRPr lang="en-US" sz="1800" strike="noStrike" spc="-1">
              <a:solidFill>
                <a:srgbClr val="000000"/>
              </a:solidFill>
              <a:uFill>
                <a:solidFill>
                  <a:srgbClr val="FFFFFF"/>
                </a:solidFill>
              </a:uFill>
              <a:latin typeface="Arial"/>
            </a:endParaRPr>
          </a:p>
        </p:txBody>
      </p:sp>
      <p:sp>
        <p:nvSpPr>
          <p:cNvPr id="926" name="CustomShape 26"/>
          <p:cNvSpPr/>
          <p:nvPr/>
        </p:nvSpPr>
        <p:spPr>
          <a:xfrm>
            <a:off x="3937680" y="547524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3</a:t>
            </a:r>
            <a:endParaRPr lang="en-US" sz="1800" strike="noStrike" spc="-1">
              <a:solidFill>
                <a:srgbClr val="000000"/>
              </a:solidFill>
              <a:uFill>
                <a:solidFill>
                  <a:srgbClr val="FFFFFF"/>
                </a:solidFill>
              </a:uFill>
              <a:latin typeface="Arial"/>
            </a:endParaRPr>
          </a:p>
        </p:txBody>
      </p:sp>
      <p:sp>
        <p:nvSpPr>
          <p:cNvPr id="927" name="CustomShape 27"/>
          <p:cNvSpPr/>
          <p:nvPr/>
        </p:nvSpPr>
        <p:spPr>
          <a:xfrm>
            <a:off x="3474360" y="547524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2</a:t>
            </a:r>
            <a:endParaRPr lang="en-US" sz="1800" strike="noStrike" spc="-1">
              <a:solidFill>
                <a:srgbClr val="000000"/>
              </a:solidFill>
              <a:uFill>
                <a:solidFill>
                  <a:srgbClr val="FFFFFF"/>
                </a:solidFill>
              </a:uFill>
              <a:latin typeface="Arial"/>
            </a:endParaRPr>
          </a:p>
        </p:txBody>
      </p:sp>
      <p:sp>
        <p:nvSpPr>
          <p:cNvPr id="928" name="CustomShape 28"/>
          <p:cNvSpPr/>
          <p:nvPr/>
        </p:nvSpPr>
        <p:spPr>
          <a:xfrm>
            <a:off x="3004200" y="547524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1</a:t>
            </a:r>
            <a:endParaRPr lang="en-US" sz="1800" strike="noStrike" spc="-1">
              <a:solidFill>
                <a:srgbClr val="000000"/>
              </a:solidFill>
              <a:uFill>
                <a:solidFill>
                  <a:srgbClr val="FFFFFF"/>
                </a:solidFill>
              </a:uFill>
              <a:latin typeface="Arial"/>
            </a:endParaRPr>
          </a:p>
        </p:txBody>
      </p:sp>
      <p:sp>
        <p:nvSpPr>
          <p:cNvPr id="929" name="CustomShape 29"/>
          <p:cNvSpPr/>
          <p:nvPr/>
        </p:nvSpPr>
        <p:spPr>
          <a:xfrm>
            <a:off x="2421720" y="547524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930" name="CustomShape 30"/>
          <p:cNvSpPr/>
          <p:nvPr/>
        </p:nvSpPr>
        <p:spPr>
          <a:xfrm>
            <a:off x="4881600" y="1923840"/>
            <a:ext cx="79560" cy="1825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200" i="1" strike="noStrike" spc="-1">
                <a:solidFill>
                  <a:srgbClr val="000000"/>
                </a:solidFill>
                <a:uFill>
                  <a:solidFill>
                    <a:srgbClr val="FFFFFF"/>
                  </a:solidFill>
                </a:uFill>
                <a:latin typeface="Myriad Roman"/>
                <a:ea typeface="MS PGothic"/>
              </a:rPr>
              <a:t>S</a:t>
            </a:r>
            <a:endParaRPr lang="en-US" sz="1800" strike="noStrike" spc="-1">
              <a:solidFill>
                <a:srgbClr val="000000"/>
              </a:solidFill>
              <a:uFill>
                <a:solidFill>
                  <a:srgbClr val="FFFFFF"/>
                </a:solidFill>
              </a:uFill>
              <a:latin typeface="Arial"/>
            </a:endParaRPr>
          </a:p>
        </p:txBody>
      </p:sp>
      <p:sp>
        <p:nvSpPr>
          <p:cNvPr id="931" name="CustomShape 31"/>
          <p:cNvSpPr/>
          <p:nvPr/>
        </p:nvSpPr>
        <p:spPr>
          <a:xfrm>
            <a:off x="2243880" y="2466720"/>
            <a:ext cx="3402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$45</a:t>
            </a:r>
            <a:endParaRPr lang="en-US" sz="1800" strike="noStrike" spc="-1">
              <a:solidFill>
                <a:srgbClr val="000000"/>
              </a:solidFill>
              <a:uFill>
                <a:solidFill>
                  <a:srgbClr val="FFFFFF"/>
                </a:solidFill>
              </a:uFill>
              <a:latin typeface="Arial"/>
            </a:endParaRPr>
          </a:p>
        </p:txBody>
      </p:sp>
      <p:sp>
        <p:nvSpPr>
          <p:cNvPr id="932" name="CustomShape 32"/>
          <p:cNvSpPr/>
          <p:nvPr/>
        </p:nvSpPr>
        <p:spPr>
          <a:xfrm>
            <a:off x="2338200" y="310320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35</a:t>
            </a:r>
            <a:endParaRPr lang="en-US" sz="1800" strike="noStrike" spc="-1">
              <a:solidFill>
                <a:srgbClr val="000000"/>
              </a:solidFill>
              <a:uFill>
                <a:solidFill>
                  <a:srgbClr val="FFFFFF"/>
                </a:solidFill>
              </a:uFill>
              <a:latin typeface="Arial"/>
            </a:endParaRPr>
          </a:p>
        </p:txBody>
      </p:sp>
      <p:sp>
        <p:nvSpPr>
          <p:cNvPr id="933" name="Line 33"/>
          <p:cNvSpPr/>
          <p:nvPr/>
        </p:nvSpPr>
        <p:spPr>
          <a:xfrm>
            <a:off x="2594880" y="3519000"/>
            <a:ext cx="11268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34" name="CustomShape 34"/>
          <p:cNvSpPr/>
          <p:nvPr/>
        </p:nvSpPr>
        <p:spPr>
          <a:xfrm>
            <a:off x="2338200" y="342396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30</a:t>
            </a:r>
            <a:endParaRPr lang="en-US" sz="1800" strike="noStrike" spc="-1">
              <a:solidFill>
                <a:srgbClr val="000000"/>
              </a:solidFill>
              <a:uFill>
                <a:solidFill>
                  <a:srgbClr val="FFFFFF"/>
                </a:solidFill>
              </a:uFill>
              <a:latin typeface="Arial"/>
            </a:endParaRPr>
          </a:p>
        </p:txBody>
      </p:sp>
      <p:sp>
        <p:nvSpPr>
          <p:cNvPr id="935" name="CustomShape 35"/>
          <p:cNvSpPr/>
          <p:nvPr/>
        </p:nvSpPr>
        <p:spPr>
          <a:xfrm>
            <a:off x="2338200" y="374472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25</a:t>
            </a:r>
            <a:endParaRPr lang="en-US" sz="1800" strike="noStrike" spc="-1">
              <a:solidFill>
                <a:srgbClr val="000000"/>
              </a:solidFill>
              <a:uFill>
                <a:solidFill>
                  <a:srgbClr val="FFFFFF"/>
                </a:solidFill>
              </a:uFill>
              <a:latin typeface="Arial"/>
            </a:endParaRPr>
          </a:p>
        </p:txBody>
      </p:sp>
      <p:sp>
        <p:nvSpPr>
          <p:cNvPr id="936" name="CustomShape 36"/>
          <p:cNvSpPr/>
          <p:nvPr/>
        </p:nvSpPr>
        <p:spPr>
          <a:xfrm>
            <a:off x="2429640" y="502416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5</a:t>
            </a:r>
            <a:endParaRPr lang="en-US" sz="1800" strike="noStrike" spc="-1">
              <a:solidFill>
                <a:srgbClr val="000000"/>
              </a:solidFill>
              <a:uFill>
                <a:solidFill>
                  <a:srgbClr val="FFFFFF"/>
                </a:solidFill>
              </a:uFill>
              <a:latin typeface="Arial"/>
            </a:endParaRPr>
          </a:p>
        </p:txBody>
      </p:sp>
      <p:sp>
        <p:nvSpPr>
          <p:cNvPr id="937" name="CustomShape 37"/>
          <p:cNvSpPr/>
          <p:nvPr/>
        </p:nvSpPr>
        <p:spPr>
          <a:xfrm>
            <a:off x="2338200" y="438444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15</a:t>
            </a:r>
            <a:endParaRPr lang="en-US" sz="1800" strike="noStrike" spc="-1">
              <a:solidFill>
                <a:srgbClr val="000000"/>
              </a:solidFill>
              <a:uFill>
                <a:solidFill>
                  <a:srgbClr val="FFFFFF"/>
                </a:solidFill>
              </a:uFill>
              <a:latin typeface="Arial"/>
            </a:endParaRPr>
          </a:p>
        </p:txBody>
      </p:sp>
      <p:sp>
        <p:nvSpPr>
          <p:cNvPr id="938" name="CustomShape 38"/>
          <p:cNvSpPr/>
          <p:nvPr/>
        </p:nvSpPr>
        <p:spPr>
          <a:xfrm>
            <a:off x="2595240" y="1738080"/>
            <a:ext cx="4539600" cy="3701160"/>
          </a:xfrm>
          <a:custGeom>
            <a:avLst/>
            <a:gdLst/>
            <a:ahLst/>
            <a:cxnLst/>
            <a:rect l="l" t="t" r="r" b="b"/>
            <a:pathLst>
              <a:path w="2319" h="1921">
                <a:moveTo>
                  <a:pt x="2319" y="1921"/>
                </a:moveTo>
                <a:lnTo>
                  <a:pt x="0" y="1921"/>
                </a:lnTo>
                <a:lnTo>
                  <a:pt x="0" y="0"/>
                </a:lnTo>
              </a:path>
            </a:pathLst>
          </a:custGeom>
          <a:noFill/>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39" name="CustomShape 39"/>
          <p:cNvSpPr/>
          <p:nvPr/>
        </p:nvSpPr>
        <p:spPr>
          <a:xfrm>
            <a:off x="1907640" y="1444320"/>
            <a:ext cx="1143720" cy="2131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Calibri"/>
                <a:ea typeface="MS PGothic"/>
              </a:rPr>
              <a:t>Price of book</a:t>
            </a:r>
            <a:endParaRPr lang="en-US" sz="1800" strike="noStrike" spc="-1">
              <a:solidFill>
                <a:srgbClr val="000000"/>
              </a:solidFill>
              <a:uFill>
                <a:solidFill>
                  <a:srgbClr val="FFFFFF"/>
                </a:solidFill>
              </a:uFill>
              <a:latin typeface="Arial"/>
            </a:endParaRPr>
          </a:p>
        </p:txBody>
      </p:sp>
      <p:sp>
        <p:nvSpPr>
          <p:cNvPr id="940" name="CustomShape 40"/>
          <p:cNvSpPr/>
          <p:nvPr/>
        </p:nvSpPr>
        <p:spPr>
          <a:xfrm>
            <a:off x="5489280" y="5635440"/>
            <a:ext cx="272340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Calibri"/>
                <a:ea typeface="MS PGothic"/>
              </a:rPr>
              <a:t>Quantity of books</a:t>
            </a:r>
            <a:endParaRPr lang="en-US" sz="1800" strike="noStrike" spc="-1">
              <a:solidFill>
                <a:srgbClr val="000000"/>
              </a:solidFill>
              <a:uFill>
                <a:solidFill>
                  <a:srgbClr val="FFFFFF"/>
                </a:solidFill>
              </a:uFill>
              <a:latin typeface="Arial"/>
            </a:endParaRPr>
          </a:p>
        </p:txBody>
      </p:sp>
      <p:sp>
        <p:nvSpPr>
          <p:cNvPr id="941" name="Line 41"/>
          <p:cNvSpPr/>
          <p:nvPr/>
        </p:nvSpPr>
        <p:spPr>
          <a:xfrm>
            <a:off x="4909320" y="2587320"/>
            <a:ext cx="360" cy="2682720"/>
          </a:xfrm>
          <a:prstGeom prst="line">
            <a:avLst/>
          </a:prstGeom>
          <a:ln w="22320" cap="rnd">
            <a:solidFill>
              <a:srgbClr val="9C9C9C"/>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942" name="Line 42"/>
          <p:cNvSpPr/>
          <p:nvPr/>
        </p:nvSpPr>
        <p:spPr>
          <a:xfrm>
            <a:off x="4447440" y="3234960"/>
            <a:ext cx="360" cy="2035080"/>
          </a:xfrm>
          <a:prstGeom prst="line">
            <a:avLst/>
          </a:prstGeom>
          <a:ln w="22320" cap="rnd">
            <a:solidFill>
              <a:srgbClr val="9C9C9C"/>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943" name="Line 43"/>
          <p:cNvSpPr/>
          <p:nvPr/>
        </p:nvSpPr>
        <p:spPr>
          <a:xfrm>
            <a:off x="3985560" y="3882600"/>
            <a:ext cx="360" cy="1387440"/>
          </a:xfrm>
          <a:prstGeom prst="line">
            <a:avLst/>
          </a:prstGeom>
          <a:ln w="22320" cap="rnd">
            <a:solidFill>
              <a:srgbClr val="9C9C9C"/>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944" name="Line 44"/>
          <p:cNvSpPr/>
          <p:nvPr/>
        </p:nvSpPr>
        <p:spPr>
          <a:xfrm>
            <a:off x="3523680" y="3512880"/>
            <a:ext cx="360" cy="1757160"/>
          </a:xfrm>
          <a:prstGeom prst="line">
            <a:avLst/>
          </a:prstGeom>
          <a:ln w="22320" cap="rnd">
            <a:solidFill>
              <a:srgbClr val="9C9C9C"/>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945" name="Line 45"/>
          <p:cNvSpPr/>
          <p:nvPr/>
        </p:nvSpPr>
        <p:spPr>
          <a:xfrm>
            <a:off x="3061800" y="3512880"/>
            <a:ext cx="360" cy="1757160"/>
          </a:xfrm>
          <a:prstGeom prst="line">
            <a:avLst/>
          </a:prstGeom>
          <a:ln w="22320" cap="rnd">
            <a:solidFill>
              <a:srgbClr val="9C9C9C"/>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946" name="CustomShape 46"/>
          <p:cNvSpPr/>
          <p:nvPr/>
        </p:nvSpPr>
        <p:spPr>
          <a:xfrm>
            <a:off x="2615760" y="2130120"/>
            <a:ext cx="2301120" cy="3282120"/>
          </a:xfrm>
          <a:custGeom>
            <a:avLst/>
            <a:gdLst/>
            <a:ahLst/>
            <a:cxnLst/>
            <a:rect l="l" t="t" r="r" b="b"/>
            <a:pathLst>
              <a:path w="1176" h="1703">
                <a:moveTo>
                  <a:pt x="1176" y="0"/>
                </a:moveTo>
                <a:lnTo>
                  <a:pt x="1176" y="213"/>
                </a:lnTo>
                <a:lnTo>
                  <a:pt x="937" y="213"/>
                </a:lnTo>
                <a:lnTo>
                  <a:pt x="937" y="544"/>
                </a:lnTo>
                <a:lnTo>
                  <a:pt x="701" y="544"/>
                </a:lnTo>
                <a:lnTo>
                  <a:pt x="701" y="874"/>
                </a:lnTo>
                <a:lnTo>
                  <a:pt x="465" y="874"/>
                </a:lnTo>
                <a:lnTo>
                  <a:pt x="465" y="1207"/>
                </a:lnTo>
                <a:lnTo>
                  <a:pt x="224" y="1207"/>
                </a:lnTo>
                <a:lnTo>
                  <a:pt x="224" y="1538"/>
                </a:lnTo>
                <a:lnTo>
                  <a:pt x="0" y="1538"/>
                </a:lnTo>
                <a:lnTo>
                  <a:pt x="0" y="1703"/>
                </a:lnTo>
              </a:path>
            </a:pathLst>
          </a:custGeom>
          <a:noFill/>
          <a:ln w="30240">
            <a:solidFill>
              <a:srgbClr val="EE313C"/>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47" name="Line 47"/>
          <p:cNvSpPr/>
          <p:nvPr/>
        </p:nvSpPr>
        <p:spPr>
          <a:xfrm>
            <a:off x="2725200" y="2561760"/>
            <a:ext cx="1690560" cy="1800"/>
          </a:xfrm>
          <a:prstGeom prst="line">
            <a:avLst/>
          </a:prstGeom>
          <a:ln w="22320" cap="rnd">
            <a:solidFill>
              <a:srgbClr val="9C9C9C"/>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948" name="Line 48"/>
          <p:cNvSpPr/>
          <p:nvPr/>
        </p:nvSpPr>
        <p:spPr>
          <a:xfrm>
            <a:off x="2725200" y="3196800"/>
            <a:ext cx="1220760" cy="1440"/>
          </a:xfrm>
          <a:prstGeom prst="line">
            <a:avLst/>
          </a:prstGeom>
          <a:ln w="22320" cap="rnd">
            <a:solidFill>
              <a:srgbClr val="9C9C9C"/>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949" name="CustomShape 49"/>
          <p:cNvSpPr/>
          <p:nvPr/>
        </p:nvSpPr>
        <p:spPr>
          <a:xfrm>
            <a:off x="4908240" y="2587320"/>
            <a:ext cx="8658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Engelbert</a:t>
            </a:r>
            <a:endParaRPr lang="en-US" sz="1800" strike="noStrike" spc="-1">
              <a:solidFill>
                <a:srgbClr val="000000"/>
              </a:solidFill>
              <a:uFill>
                <a:solidFill>
                  <a:srgbClr val="FFFFFF"/>
                </a:solidFill>
              </a:uFill>
              <a:latin typeface="Arial"/>
            </a:endParaRPr>
          </a:p>
        </p:txBody>
      </p:sp>
      <p:sp>
        <p:nvSpPr>
          <p:cNvPr id="950" name="CustomShape 50"/>
          <p:cNvSpPr/>
          <p:nvPr/>
        </p:nvSpPr>
        <p:spPr>
          <a:xfrm>
            <a:off x="4479480" y="3143160"/>
            <a:ext cx="5839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Donna</a:t>
            </a:r>
            <a:endParaRPr lang="en-US" sz="1800" strike="noStrike" spc="-1">
              <a:solidFill>
                <a:srgbClr val="000000"/>
              </a:solidFill>
              <a:uFill>
                <a:solidFill>
                  <a:srgbClr val="FFFFFF"/>
                </a:solidFill>
              </a:uFill>
              <a:latin typeface="Arial"/>
            </a:endParaRPr>
          </a:p>
        </p:txBody>
      </p:sp>
      <p:sp>
        <p:nvSpPr>
          <p:cNvPr id="951" name="CustomShape 51"/>
          <p:cNvSpPr/>
          <p:nvPr/>
        </p:nvSpPr>
        <p:spPr>
          <a:xfrm>
            <a:off x="4003560" y="3827160"/>
            <a:ext cx="5626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Carlos</a:t>
            </a:r>
            <a:endParaRPr lang="en-US" sz="1800" strike="noStrike" spc="-1">
              <a:solidFill>
                <a:srgbClr val="000000"/>
              </a:solidFill>
              <a:uFill>
                <a:solidFill>
                  <a:srgbClr val="FFFFFF"/>
                </a:solidFill>
              </a:uFill>
              <a:latin typeface="Arial"/>
            </a:endParaRPr>
          </a:p>
        </p:txBody>
      </p:sp>
      <p:sp>
        <p:nvSpPr>
          <p:cNvPr id="952" name="CustomShape 52"/>
          <p:cNvSpPr/>
          <p:nvPr/>
        </p:nvSpPr>
        <p:spPr>
          <a:xfrm>
            <a:off x="3619080" y="4383000"/>
            <a:ext cx="4788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Betty</a:t>
            </a:r>
            <a:endParaRPr lang="en-US" sz="1800" strike="noStrike" spc="-1">
              <a:solidFill>
                <a:srgbClr val="000000"/>
              </a:solidFill>
              <a:uFill>
                <a:solidFill>
                  <a:srgbClr val="FFFFFF"/>
                </a:solidFill>
              </a:uFill>
              <a:latin typeface="Arial"/>
            </a:endParaRPr>
          </a:p>
        </p:txBody>
      </p:sp>
      <p:sp>
        <p:nvSpPr>
          <p:cNvPr id="953" name="CustomShape 53"/>
          <p:cNvSpPr/>
          <p:nvPr/>
        </p:nvSpPr>
        <p:spPr>
          <a:xfrm>
            <a:off x="3057120" y="5030640"/>
            <a:ext cx="6739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Andrew</a:t>
            </a:r>
            <a:endParaRPr lang="en-US" sz="1800" strike="noStrike" spc="-1">
              <a:solidFill>
                <a:srgbClr val="000000"/>
              </a:solidFill>
              <a:uFill>
                <a:solidFill>
                  <a:srgbClr val="FFFFFF"/>
                </a:solidFill>
              </a:uFill>
              <a:latin typeface="Arial"/>
            </a:endParaRPr>
          </a:p>
        </p:txBody>
      </p:sp>
      <p:sp>
        <p:nvSpPr>
          <p:cNvPr id="954" name="CustomShape 54"/>
          <p:cNvSpPr/>
          <p:nvPr/>
        </p:nvSpPr>
        <p:spPr>
          <a:xfrm>
            <a:off x="971640" y="60480"/>
            <a:ext cx="813672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Producer Surplus in the Used Textbook Market</a:t>
            </a:r>
            <a:endParaRPr lang="en-US" sz="1800" strike="noStrike" spc="-1">
              <a:solidFill>
                <a:srgbClr val="000000"/>
              </a:solidFill>
              <a:uFill>
                <a:solidFill>
                  <a:srgbClr val="FFFFFF"/>
                </a:solidFill>
              </a:uFill>
              <a:latin typeface="Arial"/>
            </a:endParaRPr>
          </a:p>
        </p:txBody>
      </p:sp>
      <p:sp>
        <p:nvSpPr>
          <p:cNvPr id="955" name="CustomShape 55"/>
          <p:cNvSpPr/>
          <p:nvPr/>
        </p:nvSpPr>
        <p:spPr>
          <a:xfrm>
            <a:off x="6002280" y="765000"/>
            <a:ext cx="2990160" cy="2447280"/>
          </a:xfrm>
          <a:prstGeom prst="rect">
            <a:avLst/>
          </a:prstGeom>
          <a:no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956" name="CustomShape 56"/>
          <p:cNvSpPr/>
          <p:nvPr/>
        </p:nvSpPr>
        <p:spPr>
          <a:xfrm>
            <a:off x="6410520" y="793800"/>
            <a:ext cx="2558160" cy="605880"/>
          </a:xfrm>
          <a:prstGeom prst="rect">
            <a:avLst/>
          </a:prstGeom>
          <a:solidFill>
            <a:srgbClr val="EBDFD7"/>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957" name="CustomShape 57"/>
          <p:cNvSpPr/>
          <p:nvPr/>
        </p:nvSpPr>
        <p:spPr>
          <a:xfrm>
            <a:off x="8212320" y="1057320"/>
            <a:ext cx="483480" cy="258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700" strike="noStrike" spc="-1">
                <a:solidFill>
                  <a:srgbClr val="000000"/>
                </a:solidFill>
                <a:uFill>
                  <a:solidFill>
                    <a:srgbClr val="FFFFFF"/>
                  </a:solidFill>
                </a:uFill>
                <a:latin typeface="Myriad Pro"/>
                <a:ea typeface="MS PGothic"/>
              </a:rPr>
              <a:t>Cost</a:t>
            </a:r>
            <a:endParaRPr lang="en-US" sz="1800" strike="noStrike" spc="-1">
              <a:solidFill>
                <a:srgbClr val="000000"/>
              </a:solidFill>
              <a:uFill>
                <a:solidFill>
                  <a:srgbClr val="FFFFFF"/>
                </a:solidFill>
              </a:uFill>
              <a:latin typeface="Arial"/>
            </a:endParaRPr>
          </a:p>
        </p:txBody>
      </p:sp>
      <p:sp>
        <p:nvSpPr>
          <p:cNvPr id="958" name="CustomShape 58"/>
          <p:cNvSpPr/>
          <p:nvPr/>
        </p:nvSpPr>
        <p:spPr>
          <a:xfrm>
            <a:off x="6687360" y="836640"/>
            <a:ext cx="988200" cy="518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700" strike="noStrike" spc="-1">
                <a:solidFill>
                  <a:srgbClr val="000000"/>
                </a:solidFill>
                <a:uFill>
                  <a:solidFill>
                    <a:srgbClr val="FFFFFF"/>
                  </a:solidFill>
                </a:uFill>
                <a:latin typeface="Myriad Pro"/>
                <a:ea typeface="MS PGothic"/>
              </a:rPr>
              <a:t>Potential sellers</a:t>
            </a:r>
            <a:endParaRPr lang="en-US" sz="1800" strike="noStrike" spc="-1">
              <a:solidFill>
                <a:srgbClr val="000000"/>
              </a:solidFill>
              <a:uFill>
                <a:solidFill>
                  <a:srgbClr val="FFFFFF"/>
                </a:solidFill>
              </a:uFill>
              <a:latin typeface="Arial"/>
            </a:endParaRPr>
          </a:p>
        </p:txBody>
      </p:sp>
      <p:sp>
        <p:nvSpPr>
          <p:cNvPr id="959" name="CustomShape 59"/>
          <p:cNvSpPr/>
          <p:nvPr/>
        </p:nvSpPr>
        <p:spPr>
          <a:xfrm>
            <a:off x="8300160" y="1449360"/>
            <a:ext cx="276120" cy="258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700" strike="noStrike" spc="-1">
                <a:solidFill>
                  <a:srgbClr val="000000"/>
                </a:solidFill>
                <a:uFill>
                  <a:solidFill>
                    <a:srgbClr val="FFFFFF"/>
                  </a:solidFill>
                </a:uFill>
                <a:latin typeface="Myriad Pro"/>
                <a:ea typeface="MS PGothic"/>
              </a:rPr>
              <a:t>$5</a:t>
            </a:r>
            <a:endParaRPr lang="en-US" sz="1800" strike="noStrike" spc="-1">
              <a:solidFill>
                <a:srgbClr val="000000"/>
              </a:solidFill>
              <a:uFill>
                <a:solidFill>
                  <a:srgbClr val="FFFFFF"/>
                </a:solidFill>
              </a:uFill>
              <a:latin typeface="Arial"/>
            </a:endParaRPr>
          </a:p>
        </p:txBody>
      </p:sp>
      <p:sp>
        <p:nvSpPr>
          <p:cNvPr id="960" name="CustomShape 60"/>
          <p:cNvSpPr/>
          <p:nvPr/>
        </p:nvSpPr>
        <p:spPr>
          <a:xfrm>
            <a:off x="8300160" y="1773360"/>
            <a:ext cx="276120" cy="258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700" strike="noStrike" spc="-1">
                <a:solidFill>
                  <a:srgbClr val="000000"/>
                </a:solidFill>
                <a:uFill>
                  <a:solidFill>
                    <a:srgbClr val="FFFFFF"/>
                  </a:solidFill>
                </a:uFill>
                <a:latin typeface="Myriad Pro"/>
                <a:ea typeface="MS PGothic"/>
              </a:rPr>
              <a:t>15</a:t>
            </a:r>
            <a:endParaRPr lang="en-US" sz="1800" strike="noStrike" spc="-1">
              <a:solidFill>
                <a:srgbClr val="000000"/>
              </a:solidFill>
              <a:uFill>
                <a:solidFill>
                  <a:srgbClr val="FFFFFF"/>
                </a:solidFill>
              </a:uFill>
              <a:latin typeface="Arial"/>
            </a:endParaRPr>
          </a:p>
        </p:txBody>
      </p:sp>
      <p:sp>
        <p:nvSpPr>
          <p:cNvPr id="961" name="CustomShape 61"/>
          <p:cNvSpPr/>
          <p:nvPr/>
        </p:nvSpPr>
        <p:spPr>
          <a:xfrm>
            <a:off x="8300160" y="2102040"/>
            <a:ext cx="276120" cy="258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700" strike="noStrike" spc="-1">
                <a:solidFill>
                  <a:srgbClr val="000000"/>
                </a:solidFill>
                <a:uFill>
                  <a:solidFill>
                    <a:srgbClr val="FFFFFF"/>
                  </a:solidFill>
                </a:uFill>
                <a:latin typeface="Myriad Pro"/>
                <a:ea typeface="MS PGothic"/>
              </a:rPr>
              <a:t>25</a:t>
            </a:r>
            <a:endParaRPr lang="en-US" sz="1800" strike="noStrike" spc="-1">
              <a:solidFill>
                <a:srgbClr val="000000"/>
              </a:solidFill>
              <a:uFill>
                <a:solidFill>
                  <a:srgbClr val="FFFFFF"/>
                </a:solidFill>
              </a:uFill>
              <a:latin typeface="Arial"/>
            </a:endParaRPr>
          </a:p>
        </p:txBody>
      </p:sp>
      <p:sp>
        <p:nvSpPr>
          <p:cNvPr id="962" name="CustomShape 62"/>
          <p:cNvSpPr/>
          <p:nvPr/>
        </p:nvSpPr>
        <p:spPr>
          <a:xfrm>
            <a:off x="8300160" y="2430360"/>
            <a:ext cx="276120" cy="258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700" strike="noStrike" spc="-1">
                <a:solidFill>
                  <a:srgbClr val="000000"/>
                </a:solidFill>
                <a:uFill>
                  <a:solidFill>
                    <a:srgbClr val="FFFFFF"/>
                  </a:solidFill>
                </a:uFill>
                <a:latin typeface="Myriad Pro"/>
                <a:ea typeface="MS PGothic"/>
              </a:rPr>
              <a:t>35</a:t>
            </a:r>
            <a:endParaRPr lang="en-US" sz="1800" strike="noStrike" spc="-1">
              <a:solidFill>
                <a:srgbClr val="000000"/>
              </a:solidFill>
              <a:uFill>
                <a:solidFill>
                  <a:srgbClr val="FFFFFF"/>
                </a:solidFill>
              </a:uFill>
              <a:latin typeface="Arial"/>
            </a:endParaRPr>
          </a:p>
        </p:txBody>
      </p:sp>
      <p:sp>
        <p:nvSpPr>
          <p:cNvPr id="963" name="CustomShape 63"/>
          <p:cNvSpPr/>
          <p:nvPr/>
        </p:nvSpPr>
        <p:spPr>
          <a:xfrm>
            <a:off x="8300160" y="2790720"/>
            <a:ext cx="276120" cy="25848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700" strike="noStrike" spc="-1">
                <a:solidFill>
                  <a:srgbClr val="000000"/>
                </a:solidFill>
                <a:uFill>
                  <a:solidFill>
                    <a:srgbClr val="FFFFFF"/>
                  </a:solidFill>
                </a:uFill>
                <a:latin typeface="Myriad Pro"/>
                <a:ea typeface="MS PGothic"/>
              </a:rPr>
              <a:t>45</a:t>
            </a:r>
            <a:endParaRPr lang="en-US" sz="1800" strike="noStrike" spc="-1">
              <a:solidFill>
                <a:srgbClr val="000000"/>
              </a:solidFill>
              <a:uFill>
                <a:solidFill>
                  <a:srgbClr val="FFFFFF"/>
                </a:solidFill>
              </a:uFill>
              <a:latin typeface="Arial"/>
            </a:endParaRPr>
          </a:p>
        </p:txBody>
      </p:sp>
      <p:sp>
        <p:nvSpPr>
          <p:cNvPr id="964" name="CustomShape 64"/>
          <p:cNvSpPr/>
          <p:nvPr/>
        </p:nvSpPr>
        <p:spPr>
          <a:xfrm>
            <a:off x="6410520" y="793800"/>
            <a:ext cx="2558160" cy="2309040"/>
          </a:xfrm>
          <a:prstGeom prst="rect">
            <a:avLst/>
          </a:prstGeom>
          <a:noFill/>
          <a:ln w="46080">
            <a:solidFill>
              <a:srgbClr val="E6D3C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65" name="Line 65"/>
          <p:cNvSpPr/>
          <p:nvPr/>
        </p:nvSpPr>
        <p:spPr>
          <a:xfrm>
            <a:off x="6410520" y="1400040"/>
            <a:ext cx="2558520" cy="360"/>
          </a:xfrm>
          <a:prstGeom prst="line">
            <a:avLst/>
          </a:prstGeom>
          <a:ln w="23760">
            <a:solidFill>
              <a:srgbClr val="E6D3C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66" name="Line 66"/>
          <p:cNvSpPr/>
          <p:nvPr/>
        </p:nvSpPr>
        <p:spPr>
          <a:xfrm>
            <a:off x="6410520" y="1773000"/>
            <a:ext cx="2563560" cy="11160"/>
          </a:xfrm>
          <a:prstGeom prst="line">
            <a:avLst/>
          </a:prstGeom>
          <a:ln w="17640">
            <a:solidFill>
              <a:srgbClr val="E6D3C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67" name="Line 67"/>
          <p:cNvSpPr/>
          <p:nvPr/>
        </p:nvSpPr>
        <p:spPr>
          <a:xfrm>
            <a:off x="6410520" y="2087280"/>
            <a:ext cx="2553840" cy="360"/>
          </a:xfrm>
          <a:prstGeom prst="line">
            <a:avLst/>
          </a:prstGeom>
          <a:ln w="17640">
            <a:solidFill>
              <a:srgbClr val="E6D3C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68" name="Line 68"/>
          <p:cNvSpPr/>
          <p:nvPr/>
        </p:nvSpPr>
        <p:spPr>
          <a:xfrm>
            <a:off x="6410520" y="2425320"/>
            <a:ext cx="2565000" cy="360"/>
          </a:xfrm>
          <a:prstGeom prst="line">
            <a:avLst/>
          </a:prstGeom>
          <a:ln w="17640">
            <a:solidFill>
              <a:srgbClr val="E6D3C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69" name="Line 69"/>
          <p:cNvSpPr/>
          <p:nvPr/>
        </p:nvSpPr>
        <p:spPr>
          <a:xfrm>
            <a:off x="6410520" y="2752560"/>
            <a:ext cx="2565000" cy="360"/>
          </a:xfrm>
          <a:prstGeom prst="line">
            <a:avLst/>
          </a:prstGeom>
          <a:ln w="17640">
            <a:solidFill>
              <a:srgbClr val="E6D3C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70" name="CustomShape 70"/>
          <p:cNvSpPr/>
          <p:nvPr/>
        </p:nvSpPr>
        <p:spPr>
          <a:xfrm>
            <a:off x="6690600" y="1489320"/>
            <a:ext cx="8658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Engelbert</a:t>
            </a:r>
            <a:endParaRPr lang="en-US" sz="1800" strike="noStrike" spc="-1">
              <a:solidFill>
                <a:srgbClr val="000000"/>
              </a:solidFill>
              <a:uFill>
                <a:solidFill>
                  <a:srgbClr val="FFFFFF"/>
                </a:solidFill>
              </a:uFill>
              <a:latin typeface="Arial"/>
            </a:endParaRPr>
          </a:p>
        </p:txBody>
      </p:sp>
      <p:sp>
        <p:nvSpPr>
          <p:cNvPr id="971" name="CustomShape 71"/>
          <p:cNvSpPr/>
          <p:nvPr/>
        </p:nvSpPr>
        <p:spPr>
          <a:xfrm>
            <a:off x="6730920" y="1809720"/>
            <a:ext cx="5839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Donna</a:t>
            </a:r>
            <a:endParaRPr lang="en-US" sz="1800" strike="noStrike" spc="-1">
              <a:solidFill>
                <a:srgbClr val="000000"/>
              </a:solidFill>
              <a:uFill>
                <a:solidFill>
                  <a:srgbClr val="FFFFFF"/>
                </a:solidFill>
              </a:uFill>
              <a:latin typeface="Arial"/>
            </a:endParaRPr>
          </a:p>
        </p:txBody>
      </p:sp>
      <p:sp>
        <p:nvSpPr>
          <p:cNvPr id="972" name="CustomShape 72"/>
          <p:cNvSpPr/>
          <p:nvPr/>
        </p:nvSpPr>
        <p:spPr>
          <a:xfrm>
            <a:off x="6736680" y="2157480"/>
            <a:ext cx="5626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Carlos</a:t>
            </a:r>
            <a:endParaRPr lang="en-US" sz="1800" strike="noStrike" spc="-1">
              <a:solidFill>
                <a:srgbClr val="000000"/>
              </a:solidFill>
              <a:uFill>
                <a:solidFill>
                  <a:srgbClr val="FFFFFF"/>
                </a:solidFill>
              </a:uFill>
              <a:latin typeface="Arial"/>
            </a:endParaRPr>
          </a:p>
        </p:txBody>
      </p:sp>
      <p:sp>
        <p:nvSpPr>
          <p:cNvPr id="973" name="CustomShape 73"/>
          <p:cNvSpPr/>
          <p:nvPr/>
        </p:nvSpPr>
        <p:spPr>
          <a:xfrm>
            <a:off x="6761880" y="2479680"/>
            <a:ext cx="496080" cy="2131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Betty</a:t>
            </a:r>
            <a:endParaRPr lang="en-US" sz="1800" strike="noStrike" spc="-1">
              <a:solidFill>
                <a:srgbClr val="000000"/>
              </a:solidFill>
              <a:uFill>
                <a:solidFill>
                  <a:srgbClr val="FFFFFF"/>
                </a:solidFill>
              </a:uFill>
              <a:latin typeface="Arial"/>
            </a:endParaRPr>
          </a:p>
        </p:txBody>
      </p:sp>
      <p:sp>
        <p:nvSpPr>
          <p:cNvPr id="974" name="CustomShape 74"/>
          <p:cNvSpPr/>
          <p:nvPr/>
        </p:nvSpPr>
        <p:spPr>
          <a:xfrm>
            <a:off x="6725520" y="2827080"/>
            <a:ext cx="6739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Andrew</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 name="CustomShape 1"/>
          <p:cNvSpPr/>
          <p:nvPr/>
        </p:nvSpPr>
        <p:spPr>
          <a:xfrm>
            <a:off x="5562720" y="762120"/>
            <a:ext cx="3351960" cy="2284560"/>
          </a:xfrm>
          <a:prstGeom prst="rect">
            <a:avLst/>
          </a:prstGeom>
          <a:solidFill>
            <a:schemeClr val="accent5">
              <a:lumMod val="20000"/>
              <a:lumOff val="80000"/>
            </a:schemeClr>
          </a:solidFill>
          <a:ln w="12600">
            <a:noFill/>
          </a:ln>
        </p:spPr>
        <p:style>
          <a:lnRef idx="0">
            <a:scrgbClr r="0" g="0" b="0"/>
          </a:lnRef>
          <a:fillRef idx="0">
            <a:scrgbClr r="0" g="0" b="0"/>
          </a:fillRef>
          <a:effectRef idx="0">
            <a:scrgbClr r="0" g="0" b="0"/>
          </a:effectRef>
          <a:fontRef idx="minor"/>
        </p:style>
        <p:txBody>
          <a:bodyPr lIns="90000" tIns="45000" rIns="90000" bIns="45000"/>
          <a:lstStyle/>
          <a:p>
            <a:pPr marL="1440" indent="-720" algn="ctr">
              <a:lnSpc>
                <a:spcPct val="100000"/>
              </a:lnSpc>
            </a:pPr>
            <a:r>
              <a:rPr lang="en-US" sz="2400" strike="noStrike" spc="-1">
                <a:solidFill>
                  <a:srgbClr val="000000"/>
                </a:solidFill>
                <a:uFill>
                  <a:solidFill>
                    <a:srgbClr val="FFFFFF"/>
                  </a:solidFill>
                </a:uFill>
                <a:latin typeface="Calibri"/>
                <a:ea typeface="MS PGothic"/>
              </a:rPr>
              <a:t>The total producer surplus from sales of a good at a given price is the area above the supply curve but below that price.</a:t>
            </a:r>
            <a:endParaRPr lang="en-US" sz="1800" strike="noStrike" spc="-1">
              <a:solidFill>
                <a:srgbClr val="000000"/>
              </a:solidFill>
              <a:uFill>
                <a:solidFill>
                  <a:srgbClr val="FFFFFF"/>
                </a:solidFill>
              </a:uFill>
              <a:latin typeface="Arial"/>
            </a:endParaRPr>
          </a:p>
        </p:txBody>
      </p:sp>
      <p:sp>
        <p:nvSpPr>
          <p:cNvPr id="976" name="CustomShape 2"/>
          <p:cNvSpPr/>
          <p:nvPr/>
        </p:nvSpPr>
        <p:spPr>
          <a:xfrm>
            <a:off x="5234040" y="2128680"/>
            <a:ext cx="17532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nSpc>
                <a:spcPct val="100000"/>
              </a:lnSpc>
            </a:pPr>
            <a:r>
              <a:rPr lang="en-US" sz="1400" b="1" strike="noStrike" spc="-1">
                <a:solidFill>
                  <a:srgbClr val="000000"/>
                </a:solidFill>
                <a:uFill>
                  <a:solidFill>
                    <a:srgbClr val="FFFFFF"/>
                  </a:solidFill>
                </a:uFill>
                <a:latin typeface="Calibri"/>
                <a:ea typeface="MS PGothic"/>
              </a:rPr>
              <a:t>S</a:t>
            </a:r>
            <a:endParaRPr lang="en-US" sz="1800" strike="noStrike" spc="-1">
              <a:solidFill>
                <a:srgbClr val="000000"/>
              </a:solidFill>
              <a:uFill>
                <a:solidFill>
                  <a:srgbClr val="FFFFFF"/>
                </a:solidFill>
              </a:uFill>
              <a:latin typeface="Arial"/>
            </a:endParaRPr>
          </a:p>
        </p:txBody>
      </p:sp>
      <p:sp>
        <p:nvSpPr>
          <p:cNvPr id="977" name="Line 3"/>
          <p:cNvSpPr/>
          <p:nvPr/>
        </p:nvSpPr>
        <p:spPr>
          <a:xfrm flipH="1">
            <a:off x="1653840" y="2314440"/>
            <a:ext cx="3543480" cy="2539800"/>
          </a:xfrm>
          <a:prstGeom prst="line">
            <a:avLst/>
          </a:prstGeom>
          <a:ln w="30240">
            <a:solidFill>
              <a:srgbClr val="EE313C"/>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78" name="CustomShape 4"/>
          <p:cNvSpPr/>
          <p:nvPr/>
        </p:nvSpPr>
        <p:spPr>
          <a:xfrm>
            <a:off x="1663560" y="3538440"/>
            <a:ext cx="1826640" cy="1312200"/>
          </a:xfrm>
          <a:custGeom>
            <a:avLst/>
            <a:gdLst/>
            <a:ahLst/>
            <a:cxnLst/>
            <a:rect l="l" t="t" r="r" b="b"/>
            <a:pathLst>
              <a:path w="918" h="681">
                <a:moveTo>
                  <a:pt x="0" y="681"/>
                </a:moveTo>
                <a:lnTo>
                  <a:pt x="0" y="0"/>
                </a:lnTo>
                <a:lnTo>
                  <a:pt x="918" y="0"/>
                </a:lnTo>
                <a:lnTo>
                  <a:pt x="0" y="681"/>
                </a:lnTo>
                <a:close/>
              </a:path>
            </a:pathLst>
          </a:custGeom>
          <a:solidFill>
            <a:srgbClr val="FBD4D2"/>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979" name="CustomShape 5"/>
          <p:cNvSpPr/>
          <p:nvPr/>
        </p:nvSpPr>
        <p:spPr>
          <a:xfrm>
            <a:off x="1662120" y="3657600"/>
            <a:ext cx="1145520" cy="63864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30000"/>
              </a:lnSpc>
            </a:pPr>
            <a:endParaRPr lang="en-US" sz="1800" strike="noStrike" spc="-1">
              <a:solidFill>
                <a:srgbClr val="000000"/>
              </a:solidFill>
              <a:uFill>
                <a:solidFill>
                  <a:srgbClr val="FFFFFF"/>
                </a:solidFill>
              </a:uFill>
              <a:latin typeface="Arial"/>
            </a:endParaRPr>
          </a:p>
          <a:p>
            <a:pPr marL="1440" indent="-720" algn="ctr">
              <a:lnSpc>
                <a:spcPct val="100000"/>
              </a:lnSpc>
            </a:pPr>
            <a:r>
              <a:rPr lang="en-US" sz="1400" strike="noStrike" spc="-1">
                <a:solidFill>
                  <a:srgbClr val="000000"/>
                </a:solidFill>
                <a:uFill>
                  <a:solidFill>
                    <a:srgbClr val="FFFFFF"/>
                  </a:solidFill>
                </a:uFill>
                <a:latin typeface="Myriad Roman"/>
                <a:ea typeface="MS PGothic"/>
              </a:rPr>
              <a:t>Producer surplus</a:t>
            </a:r>
            <a:endParaRPr lang="en-US" sz="1800" strike="noStrike" spc="-1">
              <a:solidFill>
                <a:srgbClr val="000000"/>
              </a:solidFill>
              <a:uFill>
                <a:solidFill>
                  <a:srgbClr val="FFFFFF"/>
                </a:solidFill>
              </a:uFill>
              <a:latin typeface="Arial"/>
            </a:endParaRPr>
          </a:p>
        </p:txBody>
      </p:sp>
      <p:sp>
        <p:nvSpPr>
          <p:cNvPr id="980" name="CustomShape 6"/>
          <p:cNvSpPr/>
          <p:nvPr/>
        </p:nvSpPr>
        <p:spPr>
          <a:xfrm>
            <a:off x="1398960" y="344808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$5</a:t>
            </a:r>
            <a:endParaRPr lang="en-US" sz="1800" strike="noStrike" spc="-1">
              <a:solidFill>
                <a:srgbClr val="000000"/>
              </a:solidFill>
              <a:uFill>
                <a:solidFill>
                  <a:srgbClr val="FFFFFF"/>
                </a:solidFill>
              </a:uFill>
              <a:latin typeface="Arial"/>
            </a:endParaRPr>
          </a:p>
        </p:txBody>
      </p:sp>
      <p:sp>
        <p:nvSpPr>
          <p:cNvPr id="981" name="Line 7"/>
          <p:cNvSpPr/>
          <p:nvPr/>
        </p:nvSpPr>
        <p:spPr>
          <a:xfrm>
            <a:off x="1663560" y="3538440"/>
            <a:ext cx="11124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82" name="Line 8"/>
          <p:cNvSpPr/>
          <p:nvPr/>
        </p:nvSpPr>
        <p:spPr>
          <a:xfrm flipV="1">
            <a:off x="3490560" y="5064120"/>
            <a:ext cx="360" cy="11088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83" name="CustomShape 9"/>
          <p:cNvSpPr/>
          <p:nvPr/>
        </p:nvSpPr>
        <p:spPr>
          <a:xfrm>
            <a:off x="3126960" y="5207040"/>
            <a:ext cx="76824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1 million</a:t>
            </a:r>
            <a:endParaRPr lang="en-US" sz="1800" strike="noStrike" spc="-1">
              <a:solidFill>
                <a:srgbClr val="000000"/>
              </a:solidFill>
              <a:uFill>
                <a:solidFill>
                  <a:srgbClr val="FFFFFF"/>
                </a:solidFill>
              </a:uFill>
              <a:latin typeface="Arial"/>
            </a:endParaRPr>
          </a:p>
        </p:txBody>
      </p:sp>
      <p:sp>
        <p:nvSpPr>
          <p:cNvPr id="984" name="CustomShape 10"/>
          <p:cNvSpPr/>
          <p:nvPr/>
        </p:nvSpPr>
        <p:spPr>
          <a:xfrm>
            <a:off x="1493640" y="520704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985" name="CustomShape 11"/>
          <p:cNvSpPr/>
          <p:nvPr/>
        </p:nvSpPr>
        <p:spPr>
          <a:xfrm>
            <a:off x="1663560" y="1717560"/>
            <a:ext cx="4171320" cy="3456720"/>
          </a:xfrm>
          <a:custGeom>
            <a:avLst/>
            <a:gdLst/>
            <a:ahLst/>
            <a:cxnLst/>
            <a:rect l="l" t="t" r="r" b="b"/>
            <a:pathLst>
              <a:path w="2097" h="1793">
                <a:moveTo>
                  <a:pt x="2097" y="1793"/>
                </a:moveTo>
                <a:lnTo>
                  <a:pt x="0" y="1793"/>
                </a:lnTo>
                <a:lnTo>
                  <a:pt x="0" y="0"/>
                </a:lnTo>
              </a:path>
            </a:pathLst>
          </a:custGeom>
          <a:noFill/>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86" name="CustomShape 12"/>
          <p:cNvSpPr/>
          <p:nvPr/>
        </p:nvSpPr>
        <p:spPr>
          <a:xfrm>
            <a:off x="900000" y="1484280"/>
            <a:ext cx="236160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Calibri"/>
                <a:ea typeface="MS PGothic"/>
              </a:rPr>
              <a:t>Price of wheat (per bushel)</a:t>
            </a:r>
            <a:endParaRPr lang="en-US" sz="1800" strike="noStrike" spc="-1">
              <a:solidFill>
                <a:srgbClr val="000000"/>
              </a:solidFill>
              <a:uFill>
                <a:solidFill>
                  <a:srgbClr val="FFFFFF"/>
                </a:solidFill>
              </a:uFill>
              <a:latin typeface="Arial"/>
            </a:endParaRPr>
          </a:p>
        </p:txBody>
      </p:sp>
      <p:sp>
        <p:nvSpPr>
          <p:cNvPr id="987" name="CustomShape 13"/>
          <p:cNvSpPr/>
          <p:nvPr/>
        </p:nvSpPr>
        <p:spPr>
          <a:xfrm>
            <a:off x="4145040" y="5415120"/>
            <a:ext cx="276948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Calibri"/>
                <a:ea typeface="MS PGothic"/>
              </a:rPr>
              <a:t>Quantity of wheat (bushels)</a:t>
            </a:r>
            <a:endParaRPr lang="en-US" sz="1800" strike="noStrike" spc="-1">
              <a:solidFill>
                <a:srgbClr val="000000"/>
              </a:solidFill>
              <a:uFill>
                <a:solidFill>
                  <a:srgbClr val="FFFFFF"/>
                </a:solidFill>
              </a:uFill>
              <a:latin typeface="Arial"/>
            </a:endParaRPr>
          </a:p>
        </p:txBody>
      </p:sp>
      <p:sp>
        <p:nvSpPr>
          <p:cNvPr id="988" name="CustomShape 14"/>
          <p:cNvSpPr/>
          <p:nvPr/>
        </p:nvSpPr>
        <p:spPr>
          <a:xfrm>
            <a:off x="3444840" y="3494160"/>
            <a:ext cx="92880" cy="896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989" name="Line 15"/>
          <p:cNvSpPr/>
          <p:nvPr/>
        </p:nvSpPr>
        <p:spPr>
          <a:xfrm>
            <a:off x="3500280" y="3565440"/>
            <a:ext cx="360" cy="1387440"/>
          </a:xfrm>
          <a:prstGeom prst="line">
            <a:avLst/>
          </a:prstGeom>
          <a:ln w="22320" cap="rnd">
            <a:solidFill>
              <a:srgbClr val="9C9C9C"/>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990" name="Line 16"/>
          <p:cNvSpPr/>
          <p:nvPr/>
        </p:nvSpPr>
        <p:spPr>
          <a:xfrm>
            <a:off x="1663560" y="3538440"/>
            <a:ext cx="3138480" cy="360"/>
          </a:xfrm>
          <a:prstGeom prst="line">
            <a:avLst/>
          </a:prstGeom>
          <a:ln w="223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91" name="CustomShape 17"/>
          <p:cNvSpPr/>
          <p:nvPr/>
        </p:nvSpPr>
        <p:spPr>
          <a:xfrm>
            <a:off x="4815720" y="3505320"/>
            <a:ext cx="9252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Price = $5</a:t>
            </a:r>
            <a:endParaRPr lang="en-US" sz="1800" strike="noStrike" spc="-1">
              <a:solidFill>
                <a:srgbClr val="000000"/>
              </a:solidFill>
              <a:uFill>
                <a:solidFill>
                  <a:srgbClr val="FFFFFF"/>
                </a:solidFill>
              </a:uFill>
              <a:latin typeface="Arial"/>
            </a:endParaRPr>
          </a:p>
        </p:txBody>
      </p:sp>
      <p:sp>
        <p:nvSpPr>
          <p:cNvPr id="992" name="CustomShape 18"/>
          <p:cNvSpPr/>
          <p:nvPr/>
        </p:nvSpPr>
        <p:spPr>
          <a:xfrm>
            <a:off x="900000" y="60480"/>
            <a:ext cx="801468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Producer Surplus</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75"/>
                                        </p:tgtEl>
                                        <p:attrNameLst>
                                          <p:attrName>style.visibility</p:attrName>
                                        </p:attrNameLst>
                                      </p:cBhvr>
                                      <p:to>
                                        <p:strVal val="visible"/>
                                      </p:to>
                                    </p:set>
                                    <p:animEffect transition="in" filter="wipe(up)">
                                      <p:cBhvr additive="repl">
                                        <p:cTn id="7" dur="500"/>
                                        <p:tgtEl>
                                          <p:spTgt spid="9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 name="CustomShape 1"/>
          <p:cNvSpPr/>
          <p:nvPr/>
        </p:nvSpPr>
        <p:spPr>
          <a:xfrm>
            <a:off x="900000" y="60480"/>
            <a:ext cx="799236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Changes in Producer Surplus</a:t>
            </a:r>
            <a:endParaRPr lang="en-US" sz="1800" strike="noStrike" spc="-1">
              <a:solidFill>
                <a:srgbClr val="000000"/>
              </a:solidFill>
              <a:uFill>
                <a:solidFill>
                  <a:srgbClr val="FFFFFF"/>
                </a:solidFill>
              </a:uFill>
              <a:latin typeface="Arial"/>
            </a:endParaRPr>
          </a:p>
        </p:txBody>
      </p:sp>
      <p:sp>
        <p:nvSpPr>
          <p:cNvPr id="994" name="CustomShape 2"/>
          <p:cNvSpPr/>
          <p:nvPr/>
        </p:nvSpPr>
        <p:spPr>
          <a:xfrm>
            <a:off x="971640" y="987480"/>
            <a:ext cx="7992360" cy="5249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100000"/>
              </a:lnSpc>
              <a:buClr>
                <a:srgbClr val="C00000"/>
              </a:buClr>
              <a:buFont typeface="Arial"/>
              <a:buChar char="•"/>
            </a:pPr>
            <a:r>
              <a:rPr lang="en-US" sz="2500" strike="noStrike" spc="-1">
                <a:solidFill>
                  <a:srgbClr val="C00000"/>
                </a:solidFill>
                <a:uFill>
                  <a:solidFill>
                    <a:srgbClr val="FFFFFF"/>
                  </a:solidFill>
                </a:uFill>
                <a:latin typeface="Calibri"/>
                <a:ea typeface="MS PGothic"/>
              </a:rPr>
              <a:t>A higher price raises producer surplus </a:t>
            </a:r>
            <a:endParaRPr lang="en-US" sz="1800" strike="noStrike" spc="-1">
              <a:solidFill>
                <a:srgbClr val="000000"/>
              </a:solidFill>
              <a:uFill>
                <a:solidFill>
                  <a:srgbClr val="FFFFFF"/>
                </a:solidFill>
              </a:uFill>
              <a:latin typeface="Arial"/>
            </a:endParaRPr>
          </a:p>
          <a:p>
            <a:pPr marL="403200" lvl="1" indent="-40248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Sellers – always want to receive a higher price</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403200" lvl="1" indent="-402480">
              <a:lnSpc>
                <a:spcPct val="100000"/>
              </a:lnSpc>
              <a:buClr>
                <a:srgbClr val="000000"/>
              </a:buClr>
              <a:buFont typeface="Wingdings" charset="2"/>
              <a:buChar char=""/>
            </a:pPr>
            <a:r>
              <a:rPr lang="en-US" sz="2500" strike="noStrike" spc="-1">
                <a:solidFill>
                  <a:srgbClr val="000000"/>
                </a:solidFill>
                <a:uFill>
                  <a:solidFill>
                    <a:srgbClr val="FFFFFF"/>
                  </a:solidFill>
                </a:uFill>
                <a:latin typeface="Calibri"/>
                <a:ea typeface="MS PGothic"/>
              </a:rPr>
              <a:t>When the price of a good rises, producer surplus increases through two channels: </a:t>
            </a:r>
            <a:endParaRPr lang="en-US" sz="1800" strike="noStrike" spc="-1">
              <a:solidFill>
                <a:srgbClr val="000000"/>
              </a:solidFill>
              <a:uFill>
                <a:solidFill>
                  <a:srgbClr val="FFFFFF"/>
                </a:solidFill>
              </a:uFill>
              <a:latin typeface="Arial"/>
            </a:endParaRPr>
          </a:p>
          <a:p>
            <a:pPr marL="852480" lvl="2" indent="-386640">
              <a:lnSpc>
                <a:spcPct val="100000"/>
              </a:lnSpc>
              <a:buClr>
                <a:srgbClr val="000000"/>
              </a:buClr>
              <a:buFont typeface="Wingdings" charset="2"/>
              <a:buAutoNum type="arabicPeriod"/>
            </a:pPr>
            <a:r>
              <a:rPr lang="en-US" sz="2800" strike="noStrike" spc="-1">
                <a:solidFill>
                  <a:srgbClr val="000000"/>
                </a:solidFill>
                <a:uFill>
                  <a:solidFill>
                    <a:srgbClr val="FFFFFF"/>
                  </a:solidFill>
                </a:uFill>
                <a:latin typeface="Calibri"/>
                <a:ea typeface="MS PGothic"/>
              </a:rPr>
              <a:t>the gains of those who would have supplied the good even at the original, lower price</a:t>
            </a:r>
            <a:endParaRPr lang="en-US" sz="1800" strike="noStrike" spc="-1">
              <a:solidFill>
                <a:srgbClr val="000000"/>
              </a:solidFill>
              <a:uFill>
                <a:solidFill>
                  <a:srgbClr val="FFFFFF"/>
                </a:solidFill>
              </a:uFill>
              <a:latin typeface="Arial"/>
            </a:endParaRPr>
          </a:p>
          <a:p>
            <a:pPr marL="852480" lvl="2" indent="-386640">
              <a:lnSpc>
                <a:spcPct val="100000"/>
              </a:lnSpc>
              <a:buClr>
                <a:srgbClr val="000000"/>
              </a:buClr>
              <a:buFont typeface="Wingdings" charset="2"/>
              <a:buAutoNum type="arabicPeriod"/>
            </a:pPr>
            <a:r>
              <a:rPr lang="en-US" sz="2800" strike="noStrike" spc="-1">
                <a:solidFill>
                  <a:srgbClr val="000000"/>
                </a:solidFill>
                <a:uFill>
                  <a:solidFill>
                    <a:srgbClr val="FFFFFF"/>
                  </a:solidFill>
                </a:uFill>
                <a:latin typeface="Calibri"/>
                <a:ea typeface="MS PGothic"/>
              </a:rPr>
              <a:t>the gains of those who are induced to supply the good by the higher price</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5" name="CustomShape 1"/>
          <p:cNvSpPr/>
          <p:nvPr/>
        </p:nvSpPr>
        <p:spPr>
          <a:xfrm>
            <a:off x="6524280" y="2255760"/>
            <a:ext cx="1159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S</a:t>
            </a:r>
            <a:endParaRPr lang="en-US" sz="1800" strike="noStrike" spc="-1">
              <a:solidFill>
                <a:srgbClr val="000000"/>
              </a:solidFill>
              <a:uFill>
                <a:solidFill>
                  <a:srgbClr val="FFFFFF"/>
                </a:solidFill>
              </a:uFill>
              <a:latin typeface="Arial"/>
            </a:endParaRPr>
          </a:p>
        </p:txBody>
      </p:sp>
      <p:sp>
        <p:nvSpPr>
          <p:cNvPr id="996" name="Line 2"/>
          <p:cNvSpPr/>
          <p:nvPr/>
        </p:nvSpPr>
        <p:spPr>
          <a:xfrm flipH="1">
            <a:off x="2501640" y="2442960"/>
            <a:ext cx="3981600" cy="2583000"/>
          </a:xfrm>
          <a:prstGeom prst="line">
            <a:avLst/>
          </a:prstGeom>
          <a:ln w="30240">
            <a:solidFill>
              <a:srgbClr val="EE313C"/>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97" name="Line 3"/>
          <p:cNvSpPr/>
          <p:nvPr/>
        </p:nvSpPr>
        <p:spPr>
          <a:xfrm flipV="1">
            <a:off x="5591160" y="5238720"/>
            <a:ext cx="360" cy="1094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98" name="Line 4"/>
          <p:cNvSpPr/>
          <p:nvPr/>
        </p:nvSpPr>
        <p:spPr>
          <a:xfrm flipV="1">
            <a:off x="4565520" y="5238720"/>
            <a:ext cx="360" cy="1094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999" name="CustomShape 5"/>
          <p:cNvSpPr/>
          <p:nvPr/>
        </p:nvSpPr>
        <p:spPr>
          <a:xfrm>
            <a:off x="5130720" y="5380200"/>
            <a:ext cx="93744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1.5 million</a:t>
            </a:r>
            <a:endParaRPr lang="en-US" sz="1800" strike="noStrike" spc="-1">
              <a:solidFill>
                <a:srgbClr val="000000"/>
              </a:solidFill>
              <a:uFill>
                <a:solidFill>
                  <a:srgbClr val="FFFFFF"/>
                </a:solidFill>
              </a:uFill>
              <a:latin typeface="Arial"/>
            </a:endParaRPr>
          </a:p>
        </p:txBody>
      </p:sp>
      <p:sp>
        <p:nvSpPr>
          <p:cNvPr id="1000" name="CustomShape 6"/>
          <p:cNvSpPr/>
          <p:nvPr/>
        </p:nvSpPr>
        <p:spPr>
          <a:xfrm>
            <a:off x="2217960" y="292752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$7</a:t>
            </a:r>
            <a:endParaRPr lang="en-US" sz="1800" strike="noStrike" spc="-1">
              <a:solidFill>
                <a:srgbClr val="000000"/>
              </a:solidFill>
              <a:uFill>
                <a:solidFill>
                  <a:srgbClr val="FFFFFF"/>
                </a:solidFill>
              </a:uFill>
              <a:latin typeface="Arial"/>
            </a:endParaRPr>
          </a:p>
        </p:txBody>
      </p:sp>
      <p:sp>
        <p:nvSpPr>
          <p:cNvPr id="1001" name="CustomShape 7"/>
          <p:cNvSpPr/>
          <p:nvPr/>
        </p:nvSpPr>
        <p:spPr>
          <a:xfrm>
            <a:off x="2323800" y="359424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5</a:t>
            </a:r>
            <a:endParaRPr lang="en-US" sz="1800" strike="noStrike" spc="-1">
              <a:solidFill>
                <a:srgbClr val="000000"/>
              </a:solidFill>
              <a:uFill>
                <a:solidFill>
                  <a:srgbClr val="FFFFFF"/>
                </a:solidFill>
              </a:uFill>
              <a:latin typeface="Arial"/>
            </a:endParaRPr>
          </a:p>
        </p:txBody>
      </p:sp>
      <p:sp>
        <p:nvSpPr>
          <p:cNvPr id="1002" name="Line 8"/>
          <p:cNvSpPr/>
          <p:nvPr/>
        </p:nvSpPr>
        <p:spPr>
          <a:xfrm>
            <a:off x="2512800" y="3020760"/>
            <a:ext cx="12528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03" name="Line 9"/>
          <p:cNvSpPr/>
          <p:nvPr/>
        </p:nvSpPr>
        <p:spPr>
          <a:xfrm>
            <a:off x="2512800" y="3686040"/>
            <a:ext cx="12528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04" name="CustomShape 10"/>
          <p:cNvSpPr/>
          <p:nvPr/>
        </p:nvSpPr>
        <p:spPr>
          <a:xfrm>
            <a:off x="4141440" y="5380200"/>
            <a:ext cx="76824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1 million</a:t>
            </a:r>
            <a:endParaRPr lang="en-US" sz="1800" strike="noStrike" spc="-1">
              <a:solidFill>
                <a:srgbClr val="000000"/>
              </a:solidFill>
              <a:uFill>
                <a:solidFill>
                  <a:srgbClr val="FFFFFF"/>
                </a:solidFill>
              </a:uFill>
              <a:latin typeface="Arial"/>
            </a:endParaRPr>
          </a:p>
        </p:txBody>
      </p:sp>
      <p:sp>
        <p:nvSpPr>
          <p:cNvPr id="1005" name="CustomShape 11"/>
          <p:cNvSpPr/>
          <p:nvPr/>
        </p:nvSpPr>
        <p:spPr>
          <a:xfrm>
            <a:off x="2323800" y="538020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1006" name="CustomShape 12"/>
          <p:cNvSpPr/>
          <p:nvPr/>
        </p:nvSpPr>
        <p:spPr>
          <a:xfrm>
            <a:off x="2513160" y="1801800"/>
            <a:ext cx="4687200" cy="3545640"/>
          </a:xfrm>
          <a:custGeom>
            <a:avLst/>
            <a:gdLst/>
            <a:ahLst/>
            <a:cxnLst/>
            <a:rect l="l" t="t" r="r" b="b"/>
            <a:pathLst>
              <a:path w="2097" h="1813">
                <a:moveTo>
                  <a:pt x="2097" y="1813"/>
                </a:moveTo>
                <a:lnTo>
                  <a:pt x="0" y="1813"/>
                </a:lnTo>
                <a:lnTo>
                  <a:pt x="0" y="0"/>
                </a:lnTo>
              </a:path>
            </a:pathLst>
          </a:custGeom>
          <a:noFill/>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07" name="CustomShape 13"/>
          <p:cNvSpPr/>
          <p:nvPr/>
        </p:nvSpPr>
        <p:spPr>
          <a:xfrm>
            <a:off x="1295280" y="1295280"/>
            <a:ext cx="1945440" cy="4255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Calibri"/>
                <a:ea typeface="MS PGothic"/>
              </a:rPr>
              <a:t>Price of wheat (per bushel)</a:t>
            </a:r>
            <a:endParaRPr lang="en-US" sz="1800" strike="noStrike" spc="-1">
              <a:solidFill>
                <a:srgbClr val="000000"/>
              </a:solidFill>
              <a:uFill>
                <a:solidFill>
                  <a:srgbClr val="FFFFFF"/>
                </a:solidFill>
              </a:uFill>
              <a:latin typeface="Arial"/>
            </a:endParaRPr>
          </a:p>
        </p:txBody>
      </p:sp>
      <p:sp>
        <p:nvSpPr>
          <p:cNvPr id="1008" name="CustomShape 14"/>
          <p:cNvSpPr/>
          <p:nvPr/>
        </p:nvSpPr>
        <p:spPr>
          <a:xfrm>
            <a:off x="5105520" y="5638680"/>
            <a:ext cx="311220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b="1" strike="noStrike" spc="-1">
                <a:solidFill>
                  <a:srgbClr val="000000"/>
                </a:solidFill>
                <a:uFill>
                  <a:solidFill>
                    <a:srgbClr val="FFFFFF"/>
                  </a:solidFill>
                </a:uFill>
                <a:latin typeface="Calibri"/>
                <a:ea typeface="MS PGothic"/>
              </a:rPr>
              <a:t>Quantity of wheat (bushels)</a:t>
            </a:r>
            <a:endParaRPr lang="en-US" sz="1800" strike="noStrike" spc="-1">
              <a:solidFill>
                <a:srgbClr val="000000"/>
              </a:solidFill>
              <a:uFill>
                <a:solidFill>
                  <a:srgbClr val="FFFFFF"/>
                </a:solidFill>
              </a:uFill>
              <a:latin typeface="Arial"/>
            </a:endParaRPr>
          </a:p>
        </p:txBody>
      </p:sp>
      <p:sp>
        <p:nvSpPr>
          <p:cNvPr id="1009" name="CustomShape 15"/>
          <p:cNvSpPr/>
          <p:nvPr/>
        </p:nvSpPr>
        <p:spPr>
          <a:xfrm>
            <a:off x="2513160" y="3021120"/>
            <a:ext cx="2052000" cy="664560"/>
          </a:xfrm>
          <a:prstGeom prst="rect">
            <a:avLst/>
          </a:prstGeom>
          <a:solidFill>
            <a:srgbClr val="F3716D"/>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010" name="Line 16"/>
          <p:cNvSpPr/>
          <p:nvPr/>
        </p:nvSpPr>
        <p:spPr>
          <a:xfrm>
            <a:off x="3541680" y="2466720"/>
            <a:ext cx="360" cy="77472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11" name="CustomShape 17"/>
          <p:cNvSpPr/>
          <p:nvPr/>
        </p:nvSpPr>
        <p:spPr>
          <a:xfrm>
            <a:off x="2749680" y="1981080"/>
            <a:ext cx="1742400" cy="685080"/>
          </a:xfrm>
          <a:custGeom>
            <a:avLst/>
            <a:gdLst/>
            <a:ahLst/>
            <a:cxnLst/>
            <a:rect l="l" t="t" r="r" b="b"/>
            <a:pathLst>
              <a:path w="301" h="134">
                <a:moveTo>
                  <a:pt x="287" y="134"/>
                </a:moveTo>
                <a:cubicBezTo>
                  <a:pt x="295" y="134"/>
                  <a:pt x="301" y="126"/>
                  <a:pt x="301" y="117"/>
                </a:cubicBezTo>
                <a:cubicBezTo>
                  <a:pt x="301" y="17"/>
                  <a:pt x="301" y="17"/>
                  <a:pt x="301" y="17"/>
                </a:cubicBezTo>
                <a:cubicBezTo>
                  <a:pt x="301" y="7"/>
                  <a:pt x="295" y="0"/>
                  <a:pt x="287" y="0"/>
                </a:cubicBezTo>
                <a:cubicBezTo>
                  <a:pt x="14" y="0"/>
                  <a:pt x="14" y="0"/>
                  <a:pt x="14" y="0"/>
                </a:cubicBezTo>
                <a:cubicBezTo>
                  <a:pt x="6" y="0"/>
                  <a:pt x="0" y="7"/>
                  <a:pt x="0" y="17"/>
                </a:cubicBezTo>
                <a:cubicBezTo>
                  <a:pt x="0" y="117"/>
                  <a:pt x="0" y="117"/>
                  <a:pt x="0" y="117"/>
                </a:cubicBezTo>
                <a:cubicBezTo>
                  <a:pt x="0" y="126"/>
                  <a:pt x="6" y="134"/>
                  <a:pt x="14" y="134"/>
                </a:cubicBezTo>
                <a:lnTo>
                  <a:pt x="287" y="134"/>
                </a:lnTo>
                <a:close/>
              </a:path>
            </a:pathLst>
          </a:custGeom>
          <a:solidFill>
            <a:srgbClr val="D6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012" name="CustomShape 18"/>
          <p:cNvSpPr/>
          <p:nvPr/>
        </p:nvSpPr>
        <p:spPr>
          <a:xfrm>
            <a:off x="2819520" y="2009880"/>
            <a:ext cx="1523160" cy="6393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Calibri"/>
                <a:ea typeface="MS PGothic"/>
              </a:rPr>
              <a:t>Increase in producer surplus to original sellers</a:t>
            </a:r>
            <a:endParaRPr lang="en-US" sz="1800" strike="noStrike" spc="-1">
              <a:solidFill>
                <a:srgbClr val="000000"/>
              </a:solidFill>
              <a:uFill>
                <a:solidFill>
                  <a:srgbClr val="FFFFFF"/>
                </a:solidFill>
              </a:uFill>
              <a:latin typeface="Arial"/>
            </a:endParaRPr>
          </a:p>
        </p:txBody>
      </p:sp>
      <p:sp>
        <p:nvSpPr>
          <p:cNvPr id="1013" name="CustomShape 19"/>
          <p:cNvSpPr/>
          <p:nvPr/>
        </p:nvSpPr>
        <p:spPr>
          <a:xfrm>
            <a:off x="4565520" y="3052800"/>
            <a:ext cx="1024920" cy="664560"/>
          </a:xfrm>
          <a:custGeom>
            <a:avLst/>
            <a:gdLst/>
            <a:ahLst/>
            <a:cxnLst/>
            <a:rect l="l" t="t" r="r" b="b"/>
            <a:pathLst>
              <a:path w="459" h="340">
                <a:moveTo>
                  <a:pt x="0" y="340"/>
                </a:moveTo>
                <a:lnTo>
                  <a:pt x="0" y="0"/>
                </a:lnTo>
                <a:lnTo>
                  <a:pt x="459" y="0"/>
                </a:lnTo>
                <a:lnTo>
                  <a:pt x="0" y="340"/>
                </a:lnTo>
                <a:close/>
              </a:path>
            </a:pathLst>
          </a:custGeom>
          <a:solidFill>
            <a:srgbClr val="FBD4D2"/>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014" name="Line 20"/>
          <p:cNvSpPr/>
          <p:nvPr/>
        </p:nvSpPr>
        <p:spPr>
          <a:xfrm>
            <a:off x="5025960" y="2512800"/>
            <a:ext cx="360" cy="76032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15" name="CustomShape 21"/>
          <p:cNvSpPr/>
          <p:nvPr/>
        </p:nvSpPr>
        <p:spPr>
          <a:xfrm>
            <a:off x="4556160" y="2013120"/>
            <a:ext cx="1310400" cy="608760"/>
          </a:xfrm>
          <a:custGeom>
            <a:avLst/>
            <a:gdLst/>
            <a:ahLst/>
            <a:cxnLst/>
            <a:rect l="l" t="t" r="r" b="b"/>
            <a:pathLst>
              <a:path w="248" h="134">
                <a:moveTo>
                  <a:pt x="234" y="134"/>
                </a:moveTo>
                <a:cubicBezTo>
                  <a:pt x="241" y="134"/>
                  <a:pt x="248" y="126"/>
                  <a:pt x="248" y="117"/>
                </a:cubicBezTo>
                <a:cubicBezTo>
                  <a:pt x="248" y="17"/>
                  <a:pt x="248" y="17"/>
                  <a:pt x="248" y="17"/>
                </a:cubicBezTo>
                <a:cubicBezTo>
                  <a:pt x="248" y="7"/>
                  <a:pt x="241" y="0"/>
                  <a:pt x="234" y="0"/>
                </a:cubicBezTo>
                <a:cubicBezTo>
                  <a:pt x="14" y="0"/>
                  <a:pt x="14" y="0"/>
                  <a:pt x="14" y="0"/>
                </a:cubicBezTo>
                <a:cubicBezTo>
                  <a:pt x="6" y="0"/>
                  <a:pt x="0" y="7"/>
                  <a:pt x="0" y="17"/>
                </a:cubicBezTo>
                <a:cubicBezTo>
                  <a:pt x="0" y="117"/>
                  <a:pt x="0" y="117"/>
                  <a:pt x="0" y="117"/>
                </a:cubicBezTo>
                <a:cubicBezTo>
                  <a:pt x="0" y="126"/>
                  <a:pt x="6" y="134"/>
                  <a:pt x="14" y="134"/>
                </a:cubicBezTo>
                <a:lnTo>
                  <a:pt x="234" y="134"/>
                </a:lnTo>
                <a:close/>
              </a:path>
            </a:pathLst>
          </a:custGeom>
          <a:solidFill>
            <a:srgbClr val="D6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016" name="CustomShape 22"/>
          <p:cNvSpPr/>
          <p:nvPr/>
        </p:nvSpPr>
        <p:spPr>
          <a:xfrm>
            <a:off x="4619520" y="1989000"/>
            <a:ext cx="1180440" cy="6393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Calibri"/>
                <a:ea typeface="MS PGothic"/>
              </a:rPr>
              <a:t>Producer  surplus gained by new sellers</a:t>
            </a:r>
            <a:endParaRPr lang="en-US" sz="1800" strike="noStrike" spc="-1">
              <a:solidFill>
                <a:srgbClr val="000000"/>
              </a:solidFill>
              <a:uFill>
                <a:solidFill>
                  <a:srgbClr val="FFFFFF"/>
                </a:solidFill>
              </a:uFill>
              <a:latin typeface="Arial"/>
            </a:endParaRPr>
          </a:p>
        </p:txBody>
      </p:sp>
      <p:sp>
        <p:nvSpPr>
          <p:cNvPr id="1017" name="CustomShape 23"/>
          <p:cNvSpPr/>
          <p:nvPr/>
        </p:nvSpPr>
        <p:spPr>
          <a:xfrm>
            <a:off x="4513320" y="3641760"/>
            <a:ext cx="104040" cy="896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018" name="Line 24"/>
          <p:cNvSpPr/>
          <p:nvPr/>
        </p:nvSpPr>
        <p:spPr>
          <a:xfrm flipV="1">
            <a:off x="2320920" y="3195360"/>
            <a:ext cx="360" cy="304920"/>
          </a:xfrm>
          <a:prstGeom prst="line">
            <a:avLst/>
          </a:prstGeom>
          <a:ln w="111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19" name="CustomShape 25"/>
          <p:cNvSpPr/>
          <p:nvPr/>
        </p:nvSpPr>
        <p:spPr>
          <a:xfrm>
            <a:off x="2286000" y="3124080"/>
            <a:ext cx="72360" cy="100800"/>
          </a:xfrm>
          <a:custGeom>
            <a:avLst/>
            <a:gdLst/>
            <a:ahLst/>
            <a:cxnLst/>
            <a:rect l="l" t="t" r="r" b="b"/>
            <a:pathLst>
              <a:path w="14" h="22">
                <a:moveTo>
                  <a:pt x="7" y="18"/>
                </a:moveTo>
                <a:cubicBezTo>
                  <a:pt x="1" y="22"/>
                  <a:pt x="1" y="22"/>
                  <a:pt x="1" y="22"/>
                </a:cubicBezTo>
                <a:cubicBezTo>
                  <a:pt x="0" y="22"/>
                  <a:pt x="0" y="22"/>
                  <a:pt x="0" y="22"/>
                </a:cubicBezTo>
                <a:cubicBezTo>
                  <a:pt x="5" y="11"/>
                  <a:pt x="5" y="11"/>
                  <a:pt x="5" y="11"/>
                </a:cubicBezTo>
                <a:cubicBezTo>
                  <a:pt x="5" y="8"/>
                  <a:pt x="6" y="4"/>
                  <a:pt x="7" y="0"/>
                </a:cubicBezTo>
                <a:cubicBezTo>
                  <a:pt x="8" y="4"/>
                  <a:pt x="9" y="8"/>
                  <a:pt x="9" y="11"/>
                </a:cubicBezTo>
                <a:cubicBezTo>
                  <a:pt x="14" y="22"/>
                  <a:pt x="14" y="22"/>
                  <a:pt x="14" y="22"/>
                </a:cubicBezTo>
                <a:cubicBezTo>
                  <a:pt x="14" y="22"/>
                  <a:pt x="14" y="22"/>
                  <a:pt x="14" y="22"/>
                </a:cubicBezTo>
                <a:lnTo>
                  <a:pt x="7" y="18"/>
                </a:lnTo>
                <a:close/>
              </a:path>
            </a:pathLst>
          </a:cu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020" name="CustomShape 26"/>
          <p:cNvSpPr/>
          <p:nvPr/>
        </p:nvSpPr>
        <p:spPr>
          <a:xfrm>
            <a:off x="5068800" y="5450040"/>
            <a:ext cx="115200" cy="65880"/>
          </a:xfrm>
          <a:custGeom>
            <a:avLst/>
            <a:gdLst/>
            <a:ahLst/>
            <a:cxnLst/>
            <a:rect l="l" t="t" r="r" b="b"/>
            <a:pathLst>
              <a:path w="22" h="14">
                <a:moveTo>
                  <a:pt x="4" y="7"/>
                </a:moveTo>
                <a:cubicBezTo>
                  <a:pt x="0" y="1"/>
                  <a:pt x="0" y="1"/>
                  <a:pt x="0" y="1"/>
                </a:cubicBezTo>
                <a:cubicBezTo>
                  <a:pt x="0" y="0"/>
                  <a:pt x="0" y="0"/>
                  <a:pt x="0" y="0"/>
                </a:cubicBezTo>
                <a:cubicBezTo>
                  <a:pt x="10" y="5"/>
                  <a:pt x="10" y="5"/>
                  <a:pt x="10" y="5"/>
                </a:cubicBezTo>
                <a:cubicBezTo>
                  <a:pt x="14" y="5"/>
                  <a:pt x="18" y="6"/>
                  <a:pt x="22" y="7"/>
                </a:cubicBezTo>
                <a:cubicBezTo>
                  <a:pt x="18" y="8"/>
                  <a:pt x="14" y="9"/>
                  <a:pt x="10" y="9"/>
                </a:cubicBezTo>
                <a:cubicBezTo>
                  <a:pt x="0" y="14"/>
                  <a:pt x="0" y="14"/>
                  <a:pt x="0" y="14"/>
                </a:cubicBezTo>
                <a:cubicBezTo>
                  <a:pt x="0" y="14"/>
                  <a:pt x="0" y="14"/>
                  <a:pt x="0" y="14"/>
                </a:cubicBezTo>
                <a:lnTo>
                  <a:pt x="4" y="7"/>
                </a:lnTo>
                <a:close/>
              </a:path>
            </a:pathLst>
          </a:cu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021" name="Line 27"/>
          <p:cNvSpPr/>
          <p:nvPr/>
        </p:nvSpPr>
        <p:spPr>
          <a:xfrm>
            <a:off x="4924080" y="5483160"/>
            <a:ext cx="169920" cy="360"/>
          </a:xfrm>
          <a:prstGeom prst="line">
            <a:avLst/>
          </a:prstGeom>
          <a:ln w="111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22" name="Line 28"/>
          <p:cNvSpPr/>
          <p:nvPr/>
        </p:nvSpPr>
        <p:spPr>
          <a:xfrm>
            <a:off x="4562280" y="3038400"/>
            <a:ext cx="360" cy="215892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023" name="Line 29"/>
          <p:cNvSpPr/>
          <p:nvPr/>
        </p:nvSpPr>
        <p:spPr>
          <a:xfrm>
            <a:off x="2657160" y="3020760"/>
            <a:ext cx="2857680" cy="324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024" name="Line 30"/>
          <p:cNvSpPr/>
          <p:nvPr/>
        </p:nvSpPr>
        <p:spPr>
          <a:xfrm>
            <a:off x="2617560" y="3673440"/>
            <a:ext cx="1932120" cy="288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025" name="Line 31"/>
          <p:cNvSpPr/>
          <p:nvPr/>
        </p:nvSpPr>
        <p:spPr>
          <a:xfrm>
            <a:off x="5580000" y="3038400"/>
            <a:ext cx="360" cy="215892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026" name="CustomShape 32"/>
          <p:cNvSpPr/>
          <p:nvPr/>
        </p:nvSpPr>
        <p:spPr>
          <a:xfrm>
            <a:off x="5495760" y="3003480"/>
            <a:ext cx="104040" cy="9144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027" name="CustomShape 33"/>
          <p:cNvSpPr/>
          <p:nvPr/>
        </p:nvSpPr>
        <p:spPr>
          <a:xfrm>
            <a:off x="971640" y="60480"/>
            <a:ext cx="792108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A Rise in the Price Increases Producer Surplus</a:t>
            </a:r>
            <a:endParaRPr lang="en-US" sz="1800" strike="noStrike" spc="-1">
              <a:solidFill>
                <a:srgbClr val="000000"/>
              </a:solidFill>
              <a:uFill>
                <a:solidFill>
                  <a:srgbClr val="FFFFFF"/>
                </a:solidFill>
              </a:uFill>
              <a:latin typeface="Arial"/>
            </a:endParaRPr>
          </a:p>
        </p:txBody>
      </p:sp>
      <p:sp>
        <p:nvSpPr>
          <p:cNvPr id="1028" name="Line 34"/>
          <p:cNvSpPr/>
          <p:nvPr/>
        </p:nvSpPr>
        <p:spPr>
          <a:xfrm>
            <a:off x="2503440" y="3051000"/>
            <a:ext cx="3495600" cy="360"/>
          </a:xfrm>
          <a:prstGeom prst="line">
            <a:avLst/>
          </a:prstGeom>
          <a:ln w="255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29" name="CustomShape 35"/>
          <p:cNvSpPr/>
          <p:nvPr/>
        </p:nvSpPr>
        <p:spPr>
          <a:xfrm>
            <a:off x="5979960" y="2955960"/>
            <a:ext cx="137952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New price = $7</a:t>
            </a:r>
            <a:endParaRPr lang="en-US" sz="1800" strike="noStrike" spc="-1">
              <a:solidFill>
                <a:srgbClr val="000000"/>
              </a:solidFill>
              <a:uFill>
                <a:solidFill>
                  <a:srgbClr val="FFFFFF"/>
                </a:solidFill>
              </a:uFill>
              <a:latin typeface="Arial"/>
            </a:endParaRPr>
          </a:p>
        </p:txBody>
      </p:sp>
      <p:sp>
        <p:nvSpPr>
          <p:cNvPr id="1030" name="Line 36"/>
          <p:cNvSpPr/>
          <p:nvPr/>
        </p:nvSpPr>
        <p:spPr>
          <a:xfrm>
            <a:off x="2487600" y="3690720"/>
            <a:ext cx="3495600" cy="360"/>
          </a:xfrm>
          <a:prstGeom prst="line">
            <a:avLst/>
          </a:prstGeom>
          <a:ln w="255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31" name="CustomShape 37"/>
          <p:cNvSpPr/>
          <p:nvPr/>
        </p:nvSpPr>
        <p:spPr>
          <a:xfrm>
            <a:off x="5938920" y="3592440"/>
            <a:ext cx="168876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Original price = $5</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blipFill>
          <a:blip r:embed="rId3"/>
          <a:stretch>
            <a:fillRect/>
          </a:stretch>
        </a:blipFill>
        <a:effectLst/>
      </p:bgPr>
    </p:bg>
    <p:spTree>
      <p:nvGrpSpPr>
        <p:cNvPr id="1" name=""/>
        <p:cNvGrpSpPr/>
        <p:nvPr/>
      </p:nvGrpSpPr>
      <p:grpSpPr>
        <a:xfrm>
          <a:off x="0" y="0"/>
          <a:ext cx="0" cy="0"/>
          <a:chOff x="0" y="0"/>
          <a:chExt cx="0" cy="0"/>
        </a:xfrm>
      </p:grpSpPr>
      <p:sp>
        <p:nvSpPr>
          <p:cNvPr id="1032" name="CustomShape 1"/>
          <p:cNvSpPr/>
          <p:nvPr/>
        </p:nvSpPr>
        <p:spPr>
          <a:xfrm>
            <a:off x="3286080" y="428760"/>
            <a:ext cx="5571360" cy="61682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100000"/>
              </a:lnSpc>
              <a:buClr>
                <a:srgbClr val="4F81BD"/>
              </a:buClr>
              <a:buFont typeface="Arial"/>
              <a:buChar char="•"/>
            </a:pPr>
            <a:r>
              <a:rPr lang="en-US" sz="2500" strike="noStrike" spc="-1">
                <a:solidFill>
                  <a:srgbClr val="4F81BD"/>
                </a:solidFill>
                <a:uFill>
                  <a:solidFill>
                    <a:srgbClr val="FFFFFF"/>
                  </a:solidFill>
                </a:uFill>
                <a:latin typeface="Calibri"/>
                <a:ea typeface="MS PGothic"/>
              </a:rPr>
              <a:t>What </a:t>
            </a:r>
            <a:r>
              <a:rPr lang="en-US" sz="2500" b="1" strike="noStrike" spc="-1">
                <a:solidFill>
                  <a:srgbClr val="4F81BD"/>
                </a:solidFill>
                <a:uFill>
                  <a:solidFill>
                    <a:srgbClr val="FFFFFF"/>
                  </a:solidFill>
                </a:uFill>
                <a:latin typeface="Calibri"/>
                <a:ea typeface="MS PGothic"/>
              </a:rPr>
              <a:t>consumer surplus </a:t>
            </a:r>
            <a:r>
              <a:rPr lang="en-US" sz="2500" strike="noStrike" spc="-1">
                <a:solidFill>
                  <a:srgbClr val="4F81BD"/>
                </a:solidFill>
                <a:uFill>
                  <a:solidFill>
                    <a:srgbClr val="FFFFFF"/>
                  </a:solidFill>
                </a:uFill>
                <a:latin typeface="Calibri"/>
                <a:ea typeface="MS PGothic"/>
              </a:rPr>
              <a:t>is and its relationship to the demand curve</a:t>
            </a:r>
            <a:endParaRPr lang="en-US" sz="1800" strike="noStrike" spc="-1">
              <a:solidFill>
                <a:srgbClr val="000000"/>
              </a:solidFill>
              <a:uFill>
                <a:solidFill>
                  <a:srgbClr val="FFFFFF"/>
                </a:solidFill>
              </a:uFill>
              <a:latin typeface="Arial"/>
            </a:endParaRPr>
          </a:p>
          <a:p>
            <a:pPr marL="343080" indent="-342360">
              <a:lnSpc>
                <a:spcPct val="100000"/>
              </a:lnSpc>
              <a:buClr>
                <a:srgbClr val="4F81BD"/>
              </a:buClr>
              <a:buFont typeface="Arial"/>
              <a:buChar char="•"/>
            </a:pPr>
            <a:r>
              <a:rPr lang="en-US" sz="2500" strike="noStrike" spc="-1">
                <a:solidFill>
                  <a:srgbClr val="4F81BD"/>
                </a:solidFill>
                <a:uFill>
                  <a:solidFill>
                    <a:srgbClr val="FFFFFF"/>
                  </a:solidFill>
                </a:uFill>
                <a:latin typeface="Calibri"/>
                <a:ea typeface="MS PGothic"/>
              </a:rPr>
              <a:t>What </a:t>
            </a:r>
            <a:r>
              <a:rPr lang="en-US" sz="2500" b="1" strike="noStrike" spc="-1">
                <a:solidFill>
                  <a:srgbClr val="4F81BD"/>
                </a:solidFill>
                <a:uFill>
                  <a:solidFill>
                    <a:srgbClr val="FFFFFF"/>
                  </a:solidFill>
                </a:uFill>
                <a:latin typeface="Calibri"/>
                <a:ea typeface="MS PGothic"/>
              </a:rPr>
              <a:t>producer surplus </a:t>
            </a:r>
            <a:r>
              <a:rPr lang="en-US" sz="2500" strike="noStrike" spc="-1">
                <a:solidFill>
                  <a:srgbClr val="4F81BD"/>
                </a:solidFill>
                <a:uFill>
                  <a:solidFill>
                    <a:srgbClr val="FFFFFF"/>
                  </a:solidFill>
                </a:uFill>
                <a:latin typeface="Calibri"/>
                <a:ea typeface="MS PGothic"/>
              </a:rPr>
              <a:t>is and its relationship to the supply curve</a:t>
            </a:r>
            <a:endParaRPr lang="en-US" sz="1800" strike="noStrike" spc="-1">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What </a:t>
            </a:r>
            <a:r>
              <a:rPr lang="en-US" sz="2500" b="1" strike="noStrike" spc="-1">
                <a:solidFill>
                  <a:srgbClr val="000000"/>
                </a:solidFill>
                <a:uFill>
                  <a:solidFill>
                    <a:srgbClr val="FFFFFF"/>
                  </a:solidFill>
                </a:uFill>
                <a:latin typeface="Calibri"/>
                <a:ea typeface="MS PGothic"/>
              </a:rPr>
              <a:t>total surplus </a:t>
            </a:r>
            <a:r>
              <a:rPr lang="en-US" sz="2500" strike="noStrike" spc="-1">
                <a:solidFill>
                  <a:srgbClr val="000000"/>
                </a:solidFill>
                <a:uFill>
                  <a:solidFill>
                    <a:srgbClr val="FFFFFF"/>
                  </a:solidFill>
                </a:uFill>
                <a:latin typeface="Calibri"/>
                <a:ea typeface="MS PGothic"/>
              </a:rPr>
              <a:t>is and how it can be used both to measure the gains from trade and to illustrate why markets work so well</a:t>
            </a:r>
            <a:endParaRPr lang="en-US" sz="1800" strike="noStrike" spc="-1">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Why </a:t>
            </a:r>
            <a:r>
              <a:rPr lang="en-US" sz="2500" b="1" strike="noStrike" spc="-1">
                <a:solidFill>
                  <a:srgbClr val="000000"/>
                </a:solidFill>
                <a:uFill>
                  <a:solidFill>
                    <a:srgbClr val="FFFFFF"/>
                  </a:solidFill>
                </a:uFill>
                <a:latin typeface="Calibri"/>
                <a:ea typeface="MS PGothic"/>
              </a:rPr>
              <a:t>property rights </a:t>
            </a:r>
            <a:r>
              <a:rPr lang="en-US" sz="2500" strike="noStrike" spc="-1">
                <a:solidFill>
                  <a:srgbClr val="000000"/>
                </a:solidFill>
                <a:uFill>
                  <a:solidFill>
                    <a:srgbClr val="FFFFFF"/>
                  </a:solidFill>
                </a:uFill>
                <a:latin typeface="Calibri"/>
                <a:ea typeface="MS PGothic"/>
              </a:rPr>
              <a:t>and prices as </a:t>
            </a:r>
            <a:r>
              <a:rPr lang="en-US" sz="2500" b="1" strike="noStrike" spc="-1">
                <a:solidFill>
                  <a:srgbClr val="000000"/>
                </a:solidFill>
                <a:uFill>
                  <a:solidFill>
                    <a:srgbClr val="FFFFFF"/>
                  </a:solidFill>
                </a:uFill>
                <a:latin typeface="Calibri"/>
                <a:ea typeface="MS PGothic"/>
              </a:rPr>
              <a:t>economic signals </a:t>
            </a:r>
            <a:r>
              <a:rPr lang="en-US" sz="2500" strike="noStrike" spc="-1">
                <a:solidFill>
                  <a:srgbClr val="000000"/>
                </a:solidFill>
                <a:uFill>
                  <a:solidFill>
                    <a:srgbClr val="FFFFFF"/>
                  </a:solidFill>
                </a:uFill>
                <a:latin typeface="Calibri"/>
                <a:ea typeface="MS PGothic"/>
              </a:rPr>
              <a:t>are critical to smooth</a:t>
            </a:r>
            <a:r>
              <a:rPr lang="en-US" sz="2500" b="1" strike="noStrike" spc="-1">
                <a:solidFill>
                  <a:srgbClr val="000000"/>
                </a:solidFill>
                <a:uFill>
                  <a:solidFill>
                    <a:srgbClr val="FFFFFF"/>
                  </a:solidFill>
                </a:uFill>
                <a:latin typeface="Calibri"/>
                <a:ea typeface="MS PGothic"/>
              </a:rPr>
              <a:t> </a:t>
            </a:r>
            <a:r>
              <a:rPr lang="en-US" sz="2500" strike="noStrike" spc="-1">
                <a:solidFill>
                  <a:srgbClr val="000000"/>
                </a:solidFill>
                <a:uFill>
                  <a:solidFill>
                    <a:srgbClr val="FFFFFF"/>
                  </a:solidFill>
                </a:uFill>
                <a:latin typeface="Calibri"/>
                <a:ea typeface="MS PGothic"/>
              </a:rPr>
              <a:t>functioning of a market</a:t>
            </a:r>
            <a:endParaRPr lang="en-US" sz="1800" strike="noStrike" spc="-1">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Why markets typically lead to efficient outcomes despite the fact that they sometimes fail</a:t>
            </a:r>
            <a:endParaRPr lang="en-US" sz="1800" strike="noStrike" spc="-1">
              <a:solidFill>
                <a:srgbClr val="000000"/>
              </a:solidFill>
              <a:uFill>
                <a:solidFill>
                  <a:srgbClr val="FFFFFF"/>
                </a:solidFill>
              </a:uFill>
              <a:latin typeface="Arial"/>
            </a:endParaRPr>
          </a:p>
        </p:txBody>
      </p:sp>
      <p:sp>
        <p:nvSpPr>
          <p:cNvPr id="1033" name="CustomShape 2"/>
          <p:cNvSpPr/>
          <p:nvPr/>
        </p:nvSpPr>
        <p:spPr>
          <a:xfrm>
            <a:off x="146160" y="1857240"/>
            <a:ext cx="2493360" cy="2039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US" sz="3200" b="1" strike="noStrike" spc="-1">
                <a:solidFill>
                  <a:srgbClr val="FFFFFF"/>
                </a:solidFill>
                <a:uFill>
                  <a:solidFill>
                    <a:srgbClr val="FFFFFF"/>
                  </a:solidFill>
                </a:uFill>
                <a:latin typeface="Calibri"/>
                <a:ea typeface="DejaVu Sans"/>
              </a:rPr>
              <a:t>WHAT YOU</a:t>
            </a:r>
            <a:endParaRPr lang="en-US" sz="1800" strike="noStrike" spc="-1">
              <a:solidFill>
                <a:srgbClr val="000000"/>
              </a:solidFill>
              <a:uFill>
                <a:solidFill>
                  <a:srgbClr val="FFFFFF"/>
                </a:solidFill>
              </a:uFill>
              <a:latin typeface="Arial"/>
            </a:endParaRPr>
          </a:p>
          <a:p>
            <a:pPr algn="ctr">
              <a:lnSpc>
                <a:spcPct val="100000"/>
              </a:lnSpc>
            </a:pPr>
            <a:r>
              <a:rPr lang="en-US" sz="3200" b="1" strike="noStrike" spc="-1">
                <a:solidFill>
                  <a:srgbClr val="FFFFFF"/>
                </a:solidFill>
                <a:uFill>
                  <a:solidFill>
                    <a:srgbClr val="FFFFFF"/>
                  </a:solidFill>
                </a:uFill>
                <a:latin typeface="Calibri"/>
                <a:ea typeface="DejaVu Sans"/>
              </a:rPr>
              <a:t>WILL LEARN</a:t>
            </a:r>
            <a:endParaRPr lang="en-US" sz="1800" strike="noStrike" spc="-1">
              <a:solidFill>
                <a:srgbClr val="000000"/>
              </a:solidFill>
              <a:uFill>
                <a:solidFill>
                  <a:srgbClr val="FFFFFF"/>
                </a:solidFill>
              </a:uFill>
              <a:latin typeface="Arial"/>
            </a:endParaRPr>
          </a:p>
          <a:p>
            <a:pPr algn="ctr">
              <a:lnSpc>
                <a:spcPct val="100000"/>
              </a:lnSpc>
            </a:pPr>
            <a:r>
              <a:rPr lang="en-US" sz="3200" b="1" strike="noStrike" spc="-1">
                <a:solidFill>
                  <a:srgbClr val="FFFFFF"/>
                </a:solidFill>
                <a:uFill>
                  <a:solidFill>
                    <a:srgbClr val="FFFFFF"/>
                  </a:solidFill>
                </a:uFill>
                <a:latin typeface="Calibri"/>
                <a:ea typeface="DejaVu Sans"/>
              </a:rPr>
              <a:t>IN THIS CHAPTER</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 name="CustomShape 1"/>
          <p:cNvSpPr/>
          <p:nvPr/>
        </p:nvSpPr>
        <p:spPr>
          <a:xfrm>
            <a:off x="900000" y="76320"/>
            <a:ext cx="8063640" cy="608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rPr>
              <a:t>Putting It Together: Total Surplus</a:t>
            </a:r>
            <a:endParaRPr lang="en-US" sz="1800" strike="noStrike" spc="-1">
              <a:solidFill>
                <a:srgbClr val="000000"/>
              </a:solidFill>
              <a:uFill>
                <a:solidFill>
                  <a:srgbClr val="FFFFFF"/>
                </a:solidFill>
              </a:uFill>
              <a:latin typeface="Arial"/>
            </a:endParaRPr>
          </a:p>
        </p:txBody>
      </p:sp>
      <p:sp>
        <p:nvSpPr>
          <p:cNvPr id="1035" name="CustomShape 2"/>
          <p:cNvSpPr/>
          <p:nvPr/>
        </p:nvSpPr>
        <p:spPr>
          <a:xfrm>
            <a:off x="971640" y="981000"/>
            <a:ext cx="7921080" cy="53427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100000"/>
              </a:lnSpc>
              <a:buClr>
                <a:srgbClr val="C00000"/>
              </a:buClr>
              <a:buFont typeface="Arial"/>
              <a:buChar char="•"/>
            </a:pPr>
            <a:r>
              <a:rPr lang="en-US" sz="2500" strike="noStrike" spc="-1">
                <a:solidFill>
                  <a:srgbClr val="C00000"/>
                </a:solidFill>
                <a:uFill>
                  <a:solidFill>
                    <a:srgbClr val="FFFFFF"/>
                  </a:solidFill>
                </a:uFill>
                <a:latin typeface="Calibri"/>
                <a:ea typeface="MS PGothic"/>
              </a:rPr>
              <a:t>Economic well-being of market participants</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Total surplus = Sum of consumer and producer surplus</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343080" indent="-342360">
              <a:lnSpc>
                <a:spcPct val="100000"/>
              </a:lnSpc>
              <a:buClr>
                <a:srgbClr val="000000"/>
              </a:buClr>
              <a:buFont typeface="Wingdings" charset="2"/>
              <a:buChar char=""/>
            </a:pPr>
            <a:r>
              <a:rPr lang="en-US" sz="2500" strike="noStrike" spc="-1">
                <a:solidFill>
                  <a:srgbClr val="000000"/>
                </a:solidFill>
                <a:uFill>
                  <a:solidFill>
                    <a:srgbClr val="FFFFFF"/>
                  </a:solidFill>
                </a:uFill>
                <a:latin typeface="Calibri"/>
                <a:ea typeface="MS PGothic"/>
              </a:rPr>
              <a:t>The </a:t>
            </a:r>
            <a:r>
              <a:rPr lang="en-US" sz="2500" b="1" strike="noStrike" spc="-1">
                <a:solidFill>
                  <a:srgbClr val="000000"/>
                </a:solidFill>
                <a:uFill>
                  <a:solidFill>
                    <a:srgbClr val="FFFFFF"/>
                  </a:solidFill>
                </a:uFill>
                <a:latin typeface="Calibri"/>
                <a:ea typeface="MS PGothic"/>
              </a:rPr>
              <a:t>total surplus </a:t>
            </a:r>
            <a:r>
              <a:rPr lang="en-US" sz="2500" strike="noStrike" spc="-1">
                <a:solidFill>
                  <a:srgbClr val="000000"/>
                </a:solidFill>
                <a:uFill>
                  <a:solidFill>
                    <a:srgbClr val="FFFFFF"/>
                  </a:solidFill>
                </a:uFill>
                <a:latin typeface="Calibri"/>
                <a:ea typeface="MS PGothic"/>
              </a:rPr>
              <a:t>generated in a market is the total net gain to consumers and producers from trading in the market. It is the sum of the producer and the consumer surplus.</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343080" indent="-342360">
              <a:lnSpc>
                <a:spcPct val="100000"/>
              </a:lnSpc>
              <a:buClr>
                <a:srgbClr val="000000"/>
              </a:buClr>
              <a:buFont typeface="Wingdings" charset="2"/>
              <a:buChar char=""/>
            </a:pPr>
            <a:r>
              <a:rPr lang="en-US" sz="2500" strike="noStrike" spc="-1">
                <a:solidFill>
                  <a:srgbClr val="000000"/>
                </a:solidFill>
                <a:uFill>
                  <a:solidFill>
                    <a:srgbClr val="FFFFFF"/>
                  </a:solidFill>
                </a:uFill>
                <a:latin typeface="Calibri"/>
                <a:ea typeface="MS PGothic"/>
              </a:rPr>
              <a:t>The concepts of consumer surplus and producer surplus can help us understand why competitive markets are an effective way to organize economic activity.</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 name="CustomShape 1"/>
          <p:cNvSpPr/>
          <p:nvPr/>
        </p:nvSpPr>
        <p:spPr>
          <a:xfrm>
            <a:off x="6871320" y="1828800"/>
            <a:ext cx="9324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Roman"/>
                <a:ea typeface="MS PGothic"/>
              </a:rPr>
              <a:t>S</a:t>
            </a:r>
            <a:endParaRPr lang="en-US" sz="1800" strike="noStrike" spc="-1">
              <a:solidFill>
                <a:srgbClr val="000000"/>
              </a:solidFill>
              <a:uFill>
                <a:solidFill>
                  <a:srgbClr val="FFFFFF"/>
                </a:solidFill>
              </a:uFill>
              <a:latin typeface="Arial"/>
            </a:endParaRPr>
          </a:p>
        </p:txBody>
      </p:sp>
      <p:sp>
        <p:nvSpPr>
          <p:cNvPr id="1037" name="CustomShape 2"/>
          <p:cNvSpPr/>
          <p:nvPr/>
        </p:nvSpPr>
        <p:spPr>
          <a:xfrm>
            <a:off x="6857280" y="4724280"/>
            <a:ext cx="13140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Roman"/>
                <a:ea typeface="MS PGothic"/>
              </a:rPr>
              <a:t>D</a:t>
            </a:r>
            <a:endParaRPr lang="en-US" sz="1800" strike="noStrike" spc="-1">
              <a:solidFill>
                <a:srgbClr val="000000"/>
              </a:solidFill>
              <a:uFill>
                <a:solidFill>
                  <a:srgbClr val="FFFFFF"/>
                </a:solidFill>
              </a:uFill>
              <a:latin typeface="Arial"/>
            </a:endParaRPr>
          </a:p>
        </p:txBody>
      </p:sp>
      <p:sp>
        <p:nvSpPr>
          <p:cNvPr id="1038" name="Line 3"/>
          <p:cNvSpPr/>
          <p:nvPr/>
        </p:nvSpPr>
        <p:spPr>
          <a:xfrm flipH="1">
            <a:off x="2438280" y="1960560"/>
            <a:ext cx="4317840" cy="2763720"/>
          </a:xfrm>
          <a:prstGeom prst="line">
            <a:avLst/>
          </a:prstGeom>
          <a:ln w="30240">
            <a:solidFill>
              <a:srgbClr val="EE313C"/>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39" name="Line 4"/>
          <p:cNvSpPr/>
          <p:nvPr/>
        </p:nvSpPr>
        <p:spPr>
          <a:xfrm>
            <a:off x="2438280" y="1904760"/>
            <a:ext cx="4317840" cy="2782800"/>
          </a:xfrm>
          <a:prstGeom prst="line">
            <a:avLst/>
          </a:prstGeom>
          <a:ln w="30240">
            <a:solidFill>
              <a:srgbClr val="3C5DA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40" name="CustomShape 5"/>
          <p:cNvSpPr/>
          <p:nvPr/>
        </p:nvSpPr>
        <p:spPr>
          <a:xfrm>
            <a:off x="1905120" y="1219320"/>
            <a:ext cx="205668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nSpc>
                <a:spcPct val="100000"/>
              </a:lnSpc>
            </a:pPr>
            <a:r>
              <a:rPr lang="en-US" sz="1400" b="1" strike="noStrike" spc="-1">
                <a:solidFill>
                  <a:srgbClr val="000000"/>
                </a:solidFill>
                <a:uFill>
                  <a:solidFill>
                    <a:srgbClr val="FFFFFF"/>
                  </a:solidFill>
                </a:uFill>
                <a:latin typeface="Calibri"/>
                <a:ea typeface="MS PGothic"/>
              </a:rPr>
              <a:t>Price of book</a:t>
            </a:r>
            <a:endParaRPr lang="en-US" sz="1800" strike="noStrike" spc="-1">
              <a:solidFill>
                <a:srgbClr val="000000"/>
              </a:solidFill>
              <a:uFill>
                <a:solidFill>
                  <a:srgbClr val="FFFFFF"/>
                </a:solidFill>
              </a:uFill>
              <a:latin typeface="Arial"/>
            </a:endParaRPr>
          </a:p>
        </p:txBody>
      </p:sp>
      <p:sp>
        <p:nvSpPr>
          <p:cNvPr id="1041" name="CustomShape 6"/>
          <p:cNvSpPr/>
          <p:nvPr/>
        </p:nvSpPr>
        <p:spPr>
          <a:xfrm>
            <a:off x="6043680" y="5334120"/>
            <a:ext cx="172800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nSpc>
                <a:spcPct val="100000"/>
              </a:lnSpc>
            </a:pPr>
            <a:r>
              <a:rPr lang="en-US" sz="1400" b="1" strike="noStrike" spc="-1">
                <a:solidFill>
                  <a:srgbClr val="000000"/>
                </a:solidFill>
                <a:uFill>
                  <a:solidFill>
                    <a:srgbClr val="FFFFFF"/>
                  </a:solidFill>
                </a:uFill>
                <a:latin typeface="Calibri"/>
                <a:ea typeface="MS PGothic"/>
              </a:rPr>
              <a:t>Quantity of books</a:t>
            </a:r>
            <a:endParaRPr lang="en-US" sz="1800" strike="noStrike" spc="-1">
              <a:solidFill>
                <a:srgbClr val="000000"/>
              </a:solidFill>
              <a:uFill>
                <a:solidFill>
                  <a:srgbClr val="FFFFFF"/>
                </a:solidFill>
              </a:uFill>
              <a:latin typeface="Arial"/>
            </a:endParaRPr>
          </a:p>
        </p:txBody>
      </p:sp>
      <p:sp>
        <p:nvSpPr>
          <p:cNvPr id="1042" name="CustomShape 7"/>
          <p:cNvSpPr/>
          <p:nvPr/>
        </p:nvSpPr>
        <p:spPr>
          <a:xfrm>
            <a:off x="4370400" y="5288040"/>
            <a:ext cx="5094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1,000</a:t>
            </a:r>
            <a:endParaRPr lang="en-US" sz="1800" strike="noStrike" spc="-1">
              <a:solidFill>
                <a:srgbClr val="000000"/>
              </a:solidFill>
              <a:uFill>
                <a:solidFill>
                  <a:srgbClr val="FFFFFF"/>
                </a:solidFill>
              </a:uFill>
              <a:latin typeface="Arial"/>
            </a:endParaRPr>
          </a:p>
        </p:txBody>
      </p:sp>
      <p:sp>
        <p:nvSpPr>
          <p:cNvPr id="1043" name="CustomShape 8"/>
          <p:cNvSpPr/>
          <p:nvPr/>
        </p:nvSpPr>
        <p:spPr>
          <a:xfrm>
            <a:off x="2053800" y="3225960"/>
            <a:ext cx="3402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$30</a:t>
            </a:r>
            <a:endParaRPr lang="en-US" sz="1800" strike="noStrike" spc="-1">
              <a:solidFill>
                <a:srgbClr val="000000"/>
              </a:solidFill>
              <a:uFill>
                <a:solidFill>
                  <a:srgbClr val="FFFFFF"/>
                </a:solidFill>
              </a:uFill>
              <a:latin typeface="Arial"/>
            </a:endParaRPr>
          </a:p>
        </p:txBody>
      </p:sp>
      <p:sp>
        <p:nvSpPr>
          <p:cNvPr id="1044" name="Line 9"/>
          <p:cNvSpPr/>
          <p:nvPr/>
        </p:nvSpPr>
        <p:spPr>
          <a:xfrm>
            <a:off x="2450880" y="3333600"/>
            <a:ext cx="12708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45" name="Line 10"/>
          <p:cNvSpPr/>
          <p:nvPr/>
        </p:nvSpPr>
        <p:spPr>
          <a:xfrm flipV="1">
            <a:off x="4619520" y="5132160"/>
            <a:ext cx="360" cy="117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46" name="CustomShape 11"/>
          <p:cNvSpPr/>
          <p:nvPr/>
        </p:nvSpPr>
        <p:spPr>
          <a:xfrm>
            <a:off x="2261880" y="528804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Roman"/>
                <a:ea typeface="MS PGothic"/>
              </a:rPr>
              <a:t>0</a:t>
            </a:r>
            <a:endParaRPr lang="en-US" sz="1800" strike="noStrike" spc="-1">
              <a:solidFill>
                <a:srgbClr val="000000"/>
              </a:solidFill>
              <a:uFill>
                <a:solidFill>
                  <a:srgbClr val="FFFFFF"/>
                </a:solidFill>
              </a:uFill>
              <a:latin typeface="Arial"/>
            </a:endParaRPr>
          </a:p>
        </p:txBody>
      </p:sp>
      <p:sp>
        <p:nvSpPr>
          <p:cNvPr id="1047" name="Line 12"/>
          <p:cNvSpPr/>
          <p:nvPr/>
        </p:nvSpPr>
        <p:spPr>
          <a:xfrm flipV="1">
            <a:off x="2438280" y="1523880"/>
            <a:ext cx="360" cy="343368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48" name="CustomShape 13"/>
          <p:cNvSpPr/>
          <p:nvPr/>
        </p:nvSpPr>
        <p:spPr>
          <a:xfrm>
            <a:off x="2451240" y="5059440"/>
            <a:ext cx="4671360" cy="189720"/>
          </a:xfrm>
          <a:custGeom>
            <a:avLst/>
            <a:gdLst/>
            <a:ahLst/>
            <a:cxnLst/>
            <a:rect l="l" t="t" r="r" b="b"/>
            <a:pathLst>
              <a:path w="2098" h="92">
                <a:moveTo>
                  <a:pt x="2098" y="92"/>
                </a:moveTo>
                <a:lnTo>
                  <a:pt x="0" y="92"/>
                </a:lnTo>
                <a:lnTo>
                  <a:pt x="0" y="0"/>
                </a:lnTo>
              </a:path>
            </a:pathLst>
          </a:custGeom>
          <a:noFill/>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49" name="Line 14"/>
          <p:cNvSpPr/>
          <p:nvPr/>
        </p:nvSpPr>
        <p:spPr>
          <a:xfrm flipV="1">
            <a:off x="2400120" y="4952880"/>
            <a:ext cx="109440" cy="572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50" name="Line 15"/>
          <p:cNvSpPr/>
          <p:nvPr/>
        </p:nvSpPr>
        <p:spPr>
          <a:xfrm flipV="1">
            <a:off x="2400120" y="5029200"/>
            <a:ext cx="109440" cy="6012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51" name="CustomShape 16"/>
          <p:cNvSpPr/>
          <p:nvPr/>
        </p:nvSpPr>
        <p:spPr>
          <a:xfrm>
            <a:off x="3668760" y="5524560"/>
            <a:ext cx="1863000" cy="393120"/>
          </a:xfrm>
          <a:custGeom>
            <a:avLst/>
            <a:gdLst/>
            <a:ahLst/>
            <a:cxnLst/>
            <a:rect l="l" t="t" r="r" b="b"/>
            <a:pathLst>
              <a:path w="303" h="56">
                <a:moveTo>
                  <a:pt x="286" y="56"/>
                </a:moveTo>
                <a:cubicBezTo>
                  <a:pt x="295" y="56"/>
                  <a:pt x="303" y="48"/>
                  <a:pt x="303" y="39"/>
                </a:cubicBezTo>
                <a:cubicBezTo>
                  <a:pt x="303" y="17"/>
                  <a:pt x="303" y="17"/>
                  <a:pt x="303" y="17"/>
                </a:cubicBezTo>
                <a:cubicBezTo>
                  <a:pt x="303" y="8"/>
                  <a:pt x="295" y="0"/>
                  <a:pt x="286" y="0"/>
                </a:cubicBezTo>
                <a:cubicBezTo>
                  <a:pt x="16" y="0"/>
                  <a:pt x="16" y="0"/>
                  <a:pt x="16" y="0"/>
                </a:cubicBezTo>
                <a:cubicBezTo>
                  <a:pt x="7" y="0"/>
                  <a:pt x="0" y="8"/>
                  <a:pt x="0" y="17"/>
                </a:cubicBezTo>
                <a:cubicBezTo>
                  <a:pt x="0" y="39"/>
                  <a:pt x="0" y="39"/>
                  <a:pt x="0" y="39"/>
                </a:cubicBezTo>
                <a:cubicBezTo>
                  <a:pt x="0" y="48"/>
                  <a:pt x="7" y="56"/>
                  <a:pt x="16" y="56"/>
                </a:cubicBezTo>
                <a:lnTo>
                  <a:pt x="286" y="56"/>
                </a:lnTo>
                <a:close/>
              </a:path>
            </a:pathLst>
          </a:custGeom>
          <a:solidFill>
            <a:srgbClr val="D6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052" name="Line 17"/>
          <p:cNvSpPr/>
          <p:nvPr/>
        </p:nvSpPr>
        <p:spPr>
          <a:xfrm flipV="1">
            <a:off x="4603680" y="5397480"/>
            <a:ext cx="360" cy="1569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53" name="CustomShape 18"/>
          <p:cNvSpPr/>
          <p:nvPr/>
        </p:nvSpPr>
        <p:spPr>
          <a:xfrm>
            <a:off x="879480" y="2997360"/>
            <a:ext cx="1131120" cy="608760"/>
          </a:xfrm>
          <a:custGeom>
            <a:avLst/>
            <a:gdLst/>
            <a:ahLst/>
            <a:cxnLst/>
            <a:rect l="l" t="t" r="r" b="b"/>
            <a:pathLst>
              <a:path w="181" h="96">
                <a:moveTo>
                  <a:pt x="165" y="96"/>
                </a:moveTo>
                <a:cubicBezTo>
                  <a:pt x="174" y="96"/>
                  <a:pt x="181" y="89"/>
                  <a:pt x="181" y="79"/>
                </a:cubicBezTo>
                <a:cubicBezTo>
                  <a:pt x="181" y="17"/>
                  <a:pt x="181" y="17"/>
                  <a:pt x="181" y="17"/>
                </a:cubicBezTo>
                <a:cubicBezTo>
                  <a:pt x="181" y="7"/>
                  <a:pt x="174" y="0"/>
                  <a:pt x="165" y="0"/>
                </a:cubicBezTo>
                <a:cubicBezTo>
                  <a:pt x="16" y="0"/>
                  <a:pt x="16" y="0"/>
                  <a:pt x="16" y="0"/>
                </a:cubicBezTo>
                <a:cubicBezTo>
                  <a:pt x="7" y="0"/>
                  <a:pt x="0" y="7"/>
                  <a:pt x="0" y="17"/>
                </a:cubicBezTo>
                <a:cubicBezTo>
                  <a:pt x="0" y="79"/>
                  <a:pt x="0" y="79"/>
                  <a:pt x="0" y="79"/>
                </a:cubicBezTo>
                <a:cubicBezTo>
                  <a:pt x="0" y="89"/>
                  <a:pt x="7" y="96"/>
                  <a:pt x="16" y="96"/>
                </a:cubicBezTo>
                <a:lnTo>
                  <a:pt x="165" y="96"/>
                </a:lnTo>
                <a:close/>
              </a:path>
            </a:pathLst>
          </a:custGeom>
          <a:solidFill>
            <a:srgbClr val="D6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054" name="Line 19"/>
          <p:cNvSpPr/>
          <p:nvPr/>
        </p:nvSpPr>
        <p:spPr>
          <a:xfrm>
            <a:off x="1788840" y="3325680"/>
            <a:ext cx="20016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55" name="CustomShape 20"/>
          <p:cNvSpPr/>
          <p:nvPr/>
        </p:nvSpPr>
        <p:spPr>
          <a:xfrm flipH="1">
            <a:off x="3668040" y="5613480"/>
            <a:ext cx="1815480" cy="2131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Calibri"/>
                <a:ea typeface="MS PGothic"/>
              </a:rPr>
              <a:t>Equilibrium quantity</a:t>
            </a:r>
            <a:endParaRPr lang="en-US" sz="1800" strike="noStrike" spc="-1">
              <a:solidFill>
                <a:srgbClr val="000000"/>
              </a:solidFill>
              <a:uFill>
                <a:solidFill>
                  <a:srgbClr val="FFFFFF"/>
                </a:solidFill>
              </a:uFill>
              <a:latin typeface="Arial"/>
            </a:endParaRPr>
          </a:p>
        </p:txBody>
      </p:sp>
      <p:sp>
        <p:nvSpPr>
          <p:cNvPr id="1056" name="CustomShape 21"/>
          <p:cNvSpPr/>
          <p:nvPr/>
        </p:nvSpPr>
        <p:spPr>
          <a:xfrm flipH="1">
            <a:off x="874080" y="3073320"/>
            <a:ext cx="1142280" cy="42624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Calibri"/>
                <a:ea typeface="MS PGothic"/>
              </a:rPr>
              <a:t>Equilibrium price</a:t>
            </a:r>
            <a:endParaRPr lang="en-US" sz="1800" strike="noStrike" spc="-1">
              <a:solidFill>
                <a:srgbClr val="000000"/>
              </a:solidFill>
              <a:uFill>
                <a:solidFill>
                  <a:srgbClr val="FFFFFF"/>
                </a:solidFill>
              </a:uFill>
              <a:latin typeface="Arial"/>
            </a:endParaRPr>
          </a:p>
        </p:txBody>
      </p:sp>
      <p:sp>
        <p:nvSpPr>
          <p:cNvPr id="1057" name="CustomShape 22"/>
          <p:cNvSpPr/>
          <p:nvPr/>
        </p:nvSpPr>
        <p:spPr>
          <a:xfrm>
            <a:off x="2451240" y="3327480"/>
            <a:ext cx="2161440" cy="1383480"/>
          </a:xfrm>
          <a:custGeom>
            <a:avLst/>
            <a:gdLst/>
            <a:ahLst/>
            <a:cxnLst/>
            <a:rect l="l" t="t" r="r" b="b"/>
            <a:pathLst>
              <a:path w="971" h="669">
                <a:moveTo>
                  <a:pt x="0" y="669"/>
                </a:moveTo>
                <a:lnTo>
                  <a:pt x="0" y="0"/>
                </a:lnTo>
                <a:lnTo>
                  <a:pt x="971" y="0"/>
                </a:lnTo>
                <a:lnTo>
                  <a:pt x="0" y="669"/>
                </a:lnTo>
                <a:close/>
              </a:path>
            </a:pathLst>
          </a:custGeom>
          <a:solidFill>
            <a:srgbClr val="FBD4D2"/>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058" name="CustomShape 23"/>
          <p:cNvSpPr/>
          <p:nvPr/>
        </p:nvSpPr>
        <p:spPr>
          <a:xfrm>
            <a:off x="2451240" y="1949400"/>
            <a:ext cx="2161440" cy="1377360"/>
          </a:xfrm>
          <a:custGeom>
            <a:avLst/>
            <a:gdLst/>
            <a:ahLst/>
            <a:cxnLst/>
            <a:rect l="l" t="t" r="r" b="b"/>
            <a:pathLst>
              <a:path w="971" h="666">
                <a:moveTo>
                  <a:pt x="0" y="0"/>
                </a:moveTo>
                <a:lnTo>
                  <a:pt x="0" y="666"/>
                </a:lnTo>
                <a:lnTo>
                  <a:pt x="971" y="666"/>
                </a:lnTo>
                <a:lnTo>
                  <a:pt x="0" y="0"/>
                </a:lnTo>
                <a:close/>
              </a:path>
            </a:pathLst>
          </a:custGeom>
          <a:solidFill>
            <a:srgbClr val="C7D6EE"/>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059" name="CustomShape 24"/>
          <p:cNvSpPr/>
          <p:nvPr/>
        </p:nvSpPr>
        <p:spPr>
          <a:xfrm>
            <a:off x="2533680" y="3519360"/>
            <a:ext cx="1281960" cy="4255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Myriad Roman"/>
                <a:ea typeface="MS PGothic"/>
              </a:rPr>
              <a:t>Producer surplus</a:t>
            </a:r>
            <a:endParaRPr lang="en-US" sz="1800" strike="noStrike" spc="-1">
              <a:solidFill>
                <a:srgbClr val="000000"/>
              </a:solidFill>
              <a:uFill>
                <a:solidFill>
                  <a:srgbClr val="FFFFFF"/>
                </a:solidFill>
              </a:uFill>
              <a:latin typeface="Arial"/>
            </a:endParaRPr>
          </a:p>
        </p:txBody>
      </p:sp>
      <p:sp>
        <p:nvSpPr>
          <p:cNvPr id="1060" name="CustomShape 25"/>
          <p:cNvSpPr/>
          <p:nvPr/>
        </p:nvSpPr>
        <p:spPr>
          <a:xfrm>
            <a:off x="2533680" y="2781360"/>
            <a:ext cx="1281960" cy="4255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Myriad Roman"/>
                <a:ea typeface="MS PGothic"/>
              </a:rPr>
              <a:t>Consumer surplus</a:t>
            </a:r>
            <a:endParaRPr lang="en-US" sz="1800" strike="noStrike" spc="-1">
              <a:solidFill>
                <a:srgbClr val="000000"/>
              </a:solidFill>
              <a:uFill>
                <a:solidFill>
                  <a:srgbClr val="FFFFFF"/>
                </a:solidFill>
              </a:uFill>
              <a:latin typeface="Arial"/>
            </a:endParaRPr>
          </a:p>
        </p:txBody>
      </p:sp>
      <p:sp>
        <p:nvSpPr>
          <p:cNvPr id="1061" name="CustomShape 26"/>
          <p:cNvSpPr/>
          <p:nvPr/>
        </p:nvSpPr>
        <p:spPr>
          <a:xfrm>
            <a:off x="4583880" y="3067200"/>
            <a:ext cx="11160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Roman"/>
                <a:ea typeface="MS PGothic"/>
              </a:rPr>
              <a:t>E</a:t>
            </a:r>
            <a:endParaRPr lang="en-US" sz="1800" strike="noStrike" spc="-1">
              <a:solidFill>
                <a:srgbClr val="000000"/>
              </a:solidFill>
              <a:uFill>
                <a:solidFill>
                  <a:srgbClr val="FFFFFF"/>
                </a:solidFill>
              </a:uFill>
              <a:latin typeface="Arial"/>
            </a:endParaRPr>
          </a:p>
        </p:txBody>
      </p:sp>
      <p:sp>
        <p:nvSpPr>
          <p:cNvPr id="1062" name="CustomShape 27"/>
          <p:cNvSpPr/>
          <p:nvPr/>
        </p:nvSpPr>
        <p:spPr>
          <a:xfrm>
            <a:off x="4562640" y="3284640"/>
            <a:ext cx="104040" cy="9612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063" name="Line 28"/>
          <p:cNvSpPr/>
          <p:nvPr/>
        </p:nvSpPr>
        <p:spPr>
          <a:xfrm>
            <a:off x="4620960" y="3321000"/>
            <a:ext cx="360" cy="178884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064" name="Line 29"/>
          <p:cNvSpPr/>
          <p:nvPr/>
        </p:nvSpPr>
        <p:spPr>
          <a:xfrm>
            <a:off x="2627280" y="3335040"/>
            <a:ext cx="1923840" cy="324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065" name="CustomShape 30"/>
          <p:cNvSpPr/>
          <p:nvPr/>
        </p:nvSpPr>
        <p:spPr>
          <a:xfrm>
            <a:off x="914400" y="60480"/>
            <a:ext cx="797796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Total Surplus</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6" name="CustomShape 1"/>
          <p:cNvSpPr/>
          <p:nvPr/>
        </p:nvSpPr>
        <p:spPr>
          <a:xfrm>
            <a:off x="838080" y="34920"/>
            <a:ext cx="8305200" cy="685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2400" b="1" strike="noStrike" spc="-1">
                <a:solidFill>
                  <a:srgbClr val="FFFFFF"/>
                </a:solidFill>
                <a:uFill>
                  <a:solidFill>
                    <a:srgbClr val="FFFFFF"/>
                  </a:solidFill>
                </a:uFill>
                <a:latin typeface="Calibri"/>
                <a:ea typeface="MS PGothic"/>
              </a:rPr>
              <a:t>Consumer Surplus, Producer Surplus, and the Gains from Trade</a:t>
            </a:r>
            <a:endParaRPr lang="en-US" sz="1800" strike="noStrike" spc="-1">
              <a:solidFill>
                <a:srgbClr val="000000"/>
              </a:solidFill>
              <a:uFill>
                <a:solidFill>
                  <a:srgbClr val="FFFFFF"/>
                </a:solidFill>
              </a:uFill>
              <a:latin typeface="Arial"/>
            </a:endParaRPr>
          </a:p>
        </p:txBody>
      </p:sp>
      <p:sp>
        <p:nvSpPr>
          <p:cNvPr id="1067" name="CustomShape 2"/>
          <p:cNvSpPr/>
          <p:nvPr/>
        </p:nvSpPr>
        <p:spPr>
          <a:xfrm>
            <a:off x="0" y="1905120"/>
            <a:ext cx="8228880" cy="28188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100000"/>
              </a:lnSpc>
            </a:pPr>
            <a:r>
              <a:rPr lang="en-US" sz="2500" strike="noStrike" spc="-1">
                <a:solidFill>
                  <a:srgbClr val="000000"/>
                </a:solidFill>
                <a:uFill>
                  <a:solidFill>
                    <a:srgbClr val="FFFFFF"/>
                  </a:solidFill>
                </a:uFill>
                <a:latin typeface="Calibri"/>
                <a:ea typeface="MS PGothic"/>
              </a:rPr>
              <a:t>	</a:t>
            </a:r>
            <a:endParaRPr lang="en-US" sz="1800" strike="noStrike" spc="-1">
              <a:solidFill>
                <a:srgbClr val="000000"/>
              </a:solidFill>
              <a:uFill>
                <a:solidFill>
                  <a:srgbClr val="FFFFFF"/>
                </a:solidFill>
              </a:uFill>
              <a:latin typeface="Arial"/>
            </a:endParaRPr>
          </a:p>
          <a:p>
            <a:pPr marL="343080" indent="-342360">
              <a:lnSpc>
                <a:spcPct val="100000"/>
              </a:lnSpc>
            </a:pPr>
            <a:endParaRPr lang="en-US" sz="1800" strike="noStrike" spc="-1">
              <a:solidFill>
                <a:srgbClr val="000000"/>
              </a:solidFill>
              <a:uFill>
                <a:solidFill>
                  <a:srgbClr val="FFFFFF"/>
                </a:solidFill>
              </a:uFill>
              <a:latin typeface="Arial"/>
            </a:endParaRPr>
          </a:p>
          <a:p>
            <a:pPr marL="343080" indent="-342360">
              <a:lnSpc>
                <a:spcPct val="100000"/>
              </a:lnSpc>
            </a:pPr>
            <a:endParaRPr lang="en-US" sz="1800" strike="noStrike" spc="-1">
              <a:solidFill>
                <a:srgbClr val="000000"/>
              </a:solidFill>
              <a:uFill>
                <a:solidFill>
                  <a:srgbClr val="FFFFFF"/>
                </a:solidFill>
              </a:uFill>
              <a:latin typeface="Arial"/>
            </a:endParaRPr>
          </a:p>
          <a:p>
            <a:pPr marL="343080" indent="-342360">
              <a:lnSpc>
                <a:spcPct val="100000"/>
              </a:lnSpc>
            </a:pPr>
            <a:endParaRPr lang="en-US" sz="1800" strike="noStrike" spc="-1">
              <a:solidFill>
                <a:srgbClr val="000000"/>
              </a:solidFill>
              <a:uFill>
                <a:solidFill>
                  <a:srgbClr val="FFFFFF"/>
                </a:solidFill>
              </a:uFill>
              <a:latin typeface="Arial"/>
            </a:endParaRPr>
          </a:p>
        </p:txBody>
      </p:sp>
      <p:sp>
        <p:nvSpPr>
          <p:cNvPr id="1068" name="CustomShape 3"/>
          <p:cNvSpPr/>
          <p:nvPr/>
        </p:nvSpPr>
        <p:spPr>
          <a:xfrm>
            <a:off x="1752480" y="2209680"/>
            <a:ext cx="183600" cy="335880"/>
          </a:xfrm>
          <a:prstGeom prst="rect">
            <a:avLst/>
          </a:prstGeom>
          <a:no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069" name="CustomShape 4"/>
          <p:cNvSpPr/>
          <p:nvPr/>
        </p:nvSpPr>
        <p:spPr>
          <a:xfrm>
            <a:off x="971640" y="1011240"/>
            <a:ext cx="7943040" cy="374760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341280" lvl="1" indent="-22464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The previous graph shows that both consumers and producers are better off because there is a market in this good; i.e., there are </a:t>
            </a:r>
            <a:r>
              <a:rPr lang="en-US" sz="2400" i="1" strike="noStrike" spc="-1">
                <a:solidFill>
                  <a:srgbClr val="000000"/>
                </a:solidFill>
                <a:uFill>
                  <a:solidFill>
                    <a:srgbClr val="FFFFFF"/>
                  </a:solidFill>
                </a:uFill>
                <a:latin typeface="Calibri"/>
                <a:ea typeface="MS PGothic"/>
              </a:rPr>
              <a:t>gains from trade</a:t>
            </a:r>
            <a:r>
              <a:rPr lang="en-US" sz="2400" strike="noStrike" spc="-1">
                <a:solidFill>
                  <a:srgbClr val="000000"/>
                </a:solidFill>
                <a:uFill>
                  <a:solidFill>
                    <a:srgbClr val="FFFFFF"/>
                  </a:solidFill>
                </a:uFill>
                <a:latin typeface="Calibri"/>
                <a:ea typeface="MS PGothic"/>
              </a:rPr>
              <a:t>. </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341280" lvl="1" indent="-22464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These gains from trade are the reason everyone is better off participating in a market economy than they would be if each individual tried to be self-sufficient.</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341280" lvl="1" indent="-22464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But are we as well off as we could be? This brings us to the question of the efficiency of markets.</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0" name="CustomShape 1"/>
          <p:cNvSpPr/>
          <p:nvPr/>
        </p:nvSpPr>
        <p:spPr>
          <a:xfrm>
            <a:off x="900000" y="44280"/>
            <a:ext cx="8090640" cy="608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The Efficiency of Markets: A Preliminary View</a:t>
            </a:r>
            <a:endParaRPr lang="en-US" sz="1800" strike="noStrike" spc="-1">
              <a:solidFill>
                <a:srgbClr val="000000"/>
              </a:solidFill>
              <a:uFill>
                <a:solidFill>
                  <a:srgbClr val="FFFFFF"/>
                </a:solidFill>
              </a:uFill>
              <a:latin typeface="Arial"/>
            </a:endParaRPr>
          </a:p>
        </p:txBody>
      </p:sp>
      <p:sp>
        <p:nvSpPr>
          <p:cNvPr id="1071" name="CustomShape 2"/>
          <p:cNvSpPr/>
          <p:nvPr/>
        </p:nvSpPr>
        <p:spPr>
          <a:xfrm>
            <a:off x="0" y="1371600"/>
            <a:ext cx="8457480" cy="47235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p:txBody>
      </p:sp>
      <p:sp>
        <p:nvSpPr>
          <p:cNvPr id="1072" name="CustomShape 3"/>
          <p:cNvSpPr/>
          <p:nvPr/>
        </p:nvSpPr>
        <p:spPr>
          <a:xfrm>
            <a:off x="971640" y="971640"/>
            <a:ext cx="8019360" cy="48448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341280" lvl="1" indent="-224640">
              <a:lnSpc>
                <a:spcPct val="100000"/>
              </a:lnSpc>
              <a:buClr>
                <a:srgbClr val="000000"/>
              </a:buClr>
              <a:buFont typeface="Wingdings" charset="2"/>
              <a:buChar char=""/>
            </a:pPr>
            <a:r>
              <a:rPr lang="en-US" sz="2400" b="1" strike="noStrike" spc="-1">
                <a:solidFill>
                  <a:srgbClr val="000000"/>
                </a:solidFill>
                <a:uFill>
                  <a:solidFill>
                    <a:srgbClr val="FFFFFF"/>
                  </a:solidFill>
                </a:uFill>
                <a:latin typeface="Calibri"/>
                <a:ea typeface="MS PGothic"/>
              </a:rPr>
              <a:t>Claim</a:t>
            </a:r>
            <a:r>
              <a:rPr lang="en-US" sz="2400" strike="noStrike" spc="-1">
                <a:solidFill>
                  <a:srgbClr val="000000"/>
                </a:solidFill>
                <a:uFill>
                  <a:solidFill>
                    <a:srgbClr val="FFFFFF"/>
                  </a:solidFill>
                </a:uFill>
                <a:latin typeface="Calibri"/>
                <a:ea typeface="MS PGothic"/>
              </a:rPr>
              <a:t>: The maximum possible total surplus is achieved at market equilibrium.</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341280" lvl="1" indent="-22464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The market equilibrium allocates the consumption of the good among potential consumers and sales of the good among potential sellers in a way that achieves the highest possible gain to society.</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341280" lvl="1" indent="-22464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By comparing the total surplus generated by the consumption and production choices in the market equilibrium to the surplus generated by a different set of production and consumption choices, we can show that any change from the market equilibrium reduces total surplus.</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childTnLst>
                  <p:par>
                    <p:cTn id="3" fill="freeze">
                      <p:stCondLst>
                        <p:cond delay="0"/>
                      </p:stCondLst>
                      <p:childTnLst>
                        <p:par>
                          <p:cTn id="4" fill="freeze">
                            <p:stCondLst>
                              <p:cond delay="0"/>
                            </p:stCondLst>
                            <p:childTnLst>
                              <p:par>
                                <p:cTn id="5" presetID="22" presetClass="entr" presetSubtype="1" fill="hold" nodeType="withEffect">
                                  <p:stCondLst>
                                    <p:cond delay="0"/>
                                  </p:stCondLst>
                                  <p:childTnLst>
                                    <p:set>
                                      <p:cBhvr>
                                        <p:cTn id="6" dur="1" fill="hold">
                                          <p:stCondLst>
                                            <p:cond delay="0"/>
                                          </p:stCondLst>
                                        </p:cTn>
                                        <p:tgtEl>
                                          <p:spTgt spid="1072">
                                            <p:txEl>
                                              <p:pRg st="0" end="77"/>
                                            </p:txEl>
                                          </p:spTgt>
                                        </p:tgtEl>
                                        <p:attrNameLst>
                                          <p:attrName>style.visibility</p:attrName>
                                        </p:attrNameLst>
                                      </p:cBhvr>
                                      <p:to>
                                        <p:strVal val="visible"/>
                                      </p:to>
                                    </p:set>
                                    <p:animEffect transition="in" filter="wipe(up)">
                                      <p:cBhvr additive="repl">
                                        <p:cTn id="7" dur="500"/>
                                        <p:tgtEl>
                                          <p:spTgt spid="1072">
                                            <p:txEl>
                                              <p:pRg st="0" end="7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CustomShape 1"/>
          <p:cNvSpPr/>
          <p:nvPr/>
        </p:nvSpPr>
        <p:spPr>
          <a:xfrm>
            <a:off x="914400" y="60480"/>
            <a:ext cx="823536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2400" b="1" strike="noStrike" spc="-1">
                <a:solidFill>
                  <a:srgbClr val="FFFFFF"/>
                </a:solidFill>
                <a:uFill>
                  <a:solidFill>
                    <a:srgbClr val="FFFFFF"/>
                  </a:solidFill>
                </a:uFill>
                <a:latin typeface="Calibri"/>
                <a:ea typeface="MS PGothic"/>
              </a:rPr>
              <a:t>Three ways in which you might try to increase the total surplus</a:t>
            </a:r>
            <a:endParaRPr lang="en-US" sz="1800" strike="noStrike" spc="-1">
              <a:solidFill>
                <a:srgbClr val="000000"/>
              </a:solidFill>
              <a:uFill>
                <a:solidFill>
                  <a:srgbClr val="FFFFFF"/>
                </a:solidFill>
              </a:uFill>
              <a:latin typeface="Arial"/>
            </a:endParaRPr>
          </a:p>
        </p:txBody>
      </p:sp>
      <p:sp>
        <p:nvSpPr>
          <p:cNvPr id="1074" name="CustomShape 2"/>
          <p:cNvSpPr/>
          <p:nvPr/>
        </p:nvSpPr>
        <p:spPr>
          <a:xfrm>
            <a:off x="611280" y="692280"/>
            <a:ext cx="8424000" cy="5544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p:txBody>
      </p:sp>
      <p:sp>
        <p:nvSpPr>
          <p:cNvPr id="1075" name="CustomShape 3"/>
          <p:cNvSpPr/>
          <p:nvPr/>
        </p:nvSpPr>
        <p:spPr>
          <a:xfrm>
            <a:off x="457200" y="1295280"/>
            <a:ext cx="8152560" cy="43552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1440" indent="-720">
              <a:lnSpc>
                <a:spcPct val="100000"/>
              </a:lnSpc>
            </a:pPr>
            <a:endParaRPr lang="en-US" sz="1800" strike="noStrike" spc="-1">
              <a:solidFill>
                <a:srgbClr val="000000"/>
              </a:solidFill>
              <a:uFill>
                <a:solidFill>
                  <a:srgbClr val="FFFFFF"/>
                </a:solidFill>
              </a:uFill>
              <a:latin typeface="Arial"/>
            </a:endParaRPr>
          </a:p>
          <a:p>
            <a:pPr marL="1440" indent="-720">
              <a:lnSpc>
                <a:spcPct val="100000"/>
              </a:lnSpc>
            </a:pPr>
            <a:endParaRPr lang="en-US" sz="1800" strike="noStrike" spc="-1">
              <a:solidFill>
                <a:srgbClr val="000000"/>
              </a:solidFill>
              <a:uFill>
                <a:solidFill>
                  <a:srgbClr val="FFFFFF"/>
                </a:solidFill>
              </a:uFill>
              <a:latin typeface="Arial"/>
            </a:endParaRPr>
          </a:p>
          <a:p>
            <a:pPr marL="1440" indent="-720">
              <a:lnSpc>
                <a:spcPct val="100000"/>
              </a:lnSpc>
            </a:pPr>
            <a:endParaRPr lang="en-US" sz="1800" strike="noStrike" spc="-1">
              <a:solidFill>
                <a:srgbClr val="000000"/>
              </a:solidFill>
              <a:uFill>
                <a:solidFill>
                  <a:srgbClr val="FFFFFF"/>
                </a:solidFill>
              </a:uFill>
              <a:latin typeface="Arial"/>
            </a:endParaRPr>
          </a:p>
          <a:p>
            <a:pPr marL="1440" indent="-720">
              <a:lnSpc>
                <a:spcPct val="100000"/>
              </a:lnSpc>
            </a:pPr>
            <a:endParaRPr lang="en-US" sz="1800" strike="noStrike" spc="-1">
              <a:solidFill>
                <a:srgbClr val="000000"/>
              </a:solidFill>
              <a:uFill>
                <a:solidFill>
                  <a:srgbClr val="FFFFFF"/>
                </a:solidFill>
              </a:uFill>
              <a:latin typeface="Arial"/>
            </a:endParaRPr>
          </a:p>
          <a:p>
            <a:pPr marL="1440" indent="-720">
              <a:lnSpc>
                <a:spcPct val="100000"/>
              </a:lnSpc>
            </a:pPr>
            <a:endParaRPr lang="en-US" sz="1800" strike="noStrike" spc="-1">
              <a:solidFill>
                <a:srgbClr val="000000"/>
              </a:solidFill>
              <a:uFill>
                <a:solidFill>
                  <a:srgbClr val="FFFFFF"/>
                </a:solidFill>
              </a:uFill>
              <a:latin typeface="Arial"/>
            </a:endParaRPr>
          </a:p>
          <a:p>
            <a:pPr marL="1440" indent="-720">
              <a:lnSpc>
                <a:spcPct val="100000"/>
              </a:lnSpc>
            </a:pPr>
            <a:endParaRPr lang="en-US" sz="1800" strike="noStrike" spc="-1">
              <a:solidFill>
                <a:srgbClr val="000000"/>
              </a:solidFill>
              <a:uFill>
                <a:solidFill>
                  <a:srgbClr val="FFFFFF"/>
                </a:solidFill>
              </a:uFill>
              <a:latin typeface="Arial"/>
            </a:endParaRPr>
          </a:p>
          <a:p>
            <a:pPr marL="1440" indent="-720">
              <a:lnSpc>
                <a:spcPct val="100000"/>
              </a:lnSpc>
            </a:pPr>
            <a:endParaRPr lang="en-US" sz="1800" strike="noStrike" spc="-1">
              <a:solidFill>
                <a:srgbClr val="000000"/>
              </a:solidFill>
              <a:uFill>
                <a:solidFill>
                  <a:srgbClr val="FFFFFF"/>
                </a:solidFill>
              </a:uFill>
              <a:latin typeface="Arial"/>
            </a:endParaRPr>
          </a:p>
          <a:p>
            <a:pPr marL="1440" indent="-720">
              <a:lnSpc>
                <a:spcPct val="100000"/>
              </a:lnSpc>
            </a:pPr>
            <a:endParaRPr lang="en-US" sz="1800" strike="noStrike" spc="-1">
              <a:solidFill>
                <a:srgbClr val="000000"/>
              </a:solidFill>
              <a:uFill>
                <a:solidFill>
                  <a:srgbClr val="FFFFFF"/>
                </a:solidFill>
              </a:uFill>
              <a:latin typeface="Arial"/>
            </a:endParaRPr>
          </a:p>
          <a:p>
            <a:pPr marL="1440" indent="-720">
              <a:lnSpc>
                <a:spcPct val="100000"/>
              </a:lnSpc>
            </a:pPr>
            <a:endParaRPr lang="en-US" sz="1800" strike="noStrike" spc="-1">
              <a:solidFill>
                <a:srgbClr val="000000"/>
              </a:solidFill>
              <a:uFill>
                <a:solidFill>
                  <a:srgbClr val="FFFFFF"/>
                </a:solidFill>
              </a:uFill>
              <a:latin typeface="Arial"/>
            </a:endParaRPr>
          </a:p>
          <a:p>
            <a:pPr marL="1440" indent="-720">
              <a:lnSpc>
                <a:spcPct val="100000"/>
              </a:lnSpc>
            </a:pPr>
            <a:endParaRPr lang="en-US" sz="1800" strike="noStrike" spc="-1">
              <a:solidFill>
                <a:srgbClr val="000000"/>
              </a:solidFill>
              <a:uFill>
                <a:solidFill>
                  <a:srgbClr val="FFFFFF"/>
                </a:solidFill>
              </a:uFill>
              <a:latin typeface="Arial"/>
            </a:endParaRPr>
          </a:p>
        </p:txBody>
      </p:sp>
      <p:sp>
        <p:nvSpPr>
          <p:cNvPr id="1076" name="CustomShape 4"/>
          <p:cNvSpPr/>
          <p:nvPr/>
        </p:nvSpPr>
        <p:spPr>
          <a:xfrm>
            <a:off x="971640" y="982800"/>
            <a:ext cx="7943040" cy="48448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380880" indent="-380160">
              <a:lnSpc>
                <a:spcPct val="100000"/>
              </a:lnSpc>
              <a:buClr>
                <a:srgbClr val="000000"/>
              </a:buClr>
              <a:buFont typeface="Wingdings" charset="2"/>
              <a:buAutoNum type="arabicPeriod"/>
            </a:pPr>
            <a:r>
              <a:rPr lang="en-US" sz="2400" i="1" strike="noStrike" spc="-1">
                <a:solidFill>
                  <a:srgbClr val="000000"/>
                </a:solidFill>
                <a:uFill>
                  <a:solidFill>
                    <a:srgbClr val="FFFFFF"/>
                  </a:solidFill>
                </a:uFill>
                <a:latin typeface="Calibri"/>
                <a:ea typeface="MS PGothic"/>
              </a:rPr>
              <a:t>Reallocate consumption among consumers</a:t>
            </a:r>
            <a:r>
              <a:rPr lang="en-US" sz="2400" strike="noStrike" spc="-1">
                <a:solidFill>
                  <a:srgbClr val="000000"/>
                </a:solidFill>
                <a:uFill>
                  <a:solidFill>
                    <a:srgbClr val="FFFFFF"/>
                  </a:solidFill>
                </a:uFill>
                <a:latin typeface="Calibri"/>
                <a:ea typeface="MS PGothic"/>
              </a:rPr>
              <a:t>—take the good away from buyers who would have purchased the good in the market equilibrium, and give it to potential consumers who wouldn’t have bought it in equilibrium</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380880" indent="-380160">
              <a:lnSpc>
                <a:spcPct val="100000"/>
              </a:lnSpc>
              <a:buClr>
                <a:srgbClr val="000000"/>
              </a:buClr>
              <a:buFont typeface="Wingdings" charset="2"/>
              <a:buAutoNum type="arabicPeriod"/>
            </a:pPr>
            <a:r>
              <a:rPr lang="en-US" sz="2400" i="1" strike="noStrike" spc="-1">
                <a:solidFill>
                  <a:srgbClr val="000000"/>
                </a:solidFill>
                <a:uFill>
                  <a:solidFill>
                    <a:srgbClr val="FFFFFF"/>
                  </a:solidFill>
                </a:uFill>
                <a:latin typeface="Calibri"/>
                <a:ea typeface="MS PGothic"/>
              </a:rPr>
              <a:t>Reallocate sales among sellers—</a:t>
            </a:r>
            <a:r>
              <a:rPr lang="en-US" sz="2400" strike="noStrike" spc="-1">
                <a:solidFill>
                  <a:srgbClr val="000000"/>
                </a:solidFill>
                <a:uFill>
                  <a:solidFill>
                    <a:srgbClr val="FFFFFF"/>
                  </a:solidFill>
                </a:uFill>
                <a:latin typeface="Calibri"/>
                <a:ea typeface="MS PGothic"/>
              </a:rPr>
              <a:t>take sales away from sellers who would have sold the good in the market equilibrium, and instead compel potential sellers who would not have sold the good in equilibrium to sell it</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380880" indent="-380160">
              <a:lnSpc>
                <a:spcPct val="100000"/>
              </a:lnSpc>
              <a:buClr>
                <a:srgbClr val="000000"/>
              </a:buClr>
              <a:buFont typeface="Wingdings" charset="2"/>
              <a:buAutoNum type="arabicPeriod"/>
            </a:pPr>
            <a:r>
              <a:rPr lang="en-US" sz="2400" i="1" strike="noStrike" spc="-1">
                <a:solidFill>
                  <a:srgbClr val="000000"/>
                </a:solidFill>
                <a:uFill>
                  <a:solidFill>
                    <a:srgbClr val="FFFFFF"/>
                  </a:solidFill>
                </a:uFill>
                <a:latin typeface="Calibri"/>
                <a:ea typeface="MS PGothic"/>
              </a:rPr>
              <a:t>Change the quantity traded—</a:t>
            </a:r>
            <a:r>
              <a:rPr lang="en-US" sz="2400" strike="noStrike" spc="-1">
                <a:solidFill>
                  <a:srgbClr val="000000"/>
                </a:solidFill>
                <a:uFill>
                  <a:solidFill>
                    <a:srgbClr val="FFFFFF"/>
                  </a:solidFill>
                </a:uFill>
                <a:latin typeface="Calibri"/>
                <a:ea typeface="MS PGothic"/>
              </a:rPr>
              <a:t>compel consumers and producers to transact either more or less than the equilibrium quantity</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7" name="CustomShape 1"/>
          <p:cNvSpPr/>
          <p:nvPr/>
        </p:nvSpPr>
        <p:spPr>
          <a:xfrm>
            <a:off x="6864480" y="1752480"/>
            <a:ext cx="83520" cy="2131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S</a:t>
            </a:r>
            <a:endParaRPr lang="en-US" sz="1800" strike="noStrike" spc="-1">
              <a:solidFill>
                <a:srgbClr val="000000"/>
              </a:solidFill>
              <a:uFill>
                <a:solidFill>
                  <a:srgbClr val="FFFFFF"/>
                </a:solidFill>
              </a:uFill>
              <a:latin typeface="Arial"/>
            </a:endParaRPr>
          </a:p>
        </p:txBody>
      </p:sp>
      <p:sp>
        <p:nvSpPr>
          <p:cNvPr id="1078" name="CustomShape 2"/>
          <p:cNvSpPr/>
          <p:nvPr/>
        </p:nvSpPr>
        <p:spPr>
          <a:xfrm>
            <a:off x="6821640" y="5032440"/>
            <a:ext cx="13896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D</a:t>
            </a:r>
            <a:endParaRPr lang="en-US" sz="1800" strike="noStrike" spc="-1">
              <a:solidFill>
                <a:srgbClr val="000000"/>
              </a:solidFill>
              <a:uFill>
                <a:solidFill>
                  <a:srgbClr val="FFFFFF"/>
                </a:solidFill>
              </a:uFill>
              <a:latin typeface="Arial"/>
            </a:endParaRPr>
          </a:p>
        </p:txBody>
      </p:sp>
      <p:sp>
        <p:nvSpPr>
          <p:cNvPr id="1079" name="Line 3"/>
          <p:cNvSpPr/>
          <p:nvPr/>
        </p:nvSpPr>
        <p:spPr>
          <a:xfrm flipH="1">
            <a:off x="2133360" y="1881000"/>
            <a:ext cx="4681440" cy="3224160"/>
          </a:xfrm>
          <a:prstGeom prst="line">
            <a:avLst/>
          </a:prstGeom>
          <a:ln w="36360">
            <a:solidFill>
              <a:srgbClr val="EE313C"/>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80" name="Line 4"/>
          <p:cNvSpPr/>
          <p:nvPr/>
        </p:nvSpPr>
        <p:spPr>
          <a:xfrm>
            <a:off x="2133360" y="1828800"/>
            <a:ext cx="4646520" cy="3270240"/>
          </a:xfrm>
          <a:prstGeom prst="line">
            <a:avLst/>
          </a:prstGeom>
          <a:ln w="36360">
            <a:solidFill>
              <a:srgbClr val="3C5DA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81" name="Line 5"/>
          <p:cNvSpPr/>
          <p:nvPr/>
        </p:nvSpPr>
        <p:spPr>
          <a:xfrm>
            <a:off x="3708360" y="3108240"/>
            <a:ext cx="360" cy="777960"/>
          </a:xfrm>
          <a:prstGeom prst="line">
            <a:avLst/>
          </a:prstGeom>
          <a:ln w="1260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82" name="CustomShape 6"/>
          <p:cNvSpPr/>
          <p:nvPr/>
        </p:nvSpPr>
        <p:spPr>
          <a:xfrm>
            <a:off x="3673440" y="3852720"/>
            <a:ext cx="75600" cy="126360"/>
          </a:xfrm>
          <a:custGeom>
            <a:avLst/>
            <a:gdLst/>
            <a:ahLst/>
            <a:cxnLst/>
            <a:rect l="l" t="t" r="r" b="b"/>
            <a:pathLst>
              <a:path w="13" h="22">
                <a:moveTo>
                  <a:pt x="6" y="4"/>
                </a:moveTo>
                <a:cubicBezTo>
                  <a:pt x="13" y="0"/>
                  <a:pt x="13" y="0"/>
                  <a:pt x="13" y="0"/>
                </a:cubicBezTo>
                <a:cubicBezTo>
                  <a:pt x="13" y="1"/>
                  <a:pt x="13" y="1"/>
                  <a:pt x="13" y="1"/>
                </a:cubicBezTo>
                <a:cubicBezTo>
                  <a:pt x="9" y="11"/>
                  <a:pt x="9" y="11"/>
                  <a:pt x="9" y="11"/>
                </a:cubicBezTo>
                <a:cubicBezTo>
                  <a:pt x="8" y="15"/>
                  <a:pt x="7" y="19"/>
                  <a:pt x="6" y="22"/>
                </a:cubicBezTo>
                <a:cubicBezTo>
                  <a:pt x="6" y="19"/>
                  <a:pt x="5" y="15"/>
                  <a:pt x="4" y="11"/>
                </a:cubicBezTo>
                <a:cubicBezTo>
                  <a:pt x="0" y="1"/>
                  <a:pt x="0" y="1"/>
                  <a:pt x="0" y="1"/>
                </a:cubicBezTo>
                <a:cubicBezTo>
                  <a:pt x="0" y="0"/>
                  <a:pt x="0" y="0"/>
                  <a:pt x="0" y="0"/>
                </a:cubicBezTo>
                <a:lnTo>
                  <a:pt x="6" y="4"/>
                </a:lnTo>
                <a:close/>
              </a:path>
            </a:pathLst>
          </a:cu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083" name="Line 7"/>
          <p:cNvSpPr/>
          <p:nvPr/>
        </p:nvSpPr>
        <p:spPr>
          <a:xfrm flipH="1">
            <a:off x="3736800" y="2286000"/>
            <a:ext cx="758880" cy="11397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84" name="CustomShape 8"/>
          <p:cNvSpPr/>
          <p:nvPr/>
        </p:nvSpPr>
        <p:spPr>
          <a:xfrm>
            <a:off x="3581280" y="1447920"/>
            <a:ext cx="1783800" cy="990000"/>
          </a:xfrm>
          <a:custGeom>
            <a:avLst/>
            <a:gdLst/>
            <a:ahLst/>
            <a:cxnLst/>
            <a:rect l="l" t="t" r="r" b="b"/>
            <a:pathLst>
              <a:path w="284" h="173">
                <a:moveTo>
                  <a:pt x="267" y="173"/>
                </a:moveTo>
                <a:cubicBezTo>
                  <a:pt x="276" y="173"/>
                  <a:pt x="284" y="165"/>
                  <a:pt x="284" y="156"/>
                </a:cubicBezTo>
                <a:cubicBezTo>
                  <a:pt x="284" y="17"/>
                  <a:pt x="284" y="17"/>
                  <a:pt x="284" y="17"/>
                </a:cubicBezTo>
                <a:cubicBezTo>
                  <a:pt x="284" y="7"/>
                  <a:pt x="276" y="0"/>
                  <a:pt x="267" y="0"/>
                </a:cubicBezTo>
                <a:cubicBezTo>
                  <a:pt x="17" y="0"/>
                  <a:pt x="17" y="0"/>
                  <a:pt x="17" y="0"/>
                </a:cubicBezTo>
                <a:cubicBezTo>
                  <a:pt x="8" y="0"/>
                  <a:pt x="0" y="7"/>
                  <a:pt x="0" y="17"/>
                </a:cubicBezTo>
                <a:cubicBezTo>
                  <a:pt x="0" y="156"/>
                  <a:pt x="0" y="156"/>
                  <a:pt x="0" y="156"/>
                </a:cubicBezTo>
                <a:cubicBezTo>
                  <a:pt x="0" y="165"/>
                  <a:pt x="8" y="173"/>
                  <a:pt x="17" y="173"/>
                </a:cubicBezTo>
                <a:lnTo>
                  <a:pt x="267" y="173"/>
                </a:lnTo>
                <a:close/>
              </a:path>
            </a:pathLst>
          </a:custGeom>
          <a:solidFill>
            <a:srgbClr val="D7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085" name="CustomShape 9"/>
          <p:cNvSpPr/>
          <p:nvPr/>
        </p:nvSpPr>
        <p:spPr>
          <a:xfrm>
            <a:off x="3654360" y="1479600"/>
            <a:ext cx="1607400" cy="85248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Calibri"/>
                <a:ea typeface="MS PGothic"/>
              </a:rPr>
              <a:t>Loss in consumer surplus if the book is taken from Ana and given to Bob</a:t>
            </a:r>
            <a:endParaRPr lang="en-US" sz="1800" strike="noStrike" spc="-1">
              <a:solidFill>
                <a:srgbClr val="000000"/>
              </a:solidFill>
              <a:uFill>
                <a:solidFill>
                  <a:srgbClr val="FFFFFF"/>
                </a:solidFill>
              </a:uFill>
              <a:latin typeface="Arial"/>
            </a:endParaRPr>
          </a:p>
        </p:txBody>
      </p:sp>
      <p:sp>
        <p:nvSpPr>
          <p:cNvPr id="1086" name="CustomShape 10"/>
          <p:cNvSpPr/>
          <p:nvPr/>
        </p:nvSpPr>
        <p:spPr>
          <a:xfrm>
            <a:off x="4255200" y="5811840"/>
            <a:ext cx="40716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1,000</a:t>
            </a:r>
            <a:endParaRPr lang="en-US" sz="1800" strike="noStrike" spc="-1">
              <a:solidFill>
                <a:srgbClr val="000000"/>
              </a:solidFill>
              <a:uFill>
                <a:solidFill>
                  <a:srgbClr val="FFFFFF"/>
                </a:solidFill>
              </a:uFill>
              <a:latin typeface="Arial"/>
            </a:endParaRPr>
          </a:p>
        </p:txBody>
      </p:sp>
      <p:sp>
        <p:nvSpPr>
          <p:cNvPr id="1087" name="CustomShape 11"/>
          <p:cNvSpPr/>
          <p:nvPr/>
        </p:nvSpPr>
        <p:spPr>
          <a:xfrm>
            <a:off x="1799640" y="3384720"/>
            <a:ext cx="18324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30</a:t>
            </a:r>
            <a:endParaRPr lang="en-US" sz="1800" strike="noStrike" spc="-1">
              <a:solidFill>
                <a:srgbClr val="000000"/>
              </a:solidFill>
              <a:uFill>
                <a:solidFill>
                  <a:srgbClr val="FFFFFF"/>
                </a:solidFill>
              </a:uFill>
              <a:latin typeface="Arial"/>
            </a:endParaRPr>
          </a:p>
        </p:txBody>
      </p:sp>
      <p:sp>
        <p:nvSpPr>
          <p:cNvPr id="1088" name="Line 12"/>
          <p:cNvSpPr/>
          <p:nvPr/>
        </p:nvSpPr>
        <p:spPr>
          <a:xfrm>
            <a:off x="2095200" y="3500280"/>
            <a:ext cx="13680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89" name="CustomShape 13"/>
          <p:cNvSpPr/>
          <p:nvPr/>
        </p:nvSpPr>
        <p:spPr>
          <a:xfrm>
            <a:off x="1698120" y="2865600"/>
            <a:ext cx="27288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$35</a:t>
            </a:r>
            <a:endParaRPr lang="en-US" sz="1800" strike="noStrike" spc="-1">
              <a:solidFill>
                <a:srgbClr val="000000"/>
              </a:solidFill>
              <a:uFill>
                <a:solidFill>
                  <a:srgbClr val="FFFFFF"/>
                </a:solidFill>
              </a:uFill>
              <a:latin typeface="Arial"/>
            </a:endParaRPr>
          </a:p>
        </p:txBody>
      </p:sp>
      <p:sp>
        <p:nvSpPr>
          <p:cNvPr id="1090" name="Line 14"/>
          <p:cNvSpPr/>
          <p:nvPr/>
        </p:nvSpPr>
        <p:spPr>
          <a:xfrm>
            <a:off x="2095200" y="2982600"/>
            <a:ext cx="13680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91" name="CustomShape 15"/>
          <p:cNvSpPr/>
          <p:nvPr/>
        </p:nvSpPr>
        <p:spPr>
          <a:xfrm>
            <a:off x="1799640" y="3897360"/>
            <a:ext cx="18324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25</a:t>
            </a:r>
            <a:endParaRPr lang="en-US" sz="1800" strike="noStrike" spc="-1">
              <a:solidFill>
                <a:srgbClr val="000000"/>
              </a:solidFill>
              <a:uFill>
                <a:solidFill>
                  <a:srgbClr val="FFFFFF"/>
                </a:solidFill>
              </a:uFill>
              <a:latin typeface="Arial"/>
            </a:endParaRPr>
          </a:p>
        </p:txBody>
      </p:sp>
      <p:sp>
        <p:nvSpPr>
          <p:cNvPr id="1092" name="Line 16"/>
          <p:cNvSpPr/>
          <p:nvPr/>
        </p:nvSpPr>
        <p:spPr>
          <a:xfrm>
            <a:off x="2095200" y="4014720"/>
            <a:ext cx="13680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93" name="Line 17"/>
          <p:cNvSpPr/>
          <p:nvPr/>
        </p:nvSpPr>
        <p:spPr>
          <a:xfrm flipV="1">
            <a:off x="4470120" y="5622840"/>
            <a:ext cx="360" cy="13968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94" name="CustomShape 18"/>
          <p:cNvSpPr/>
          <p:nvPr/>
        </p:nvSpPr>
        <p:spPr>
          <a:xfrm>
            <a:off x="1900080" y="5811840"/>
            <a:ext cx="9324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0</a:t>
            </a:r>
            <a:endParaRPr lang="en-US" sz="1800" strike="noStrike" spc="-1">
              <a:solidFill>
                <a:srgbClr val="000000"/>
              </a:solidFill>
              <a:uFill>
                <a:solidFill>
                  <a:srgbClr val="FFFFFF"/>
                </a:solidFill>
              </a:uFill>
              <a:latin typeface="Arial"/>
            </a:endParaRPr>
          </a:p>
        </p:txBody>
      </p:sp>
      <p:sp>
        <p:nvSpPr>
          <p:cNvPr id="1095" name="Line 19"/>
          <p:cNvSpPr/>
          <p:nvPr/>
        </p:nvSpPr>
        <p:spPr>
          <a:xfrm flipH="1" flipV="1">
            <a:off x="2095200" y="1245960"/>
            <a:ext cx="5040" cy="41990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96" name="CustomShape 20"/>
          <p:cNvSpPr/>
          <p:nvPr/>
        </p:nvSpPr>
        <p:spPr>
          <a:xfrm>
            <a:off x="2095560" y="5535720"/>
            <a:ext cx="5117400" cy="226440"/>
          </a:xfrm>
          <a:custGeom>
            <a:avLst/>
            <a:gdLst/>
            <a:ahLst/>
            <a:cxnLst/>
            <a:rect l="l" t="t" r="r" b="b"/>
            <a:pathLst>
              <a:path w="2599" h="115">
                <a:moveTo>
                  <a:pt x="2599" y="115"/>
                </a:moveTo>
                <a:lnTo>
                  <a:pt x="0" y="115"/>
                </a:lnTo>
                <a:lnTo>
                  <a:pt x="3" y="0"/>
                </a:lnTo>
              </a:path>
            </a:pathLst>
          </a:custGeom>
          <a:noFill/>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97" name="Line 21"/>
          <p:cNvSpPr/>
          <p:nvPr/>
        </p:nvSpPr>
        <p:spPr>
          <a:xfrm flipV="1">
            <a:off x="2035080" y="5410080"/>
            <a:ext cx="122040" cy="680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98" name="Line 22"/>
          <p:cNvSpPr/>
          <p:nvPr/>
        </p:nvSpPr>
        <p:spPr>
          <a:xfrm flipV="1">
            <a:off x="2035080" y="5502240"/>
            <a:ext cx="122040" cy="698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099" name="CustomShape 23"/>
          <p:cNvSpPr/>
          <p:nvPr/>
        </p:nvSpPr>
        <p:spPr>
          <a:xfrm>
            <a:off x="1219320" y="990720"/>
            <a:ext cx="1675800" cy="2131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nSpc>
                <a:spcPct val="100000"/>
              </a:lnSpc>
            </a:pPr>
            <a:r>
              <a:rPr lang="en-US" sz="1400" b="1" i="1" strike="noStrike" spc="-1">
                <a:solidFill>
                  <a:srgbClr val="000000"/>
                </a:solidFill>
                <a:uFill>
                  <a:solidFill>
                    <a:srgbClr val="FFFFFF"/>
                  </a:solidFill>
                </a:uFill>
                <a:latin typeface="Calibri"/>
                <a:ea typeface="MS PGothic"/>
              </a:rPr>
              <a:t>Price of book</a:t>
            </a:r>
            <a:endParaRPr lang="en-US" sz="1800" strike="noStrike" spc="-1">
              <a:solidFill>
                <a:srgbClr val="000000"/>
              </a:solidFill>
              <a:uFill>
                <a:solidFill>
                  <a:srgbClr val="FFFFFF"/>
                </a:solidFill>
              </a:uFill>
              <a:latin typeface="Arial"/>
            </a:endParaRPr>
          </a:p>
        </p:txBody>
      </p:sp>
      <p:sp>
        <p:nvSpPr>
          <p:cNvPr id="1100" name="CustomShape 24"/>
          <p:cNvSpPr/>
          <p:nvPr/>
        </p:nvSpPr>
        <p:spPr>
          <a:xfrm>
            <a:off x="6095880" y="5867280"/>
            <a:ext cx="2741040" cy="2131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nSpc>
                <a:spcPct val="100000"/>
              </a:lnSpc>
            </a:pPr>
            <a:r>
              <a:rPr lang="en-US" sz="1400" b="1" i="1" strike="noStrike" spc="-1">
                <a:solidFill>
                  <a:srgbClr val="000000"/>
                </a:solidFill>
                <a:uFill>
                  <a:solidFill>
                    <a:srgbClr val="FFFFFF"/>
                  </a:solidFill>
                </a:uFill>
                <a:latin typeface="Calibri"/>
                <a:ea typeface="MS PGothic"/>
              </a:rPr>
              <a:t>Quantity of books</a:t>
            </a:r>
            <a:endParaRPr lang="en-US" sz="1800" strike="noStrike" spc="-1">
              <a:solidFill>
                <a:srgbClr val="000000"/>
              </a:solidFill>
              <a:uFill>
                <a:solidFill>
                  <a:srgbClr val="FFFFFF"/>
                </a:solidFill>
              </a:uFill>
              <a:latin typeface="Arial"/>
            </a:endParaRPr>
          </a:p>
        </p:txBody>
      </p:sp>
      <p:sp>
        <p:nvSpPr>
          <p:cNvPr id="1101" name="CustomShape 25"/>
          <p:cNvSpPr/>
          <p:nvPr/>
        </p:nvSpPr>
        <p:spPr>
          <a:xfrm>
            <a:off x="4433040" y="3187800"/>
            <a:ext cx="11160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E</a:t>
            </a:r>
            <a:endParaRPr lang="en-US" sz="1800" strike="noStrike" spc="-1">
              <a:solidFill>
                <a:srgbClr val="000000"/>
              </a:solidFill>
              <a:uFill>
                <a:solidFill>
                  <a:srgbClr val="FFFFFF"/>
                </a:solidFill>
              </a:uFill>
              <a:latin typeface="Arial"/>
            </a:endParaRPr>
          </a:p>
        </p:txBody>
      </p:sp>
      <p:sp>
        <p:nvSpPr>
          <p:cNvPr id="1102" name="Line 26"/>
          <p:cNvSpPr/>
          <p:nvPr/>
        </p:nvSpPr>
        <p:spPr>
          <a:xfrm>
            <a:off x="4458960" y="3504960"/>
            <a:ext cx="11160" cy="206208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103" name="Line 27"/>
          <p:cNvSpPr/>
          <p:nvPr/>
        </p:nvSpPr>
        <p:spPr>
          <a:xfrm>
            <a:off x="2295360" y="3500280"/>
            <a:ext cx="2095560" cy="144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104" name="CustomShape 28"/>
          <p:cNvSpPr/>
          <p:nvPr/>
        </p:nvSpPr>
        <p:spPr>
          <a:xfrm>
            <a:off x="4405320" y="3443400"/>
            <a:ext cx="115200" cy="11376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105" name="CustomShape 29"/>
          <p:cNvSpPr/>
          <p:nvPr/>
        </p:nvSpPr>
        <p:spPr>
          <a:xfrm>
            <a:off x="3660120" y="2590920"/>
            <a:ext cx="11160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A</a:t>
            </a:r>
            <a:endParaRPr lang="en-US" sz="1800" strike="noStrike" spc="-1">
              <a:solidFill>
                <a:srgbClr val="000000"/>
              </a:solidFill>
              <a:uFill>
                <a:solidFill>
                  <a:srgbClr val="FFFFFF"/>
                </a:solidFill>
              </a:uFill>
              <a:latin typeface="Arial"/>
            </a:endParaRPr>
          </a:p>
        </p:txBody>
      </p:sp>
      <p:sp>
        <p:nvSpPr>
          <p:cNvPr id="1106" name="CustomShape 30"/>
          <p:cNvSpPr/>
          <p:nvPr/>
        </p:nvSpPr>
        <p:spPr>
          <a:xfrm>
            <a:off x="5236200" y="3683160"/>
            <a:ext cx="11160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B</a:t>
            </a:r>
            <a:endParaRPr lang="en-US" sz="1800" strike="noStrike" spc="-1">
              <a:solidFill>
                <a:srgbClr val="000000"/>
              </a:solidFill>
              <a:uFill>
                <a:solidFill>
                  <a:srgbClr val="FFFFFF"/>
                </a:solidFill>
              </a:uFill>
              <a:latin typeface="Arial"/>
            </a:endParaRPr>
          </a:p>
        </p:txBody>
      </p:sp>
      <p:sp>
        <p:nvSpPr>
          <p:cNvPr id="1107" name="CustomShape 31"/>
          <p:cNvSpPr/>
          <p:nvPr/>
        </p:nvSpPr>
        <p:spPr>
          <a:xfrm>
            <a:off x="3633840" y="2868480"/>
            <a:ext cx="118440" cy="12168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108" name="CustomShape 32"/>
          <p:cNvSpPr/>
          <p:nvPr/>
        </p:nvSpPr>
        <p:spPr>
          <a:xfrm>
            <a:off x="5200560" y="3951360"/>
            <a:ext cx="121680" cy="12168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109" name="Line 33"/>
          <p:cNvSpPr/>
          <p:nvPr/>
        </p:nvSpPr>
        <p:spPr>
          <a:xfrm>
            <a:off x="2230200" y="4009680"/>
            <a:ext cx="2946600" cy="180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110" name="Line 34"/>
          <p:cNvSpPr/>
          <p:nvPr/>
        </p:nvSpPr>
        <p:spPr>
          <a:xfrm>
            <a:off x="2209680" y="2971800"/>
            <a:ext cx="1447920" cy="36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111" name="CustomShape 35"/>
          <p:cNvSpPr/>
          <p:nvPr/>
        </p:nvSpPr>
        <p:spPr>
          <a:xfrm>
            <a:off x="971640" y="60480"/>
            <a:ext cx="786528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2600" b="1" strike="noStrike" spc="-1">
                <a:solidFill>
                  <a:srgbClr val="FFFFFF"/>
                </a:solidFill>
                <a:uFill>
                  <a:solidFill>
                    <a:srgbClr val="FFFFFF"/>
                  </a:solidFill>
                </a:uFill>
                <a:latin typeface="Calibri"/>
                <a:ea typeface="MS PGothic"/>
              </a:rPr>
              <a:t>Reallocating Consumption Lowers Consumer Surplus</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2" name="CustomShape 1"/>
          <p:cNvSpPr/>
          <p:nvPr/>
        </p:nvSpPr>
        <p:spPr>
          <a:xfrm>
            <a:off x="6539400" y="1812960"/>
            <a:ext cx="9324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S</a:t>
            </a:r>
            <a:endParaRPr lang="en-US" sz="1800" strike="noStrike" spc="-1">
              <a:solidFill>
                <a:srgbClr val="000000"/>
              </a:solidFill>
              <a:uFill>
                <a:solidFill>
                  <a:srgbClr val="FFFFFF"/>
                </a:solidFill>
              </a:uFill>
              <a:latin typeface="Arial"/>
            </a:endParaRPr>
          </a:p>
        </p:txBody>
      </p:sp>
      <p:sp>
        <p:nvSpPr>
          <p:cNvPr id="1113" name="CustomShape 2"/>
          <p:cNvSpPr/>
          <p:nvPr/>
        </p:nvSpPr>
        <p:spPr>
          <a:xfrm>
            <a:off x="6493680" y="4859280"/>
            <a:ext cx="13140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D</a:t>
            </a:r>
            <a:endParaRPr lang="en-US" sz="1800" strike="noStrike" spc="-1">
              <a:solidFill>
                <a:srgbClr val="000000"/>
              </a:solidFill>
              <a:uFill>
                <a:solidFill>
                  <a:srgbClr val="FFFFFF"/>
                </a:solidFill>
              </a:uFill>
              <a:latin typeface="Arial"/>
            </a:endParaRPr>
          </a:p>
        </p:txBody>
      </p:sp>
      <p:sp>
        <p:nvSpPr>
          <p:cNvPr id="1114" name="Line 3"/>
          <p:cNvSpPr/>
          <p:nvPr/>
        </p:nvSpPr>
        <p:spPr>
          <a:xfrm flipH="1">
            <a:off x="2286000" y="2020680"/>
            <a:ext cx="4194000" cy="2932200"/>
          </a:xfrm>
          <a:prstGeom prst="line">
            <a:avLst/>
          </a:prstGeom>
          <a:ln w="38160">
            <a:solidFill>
              <a:srgbClr val="EE313C"/>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15" name="Line 4"/>
          <p:cNvSpPr/>
          <p:nvPr/>
        </p:nvSpPr>
        <p:spPr>
          <a:xfrm>
            <a:off x="2286000" y="2057400"/>
            <a:ext cx="4168440" cy="2860560"/>
          </a:xfrm>
          <a:prstGeom prst="line">
            <a:avLst/>
          </a:prstGeom>
          <a:ln w="38160">
            <a:solidFill>
              <a:srgbClr val="3C5DA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16" name="Line 5"/>
          <p:cNvSpPr/>
          <p:nvPr/>
        </p:nvSpPr>
        <p:spPr>
          <a:xfrm>
            <a:off x="4367160" y="3492360"/>
            <a:ext cx="7920" cy="182412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117" name="Line 6"/>
          <p:cNvSpPr/>
          <p:nvPr/>
        </p:nvSpPr>
        <p:spPr>
          <a:xfrm>
            <a:off x="2479320" y="3492360"/>
            <a:ext cx="1812960" cy="144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118" name="CustomShape 7"/>
          <p:cNvSpPr/>
          <p:nvPr/>
        </p:nvSpPr>
        <p:spPr>
          <a:xfrm>
            <a:off x="4347360" y="3195720"/>
            <a:ext cx="11160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E</a:t>
            </a:r>
            <a:endParaRPr lang="en-US" sz="1800" strike="noStrike" spc="-1">
              <a:solidFill>
                <a:srgbClr val="000000"/>
              </a:solidFill>
              <a:uFill>
                <a:solidFill>
                  <a:srgbClr val="FFFFFF"/>
                </a:solidFill>
              </a:uFill>
              <a:latin typeface="Arial"/>
            </a:endParaRPr>
          </a:p>
        </p:txBody>
      </p:sp>
      <p:sp>
        <p:nvSpPr>
          <p:cNvPr id="1119" name="CustomShape 8"/>
          <p:cNvSpPr/>
          <p:nvPr/>
        </p:nvSpPr>
        <p:spPr>
          <a:xfrm>
            <a:off x="4324320" y="3425760"/>
            <a:ext cx="104040" cy="102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120" name="CustomShape 9"/>
          <p:cNvSpPr/>
          <p:nvPr/>
        </p:nvSpPr>
        <p:spPr>
          <a:xfrm>
            <a:off x="5027760" y="3807000"/>
            <a:ext cx="70560" cy="111960"/>
          </a:xfrm>
          <a:custGeom>
            <a:avLst/>
            <a:gdLst/>
            <a:ahLst/>
            <a:cxnLst/>
            <a:rect l="l" t="t" r="r" b="b"/>
            <a:pathLst>
              <a:path w="14" h="22">
                <a:moveTo>
                  <a:pt x="7" y="4"/>
                </a:moveTo>
                <a:cubicBezTo>
                  <a:pt x="13" y="0"/>
                  <a:pt x="13" y="0"/>
                  <a:pt x="13" y="0"/>
                </a:cubicBezTo>
                <a:cubicBezTo>
                  <a:pt x="14" y="0"/>
                  <a:pt x="14" y="0"/>
                  <a:pt x="14" y="0"/>
                </a:cubicBezTo>
                <a:cubicBezTo>
                  <a:pt x="9" y="10"/>
                  <a:pt x="9" y="10"/>
                  <a:pt x="9" y="10"/>
                </a:cubicBezTo>
                <a:cubicBezTo>
                  <a:pt x="9" y="14"/>
                  <a:pt x="8" y="18"/>
                  <a:pt x="7" y="22"/>
                </a:cubicBezTo>
                <a:cubicBezTo>
                  <a:pt x="6" y="18"/>
                  <a:pt x="5" y="14"/>
                  <a:pt x="5" y="10"/>
                </a:cubicBezTo>
                <a:cubicBezTo>
                  <a:pt x="0" y="0"/>
                  <a:pt x="0" y="0"/>
                  <a:pt x="0" y="0"/>
                </a:cubicBezTo>
                <a:cubicBezTo>
                  <a:pt x="0" y="0"/>
                  <a:pt x="0" y="0"/>
                  <a:pt x="0" y="0"/>
                </a:cubicBezTo>
                <a:lnTo>
                  <a:pt x="7" y="4"/>
                </a:lnTo>
                <a:close/>
              </a:path>
            </a:pathLst>
          </a:cu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121" name="Line 10"/>
          <p:cNvSpPr/>
          <p:nvPr/>
        </p:nvSpPr>
        <p:spPr>
          <a:xfrm>
            <a:off x="5064120" y="3105000"/>
            <a:ext cx="360" cy="727200"/>
          </a:xfrm>
          <a:prstGeom prst="line">
            <a:avLst/>
          </a:prstGeom>
          <a:ln w="1440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22" name="Line 11"/>
          <p:cNvSpPr/>
          <p:nvPr/>
        </p:nvSpPr>
        <p:spPr>
          <a:xfrm flipH="1">
            <a:off x="5089320" y="3416040"/>
            <a:ext cx="274680" cy="36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23" name="CustomShape 12"/>
          <p:cNvSpPr/>
          <p:nvPr/>
        </p:nvSpPr>
        <p:spPr>
          <a:xfrm>
            <a:off x="5343480" y="2941560"/>
            <a:ext cx="2199600" cy="1019880"/>
          </a:xfrm>
          <a:custGeom>
            <a:avLst/>
            <a:gdLst/>
            <a:ahLst/>
            <a:cxnLst/>
            <a:rect l="l" t="t" r="r" b="b"/>
            <a:pathLst>
              <a:path w="258" h="210">
                <a:moveTo>
                  <a:pt x="241" y="210"/>
                </a:moveTo>
                <a:cubicBezTo>
                  <a:pt x="251" y="210"/>
                  <a:pt x="258" y="203"/>
                  <a:pt x="258" y="193"/>
                </a:cubicBezTo>
                <a:cubicBezTo>
                  <a:pt x="258" y="17"/>
                  <a:pt x="258" y="17"/>
                  <a:pt x="258" y="17"/>
                </a:cubicBezTo>
                <a:cubicBezTo>
                  <a:pt x="258" y="8"/>
                  <a:pt x="251" y="0"/>
                  <a:pt x="241" y="0"/>
                </a:cubicBezTo>
                <a:cubicBezTo>
                  <a:pt x="17" y="0"/>
                  <a:pt x="17" y="0"/>
                  <a:pt x="17" y="0"/>
                </a:cubicBezTo>
                <a:cubicBezTo>
                  <a:pt x="8" y="0"/>
                  <a:pt x="0" y="8"/>
                  <a:pt x="0" y="17"/>
                </a:cubicBezTo>
                <a:cubicBezTo>
                  <a:pt x="0" y="193"/>
                  <a:pt x="0" y="193"/>
                  <a:pt x="0" y="193"/>
                </a:cubicBezTo>
                <a:cubicBezTo>
                  <a:pt x="0" y="203"/>
                  <a:pt x="8" y="210"/>
                  <a:pt x="17" y="210"/>
                </a:cubicBezTo>
                <a:lnTo>
                  <a:pt x="241" y="210"/>
                </a:lnTo>
                <a:close/>
              </a:path>
            </a:pathLst>
          </a:custGeom>
          <a:solidFill>
            <a:srgbClr val="D7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124" name="CustomShape 13"/>
          <p:cNvSpPr/>
          <p:nvPr/>
        </p:nvSpPr>
        <p:spPr>
          <a:xfrm>
            <a:off x="5411880" y="3143160"/>
            <a:ext cx="2020320" cy="6393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Calibri"/>
                <a:ea typeface="MS PGothic"/>
              </a:rPr>
              <a:t>Loss in producer surplus if Yvonne is made to sell the book instead of Xavier</a:t>
            </a:r>
            <a:endParaRPr lang="en-US" sz="1800" strike="noStrike" spc="-1">
              <a:solidFill>
                <a:srgbClr val="000000"/>
              </a:solidFill>
              <a:uFill>
                <a:solidFill>
                  <a:srgbClr val="FFFFFF"/>
                </a:solidFill>
              </a:uFill>
              <a:latin typeface="Arial"/>
            </a:endParaRPr>
          </a:p>
        </p:txBody>
      </p:sp>
      <p:sp>
        <p:nvSpPr>
          <p:cNvPr id="1125" name="Line 14"/>
          <p:cNvSpPr/>
          <p:nvPr/>
        </p:nvSpPr>
        <p:spPr>
          <a:xfrm flipV="1">
            <a:off x="2250720" y="1439640"/>
            <a:ext cx="360" cy="381816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26" name="CustomShape 15"/>
          <p:cNvSpPr/>
          <p:nvPr/>
        </p:nvSpPr>
        <p:spPr>
          <a:xfrm>
            <a:off x="4146480" y="5562720"/>
            <a:ext cx="5094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1,000</a:t>
            </a:r>
            <a:endParaRPr lang="en-US" sz="1800" strike="noStrike" spc="-1">
              <a:solidFill>
                <a:srgbClr val="000000"/>
              </a:solidFill>
              <a:uFill>
                <a:solidFill>
                  <a:srgbClr val="FFFFFF"/>
                </a:solidFill>
              </a:uFill>
              <a:latin typeface="Arial"/>
            </a:endParaRPr>
          </a:p>
        </p:txBody>
      </p:sp>
      <p:sp>
        <p:nvSpPr>
          <p:cNvPr id="1127" name="CustomShape 16"/>
          <p:cNvSpPr/>
          <p:nvPr/>
        </p:nvSpPr>
        <p:spPr>
          <a:xfrm>
            <a:off x="1972080" y="337176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30</a:t>
            </a:r>
            <a:endParaRPr lang="en-US" sz="1800" strike="noStrike" spc="-1">
              <a:solidFill>
                <a:srgbClr val="000000"/>
              </a:solidFill>
              <a:uFill>
                <a:solidFill>
                  <a:srgbClr val="FFFFFF"/>
                </a:solidFill>
              </a:uFill>
              <a:latin typeface="Arial"/>
            </a:endParaRPr>
          </a:p>
        </p:txBody>
      </p:sp>
      <p:sp>
        <p:nvSpPr>
          <p:cNvPr id="1128" name="Line 17"/>
          <p:cNvSpPr/>
          <p:nvPr/>
        </p:nvSpPr>
        <p:spPr>
          <a:xfrm>
            <a:off x="2261880" y="3477960"/>
            <a:ext cx="123840" cy="36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29" name="CustomShape 18"/>
          <p:cNvSpPr/>
          <p:nvPr/>
        </p:nvSpPr>
        <p:spPr>
          <a:xfrm>
            <a:off x="1869480" y="2909880"/>
            <a:ext cx="3402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$35</a:t>
            </a:r>
            <a:endParaRPr lang="en-US" sz="1800" strike="noStrike" spc="-1">
              <a:solidFill>
                <a:srgbClr val="000000"/>
              </a:solidFill>
              <a:uFill>
                <a:solidFill>
                  <a:srgbClr val="FFFFFF"/>
                </a:solidFill>
              </a:uFill>
              <a:latin typeface="Arial"/>
            </a:endParaRPr>
          </a:p>
        </p:txBody>
      </p:sp>
      <p:sp>
        <p:nvSpPr>
          <p:cNvPr id="1130" name="Line 19"/>
          <p:cNvSpPr/>
          <p:nvPr/>
        </p:nvSpPr>
        <p:spPr>
          <a:xfrm>
            <a:off x="2261880" y="3014640"/>
            <a:ext cx="123840" cy="36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31" name="CustomShape 20"/>
          <p:cNvSpPr/>
          <p:nvPr/>
        </p:nvSpPr>
        <p:spPr>
          <a:xfrm>
            <a:off x="1972080" y="383544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25</a:t>
            </a:r>
            <a:endParaRPr lang="en-US" sz="1800" strike="noStrike" spc="-1">
              <a:solidFill>
                <a:srgbClr val="000000"/>
              </a:solidFill>
              <a:uFill>
                <a:solidFill>
                  <a:srgbClr val="FFFFFF"/>
                </a:solidFill>
              </a:uFill>
              <a:latin typeface="Arial"/>
            </a:endParaRPr>
          </a:p>
        </p:txBody>
      </p:sp>
      <p:sp>
        <p:nvSpPr>
          <p:cNvPr id="1132" name="Line 21"/>
          <p:cNvSpPr/>
          <p:nvPr/>
        </p:nvSpPr>
        <p:spPr>
          <a:xfrm>
            <a:off x="2261880" y="3939840"/>
            <a:ext cx="123840" cy="36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33" name="Line 22"/>
          <p:cNvSpPr/>
          <p:nvPr/>
        </p:nvSpPr>
        <p:spPr>
          <a:xfrm flipV="1">
            <a:off x="4390920" y="5392440"/>
            <a:ext cx="360" cy="12384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34" name="CustomShape 23"/>
          <p:cNvSpPr/>
          <p:nvPr/>
        </p:nvSpPr>
        <p:spPr>
          <a:xfrm>
            <a:off x="2074680" y="556272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0</a:t>
            </a:r>
            <a:endParaRPr lang="en-US" sz="1800" strike="noStrike" spc="-1">
              <a:solidFill>
                <a:srgbClr val="000000"/>
              </a:solidFill>
              <a:uFill>
                <a:solidFill>
                  <a:srgbClr val="FFFFFF"/>
                </a:solidFill>
              </a:uFill>
              <a:latin typeface="Arial"/>
            </a:endParaRPr>
          </a:p>
        </p:txBody>
      </p:sp>
      <p:sp>
        <p:nvSpPr>
          <p:cNvPr id="1135" name="CustomShape 24"/>
          <p:cNvSpPr/>
          <p:nvPr/>
        </p:nvSpPr>
        <p:spPr>
          <a:xfrm>
            <a:off x="2262240" y="5315040"/>
            <a:ext cx="4590360" cy="200880"/>
          </a:xfrm>
          <a:custGeom>
            <a:avLst/>
            <a:gdLst/>
            <a:ahLst/>
            <a:cxnLst/>
            <a:rect l="l" t="t" r="r" b="b"/>
            <a:pathLst>
              <a:path w="2674" h="117">
                <a:moveTo>
                  <a:pt x="2674" y="117"/>
                </a:moveTo>
                <a:lnTo>
                  <a:pt x="0" y="117"/>
                </a:lnTo>
                <a:lnTo>
                  <a:pt x="0" y="0"/>
                </a:lnTo>
              </a:path>
            </a:pathLst>
          </a:custGeom>
          <a:noFill/>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36" name="Line 25"/>
          <p:cNvSpPr/>
          <p:nvPr/>
        </p:nvSpPr>
        <p:spPr>
          <a:xfrm flipV="1">
            <a:off x="2211120" y="5200560"/>
            <a:ext cx="103320" cy="6192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37" name="Line 26"/>
          <p:cNvSpPr/>
          <p:nvPr/>
        </p:nvSpPr>
        <p:spPr>
          <a:xfrm flipV="1">
            <a:off x="2211120" y="5283000"/>
            <a:ext cx="103320" cy="61920"/>
          </a:xfrm>
          <a:prstGeom prst="line">
            <a:avLst/>
          </a:prstGeom>
          <a:ln w="93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38" name="CustomShape 27"/>
          <p:cNvSpPr/>
          <p:nvPr/>
        </p:nvSpPr>
        <p:spPr>
          <a:xfrm>
            <a:off x="1839960" y="1143000"/>
            <a:ext cx="137088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nSpc>
                <a:spcPct val="100000"/>
              </a:lnSpc>
            </a:pPr>
            <a:r>
              <a:rPr lang="en-US" sz="1400" b="1" strike="noStrike" spc="-1">
                <a:solidFill>
                  <a:srgbClr val="000000"/>
                </a:solidFill>
                <a:uFill>
                  <a:solidFill>
                    <a:srgbClr val="FFFFFF"/>
                  </a:solidFill>
                </a:uFill>
                <a:latin typeface="Calibri"/>
                <a:ea typeface="MS PGothic"/>
              </a:rPr>
              <a:t>Price of book</a:t>
            </a:r>
            <a:endParaRPr lang="en-US" sz="1800" strike="noStrike" spc="-1">
              <a:solidFill>
                <a:srgbClr val="000000"/>
              </a:solidFill>
              <a:uFill>
                <a:solidFill>
                  <a:srgbClr val="FFFFFF"/>
                </a:solidFill>
              </a:uFill>
              <a:latin typeface="Arial"/>
            </a:endParaRPr>
          </a:p>
        </p:txBody>
      </p:sp>
      <p:sp>
        <p:nvSpPr>
          <p:cNvPr id="1139" name="CustomShape 28"/>
          <p:cNvSpPr/>
          <p:nvPr/>
        </p:nvSpPr>
        <p:spPr>
          <a:xfrm>
            <a:off x="5954760" y="5638680"/>
            <a:ext cx="238860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nSpc>
                <a:spcPct val="100000"/>
              </a:lnSpc>
            </a:pPr>
            <a:r>
              <a:rPr lang="en-US" sz="1400" b="1" strike="noStrike" spc="-1">
                <a:solidFill>
                  <a:srgbClr val="000000"/>
                </a:solidFill>
                <a:uFill>
                  <a:solidFill>
                    <a:srgbClr val="FFFFFF"/>
                  </a:solidFill>
                </a:uFill>
                <a:latin typeface="Calibri"/>
                <a:ea typeface="MS PGothic"/>
              </a:rPr>
              <a:t>Quantity of books</a:t>
            </a:r>
            <a:endParaRPr lang="en-US" sz="1800" strike="noStrike" spc="-1">
              <a:solidFill>
                <a:srgbClr val="000000"/>
              </a:solidFill>
              <a:uFill>
                <a:solidFill>
                  <a:srgbClr val="FFFFFF"/>
                </a:solidFill>
              </a:uFill>
              <a:latin typeface="Arial"/>
            </a:endParaRPr>
          </a:p>
        </p:txBody>
      </p:sp>
      <p:sp>
        <p:nvSpPr>
          <p:cNvPr id="1140" name="Line 29"/>
          <p:cNvSpPr/>
          <p:nvPr/>
        </p:nvSpPr>
        <p:spPr>
          <a:xfrm>
            <a:off x="2479320" y="3944880"/>
            <a:ext cx="2538720" cy="144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141" name="CustomShape 30"/>
          <p:cNvSpPr/>
          <p:nvPr/>
        </p:nvSpPr>
        <p:spPr>
          <a:xfrm>
            <a:off x="5033880" y="2728800"/>
            <a:ext cx="10368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Y</a:t>
            </a:r>
            <a:endParaRPr lang="en-US" sz="1800" strike="noStrike" spc="-1">
              <a:solidFill>
                <a:srgbClr val="000000"/>
              </a:solidFill>
              <a:uFill>
                <a:solidFill>
                  <a:srgbClr val="FFFFFF"/>
                </a:solidFill>
              </a:uFill>
              <a:latin typeface="Arial"/>
            </a:endParaRPr>
          </a:p>
        </p:txBody>
      </p:sp>
      <p:sp>
        <p:nvSpPr>
          <p:cNvPr id="1142" name="CustomShape 31"/>
          <p:cNvSpPr/>
          <p:nvPr/>
        </p:nvSpPr>
        <p:spPr>
          <a:xfrm>
            <a:off x="3666240" y="3660840"/>
            <a:ext cx="11160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X</a:t>
            </a:r>
            <a:endParaRPr lang="en-US" sz="1800" strike="noStrike" spc="-1">
              <a:solidFill>
                <a:srgbClr val="000000"/>
              </a:solidFill>
              <a:uFill>
                <a:solidFill>
                  <a:srgbClr val="FFFFFF"/>
                </a:solidFill>
              </a:uFill>
              <a:latin typeface="Arial"/>
            </a:endParaRPr>
          </a:p>
        </p:txBody>
      </p:sp>
      <p:sp>
        <p:nvSpPr>
          <p:cNvPr id="1143" name="CustomShape 32"/>
          <p:cNvSpPr/>
          <p:nvPr/>
        </p:nvSpPr>
        <p:spPr>
          <a:xfrm>
            <a:off x="5006880" y="2963880"/>
            <a:ext cx="102600" cy="102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144" name="CustomShape 33"/>
          <p:cNvSpPr/>
          <p:nvPr/>
        </p:nvSpPr>
        <p:spPr>
          <a:xfrm>
            <a:off x="3641760" y="3889440"/>
            <a:ext cx="102600" cy="10260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145" name="Line 34"/>
          <p:cNvSpPr/>
          <p:nvPr/>
        </p:nvSpPr>
        <p:spPr>
          <a:xfrm>
            <a:off x="2479320" y="3009600"/>
            <a:ext cx="2471760" cy="324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146" name="CustomShape 35"/>
          <p:cNvSpPr/>
          <p:nvPr/>
        </p:nvSpPr>
        <p:spPr>
          <a:xfrm>
            <a:off x="900000" y="60480"/>
            <a:ext cx="806364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Reallocating Sales Lowers Producer Surplus</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Line 1"/>
          <p:cNvSpPr/>
          <p:nvPr/>
        </p:nvSpPr>
        <p:spPr>
          <a:xfrm flipV="1">
            <a:off x="3914640" y="1341360"/>
            <a:ext cx="360" cy="41036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zh-CN" altLang="en-US"/>
          </a:p>
        </p:txBody>
      </p:sp>
      <p:sp>
        <p:nvSpPr>
          <p:cNvPr id="1148" name="CustomShape 2"/>
          <p:cNvSpPr/>
          <p:nvPr/>
        </p:nvSpPr>
        <p:spPr>
          <a:xfrm>
            <a:off x="6661080" y="1976400"/>
            <a:ext cx="14220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S</a:t>
            </a:r>
            <a:endParaRPr lang="en-US" sz="1800" strike="noStrike" spc="-1">
              <a:solidFill>
                <a:srgbClr val="000000"/>
              </a:solidFill>
              <a:uFill>
                <a:solidFill>
                  <a:srgbClr val="FFFFFF"/>
                </a:solidFill>
              </a:uFill>
              <a:latin typeface="Arial"/>
            </a:endParaRPr>
          </a:p>
        </p:txBody>
      </p:sp>
      <p:sp>
        <p:nvSpPr>
          <p:cNvPr id="1149" name="CustomShape 3"/>
          <p:cNvSpPr/>
          <p:nvPr/>
        </p:nvSpPr>
        <p:spPr>
          <a:xfrm>
            <a:off x="6629040" y="4800600"/>
            <a:ext cx="1314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D</a:t>
            </a:r>
            <a:endParaRPr lang="en-US" sz="1800" strike="noStrike" spc="-1">
              <a:solidFill>
                <a:srgbClr val="000000"/>
              </a:solidFill>
              <a:uFill>
                <a:solidFill>
                  <a:srgbClr val="FFFFFF"/>
                </a:solidFill>
              </a:uFill>
              <a:latin typeface="Arial"/>
            </a:endParaRPr>
          </a:p>
        </p:txBody>
      </p:sp>
      <p:sp>
        <p:nvSpPr>
          <p:cNvPr id="1150" name="Line 4"/>
          <p:cNvSpPr/>
          <p:nvPr/>
        </p:nvSpPr>
        <p:spPr>
          <a:xfrm flipH="1">
            <a:off x="2562120" y="2165040"/>
            <a:ext cx="4054320" cy="2733840"/>
          </a:xfrm>
          <a:prstGeom prst="line">
            <a:avLst/>
          </a:prstGeom>
          <a:ln w="30240">
            <a:solidFill>
              <a:srgbClr val="EE313C"/>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51" name="Line 5"/>
          <p:cNvSpPr/>
          <p:nvPr/>
        </p:nvSpPr>
        <p:spPr>
          <a:xfrm>
            <a:off x="2612880" y="2187360"/>
            <a:ext cx="3978360" cy="2664000"/>
          </a:xfrm>
          <a:prstGeom prst="line">
            <a:avLst/>
          </a:prstGeom>
          <a:ln w="30240">
            <a:solidFill>
              <a:srgbClr val="3C5DA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52" name="Line 6"/>
          <p:cNvSpPr/>
          <p:nvPr/>
        </p:nvSpPr>
        <p:spPr>
          <a:xfrm flipV="1">
            <a:off x="3965400" y="2508120"/>
            <a:ext cx="482760" cy="88092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53" name="CustomShape 7"/>
          <p:cNvSpPr/>
          <p:nvPr/>
        </p:nvSpPr>
        <p:spPr>
          <a:xfrm>
            <a:off x="3657600" y="1600200"/>
            <a:ext cx="1828080" cy="990000"/>
          </a:xfrm>
          <a:custGeom>
            <a:avLst/>
            <a:gdLst/>
            <a:ahLst/>
            <a:cxnLst/>
            <a:rect l="l" t="t" r="r" b="b"/>
            <a:pathLst>
              <a:path w="289" h="175">
                <a:moveTo>
                  <a:pt x="272" y="175"/>
                </a:moveTo>
                <a:cubicBezTo>
                  <a:pt x="282" y="175"/>
                  <a:pt x="289" y="168"/>
                  <a:pt x="289" y="158"/>
                </a:cubicBezTo>
                <a:cubicBezTo>
                  <a:pt x="289" y="17"/>
                  <a:pt x="289" y="17"/>
                  <a:pt x="289" y="17"/>
                </a:cubicBezTo>
                <a:cubicBezTo>
                  <a:pt x="289" y="8"/>
                  <a:pt x="282" y="0"/>
                  <a:pt x="272" y="0"/>
                </a:cubicBezTo>
                <a:cubicBezTo>
                  <a:pt x="17" y="0"/>
                  <a:pt x="17" y="0"/>
                  <a:pt x="17" y="0"/>
                </a:cubicBezTo>
                <a:cubicBezTo>
                  <a:pt x="7" y="0"/>
                  <a:pt x="0" y="8"/>
                  <a:pt x="0" y="17"/>
                </a:cubicBezTo>
                <a:cubicBezTo>
                  <a:pt x="0" y="158"/>
                  <a:pt x="0" y="158"/>
                  <a:pt x="0" y="158"/>
                </a:cubicBezTo>
                <a:cubicBezTo>
                  <a:pt x="0" y="168"/>
                  <a:pt x="7" y="175"/>
                  <a:pt x="17" y="175"/>
                </a:cubicBezTo>
                <a:lnTo>
                  <a:pt x="272" y="175"/>
                </a:lnTo>
                <a:close/>
              </a:path>
            </a:pathLst>
          </a:custGeom>
          <a:solidFill>
            <a:srgbClr val="D7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154" name="CustomShape 8"/>
          <p:cNvSpPr/>
          <p:nvPr/>
        </p:nvSpPr>
        <p:spPr>
          <a:xfrm>
            <a:off x="3730680" y="1676520"/>
            <a:ext cx="1675800" cy="85176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Calibri"/>
                <a:ea typeface="MS PGothic"/>
              </a:rPr>
              <a:t>Loss in total surplus if the transaction between  Ana and Xavier is prevented</a:t>
            </a:r>
            <a:endParaRPr lang="en-US" sz="1800" strike="noStrike" spc="-1">
              <a:solidFill>
                <a:srgbClr val="000000"/>
              </a:solidFill>
              <a:uFill>
                <a:solidFill>
                  <a:srgbClr val="FFFFFF"/>
                </a:solidFill>
              </a:uFill>
              <a:latin typeface="Arial"/>
            </a:endParaRPr>
          </a:p>
        </p:txBody>
      </p:sp>
      <p:sp>
        <p:nvSpPr>
          <p:cNvPr id="1155" name="Line 9"/>
          <p:cNvSpPr/>
          <p:nvPr/>
        </p:nvSpPr>
        <p:spPr>
          <a:xfrm flipV="1">
            <a:off x="2570040" y="1628640"/>
            <a:ext cx="360" cy="3519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56" name="CustomShape 10"/>
          <p:cNvSpPr/>
          <p:nvPr/>
        </p:nvSpPr>
        <p:spPr>
          <a:xfrm>
            <a:off x="4360680" y="5443560"/>
            <a:ext cx="5094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1,000</a:t>
            </a:r>
            <a:endParaRPr lang="en-US" sz="1800" strike="noStrike" spc="-1">
              <a:solidFill>
                <a:srgbClr val="000000"/>
              </a:solidFill>
              <a:uFill>
                <a:solidFill>
                  <a:srgbClr val="FFFFFF"/>
                </a:solidFill>
              </a:uFill>
              <a:latin typeface="Arial"/>
            </a:endParaRPr>
          </a:p>
        </p:txBody>
      </p:sp>
      <p:sp>
        <p:nvSpPr>
          <p:cNvPr id="1157" name="CustomShape 11"/>
          <p:cNvSpPr/>
          <p:nvPr/>
        </p:nvSpPr>
        <p:spPr>
          <a:xfrm>
            <a:off x="2294280" y="341316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30</a:t>
            </a:r>
            <a:endParaRPr lang="en-US" sz="1800" strike="noStrike" spc="-1">
              <a:solidFill>
                <a:srgbClr val="000000"/>
              </a:solidFill>
              <a:uFill>
                <a:solidFill>
                  <a:srgbClr val="FFFFFF"/>
                </a:solidFill>
              </a:uFill>
              <a:latin typeface="Arial"/>
            </a:endParaRPr>
          </a:p>
        </p:txBody>
      </p:sp>
      <p:sp>
        <p:nvSpPr>
          <p:cNvPr id="1158" name="Line 12"/>
          <p:cNvSpPr/>
          <p:nvPr/>
        </p:nvSpPr>
        <p:spPr>
          <a:xfrm>
            <a:off x="2570040" y="3514680"/>
            <a:ext cx="11736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59" name="CustomShape 13"/>
          <p:cNvSpPr/>
          <p:nvPr/>
        </p:nvSpPr>
        <p:spPr>
          <a:xfrm>
            <a:off x="2196720" y="2982960"/>
            <a:ext cx="3402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$35</a:t>
            </a:r>
            <a:endParaRPr lang="en-US" sz="1800" strike="noStrike" spc="-1">
              <a:solidFill>
                <a:srgbClr val="000000"/>
              </a:solidFill>
              <a:uFill>
                <a:solidFill>
                  <a:srgbClr val="FFFFFF"/>
                </a:solidFill>
              </a:uFill>
              <a:latin typeface="Arial"/>
            </a:endParaRPr>
          </a:p>
        </p:txBody>
      </p:sp>
      <p:sp>
        <p:nvSpPr>
          <p:cNvPr id="1160" name="Line 14"/>
          <p:cNvSpPr/>
          <p:nvPr/>
        </p:nvSpPr>
        <p:spPr>
          <a:xfrm>
            <a:off x="2570040" y="3084480"/>
            <a:ext cx="11736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61" name="CustomShape 15"/>
          <p:cNvSpPr/>
          <p:nvPr/>
        </p:nvSpPr>
        <p:spPr>
          <a:xfrm>
            <a:off x="2294280" y="384192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25</a:t>
            </a:r>
            <a:endParaRPr lang="en-US" sz="1800" strike="noStrike" spc="-1">
              <a:solidFill>
                <a:srgbClr val="000000"/>
              </a:solidFill>
              <a:uFill>
                <a:solidFill>
                  <a:srgbClr val="FFFFFF"/>
                </a:solidFill>
              </a:uFill>
              <a:latin typeface="Arial"/>
            </a:endParaRPr>
          </a:p>
        </p:txBody>
      </p:sp>
      <p:sp>
        <p:nvSpPr>
          <p:cNvPr id="1162" name="Line 16"/>
          <p:cNvSpPr/>
          <p:nvPr/>
        </p:nvSpPr>
        <p:spPr>
          <a:xfrm>
            <a:off x="2570040" y="3943080"/>
            <a:ext cx="11736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63" name="Line 17"/>
          <p:cNvSpPr/>
          <p:nvPr/>
        </p:nvSpPr>
        <p:spPr>
          <a:xfrm flipV="1">
            <a:off x="4597200" y="5292720"/>
            <a:ext cx="360" cy="117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64" name="CustomShape 18"/>
          <p:cNvSpPr/>
          <p:nvPr/>
        </p:nvSpPr>
        <p:spPr>
          <a:xfrm>
            <a:off x="2393640" y="544356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0</a:t>
            </a:r>
            <a:endParaRPr lang="en-US" sz="1800" strike="noStrike" spc="-1">
              <a:solidFill>
                <a:srgbClr val="000000"/>
              </a:solidFill>
              <a:uFill>
                <a:solidFill>
                  <a:srgbClr val="FFFFFF"/>
                </a:solidFill>
              </a:uFill>
              <a:latin typeface="Arial"/>
            </a:endParaRPr>
          </a:p>
        </p:txBody>
      </p:sp>
      <p:sp>
        <p:nvSpPr>
          <p:cNvPr id="1165" name="CustomShape 19"/>
          <p:cNvSpPr/>
          <p:nvPr/>
        </p:nvSpPr>
        <p:spPr>
          <a:xfrm>
            <a:off x="2570040" y="5226120"/>
            <a:ext cx="4366440" cy="183600"/>
          </a:xfrm>
          <a:custGeom>
            <a:avLst/>
            <a:gdLst/>
            <a:ahLst/>
            <a:cxnLst/>
            <a:rect l="l" t="t" r="r" b="b"/>
            <a:pathLst>
              <a:path w="2097" h="90">
                <a:moveTo>
                  <a:pt x="2097" y="90"/>
                </a:moveTo>
                <a:lnTo>
                  <a:pt x="0" y="90"/>
                </a:lnTo>
                <a:lnTo>
                  <a:pt x="0" y="0"/>
                </a:lnTo>
              </a:path>
            </a:pathLst>
          </a:custGeom>
          <a:noFill/>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66" name="Line 20"/>
          <p:cNvSpPr/>
          <p:nvPr/>
        </p:nvSpPr>
        <p:spPr>
          <a:xfrm flipV="1">
            <a:off x="2520720" y="5119560"/>
            <a:ext cx="103320" cy="572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67" name="Line 21"/>
          <p:cNvSpPr/>
          <p:nvPr/>
        </p:nvSpPr>
        <p:spPr>
          <a:xfrm flipV="1">
            <a:off x="2520720" y="5197320"/>
            <a:ext cx="103320" cy="572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68" name="CustomShape 22"/>
          <p:cNvSpPr/>
          <p:nvPr/>
        </p:nvSpPr>
        <p:spPr>
          <a:xfrm>
            <a:off x="1905120" y="1347840"/>
            <a:ext cx="99792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nSpc>
                <a:spcPct val="100000"/>
              </a:lnSpc>
            </a:pPr>
            <a:r>
              <a:rPr lang="en-US" sz="1400" b="1" strike="noStrike" spc="-1">
                <a:solidFill>
                  <a:srgbClr val="000000"/>
                </a:solidFill>
                <a:uFill>
                  <a:solidFill>
                    <a:srgbClr val="FFFFFF"/>
                  </a:solidFill>
                </a:uFill>
                <a:latin typeface="Calibri"/>
                <a:ea typeface="MS PGothic"/>
              </a:rPr>
              <a:t>Price of book</a:t>
            </a:r>
            <a:endParaRPr lang="en-US" sz="1800" strike="noStrike" spc="-1">
              <a:solidFill>
                <a:srgbClr val="000000"/>
              </a:solidFill>
              <a:uFill>
                <a:solidFill>
                  <a:srgbClr val="FFFFFF"/>
                </a:solidFill>
              </a:uFill>
              <a:latin typeface="Arial"/>
            </a:endParaRPr>
          </a:p>
        </p:txBody>
      </p:sp>
      <p:sp>
        <p:nvSpPr>
          <p:cNvPr id="1169" name="CustomShape 23"/>
          <p:cNvSpPr/>
          <p:nvPr/>
        </p:nvSpPr>
        <p:spPr>
          <a:xfrm>
            <a:off x="5635800" y="5592600"/>
            <a:ext cx="289800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nSpc>
                <a:spcPct val="100000"/>
              </a:lnSpc>
            </a:pPr>
            <a:r>
              <a:rPr lang="en-US" sz="1400" b="1" strike="noStrike" spc="-1">
                <a:solidFill>
                  <a:srgbClr val="000000"/>
                </a:solidFill>
                <a:uFill>
                  <a:solidFill>
                    <a:srgbClr val="FFFFFF"/>
                  </a:solidFill>
                </a:uFill>
                <a:latin typeface="Calibri"/>
                <a:ea typeface="MS PGothic"/>
              </a:rPr>
              <a:t>Quantity of books</a:t>
            </a:r>
            <a:endParaRPr lang="en-US" sz="1800" strike="noStrike" spc="-1">
              <a:solidFill>
                <a:srgbClr val="000000"/>
              </a:solidFill>
              <a:uFill>
                <a:solidFill>
                  <a:srgbClr val="FFFFFF"/>
                </a:solidFill>
              </a:uFill>
              <a:latin typeface="Arial"/>
            </a:endParaRPr>
          </a:p>
        </p:txBody>
      </p:sp>
      <p:sp>
        <p:nvSpPr>
          <p:cNvPr id="1170" name="CustomShape 24"/>
          <p:cNvSpPr/>
          <p:nvPr/>
        </p:nvSpPr>
        <p:spPr>
          <a:xfrm>
            <a:off x="900000" y="60480"/>
            <a:ext cx="806364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Changing the Quantity Lowers Total Surplus</a:t>
            </a:r>
            <a:endParaRPr lang="en-US" sz="1800" strike="noStrike" spc="-1">
              <a:solidFill>
                <a:srgbClr val="000000"/>
              </a:solidFill>
              <a:uFill>
                <a:solidFill>
                  <a:srgbClr val="FFFFFF"/>
                </a:solidFill>
              </a:uFill>
              <a:latin typeface="Arial"/>
            </a:endParaRPr>
          </a:p>
        </p:txBody>
      </p:sp>
      <p:sp>
        <p:nvSpPr>
          <p:cNvPr id="1171" name="Line 25"/>
          <p:cNvSpPr/>
          <p:nvPr/>
        </p:nvSpPr>
        <p:spPr>
          <a:xfrm>
            <a:off x="4606920" y="3563640"/>
            <a:ext cx="7920" cy="166536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172" name="Line 26"/>
          <p:cNvSpPr/>
          <p:nvPr/>
        </p:nvSpPr>
        <p:spPr>
          <a:xfrm>
            <a:off x="2842920" y="3541680"/>
            <a:ext cx="1798920" cy="144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173" name="CustomShape 27"/>
          <p:cNvSpPr/>
          <p:nvPr/>
        </p:nvSpPr>
        <p:spPr>
          <a:xfrm>
            <a:off x="4592880" y="3284640"/>
            <a:ext cx="1116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E</a:t>
            </a:r>
            <a:endParaRPr lang="en-US" sz="1800" strike="noStrike" spc="-1">
              <a:solidFill>
                <a:srgbClr val="000000"/>
              </a:solidFill>
              <a:uFill>
                <a:solidFill>
                  <a:srgbClr val="FFFFFF"/>
                </a:solidFill>
              </a:uFill>
              <a:latin typeface="Arial"/>
            </a:endParaRPr>
          </a:p>
        </p:txBody>
      </p:sp>
      <p:sp>
        <p:nvSpPr>
          <p:cNvPr id="1174" name="CustomShape 28"/>
          <p:cNvSpPr/>
          <p:nvPr/>
        </p:nvSpPr>
        <p:spPr>
          <a:xfrm>
            <a:off x="4570560" y="3495600"/>
            <a:ext cx="97560" cy="9468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175" name="Line 29"/>
          <p:cNvSpPr/>
          <p:nvPr/>
        </p:nvSpPr>
        <p:spPr>
          <a:xfrm>
            <a:off x="2627280" y="3933720"/>
            <a:ext cx="1296720" cy="36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176" name="CustomShape 30"/>
          <p:cNvSpPr/>
          <p:nvPr/>
        </p:nvSpPr>
        <p:spPr>
          <a:xfrm>
            <a:off x="3916440" y="4008600"/>
            <a:ext cx="1116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X</a:t>
            </a:r>
            <a:endParaRPr lang="en-US" sz="1800" strike="noStrike" spc="-1">
              <a:solidFill>
                <a:srgbClr val="000000"/>
              </a:solidFill>
              <a:uFill>
                <a:solidFill>
                  <a:srgbClr val="FFFFFF"/>
                </a:solidFill>
              </a:uFill>
              <a:latin typeface="Arial"/>
            </a:endParaRPr>
          </a:p>
        </p:txBody>
      </p:sp>
      <p:sp>
        <p:nvSpPr>
          <p:cNvPr id="1177" name="CustomShape 31"/>
          <p:cNvSpPr/>
          <p:nvPr/>
        </p:nvSpPr>
        <p:spPr>
          <a:xfrm>
            <a:off x="3919680" y="2766960"/>
            <a:ext cx="1116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A</a:t>
            </a:r>
            <a:endParaRPr lang="en-US" sz="1800" strike="noStrike" spc="-1">
              <a:solidFill>
                <a:srgbClr val="000000"/>
              </a:solidFill>
              <a:uFill>
                <a:solidFill>
                  <a:srgbClr val="FFFFFF"/>
                </a:solidFill>
              </a:uFill>
              <a:latin typeface="Arial"/>
            </a:endParaRPr>
          </a:p>
        </p:txBody>
      </p:sp>
      <p:sp>
        <p:nvSpPr>
          <p:cNvPr id="1178" name="CustomShape 32"/>
          <p:cNvSpPr/>
          <p:nvPr/>
        </p:nvSpPr>
        <p:spPr>
          <a:xfrm>
            <a:off x="3897360" y="3046320"/>
            <a:ext cx="99360" cy="9468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179" name="CustomShape 33"/>
          <p:cNvSpPr/>
          <p:nvPr/>
        </p:nvSpPr>
        <p:spPr>
          <a:xfrm>
            <a:off x="3897360" y="3909960"/>
            <a:ext cx="99360" cy="9468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180" name="Line 34"/>
          <p:cNvSpPr/>
          <p:nvPr/>
        </p:nvSpPr>
        <p:spPr>
          <a:xfrm>
            <a:off x="3946320" y="3116160"/>
            <a:ext cx="360" cy="620640"/>
          </a:xfrm>
          <a:prstGeom prst="line">
            <a:avLst/>
          </a:prstGeom>
          <a:ln w="111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81" name="CustomShape 35"/>
          <p:cNvSpPr/>
          <p:nvPr/>
        </p:nvSpPr>
        <p:spPr>
          <a:xfrm>
            <a:off x="3917880" y="3708360"/>
            <a:ext cx="61200" cy="105480"/>
          </a:xfrm>
          <a:custGeom>
            <a:avLst/>
            <a:gdLst/>
            <a:ahLst/>
            <a:cxnLst/>
            <a:rect l="l" t="t" r="r" b="b"/>
            <a:pathLst>
              <a:path w="13" h="22">
                <a:moveTo>
                  <a:pt x="6" y="4"/>
                </a:moveTo>
                <a:cubicBezTo>
                  <a:pt x="13" y="0"/>
                  <a:pt x="13" y="0"/>
                  <a:pt x="13" y="0"/>
                </a:cubicBezTo>
                <a:cubicBezTo>
                  <a:pt x="13" y="0"/>
                  <a:pt x="13" y="0"/>
                  <a:pt x="13" y="0"/>
                </a:cubicBezTo>
                <a:cubicBezTo>
                  <a:pt x="9" y="11"/>
                  <a:pt x="9" y="11"/>
                  <a:pt x="9" y="11"/>
                </a:cubicBezTo>
                <a:cubicBezTo>
                  <a:pt x="8" y="14"/>
                  <a:pt x="7" y="18"/>
                  <a:pt x="6" y="22"/>
                </a:cubicBezTo>
                <a:cubicBezTo>
                  <a:pt x="5" y="18"/>
                  <a:pt x="5" y="14"/>
                  <a:pt x="4" y="11"/>
                </a:cubicBezTo>
                <a:cubicBezTo>
                  <a:pt x="0" y="0"/>
                  <a:pt x="0" y="0"/>
                  <a:pt x="0" y="0"/>
                </a:cubicBezTo>
                <a:cubicBezTo>
                  <a:pt x="0" y="0"/>
                  <a:pt x="0" y="0"/>
                  <a:pt x="0" y="0"/>
                </a:cubicBezTo>
                <a:lnTo>
                  <a:pt x="6" y="4"/>
                </a:lnTo>
                <a:close/>
              </a:path>
            </a:pathLst>
          </a:cu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182" name="Line 36"/>
          <p:cNvSpPr/>
          <p:nvPr/>
        </p:nvSpPr>
        <p:spPr>
          <a:xfrm>
            <a:off x="2627280" y="3068280"/>
            <a:ext cx="1296720" cy="36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183" name="CustomShape 37"/>
          <p:cNvSpPr/>
          <p:nvPr/>
        </p:nvSpPr>
        <p:spPr>
          <a:xfrm>
            <a:off x="3749400" y="5445000"/>
            <a:ext cx="3402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750</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4" name="CustomShape 1"/>
          <p:cNvSpPr/>
          <p:nvPr/>
        </p:nvSpPr>
        <p:spPr>
          <a:xfrm>
            <a:off x="6638760" y="1922400"/>
            <a:ext cx="142200" cy="2131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S</a:t>
            </a:r>
            <a:endParaRPr lang="en-US" sz="1800" strike="noStrike" spc="-1">
              <a:solidFill>
                <a:srgbClr val="000000"/>
              </a:solidFill>
              <a:uFill>
                <a:solidFill>
                  <a:srgbClr val="FFFFFF"/>
                </a:solidFill>
              </a:uFill>
              <a:latin typeface="Arial"/>
            </a:endParaRPr>
          </a:p>
        </p:txBody>
      </p:sp>
      <p:sp>
        <p:nvSpPr>
          <p:cNvPr id="1185" name="CustomShape 2"/>
          <p:cNvSpPr/>
          <p:nvPr/>
        </p:nvSpPr>
        <p:spPr>
          <a:xfrm>
            <a:off x="6608160" y="4746600"/>
            <a:ext cx="13140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D</a:t>
            </a:r>
            <a:endParaRPr lang="en-US" sz="1800" strike="noStrike" spc="-1">
              <a:solidFill>
                <a:srgbClr val="000000"/>
              </a:solidFill>
              <a:uFill>
                <a:solidFill>
                  <a:srgbClr val="FFFFFF"/>
                </a:solidFill>
              </a:uFill>
              <a:latin typeface="Arial"/>
            </a:endParaRPr>
          </a:p>
        </p:txBody>
      </p:sp>
      <p:sp>
        <p:nvSpPr>
          <p:cNvPr id="1186" name="Line 3"/>
          <p:cNvSpPr/>
          <p:nvPr/>
        </p:nvSpPr>
        <p:spPr>
          <a:xfrm flipH="1">
            <a:off x="2539800" y="2111040"/>
            <a:ext cx="4054320" cy="2733840"/>
          </a:xfrm>
          <a:prstGeom prst="line">
            <a:avLst/>
          </a:prstGeom>
          <a:ln w="30240">
            <a:solidFill>
              <a:srgbClr val="EE313C"/>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87" name="Line 4"/>
          <p:cNvSpPr/>
          <p:nvPr/>
        </p:nvSpPr>
        <p:spPr>
          <a:xfrm>
            <a:off x="2590560" y="2133360"/>
            <a:ext cx="3978360" cy="2664000"/>
          </a:xfrm>
          <a:prstGeom prst="line">
            <a:avLst/>
          </a:prstGeom>
          <a:ln w="30240">
            <a:solidFill>
              <a:srgbClr val="3C5DAA"/>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88" name="Line 5"/>
          <p:cNvSpPr/>
          <p:nvPr/>
        </p:nvSpPr>
        <p:spPr>
          <a:xfrm>
            <a:off x="4578120" y="3482640"/>
            <a:ext cx="7920" cy="166536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189" name="Line 6"/>
          <p:cNvSpPr/>
          <p:nvPr/>
        </p:nvSpPr>
        <p:spPr>
          <a:xfrm>
            <a:off x="2814480" y="3460680"/>
            <a:ext cx="1798560" cy="144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190" name="CustomShape 7"/>
          <p:cNvSpPr/>
          <p:nvPr/>
        </p:nvSpPr>
        <p:spPr>
          <a:xfrm>
            <a:off x="4564800" y="3203640"/>
            <a:ext cx="111600" cy="21312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E</a:t>
            </a:r>
            <a:endParaRPr lang="en-US" sz="1800" strike="noStrike" spc="-1">
              <a:solidFill>
                <a:srgbClr val="000000"/>
              </a:solidFill>
              <a:uFill>
                <a:solidFill>
                  <a:srgbClr val="FFFFFF"/>
                </a:solidFill>
              </a:uFill>
              <a:latin typeface="Arial"/>
            </a:endParaRPr>
          </a:p>
        </p:txBody>
      </p:sp>
      <p:sp>
        <p:nvSpPr>
          <p:cNvPr id="1191" name="CustomShape 8"/>
          <p:cNvSpPr/>
          <p:nvPr/>
        </p:nvSpPr>
        <p:spPr>
          <a:xfrm>
            <a:off x="4541760" y="3414600"/>
            <a:ext cx="97560" cy="9468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192" name="Line 9"/>
          <p:cNvSpPr/>
          <p:nvPr/>
        </p:nvSpPr>
        <p:spPr>
          <a:xfrm>
            <a:off x="2814480" y="3025440"/>
            <a:ext cx="2320920" cy="504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193" name="Line 10"/>
          <p:cNvSpPr/>
          <p:nvPr/>
        </p:nvSpPr>
        <p:spPr>
          <a:xfrm>
            <a:off x="2814480" y="3902040"/>
            <a:ext cx="2421000" cy="1440"/>
          </a:xfrm>
          <a:prstGeom prst="line">
            <a:avLst/>
          </a:prstGeom>
          <a:ln w="15840" cap="rnd">
            <a:solidFill>
              <a:srgbClr val="808080"/>
            </a:solidFill>
            <a:custDash>
              <a:ds d="100000" sp="100000"/>
            </a:custDash>
            <a:round/>
          </a:ln>
        </p:spPr>
        <p:style>
          <a:lnRef idx="0">
            <a:scrgbClr r="0" g="0" b="0"/>
          </a:lnRef>
          <a:fillRef idx="0">
            <a:scrgbClr r="0" g="0" b="0"/>
          </a:fillRef>
          <a:effectRef idx="0">
            <a:scrgbClr r="0" g="0" b="0"/>
          </a:effectRef>
          <a:fontRef idx="minor"/>
        </p:style>
        <p:txBody>
          <a:bodyPr/>
          <a:lstStyle/>
          <a:p>
            <a:endParaRPr lang="zh-CN" altLang="en-US"/>
          </a:p>
        </p:txBody>
      </p:sp>
      <p:sp>
        <p:nvSpPr>
          <p:cNvPr id="1194" name="CustomShape 11"/>
          <p:cNvSpPr/>
          <p:nvPr/>
        </p:nvSpPr>
        <p:spPr>
          <a:xfrm>
            <a:off x="5155560" y="2766960"/>
            <a:ext cx="1036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Y</a:t>
            </a:r>
            <a:endParaRPr lang="en-US" sz="1800" strike="noStrike" spc="-1">
              <a:solidFill>
                <a:srgbClr val="000000"/>
              </a:solidFill>
              <a:uFill>
                <a:solidFill>
                  <a:srgbClr val="FFFFFF"/>
                </a:solidFill>
              </a:uFill>
              <a:latin typeface="Arial"/>
            </a:endParaRPr>
          </a:p>
        </p:txBody>
      </p:sp>
      <p:sp>
        <p:nvSpPr>
          <p:cNvPr id="1195" name="CustomShape 12"/>
          <p:cNvSpPr/>
          <p:nvPr/>
        </p:nvSpPr>
        <p:spPr>
          <a:xfrm>
            <a:off x="5189400" y="2986200"/>
            <a:ext cx="99360" cy="9468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196" name="CustomShape 13"/>
          <p:cNvSpPr/>
          <p:nvPr/>
        </p:nvSpPr>
        <p:spPr>
          <a:xfrm>
            <a:off x="5164200" y="3946680"/>
            <a:ext cx="1116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i="1" strike="noStrike" spc="-1">
                <a:solidFill>
                  <a:srgbClr val="000000"/>
                </a:solidFill>
                <a:uFill>
                  <a:solidFill>
                    <a:srgbClr val="FFFFFF"/>
                  </a:solidFill>
                </a:uFill>
                <a:latin typeface="Myriad Pro"/>
                <a:ea typeface="MS PGothic"/>
              </a:rPr>
              <a:t>B</a:t>
            </a:r>
            <a:endParaRPr lang="en-US" sz="1800" strike="noStrike" spc="-1">
              <a:solidFill>
                <a:srgbClr val="000000"/>
              </a:solidFill>
              <a:uFill>
                <a:solidFill>
                  <a:srgbClr val="FFFFFF"/>
                </a:solidFill>
              </a:uFill>
              <a:latin typeface="Arial"/>
            </a:endParaRPr>
          </a:p>
        </p:txBody>
      </p:sp>
      <p:sp>
        <p:nvSpPr>
          <p:cNvPr id="1197" name="CustomShape 14"/>
          <p:cNvSpPr/>
          <p:nvPr/>
        </p:nvSpPr>
        <p:spPr>
          <a:xfrm>
            <a:off x="5195880" y="3843360"/>
            <a:ext cx="97560" cy="94680"/>
          </a:xfrm>
          <a:prstGeom prst="ellipse">
            <a:avLst/>
          </a:pr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198" name="Line 15"/>
          <p:cNvSpPr/>
          <p:nvPr/>
        </p:nvSpPr>
        <p:spPr>
          <a:xfrm>
            <a:off x="5244840" y="3116160"/>
            <a:ext cx="360" cy="620640"/>
          </a:xfrm>
          <a:prstGeom prst="line">
            <a:avLst/>
          </a:prstGeom>
          <a:ln w="1116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199" name="CustomShape 16"/>
          <p:cNvSpPr/>
          <p:nvPr/>
        </p:nvSpPr>
        <p:spPr>
          <a:xfrm>
            <a:off x="5214960" y="3708360"/>
            <a:ext cx="64440" cy="105480"/>
          </a:xfrm>
          <a:custGeom>
            <a:avLst/>
            <a:gdLst/>
            <a:ahLst/>
            <a:cxnLst/>
            <a:rect l="l" t="t" r="r" b="b"/>
            <a:pathLst>
              <a:path w="13" h="22">
                <a:moveTo>
                  <a:pt x="6" y="4"/>
                </a:moveTo>
                <a:cubicBezTo>
                  <a:pt x="13" y="0"/>
                  <a:pt x="13" y="0"/>
                  <a:pt x="13" y="0"/>
                </a:cubicBezTo>
                <a:cubicBezTo>
                  <a:pt x="13" y="0"/>
                  <a:pt x="13" y="0"/>
                  <a:pt x="13" y="0"/>
                </a:cubicBezTo>
                <a:cubicBezTo>
                  <a:pt x="9" y="11"/>
                  <a:pt x="9" y="11"/>
                  <a:pt x="9" y="11"/>
                </a:cubicBezTo>
                <a:cubicBezTo>
                  <a:pt x="8" y="14"/>
                  <a:pt x="7" y="18"/>
                  <a:pt x="6" y="22"/>
                </a:cubicBezTo>
                <a:cubicBezTo>
                  <a:pt x="5" y="18"/>
                  <a:pt x="5" y="14"/>
                  <a:pt x="4" y="11"/>
                </a:cubicBezTo>
                <a:cubicBezTo>
                  <a:pt x="0" y="0"/>
                  <a:pt x="0" y="0"/>
                  <a:pt x="0" y="0"/>
                </a:cubicBezTo>
                <a:cubicBezTo>
                  <a:pt x="0" y="0"/>
                  <a:pt x="0" y="0"/>
                  <a:pt x="0" y="0"/>
                </a:cubicBezTo>
                <a:lnTo>
                  <a:pt x="6" y="4"/>
                </a:lnTo>
                <a:close/>
              </a:path>
            </a:pathLst>
          </a:cu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200" name="Line 17"/>
          <p:cNvSpPr/>
          <p:nvPr/>
        </p:nvSpPr>
        <p:spPr>
          <a:xfrm flipH="1">
            <a:off x="5275080" y="3409920"/>
            <a:ext cx="42696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201" name="CustomShape 18"/>
          <p:cNvSpPr/>
          <p:nvPr/>
        </p:nvSpPr>
        <p:spPr>
          <a:xfrm>
            <a:off x="5526000" y="2971800"/>
            <a:ext cx="2093040" cy="837360"/>
          </a:xfrm>
          <a:custGeom>
            <a:avLst/>
            <a:gdLst/>
            <a:ahLst/>
            <a:cxnLst/>
            <a:rect l="l" t="t" r="r" b="b"/>
            <a:pathLst>
              <a:path w="254" h="211">
                <a:moveTo>
                  <a:pt x="237" y="211"/>
                </a:moveTo>
                <a:cubicBezTo>
                  <a:pt x="246" y="211"/>
                  <a:pt x="254" y="203"/>
                  <a:pt x="254" y="194"/>
                </a:cubicBezTo>
                <a:cubicBezTo>
                  <a:pt x="254" y="17"/>
                  <a:pt x="254" y="17"/>
                  <a:pt x="254" y="17"/>
                </a:cubicBezTo>
                <a:cubicBezTo>
                  <a:pt x="254" y="8"/>
                  <a:pt x="246" y="0"/>
                  <a:pt x="237" y="0"/>
                </a:cubicBezTo>
                <a:cubicBezTo>
                  <a:pt x="17" y="0"/>
                  <a:pt x="17" y="0"/>
                  <a:pt x="17" y="0"/>
                </a:cubicBezTo>
                <a:cubicBezTo>
                  <a:pt x="8" y="0"/>
                  <a:pt x="0" y="8"/>
                  <a:pt x="0" y="17"/>
                </a:cubicBezTo>
                <a:cubicBezTo>
                  <a:pt x="0" y="194"/>
                  <a:pt x="0" y="194"/>
                  <a:pt x="0" y="194"/>
                </a:cubicBezTo>
                <a:cubicBezTo>
                  <a:pt x="0" y="203"/>
                  <a:pt x="8" y="211"/>
                  <a:pt x="17" y="211"/>
                </a:cubicBezTo>
                <a:lnTo>
                  <a:pt x="237" y="211"/>
                </a:lnTo>
                <a:close/>
              </a:path>
            </a:pathLst>
          </a:custGeom>
          <a:solidFill>
            <a:srgbClr val="D7E2E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202" name="CustomShape 19"/>
          <p:cNvSpPr/>
          <p:nvPr/>
        </p:nvSpPr>
        <p:spPr>
          <a:xfrm>
            <a:off x="5546880" y="3076560"/>
            <a:ext cx="2056680" cy="63864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gn="ctr">
              <a:lnSpc>
                <a:spcPct val="100000"/>
              </a:lnSpc>
            </a:pPr>
            <a:r>
              <a:rPr lang="en-US" sz="1400" strike="noStrike" spc="-1">
                <a:solidFill>
                  <a:srgbClr val="000000"/>
                </a:solidFill>
                <a:uFill>
                  <a:solidFill>
                    <a:srgbClr val="FFFFFF"/>
                  </a:solidFill>
                </a:uFill>
                <a:latin typeface="Calibri"/>
                <a:ea typeface="MS PGothic"/>
              </a:rPr>
              <a:t>Loss in total surplus if the transaction between Yvonne and Bob is forced</a:t>
            </a:r>
            <a:endParaRPr lang="en-US" sz="1800" strike="noStrike" spc="-1">
              <a:solidFill>
                <a:srgbClr val="000000"/>
              </a:solidFill>
              <a:uFill>
                <a:solidFill>
                  <a:srgbClr val="FFFFFF"/>
                </a:solidFill>
              </a:uFill>
              <a:latin typeface="Arial"/>
            </a:endParaRPr>
          </a:p>
        </p:txBody>
      </p:sp>
      <p:sp>
        <p:nvSpPr>
          <p:cNvPr id="1203" name="Line 20"/>
          <p:cNvSpPr/>
          <p:nvPr/>
        </p:nvSpPr>
        <p:spPr>
          <a:xfrm flipV="1">
            <a:off x="2570040" y="1576080"/>
            <a:ext cx="360" cy="351972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204" name="CustomShape 21"/>
          <p:cNvSpPr/>
          <p:nvPr/>
        </p:nvSpPr>
        <p:spPr>
          <a:xfrm>
            <a:off x="4360680" y="5391000"/>
            <a:ext cx="5094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1,000</a:t>
            </a:r>
            <a:endParaRPr lang="en-US" sz="1800" strike="noStrike" spc="-1">
              <a:solidFill>
                <a:srgbClr val="000000"/>
              </a:solidFill>
              <a:uFill>
                <a:solidFill>
                  <a:srgbClr val="FFFFFF"/>
                </a:solidFill>
              </a:uFill>
              <a:latin typeface="Arial"/>
            </a:endParaRPr>
          </a:p>
        </p:txBody>
      </p:sp>
      <p:sp>
        <p:nvSpPr>
          <p:cNvPr id="1205" name="CustomShape 22"/>
          <p:cNvSpPr/>
          <p:nvPr/>
        </p:nvSpPr>
        <p:spPr>
          <a:xfrm>
            <a:off x="2294280" y="336060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30</a:t>
            </a:r>
            <a:endParaRPr lang="en-US" sz="1800" strike="noStrike" spc="-1">
              <a:solidFill>
                <a:srgbClr val="000000"/>
              </a:solidFill>
              <a:uFill>
                <a:solidFill>
                  <a:srgbClr val="FFFFFF"/>
                </a:solidFill>
              </a:uFill>
              <a:latin typeface="Arial"/>
            </a:endParaRPr>
          </a:p>
        </p:txBody>
      </p:sp>
      <p:sp>
        <p:nvSpPr>
          <p:cNvPr id="1206" name="Line 23"/>
          <p:cNvSpPr/>
          <p:nvPr/>
        </p:nvSpPr>
        <p:spPr>
          <a:xfrm>
            <a:off x="2570040" y="3462120"/>
            <a:ext cx="11736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207" name="CustomShape 24"/>
          <p:cNvSpPr/>
          <p:nvPr/>
        </p:nvSpPr>
        <p:spPr>
          <a:xfrm>
            <a:off x="2196720" y="2930400"/>
            <a:ext cx="34020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$35</a:t>
            </a:r>
            <a:endParaRPr lang="en-US" sz="1800" strike="noStrike" spc="-1">
              <a:solidFill>
                <a:srgbClr val="000000"/>
              </a:solidFill>
              <a:uFill>
                <a:solidFill>
                  <a:srgbClr val="FFFFFF"/>
                </a:solidFill>
              </a:uFill>
              <a:latin typeface="Arial"/>
            </a:endParaRPr>
          </a:p>
        </p:txBody>
      </p:sp>
      <p:sp>
        <p:nvSpPr>
          <p:cNvPr id="1208" name="Line 25"/>
          <p:cNvSpPr/>
          <p:nvPr/>
        </p:nvSpPr>
        <p:spPr>
          <a:xfrm>
            <a:off x="2570040" y="3031920"/>
            <a:ext cx="11736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209" name="CustomShape 26"/>
          <p:cNvSpPr/>
          <p:nvPr/>
        </p:nvSpPr>
        <p:spPr>
          <a:xfrm>
            <a:off x="2294280" y="3789360"/>
            <a:ext cx="22752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25</a:t>
            </a:r>
            <a:endParaRPr lang="en-US" sz="1800" strike="noStrike" spc="-1">
              <a:solidFill>
                <a:srgbClr val="000000"/>
              </a:solidFill>
              <a:uFill>
                <a:solidFill>
                  <a:srgbClr val="FFFFFF"/>
                </a:solidFill>
              </a:uFill>
              <a:latin typeface="Arial"/>
            </a:endParaRPr>
          </a:p>
        </p:txBody>
      </p:sp>
      <p:sp>
        <p:nvSpPr>
          <p:cNvPr id="1210" name="Line 27"/>
          <p:cNvSpPr/>
          <p:nvPr/>
        </p:nvSpPr>
        <p:spPr>
          <a:xfrm>
            <a:off x="2570040" y="3890880"/>
            <a:ext cx="117360" cy="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211" name="Line 28"/>
          <p:cNvSpPr/>
          <p:nvPr/>
        </p:nvSpPr>
        <p:spPr>
          <a:xfrm flipV="1">
            <a:off x="4597200" y="5240160"/>
            <a:ext cx="360" cy="11736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212" name="CustomShape 29"/>
          <p:cNvSpPr/>
          <p:nvPr/>
        </p:nvSpPr>
        <p:spPr>
          <a:xfrm>
            <a:off x="2393640" y="5391000"/>
            <a:ext cx="114480" cy="212400"/>
          </a:xfrm>
          <a:prstGeom prst="rect">
            <a:avLst/>
          </a:prstGeom>
          <a:noFill/>
          <a:ln w="9360">
            <a:noFill/>
          </a:ln>
        </p:spPr>
        <p:style>
          <a:lnRef idx="0">
            <a:scrgbClr r="0" g="0" b="0"/>
          </a:lnRef>
          <a:fillRef idx="0">
            <a:scrgbClr r="0" g="0" b="0"/>
          </a:fillRef>
          <a:effectRef idx="0">
            <a:scrgbClr r="0" g="0" b="0"/>
          </a:effectRef>
          <a:fontRef idx="minor"/>
        </p:style>
        <p:txBody>
          <a:bodyPr wrap="none"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0</a:t>
            </a:r>
            <a:endParaRPr lang="en-US" sz="1800" strike="noStrike" spc="-1">
              <a:solidFill>
                <a:srgbClr val="000000"/>
              </a:solidFill>
              <a:uFill>
                <a:solidFill>
                  <a:srgbClr val="FFFFFF"/>
                </a:solidFill>
              </a:uFill>
              <a:latin typeface="Arial"/>
            </a:endParaRPr>
          </a:p>
        </p:txBody>
      </p:sp>
      <p:sp>
        <p:nvSpPr>
          <p:cNvPr id="1213" name="CustomShape 30"/>
          <p:cNvSpPr/>
          <p:nvPr/>
        </p:nvSpPr>
        <p:spPr>
          <a:xfrm>
            <a:off x="2570040" y="5173560"/>
            <a:ext cx="4366440" cy="183600"/>
          </a:xfrm>
          <a:custGeom>
            <a:avLst/>
            <a:gdLst/>
            <a:ahLst/>
            <a:cxnLst/>
            <a:rect l="l" t="t" r="r" b="b"/>
            <a:pathLst>
              <a:path w="2097" h="90">
                <a:moveTo>
                  <a:pt x="2097" y="90"/>
                </a:moveTo>
                <a:lnTo>
                  <a:pt x="0" y="90"/>
                </a:lnTo>
                <a:lnTo>
                  <a:pt x="0" y="0"/>
                </a:lnTo>
              </a:path>
            </a:pathLst>
          </a:custGeom>
          <a:noFill/>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214" name="Line 31"/>
          <p:cNvSpPr/>
          <p:nvPr/>
        </p:nvSpPr>
        <p:spPr>
          <a:xfrm flipV="1">
            <a:off x="2520720" y="5067000"/>
            <a:ext cx="103320" cy="572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215" name="Line 32"/>
          <p:cNvSpPr/>
          <p:nvPr/>
        </p:nvSpPr>
        <p:spPr>
          <a:xfrm flipV="1">
            <a:off x="2520720" y="5144760"/>
            <a:ext cx="103320" cy="57240"/>
          </a:xfrm>
          <a:prstGeom prst="line">
            <a:avLst/>
          </a:prstGeom>
          <a:ln w="7920">
            <a:solidFill>
              <a:srgbClr val="000000"/>
            </a:solidFill>
            <a:miter/>
          </a:ln>
        </p:spPr>
        <p:style>
          <a:lnRef idx="0">
            <a:scrgbClr r="0" g="0" b="0"/>
          </a:lnRef>
          <a:fillRef idx="0">
            <a:scrgbClr r="0" g="0" b="0"/>
          </a:fillRef>
          <a:effectRef idx="0">
            <a:scrgbClr r="0" g="0" b="0"/>
          </a:effectRef>
          <a:fontRef idx="minor"/>
        </p:style>
        <p:txBody>
          <a:bodyPr/>
          <a:lstStyle/>
          <a:p>
            <a:endParaRPr lang="zh-CN" altLang="en-US"/>
          </a:p>
        </p:txBody>
      </p:sp>
      <p:sp>
        <p:nvSpPr>
          <p:cNvPr id="1216" name="CustomShape 33"/>
          <p:cNvSpPr/>
          <p:nvPr/>
        </p:nvSpPr>
        <p:spPr>
          <a:xfrm>
            <a:off x="1905120" y="1295280"/>
            <a:ext cx="997920" cy="21312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nSpc>
                <a:spcPct val="100000"/>
              </a:lnSpc>
            </a:pPr>
            <a:r>
              <a:rPr lang="en-US" sz="1400" b="1" strike="noStrike" spc="-1">
                <a:solidFill>
                  <a:srgbClr val="000000"/>
                </a:solidFill>
                <a:uFill>
                  <a:solidFill>
                    <a:srgbClr val="FFFFFF"/>
                  </a:solidFill>
                </a:uFill>
                <a:latin typeface="Calibri"/>
                <a:ea typeface="MS PGothic"/>
              </a:rPr>
              <a:t>Price of book</a:t>
            </a:r>
            <a:endParaRPr lang="en-US" sz="1800" strike="noStrike" spc="-1">
              <a:solidFill>
                <a:srgbClr val="000000"/>
              </a:solidFill>
              <a:uFill>
                <a:solidFill>
                  <a:srgbClr val="FFFFFF"/>
                </a:solidFill>
              </a:uFill>
              <a:latin typeface="Arial"/>
            </a:endParaRPr>
          </a:p>
        </p:txBody>
      </p:sp>
      <p:sp>
        <p:nvSpPr>
          <p:cNvPr id="1217" name="CustomShape 34"/>
          <p:cNvSpPr/>
          <p:nvPr/>
        </p:nvSpPr>
        <p:spPr>
          <a:xfrm>
            <a:off x="5635800" y="5540400"/>
            <a:ext cx="289800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nSpc>
                <a:spcPct val="100000"/>
              </a:lnSpc>
            </a:pPr>
            <a:r>
              <a:rPr lang="en-US" sz="1400" b="1" strike="noStrike" spc="-1">
                <a:solidFill>
                  <a:srgbClr val="000000"/>
                </a:solidFill>
                <a:uFill>
                  <a:solidFill>
                    <a:srgbClr val="FFFFFF"/>
                  </a:solidFill>
                </a:uFill>
                <a:latin typeface="Calibri"/>
                <a:ea typeface="MS PGothic"/>
              </a:rPr>
              <a:t>Quantity of books</a:t>
            </a:r>
            <a:endParaRPr lang="en-US" sz="1800" strike="noStrike" spc="-1">
              <a:solidFill>
                <a:srgbClr val="000000"/>
              </a:solidFill>
              <a:uFill>
                <a:solidFill>
                  <a:srgbClr val="FFFFFF"/>
                </a:solidFill>
              </a:uFill>
              <a:latin typeface="Arial"/>
            </a:endParaRPr>
          </a:p>
        </p:txBody>
      </p:sp>
      <p:sp>
        <p:nvSpPr>
          <p:cNvPr id="1218" name="CustomShape 35"/>
          <p:cNvSpPr/>
          <p:nvPr/>
        </p:nvSpPr>
        <p:spPr>
          <a:xfrm>
            <a:off x="900000" y="60480"/>
            <a:ext cx="806364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Changing the Quantity Lowers Total Surplus</a:t>
            </a:r>
            <a:endParaRPr lang="en-US" sz="1800" strike="noStrike" spc="-1">
              <a:solidFill>
                <a:srgbClr val="000000"/>
              </a:solidFill>
              <a:uFill>
                <a:solidFill>
                  <a:srgbClr val="FFFFFF"/>
                </a:solidFill>
              </a:uFill>
              <a:latin typeface="Arial"/>
            </a:endParaRPr>
          </a:p>
        </p:txBody>
      </p:sp>
      <p:sp>
        <p:nvSpPr>
          <p:cNvPr id="1219" name="Line 36"/>
          <p:cNvSpPr/>
          <p:nvPr/>
        </p:nvSpPr>
        <p:spPr>
          <a:xfrm flipV="1">
            <a:off x="5283000" y="1268280"/>
            <a:ext cx="360" cy="4103640"/>
          </a:xfrm>
          <a:prstGeom prst="line">
            <a:avLst/>
          </a:prstGeom>
          <a:ln w="9360">
            <a:solidFill>
              <a:schemeClr val="tx1"/>
            </a:solidFill>
            <a:round/>
          </a:ln>
        </p:spPr>
        <p:style>
          <a:lnRef idx="0">
            <a:scrgbClr r="0" g="0" b="0"/>
          </a:lnRef>
          <a:fillRef idx="0">
            <a:scrgbClr r="0" g="0" b="0"/>
          </a:fillRef>
          <a:effectRef idx="0">
            <a:scrgbClr r="0" g="0" b="0"/>
          </a:effectRef>
          <a:fontRef idx="minor"/>
        </p:style>
        <p:txBody>
          <a:bodyPr/>
          <a:lstStyle/>
          <a:p>
            <a:endParaRPr lang="zh-CN" altLang="en-US"/>
          </a:p>
        </p:txBody>
      </p:sp>
      <p:sp>
        <p:nvSpPr>
          <p:cNvPr id="1220" name="CustomShape 37"/>
          <p:cNvSpPr/>
          <p:nvPr/>
        </p:nvSpPr>
        <p:spPr>
          <a:xfrm>
            <a:off x="5076720" y="5373720"/>
            <a:ext cx="573840" cy="21240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marL="1440" indent="-720">
              <a:lnSpc>
                <a:spcPct val="100000"/>
              </a:lnSpc>
            </a:pPr>
            <a:r>
              <a:rPr lang="en-US" sz="1400" strike="noStrike" spc="-1">
                <a:solidFill>
                  <a:srgbClr val="000000"/>
                </a:solidFill>
                <a:uFill>
                  <a:solidFill>
                    <a:srgbClr val="FFFFFF"/>
                  </a:solidFill>
                </a:uFill>
                <a:latin typeface="Myriad Pro"/>
                <a:ea typeface="MS PGothic"/>
              </a:rPr>
              <a:t>1,250</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1" name="CustomShape 1"/>
          <p:cNvSpPr/>
          <p:nvPr/>
        </p:nvSpPr>
        <p:spPr>
          <a:xfrm>
            <a:off x="1065240" y="44280"/>
            <a:ext cx="807804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The Efficiency of the Equilibrium Quantity</a:t>
            </a:r>
            <a:endParaRPr lang="en-US" sz="1800" strike="noStrike" spc="-1">
              <a:solidFill>
                <a:srgbClr val="000000"/>
              </a:solidFill>
              <a:uFill>
                <a:solidFill>
                  <a:srgbClr val="FFFFFF"/>
                </a:solidFill>
              </a:uFill>
              <a:latin typeface="Arial"/>
            </a:endParaRPr>
          </a:p>
        </p:txBody>
      </p:sp>
      <p:sp>
        <p:nvSpPr>
          <p:cNvPr id="1222" name="CustomShape 2"/>
          <p:cNvSpPr/>
          <p:nvPr/>
        </p:nvSpPr>
        <p:spPr>
          <a:xfrm>
            <a:off x="2712960" y="1684440"/>
            <a:ext cx="5307840" cy="3053520"/>
          </a:xfrm>
          <a:prstGeom prst="rect">
            <a:avLst/>
          </a:prstGeom>
          <a:solidFill>
            <a:schemeClr val="bg1"/>
          </a:solidFill>
          <a:ln>
            <a:solidFill>
              <a:schemeClr val="bg1"/>
            </a:solidFill>
            <a:round/>
          </a:ln>
        </p:spPr>
        <p:style>
          <a:lnRef idx="2">
            <a:schemeClr val="accent1">
              <a:shade val="50000"/>
            </a:schemeClr>
          </a:lnRef>
          <a:fillRef idx="1">
            <a:schemeClr val="accent1"/>
          </a:fillRef>
          <a:effectRef idx="0">
            <a:schemeClr val="accent1"/>
          </a:effectRef>
          <a:fontRef idx="minor"/>
        </p:style>
        <p:txBody>
          <a:bodyPr/>
          <a:lstStyle/>
          <a:p>
            <a:endParaRPr lang="zh-CN" altLang="en-US"/>
          </a:p>
        </p:txBody>
      </p:sp>
      <p:sp>
        <p:nvSpPr>
          <p:cNvPr id="1223" name="Line 3"/>
          <p:cNvSpPr/>
          <p:nvPr/>
        </p:nvSpPr>
        <p:spPr>
          <a:xfrm>
            <a:off x="2711160" y="1677960"/>
            <a:ext cx="1800" cy="3049560"/>
          </a:xfrm>
          <a:prstGeom prst="line">
            <a:avLst/>
          </a:prstGeom>
          <a:ln w="28440">
            <a:solidFill>
              <a:schemeClr val="tx1"/>
            </a:solidFill>
            <a:round/>
          </a:ln>
        </p:spPr>
        <p:style>
          <a:lnRef idx="1">
            <a:schemeClr val="accent1"/>
          </a:lnRef>
          <a:fillRef idx="0">
            <a:schemeClr val="accent1"/>
          </a:fillRef>
          <a:effectRef idx="0">
            <a:schemeClr val="accent1"/>
          </a:effectRef>
          <a:fontRef idx="minor"/>
        </p:style>
        <p:txBody>
          <a:bodyPr/>
          <a:lstStyle/>
          <a:p>
            <a:endParaRPr lang="zh-CN" altLang="en-US"/>
          </a:p>
        </p:txBody>
      </p:sp>
      <p:sp>
        <p:nvSpPr>
          <p:cNvPr id="1224" name="CustomShape 4"/>
          <p:cNvSpPr/>
          <p:nvPr/>
        </p:nvSpPr>
        <p:spPr>
          <a:xfrm>
            <a:off x="1970280" y="1728720"/>
            <a:ext cx="644040" cy="3333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600" strike="noStrike" spc="-1">
                <a:solidFill>
                  <a:srgbClr val="000000"/>
                </a:solidFill>
                <a:uFill>
                  <a:solidFill>
                    <a:srgbClr val="FFFFFF"/>
                  </a:solidFill>
                </a:uFill>
                <a:latin typeface="Arial"/>
                <a:ea typeface="MS PGothic"/>
              </a:rPr>
              <a:t>Price</a:t>
            </a:r>
            <a:endParaRPr lang="en-US" sz="1800" strike="noStrike" spc="-1">
              <a:solidFill>
                <a:srgbClr val="000000"/>
              </a:solidFill>
              <a:uFill>
                <a:solidFill>
                  <a:srgbClr val="FFFFFF"/>
                </a:solidFill>
              </a:uFill>
              <a:latin typeface="Arial"/>
            </a:endParaRPr>
          </a:p>
        </p:txBody>
      </p:sp>
      <p:sp>
        <p:nvSpPr>
          <p:cNvPr id="1225" name="Line 5"/>
          <p:cNvSpPr/>
          <p:nvPr/>
        </p:nvSpPr>
        <p:spPr>
          <a:xfrm>
            <a:off x="2712960" y="4738680"/>
            <a:ext cx="5314680" cy="4680"/>
          </a:xfrm>
          <a:prstGeom prst="line">
            <a:avLst/>
          </a:prstGeom>
          <a:ln w="28440">
            <a:solidFill>
              <a:schemeClr val="tx1"/>
            </a:solidFill>
            <a:round/>
          </a:ln>
        </p:spPr>
        <p:style>
          <a:lnRef idx="1">
            <a:schemeClr val="accent1"/>
          </a:lnRef>
          <a:fillRef idx="0">
            <a:schemeClr val="accent1"/>
          </a:fillRef>
          <a:effectRef idx="0">
            <a:schemeClr val="accent1"/>
          </a:effectRef>
          <a:fontRef idx="minor"/>
        </p:style>
        <p:txBody>
          <a:bodyPr/>
          <a:lstStyle/>
          <a:p>
            <a:endParaRPr lang="zh-CN" altLang="en-US"/>
          </a:p>
        </p:txBody>
      </p:sp>
      <p:sp>
        <p:nvSpPr>
          <p:cNvPr id="1226" name="CustomShape 6"/>
          <p:cNvSpPr/>
          <p:nvPr/>
        </p:nvSpPr>
        <p:spPr>
          <a:xfrm>
            <a:off x="2486520" y="4738680"/>
            <a:ext cx="293400" cy="3333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600" strike="noStrike" spc="-1">
                <a:solidFill>
                  <a:srgbClr val="000000"/>
                </a:solidFill>
                <a:uFill>
                  <a:solidFill>
                    <a:srgbClr val="FFFFFF"/>
                  </a:solidFill>
                </a:uFill>
                <a:latin typeface="Arial"/>
                <a:ea typeface="MS PGothic"/>
              </a:rPr>
              <a:t>0</a:t>
            </a:r>
            <a:endParaRPr lang="en-US" sz="1800" strike="noStrike" spc="-1">
              <a:solidFill>
                <a:srgbClr val="000000"/>
              </a:solidFill>
              <a:uFill>
                <a:solidFill>
                  <a:srgbClr val="FFFFFF"/>
                </a:solidFill>
              </a:uFill>
              <a:latin typeface="Arial"/>
            </a:endParaRPr>
          </a:p>
        </p:txBody>
      </p:sp>
      <p:sp>
        <p:nvSpPr>
          <p:cNvPr id="1227" name="CustomShape 7"/>
          <p:cNvSpPr/>
          <p:nvPr/>
        </p:nvSpPr>
        <p:spPr>
          <a:xfrm>
            <a:off x="7066440" y="4818240"/>
            <a:ext cx="933480" cy="3333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600" strike="noStrike" spc="-1">
                <a:solidFill>
                  <a:srgbClr val="000000"/>
                </a:solidFill>
                <a:uFill>
                  <a:solidFill>
                    <a:srgbClr val="FFFFFF"/>
                  </a:solidFill>
                </a:uFill>
                <a:latin typeface="Arial"/>
                <a:ea typeface="MS PGothic"/>
              </a:rPr>
              <a:t>Quantity</a:t>
            </a:r>
            <a:endParaRPr lang="en-US" sz="1800" strike="noStrike" spc="-1">
              <a:solidFill>
                <a:srgbClr val="000000"/>
              </a:solidFill>
              <a:uFill>
                <a:solidFill>
                  <a:srgbClr val="FFFFFF"/>
                </a:solidFill>
              </a:uFill>
              <a:latin typeface="Arial"/>
            </a:endParaRPr>
          </a:p>
        </p:txBody>
      </p:sp>
      <p:sp>
        <p:nvSpPr>
          <p:cNvPr id="1228" name="Line 8"/>
          <p:cNvSpPr/>
          <p:nvPr/>
        </p:nvSpPr>
        <p:spPr>
          <a:xfrm flipH="1">
            <a:off x="4802040" y="2950920"/>
            <a:ext cx="1440" cy="1805040"/>
          </a:xfrm>
          <a:prstGeom prst="line">
            <a:avLst/>
          </a:prstGeom>
          <a:ln>
            <a:solidFill>
              <a:schemeClr val="tx1"/>
            </a:solidFill>
            <a:custDash>
              <a:ds d="100000" sp="100000"/>
            </a:custDash>
            <a:round/>
          </a:ln>
        </p:spPr>
        <p:style>
          <a:lnRef idx="1">
            <a:schemeClr val="accent1"/>
          </a:lnRef>
          <a:fillRef idx="0">
            <a:schemeClr val="accent1"/>
          </a:fillRef>
          <a:effectRef idx="0">
            <a:schemeClr val="accent1"/>
          </a:effectRef>
          <a:fontRef idx="minor"/>
        </p:style>
        <p:txBody>
          <a:bodyPr/>
          <a:lstStyle/>
          <a:p>
            <a:endParaRPr lang="zh-CN" altLang="en-US"/>
          </a:p>
        </p:txBody>
      </p:sp>
      <p:sp>
        <p:nvSpPr>
          <p:cNvPr id="1229" name="CustomShape 9"/>
          <p:cNvSpPr/>
          <p:nvPr/>
        </p:nvSpPr>
        <p:spPr>
          <a:xfrm>
            <a:off x="4195800" y="4699080"/>
            <a:ext cx="1185120" cy="6174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strike="noStrike" spc="-1">
                <a:solidFill>
                  <a:srgbClr val="000000"/>
                </a:solidFill>
                <a:uFill>
                  <a:solidFill>
                    <a:srgbClr val="FFFFFF"/>
                  </a:solidFill>
                </a:uFill>
                <a:latin typeface="Arial"/>
                <a:ea typeface="MS PGothic"/>
              </a:rPr>
              <a:t>Equilibrium</a:t>
            </a:r>
            <a:endParaRPr lang="en-US" sz="1800" strike="noStrike" spc="-1">
              <a:solidFill>
                <a:srgbClr val="000000"/>
              </a:solidFill>
              <a:uFill>
                <a:solidFill>
                  <a:srgbClr val="FFFFFF"/>
                </a:solidFill>
              </a:uFill>
              <a:latin typeface="Arial"/>
            </a:endParaRPr>
          </a:p>
          <a:p>
            <a:pPr algn="ctr">
              <a:lnSpc>
                <a:spcPct val="100000"/>
              </a:lnSpc>
            </a:pPr>
            <a:r>
              <a:rPr lang="en-US" sz="1600" strike="noStrike" spc="-1">
                <a:solidFill>
                  <a:srgbClr val="000000"/>
                </a:solidFill>
                <a:uFill>
                  <a:solidFill>
                    <a:srgbClr val="FFFFFF"/>
                  </a:solidFill>
                </a:uFill>
                <a:latin typeface="Arial"/>
                <a:ea typeface="MS PGothic"/>
              </a:rPr>
              <a:t>quantity</a:t>
            </a:r>
            <a:endParaRPr lang="en-US" sz="1800" strike="noStrike" spc="-1">
              <a:solidFill>
                <a:srgbClr val="000000"/>
              </a:solidFill>
              <a:uFill>
                <a:solidFill>
                  <a:srgbClr val="FFFFFF"/>
                </a:solidFill>
              </a:uFill>
              <a:latin typeface="Arial"/>
            </a:endParaRPr>
          </a:p>
        </p:txBody>
      </p:sp>
      <p:sp>
        <p:nvSpPr>
          <p:cNvPr id="1230" name="Line 10"/>
          <p:cNvSpPr/>
          <p:nvPr/>
        </p:nvSpPr>
        <p:spPr>
          <a:xfrm>
            <a:off x="2724120" y="1833480"/>
            <a:ext cx="4311360" cy="2279520"/>
          </a:xfrm>
          <a:prstGeom prst="line">
            <a:avLst/>
          </a:prstGeom>
          <a:ln w="38160">
            <a:solidFill>
              <a:srgbClr val="0000B8"/>
            </a:solidFill>
            <a:round/>
          </a:ln>
        </p:spPr>
        <p:style>
          <a:lnRef idx="1">
            <a:schemeClr val="accent1"/>
          </a:lnRef>
          <a:fillRef idx="0">
            <a:schemeClr val="accent1"/>
          </a:fillRef>
          <a:effectRef idx="0">
            <a:schemeClr val="accent1"/>
          </a:effectRef>
          <a:fontRef idx="minor"/>
        </p:style>
        <p:txBody>
          <a:bodyPr/>
          <a:lstStyle/>
          <a:p>
            <a:endParaRPr lang="zh-CN" altLang="en-US"/>
          </a:p>
        </p:txBody>
      </p:sp>
      <p:sp>
        <p:nvSpPr>
          <p:cNvPr id="1231" name="CustomShape 11"/>
          <p:cNvSpPr/>
          <p:nvPr/>
        </p:nvSpPr>
        <p:spPr>
          <a:xfrm>
            <a:off x="6999480" y="4130640"/>
            <a:ext cx="1003680" cy="3333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600" strike="noStrike" spc="-1">
                <a:solidFill>
                  <a:srgbClr val="000000"/>
                </a:solidFill>
                <a:uFill>
                  <a:solidFill>
                    <a:srgbClr val="FFFFFF"/>
                  </a:solidFill>
                </a:uFill>
                <a:latin typeface="Arial"/>
                <a:ea typeface="MS PGothic"/>
              </a:rPr>
              <a:t>Demand </a:t>
            </a:r>
            <a:endParaRPr lang="en-US" sz="1800" strike="noStrike" spc="-1">
              <a:solidFill>
                <a:srgbClr val="000000"/>
              </a:solidFill>
              <a:uFill>
                <a:solidFill>
                  <a:srgbClr val="FFFFFF"/>
                </a:solidFill>
              </a:uFill>
              <a:latin typeface="Arial"/>
            </a:endParaRPr>
          </a:p>
        </p:txBody>
      </p:sp>
      <p:sp>
        <p:nvSpPr>
          <p:cNvPr id="1232" name="Line 12"/>
          <p:cNvSpPr/>
          <p:nvPr/>
        </p:nvSpPr>
        <p:spPr>
          <a:xfrm flipV="1">
            <a:off x="2712960" y="1939680"/>
            <a:ext cx="3527280" cy="2446560"/>
          </a:xfrm>
          <a:prstGeom prst="line">
            <a:avLst/>
          </a:prstGeom>
          <a:ln w="38160">
            <a:solidFill>
              <a:srgbClr val="C00000"/>
            </a:solidFill>
            <a:round/>
          </a:ln>
        </p:spPr>
        <p:style>
          <a:lnRef idx="1">
            <a:schemeClr val="accent1"/>
          </a:lnRef>
          <a:fillRef idx="0">
            <a:schemeClr val="accent1"/>
          </a:fillRef>
          <a:effectRef idx="0">
            <a:schemeClr val="accent1"/>
          </a:effectRef>
          <a:fontRef idx="minor"/>
        </p:style>
        <p:txBody>
          <a:bodyPr/>
          <a:lstStyle/>
          <a:p>
            <a:endParaRPr lang="zh-CN" altLang="en-US"/>
          </a:p>
        </p:txBody>
      </p:sp>
      <p:sp>
        <p:nvSpPr>
          <p:cNvPr id="1233" name="CustomShape 13"/>
          <p:cNvSpPr/>
          <p:nvPr/>
        </p:nvSpPr>
        <p:spPr>
          <a:xfrm>
            <a:off x="6088320" y="1628640"/>
            <a:ext cx="855720" cy="33336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600" strike="noStrike" spc="-1">
                <a:solidFill>
                  <a:srgbClr val="000000"/>
                </a:solidFill>
                <a:uFill>
                  <a:solidFill>
                    <a:srgbClr val="FFFFFF"/>
                  </a:solidFill>
                </a:uFill>
                <a:latin typeface="Arial"/>
                <a:ea typeface="MS PGothic"/>
              </a:rPr>
              <a:t>Supply </a:t>
            </a:r>
            <a:endParaRPr lang="en-US" sz="1800" strike="noStrike" spc="-1">
              <a:solidFill>
                <a:srgbClr val="000000"/>
              </a:solidFill>
              <a:uFill>
                <a:solidFill>
                  <a:srgbClr val="FFFFFF"/>
                </a:solidFill>
              </a:uFill>
              <a:latin typeface="Arial"/>
            </a:endParaRPr>
          </a:p>
        </p:txBody>
      </p:sp>
      <p:sp>
        <p:nvSpPr>
          <p:cNvPr id="1234" name="CustomShape 14"/>
          <p:cNvSpPr/>
          <p:nvPr/>
        </p:nvSpPr>
        <p:spPr>
          <a:xfrm>
            <a:off x="4726080" y="2868480"/>
            <a:ext cx="145440" cy="135720"/>
          </a:xfrm>
          <a:custGeom>
            <a:avLst/>
            <a:gdLst/>
            <a:ahLst/>
            <a:cxnLst/>
            <a:rect l="l" t="t" r="r" b="b"/>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w="9360">
            <a:noFill/>
          </a:ln>
        </p:spPr>
        <p:style>
          <a:lnRef idx="0">
            <a:scrgbClr r="0" g="0" b="0"/>
          </a:lnRef>
          <a:fillRef idx="0">
            <a:scrgbClr r="0" g="0" b="0"/>
          </a:fillRef>
          <a:effectRef idx="0">
            <a:scrgbClr r="0" g="0" b="0"/>
          </a:effectRef>
          <a:fontRef idx="minor"/>
        </p:style>
        <p:txBody>
          <a:bodyPr/>
          <a:lstStyle/>
          <a:p>
            <a:endParaRPr lang="zh-CN" altLang="en-US"/>
          </a:p>
        </p:txBody>
      </p:sp>
      <p:sp>
        <p:nvSpPr>
          <p:cNvPr id="1235" name="Line 15"/>
          <p:cNvSpPr/>
          <p:nvPr/>
        </p:nvSpPr>
        <p:spPr>
          <a:xfrm flipV="1">
            <a:off x="3792240" y="4541760"/>
            <a:ext cx="1800" cy="214200"/>
          </a:xfrm>
          <a:prstGeom prst="line">
            <a:avLst/>
          </a:prstGeom>
          <a:ln>
            <a:solidFill>
              <a:schemeClr val="tx1"/>
            </a:solidFill>
            <a:round/>
          </a:ln>
        </p:spPr>
        <p:style>
          <a:lnRef idx="1">
            <a:schemeClr val="accent1"/>
          </a:lnRef>
          <a:fillRef idx="0">
            <a:schemeClr val="accent1"/>
          </a:fillRef>
          <a:effectRef idx="0">
            <a:schemeClr val="accent1"/>
          </a:effectRef>
          <a:fontRef idx="minor"/>
        </p:style>
        <p:txBody>
          <a:bodyPr/>
          <a:lstStyle/>
          <a:p>
            <a:endParaRPr lang="zh-CN" altLang="en-US"/>
          </a:p>
        </p:txBody>
      </p:sp>
      <p:sp>
        <p:nvSpPr>
          <p:cNvPr id="1236" name="CustomShape 16"/>
          <p:cNvSpPr/>
          <p:nvPr/>
        </p:nvSpPr>
        <p:spPr>
          <a:xfrm>
            <a:off x="3607200" y="4719240"/>
            <a:ext cx="403200" cy="3661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600" strike="noStrike" spc="-1">
                <a:solidFill>
                  <a:srgbClr val="000000"/>
                </a:solidFill>
                <a:uFill>
                  <a:solidFill>
                    <a:srgbClr val="FFFFFF"/>
                  </a:solidFill>
                </a:uFill>
                <a:latin typeface="Arial"/>
                <a:ea typeface="MS PGothic"/>
              </a:rPr>
              <a:t>Q</a:t>
            </a:r>
            <a:r>
              <a:rPr lang="en-US" sz="1600" strike="noStrike" spc="-1" baseline="-25000">
                <a:solidFill>
                  <a:srgbClr val="000000"/>
                </a:solidFill>
                <a:uFill>
                  <a:solidFill>
                    <a:srgbClr val="FFFFFF"/>
                  </a:solidFill>
                </a:uFill>
                <a:latin typeface="Arial"/>
                <a:ea typeface="MS PGothic"/>
              </a:rPr>
              <a:t>1</a:t>
            </a:r>
            <a:endParaRPr lang="en-US" sz="1800" strike="noStrike" spc="-1">
              <a:solidFill>
                <a:srgbClr val="000000"/>
              </a:solidFill>
              <a:uFill>
                <a:solidFill>
                  <a:srgbClr val="FFFFFF"/>
                </a:solidFill>
              </a:uFill>
              <a:latin typeface="Arial"/>
            </a:endParaRPr>
          </a:p>
        </p:txBody>
      </p:sp>
      <p:sp>
        <p:nvSpPr>
          <p:cNvPr id="1237" name="Line 17"/>
          <p:cNvSpPr/>
          <p:nvPr/>
        </p:nvSpPr>
        <p:spPr>
          <a:xfrm flipV="1">
            <a:off x="5808600" y="4530600"/>
            <a:ext cx="1440" cy="212760"/>
          </a:xfrm>
          <a:prstGeom prst="line">
            <a:avLst/>
          </a:prstGeom>
          <a:ln>
            <a:solidFill>
              <a:schemeClr val="tx1"/>
            </a:solidFill>
            <a:round/>
          </a:ln>
        </p:spPr>
        <p:style>
          <a:lnRef idx="1">
            <a:schemeClr val="accent1"/>
          </a:lnRef>
          <a:fillRef idx="0">
            <a:schemeClr val="accent1"/>
          </a:fillRef>
          <a:effectRef idx="0">
            <a:schemeClr val="accent1"/>
          </a:effectRef>
          <a:fontRef idx="minor"/>
        </p:style>
        <p:txBody>
          <a:bodyPr/>
          <a:lstStyle/>
          <a:p>
            <a:endParaRPr lang="zh-CN" altLang="en-US"/>
          </a:p>
        </p:txBody>
      </p:sp>
      <p:sp>
        <p:nvSpPr>
          <p:cNvPr id="1238" name="CustomShape 18"/>
          <p:cNvSpPr/>
          <p:nvPr/>
        </p:nvSpPr>
        <p:spPr>
          <a:xfrm>
            <a:off x="5623200" y="4719600"/>
            <a:ext cx="403200" cy="3661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600" strike="noStrike" spc="-1">
                <a:solidFill>
                  <a:srgbClr val="000000"/>
                </a:solidFill>
                <a:uFill>
                  <a:solidFill>
                    <a:srgbClr val="FFFFFF"/>
                  </a:solidFill>
                </a:uFill>
                <a:latin typeface="Arial"/>
                <a:ea typeface="MS PGothic"/>
              </a:rPr>
              <a:t>Q</a:t>
            </a:r>
            <a:r>
              <a:rPr lang="en-US" sz="1600" strike="noStrike" spc="-1" baseline="-25000">
                <a:solidFill>
                  <a:srgbClr val="000000"/>
                </a:solidFill>
                <a:uFill>
                  <a:solidFill>
                    <a:srgbClr val="FFFFFF"/>
                  </a:solidFill>
                </a:uFill>
                <a:latin typeface="Arial"/>
                <a:ea typeface="MS PGothic"/>
              </a:rPr>
              <a:t>2</a:t>
            </a:r>
            <a:endParaRPr lang="en-US" sz="1800" strike="noStrike" spc="-1">
              <a:solidFill>
                <a:srgbClr val="000000"/>
              </a:solidFill>
              <a:uFill>
                <a:solidFill>
                  <a:srgbClr val="FFFFFF"/>
                </a:solidFill>
              </a:uFill>
              <a:latin typeface="Arial"/>
            </a:endParaRPr>
          </a:p>
        </p:txBody>
      </p:sp>
      <p:sp>
        <p:nvSpPr>
          <p:cNvPr id="1239" name="CustomShape 19"/>
          <p:cNvSpPr/>
          <p:nvPr/>
        </p:nvSpPr>
        <p:spPr>
          <a:xfrm rot="16200000" flipV="1">
            <a:off x="2699280" y="3574080"/>
            <a:ext cx="2282040" cy="7200"/>
          </a:xfrm>
          <a:custGeom>
            <a:avLst/>
            <a:gdLst/>
            <a:ahLst/>
            <a:cxnLst/>
            <a:rect l="l" t="t" r="r" b="b"/>
            <a:pathLst>
              <a:path w="21600" h="21600">
                <a:moveTo>
                  <a:pt x="0" y="0"/>
                </a:moveTo>
                <a:lnTo>
                  <a:pt x="21600" y="21600"/>
                </a:lnTo>
              </a:path>
            </a:pathLst>
          </a:custGeom>
          <a:noFill/>
          <a:ln w="57240">
            <a:solidFill>
              <a:srgbClr val="0000B8"/>
            </a:solidFill>
            <a:round/>
            <a:tailEnd type="triangle" w="med" len="med"/>
          </a:ln>
        </p:spPr>
        <p:style>
          <a:lnRef idx="1">
            <a:schemeClr val="accent1"/>
          </a:lnRef>
          <a:fillRef idx="0">
            <a:schemeClr val="accent1"/>
          </a:fillRef>
          <a:effectRef idx="0">
            <a:schemeClr val="accent1"/>
          </a:effectRef>
          <a:fontRef idx="minor"/>
        </p:style>
        <p:txBody>
          <a:bodyPr/>
          <a:lstStyle/>
          <a:p>
            <a:endParaRPr lang="zh-CN" altLang="en-US"/>
          </a:p>
        </p:txBody>
      </p:sp>
      <p:sp>
        <p:nvSpPr>
          <p:cNvPr id="1240" name="CustomShape 20"/>
          <p:cNvSpPr/>
          <p:nvPr/>
        </p:nvSpPr>
        <p:spPr>
          <a:xfrm>
            <a:off x="3011040" y="2546280"/>
            <a:ext cx="787320" cy="90144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strike="noStrike" spc="-1">
                <a:solidFill>
                  <a:srgbClr val="000000"/>
                </a:solidFill>
                <a:uFill>
                  <a:solidFill>
                    <a:srgbClr val="FFFFFF"/>
                  </a:solidFill>
                </a:uFill>
                <a:latin typeface="Arial"/>
                <a:ea typeface="MS PGothic"/>
              </a:rPr>
              <a:t>Value</a:t>
            </a:r>
            <a:endParaRPr lang="en-US" sz="1800" strike="noStrike" spc="-1">
              <a:solidFill>
                <a:srgbClr val="000000"/>
              </a:solidFill>
              <a:uFill>
                <a:solidFill>
                  <a:srgbClr val="FFFFFF"/>
                </a:solidFill>
              </a:uFill>
              <a:latin typeface="Arial"/>
            </a:endParaRPr>
          </a:p>
          <a:p>
            <a:pPr algn="ctr">
              <a:lnSpc>
                <a:spcPct val="100000"/>
              </a:lnSpc>
            </a:pPr>
            <a:r>
              <a:rPr lang="en-US" sz="1600" strike="noStrike" spc="-1">
                <a:solidFill>
                  <a:srgbClr val="000000"/>
                </a:solidFill>
                <a:uFill>
                  <a:solidFill>
                    <a:srgbClr val="FFFFFF"/>
                  </a:solidFill>
                </a:uFill>
                <a:latin typeface="Arial"/>
                <a:ea typeface="MS PGothic"/>
              </a:rPr>
              <a:t>to</a:t>
            </a:r>
            <a:endParaRPr lang="en-US" sz="1800" strike="noStrike" spc="-1">
              <a:solidFill>
                <a:srgbClr val="000000"/>
              </a:solidFill>
              <a:uFill>
                <a:solidFill>
                  <a:srgbClr val="FFFFFF"/>
                </a:solidFill>
              </a:uFill>
              <a:latin typeface="Arial"/>
            </a:endParaRPr>
          </a:p>
          <a:p>
            <a:pPr algn="ctr">
              <a:lnSpc>
                <a:spcPct val="100000"/>
              </a:lnSpc>
            </a:pPr>
            <a:r>
              <a:rPr lang="en-US" sz="1600" strike="noStrike" spc="-1">
                <a:solidFill>
                  <a:srgbClr val="000000"/>
                </a:solidFill>
                <a:uFill>
                  <a:solidFill>
                    <a:srgbClr val="FFFFFF"/>
                  </a:solidFill>
                </a:uFill>
                <a:latin typeface="Arial"/>
                <a:ea typeface="MS PGothic"/>
              </a:rPr>
              <a:t>buyers</a:t>
            </a:r>
            <a:endParaRPr lang="en-US" sz="1800" strike="noStrike" spc="-1">
              <a:solidFill>
                <a:srgbClr val="000000"/>
              </a:solidFill>
              <a:uFill>
                <a:solidFill>
                  <a:srgbClr val="FFFFFF"/>
                </a:solidFill>
              </a:uFill>
              <a:latin typeface="Arial"/>
            </a:endParaRPr>
          </a:p>
        </p:txBody>
      </p:sp>
      <p:sp>
        <p:nvSpPr>
          <p:cNvPr id="1241" name="CustomShape 21"/>
          <p:cNvSpPr/>
          <p:nvPr/>
        </p:nvSpPr>
        <p:spPr>
          <a:xfrm rot="16200000" flipV="1">
            <a:off x="5243400" y="4100760"/>
            <a:ext cx="1232640" cy="720"/>
          </a:xfrm>
          <a:custGeom>
            <a:avLst/>
            <a:gdLst/>
            <a:ahLst/>
            <a:cxnLst/>
            <a:rect l="l" t="t" r="r" b="b"/>
            <a:pathLst>
              <a:path w="21600" h="21600">
                <a:moveTo>
                  <a:pt x="0" y="0"/>
                </a:moveTo>
                <a:lnTo>
                  <a:pt x="21600" y="21600"/>
                </a:lnTo>
              </a:path>
            </a:pathLst>
          </a:custGeom>
          <a:noFill/>
          <a:ln w="57240">
            <a:solidFill>
              <a:srgbClr val="0000B8"/>
            </a:solidFill>
            <a:round/>
            <a:tailEnd type="triangle" w="med" len="med"/>
          </a:ln>
        </p:spPr>
        <p:style>
          <a:lnRef idx="1">
            <a:schemeClr val="accent1"/>
          </a:lnRef>
          <a:fillRef idx="0">
            <a:schemeClr val="accent1"/>
          </a:fillRef>
          <a:effectRef idx="0">
            <a:schemeClr val="accent1"/>
          </a:effectRef>
          <a:fontRef idx="minor"/>
        </p:style>
        <p:txBody>
          <a:bodyPr/>
          <a:lstStyle/>
          <a:p>
            <a:endParaRPr lang="zh-CN" altLang="en-US"/>
          </a:p>
        </p:txBody>
      </p:sp>
      <p:sp>
        <p:nvSpPr>
          <p:cNvPr id="1242" name="CustomShape 22"/>
          <p:cNvSpPr/>
          <p:nvPr/>
        </p:nvSpPr>
        <p:spPr>
          <a:xfrm>
            <a:off x="5891760" y="4027320"/>
            <a:ext cx="1012680" cy="6174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strike="noStrike" spc="-1">
                <a:solidFill>
                  <a:srgbClr val="000000"/>
                </a:solidFill>
                <a:uFill>
                  <a:solidFill>
                    <a:srgbClr val="FFFFFF"/>
                  </a:solidFill>
                </a:uFill>
                <a:latin typeface="Arial"/>
                <a:ea typeface="MS PGothic"/>
              </a:rPr>
              <a:t>Value</a:t>
            </a:r>
            <a:endParaRPr lang="en-US" sz="1800" strike="noStrike" spc="-1">
              <a:solidFill>
                <a:srgbClr val="000000"/>
              </a:solidFill>
              <a:uFill>
                <a:solidFill>
                  <a:srgbClr val="FFFFFF"/>
                </a:solidFill>
              </a:uFill>
              <a:latin typeface="Arial"/>
            </a:endParaRPr>
          </a:p>
          <a:p>
            <a:pPr algn="ctr">
              <a:lnSpc>
                <a:spcPct val="100000"/>
              </a:lnSpc>
            </a:pPr>
            <a:r>
              <a:rPr lang="en-US" sz="1600" strike="noStrike" spc="-1">
                <a:solidFill>
                  <a:srgbClr val="000000"/>
                </a:solidFill>
                <a:uFill>
                  <a:solidFill>
                    <a:srgbClr val="FFFFFF"/>
                  </a:solidFill>
                </a:uFill>
                <a:latin typeface="Arial"/>
                <a:ea typeface="MS PGothic"/>
              </a:rPr>
              <a:t>to buyers</a:t>
            </a:r>
            <a:endParaRPr lang="en-US" sz="1800" strike="noStrike" spc="-1">
              <a:solidFill>
                <a:srgbClr val="000000"/>
              </a:solidFill>
              <a:uFill>
                <a:solidFill>
                  <a:srgbClr val="FFFFFF"/>
                </a:solidFill>
              </a:uFill>
              <a:latin typeface="Arial"/>
            </a:endParaRPr>
          </a:p>
        </p:txBody>
      </p:sp>
      <p:sp>
        <p:nvSpPr>
          <p:cNvPr id="1243" name="CustomShape 23"/>
          <p:cNvSpPr/>
          <p:nvPr/>
        </p:nvSpPr>
        <p:spPr>
          <a:xfrm rot="16200000" flipV="1">
            <a:off x="4531320" y="3494880"/>
            <a:ext cx="2455200" cy="11880"/>
          </a:xfrm>
          <a:custGeom>
            <a:avLst/>
            <a:gdLst/>
            <a:ahLst/>
            <a:cxnLst/>
            <a:rect l="l" t="t" r="r" b="b"/>
            <a:pathLst>
              <a:path w="21600" h="21600">
                <a:moveTo>
                  <a:pt x="0" y="0"/>
                </a:moveTo>
                <a:lnTo>
                  <a:pt x="21600" y="21600"/>
                </a:lnTo>
              </a:path>
            </a:pathLst>
          </a:custGeom>
          <a:noFill/>
          <a:ln w="57240">
            <a:solidFill>
              <a:srgbClr val="C00000"/>
            </a:solidFill>
            <a:round/>
            <a:tailEnd type="triangle" w="med" len="med"/>
          </a:ln>
        </p:spPr>
        <p:style>
          <a:lnRef idx="1">
            <a:schemeClr val="accent1"/>
          </a:lnRef>
          <a:fillRef idx="0">
            <a:schemeClr val="accent1"/>
          </a:fillRef>
          <a:effectRef idx="0">
            <a:schemeClr val="accent1"/>
          </a:effectRef>
          <a:fontRef idx="minor"/>
        </p:style>
        <p:txBody>
          <a:bodyPr/>
          <a:lstStyle/>
          <a:p>
            <a:endParaRPr lang="zh-CN" altLang="en-US"/>
          </a:p>
        </p:txBody>
      </p:sp>
      <p:sp>
        <p:nvSpPr>
          <p:cNvPr id="1244" name="CustomShape 24"/>
          <p:cNvSpPr/>
          <p:nvPr/>
        </p:nvSpPr>
        <p:spPr>
          <a:xfrm>
            <a:off x="5770440" y="2519280"/>
            <a:ext cx="768960" cy="90144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strike="noStrike" spc="-1">
                <a:solidFill>
                  <a:srgbClr val="000000"/>
                </a:solidFill>
                <a:uFill>
                  <a:solidFill>
                    <a:srgbClr val="FFFFFF"/>
                  </a:solidFill>
                </a:uFill>
                <a:latin typeface="Arial"/>
                <a:ea typeface="MS PGothic"/>
              </a:rPr>
              <a:t>Cost</a:t>
            </a:r>
            <a:endParaRPr lang="en-US" sz="1800" strike="noStrike" spc="-1">
              <a:solidFill>
                <a:srgbClr val="000000"/>
              </a:solidFill>
              <a:uFill>
                <a:solidFill>
                  <a:srgbClr val="FFFFFF"/>
                </a:solidFill>
              </a:uFill>
              <a:latin typeface="Arial"/>
            </a:endParaRPr>
          </a:p>
          <a:p>
            <a:pPr algn="ctr">
              <a:lnSpc>
                <a:spcPct val="100000"/>
              </a:lnSpc>
            </a:pPr>
            <a:r>
              <a:rPr lang="en-US" sz="1600" strike="noStrike" spc="-1">
                <a:solidFill>
                  <a:srgbClr val="000000"/>
                </a:solidFill>
                <a:uFill>
                  <a:solidFill>
                    <a:srgbClr val="FFFFFF"/>
                  </a:solidFill>
                </a:uFill>
                <a:latin typeface="Arial"/>
                <a:ea typeface="MS PGothic"/>
              </a:rPr>
              <a:t>to</a:t>
            </a:r>
            <a:endParaRPr lang="en-US" sz="1800" strike="noStrike" spc="-1">
              <a:solidFill>
                <a:srgbClr val="000000"/>
              </a:solidFill>
              <a:uFill>
                <a:solidFill>
                  <a:srgbClr val="FFFFFF"/>
                </a:solidFill>
              </a:uFill>
              <a:latin typeface="Arial"/>
            </a:endParaRPr>
          </a:p>
          <a:p>
            <a:pPr algn="ctr">
              <a:lnSpc>
                <a:spcPct val="100000"/>
              </a:lnSpc>
            </a:pPr>
            <a:r>
              <a:rPr lang="en-US" sz="1600" strike="noStrike" spc="-1">
                <a:solidFill>
                  <a:srgbClr val="000000"/>
                </a:solidFill>
                <a:uFill>
                  <a:solidFill>
                    <a:srgbClr val="FFFFFF"/>
                  </a:solidFill>
                </a:uFill>
                <a:latin typeface="Arial"/>
                <a:ea typeface="MS PGothic"/>
              </a:rPr>
              <a:t>sellers</a:t>
            </a:r>
            <a:endParaRPr lang="en-US" sz="1800" strike="noStrike" spc="-1">
              <a:solidFill>
                <a:srgbClr val="000000"/>
              </a:solidFill>
              <a:uFill>
                <a:solidFill>
                  <a:srgbClr val="FFFFFF"/>
                </a:solidFill>
              </a:uFill>
              <a:latin typeface="Arial"/>
            </a:endParaRPr>
          </a:p>
        </p:txBody>
      </p:sp>
      <p:sp>
        <p:nvSpPr>
          <p:cNvPr id="1245" name="CustomShape 25"/>
          <p:cNvSpPr/>
          <p:nvPr/>
        </p:nvSpPr>
        <p:spPr>
          <a:xfrm rot="16200000" flipV="1">
            <a:off x="3223440" y="4215600"/>
            <a:ext cx="1034280" cy="10440"/>
          </a:xfrm>
          <a:custGeom>
            <a:avLst/>
            <a:gdLst/>
            <a:ahLst/>
            <a:cxnLst/>
            <a:rect l="l" t="t" r="r" b="b"/>
            <a:pathLst>
              <a:path w="21600" h="21600">
                <a:moveTo>
                  <a:pt x="0" y="0"/>
                </a:moveTo>
                <a:lnTo>
                  <a:pt x="21600" y="21600"/>
                </a:lnTo>
              </a:path>
            </a:pathLst>
          </a:custGeom>
          <a:noFill/>
          <a:ln w="57240">
            <a:solidFill>
              <a:srgbClr val="C00000"/>
            </a:solidFill>
            <a:round/>
            <a:tailEnd type="triangle" w="med" len="med"/>
          </a:ln>
        </p:spPr>
        <p:style>
          <a:lnRef idx="1">
            <a:schemeClr val="accent1"/>
          </a:lnRef>
          <a:fillRef idx="0">
            <a:schemeClr val="accent1"/>
          </a:fillRef>
          <a:effectRef idx="0">
            <a:schemeClr val="accent1"/>
          </a:effectRef>
          <a:fontRef idx="minor"/>
        </p:style>
        <p:txBody>
          <a:bodyPr/>
          <a:lstStyle/>
          <a:p>
            <a:endParaRPr lang="zh-CN" altLang="en-US"/>
          </a:p>
        </p:txBody>
      </p:sp>
      <p:sp>
        <p:nvSpPr>
          <p:cNvPr id="1246" name="CustomShape 26"/>
          <p:cNvSpPr/>
          <p:nvPr/>
        </p:nvSpPr>
        <p:spPr>
          <a:xfrm>
            <a:off x="2788200" y="4067280"/>
            <a:ext cx="994680" cy="6174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z="1600" strike="noStrike" spc="-1">
                <a:solidFill>
                  <a:srgbClr val="000000"/>
                </a:solidFill>
                <a:uFill>
                  <a:solidFill>
                    <a:srgbClr val="FFFFFF"/>
                  </a:solidFill>
                </a:uFill>
                <a:latin typeface="Arial"/>
                <a:ea typeface="MS PGothic"/>
              </a:rPr>
              <a:t>Cost</a:t>
            </a:r>
            <a:endParaRPr lang="en-US" sz="1800" strike="noStrike" spc="-1">
              <a:solidFill>
                <a:srgbClr val="000000"/>
              </a:solidFill>
              <a:uFill>
                <a:solidFill>
                  <a:srgbClr val="FFFFFF"/>
                </a:solidFill>
              </a:uFill>
              <a:latin typeface="Arial"/>
            </a:endParaRPr>
          </a:p>
          <a:p>
            <a:pPr algn="ctr">
              <a:lnSpc>
                <a:spcPct val="100000"/>
              </a:lnSpc>
            </a:pPr>
            <a:r>
              <a:rPr lang="en-US" sz="1600" strike="noStrike" spc="-1">
                <a:solidFill>
                  <a:srgbClr val="000000"/>
                </a:solidFill>
                <a:uFill>
                  <a:solidFill>
                    <a:srgbClr val="FFFFFF"/>
                  </a:solidFill>
                </a:uFill>
                <a:latin typeface="Arial"/>
                <a:ea typeface="MS PGothic"/>
              </a:rPr>
              <a:t>to sellers</a:t>
            </a:r>
            <a:endParaRPr lang="en-US" sz="1800" strike="noStrike" spc="-1">
              <a:solidFill>
                <a:srgbClr val="000000"/>
              </a:solidFill>
              <a:uFill>
                <a:solidFill>
                  <a:srgbClr val="FFFFFF"/>
                </a:solidFill>
              </a:uFill>
              <a:latin typeface="Arial"/>
            </a:endParaRPr>
          </a:p>
        </p:txBody>
      </p:sp>
      <p:sp>
        <p:nvSpPr>
          <p:cNvPr id="1247" name="CustomShape 27"/>
          <p:cNvSpPr/>
          <p:nvPr/>
        </p:nvSpPr>
        <p:spPr>
          <a:xfrm rot="16200000">
            <a:off x="3585960" y="4347000"/>
            <a:ext cx="289800" cy="2083680"/>
          </a:xfrm>
          <a:prstGeom prst="leftBrace">
            <a:avLst>
              <a:gd name="adj1" fmla="val 48317"/>
              <a:gd name="adj2" fmla="val 50000"/>
            </a:avLst>
          </a:prstGeom>
          <a:noFill/>
          <a:ln w="19080">
            <a:solidFill>
              <a:schemeClr val="tx1"/>
            </a:solidFill>
            <a:round/>
          </a:ln>
        </p:spPr>
        <p:style>
          <a:lnRef idx="0">
            <a:scrgbClr r="0" g="0" b="0"/>
          </a:lnRef>
          <a:fillRef idx="0">
            <a:scrgbClr r="0" g="0" b="0"/>
          </a:fillRef>
          <a:effectRef idx="0">
            <a:scrgbClr r="0" g="0" b="0"/>
          </a:effectRef>
          <a:fontRef idx="minor"/>
        </p:style>
        <p:txBody>
          <a:bodyPr/>
          <a:lstStyle/>
          <a:p>
            <a:endParaRPr lang="zh-CN" altLang="en-US"/>
          </a:p>
        </p:txBody>
      </p:sp>
      <p:sp>
        <p:nvSpPr>
          <p:cNvPr id="1248" name="CustomShape 28"/>
          <p:cNvSpPr/>
          <p:nvPr/>
        </p:nvSpPr>
        <p:spPr>
          <a:xfrm>
            <a:off x="1928880" y="5553000"/>
            <a:ext cx="2667960" cy="576720"/>
          </a:xfrm>
          <a:prstGeom prst="rect">
            <a:avLst/>
          </a:prstGeom>
          <a:solidFill>
            <a:srgbClr val="FFCC66"/>
          </a:solid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600" strike="noStrike" spc="-1">
                <a:solidFill>
                  <a:srgbClr val="000000"/>
                </a:solidFill>
                <a:uFill>
                  <a:solidFill>
                    <a:srgbClr val="FFFFFF"/>
                  </a:solidFill>
                </a:uFill>
                <a:latin typeface="Arial"/>
                <a:ea typeface="MS PGothic"/>
              </a:rPr>
              <a:t>Value to buyers is greater than cost to sellers</a:t>
            </a:r>
            <a:endParaRPr lang="en-US" sz="1800" strike="noStrike" spc="-1">
              <a:solidFill>
                <a:srgbClr val="000000"/>
              </a:solidFill>
              <a:uFill>
                <a:solidFill>
                  <a:srgbClr val="FFFFFF"/>
                </a:solidFill>
              </a:uFill>
              <a:latin typeface="Arial"/>
            </a:endParaRPr>
          </a:p>
        </p:txBody>
      </p:sp>
      <p:sp>
        <p:nvSpPr>
          <p:cNvPr id="1249" name="CustomShape 29"/>
          <p:cNvSpPr/>
          <p:nvPr/>
        </p:nvSpPr>
        <p:spPr>
          <a:xfrm rot="16200000">
            <a:off x="5682960" y="4408920"/>
            <a:ext cx="289800" cy="1959840"/>
          </a:xfrm>
          <a:prstGeom prst="leftBrace">
            <a:avLst>
              <a:gd name="adj1" fmla="val 48318"/>
              <a:gd name="adj2" fmla="val 50000"/>
            </a:avLst>
          </a:prstGeom>
          <a:noFill/>
          <a:ln w="19080">
            <a:solidFill>
              <a:schemeClr val="tx1"/>
            </a:solidFill>
            <a:round/>
          </a:ln>
        </p:spPr>
        <p:style>
          <a:lnRef idx="0">
            <a:scrgbClr r="0" g="0" b="0"/>
          </a:lnRef>
          <a:fillRef idx="0">
            <a:scrgbClr r="0" g="0" b="0"/>
          </a:fillRef>
          <a:effectRef idx="0">
            <a:scrgbClr r="0" g="0" b="0"/>
          </a:effectRef>
          <a:fontRef idx="minor"/>
        </p:style>
        <p:txBody>
          <a:bodyPr/>
          <a:lstStyle/>
          <a:p>
            <a:endParaRPr lang="zh-CN" altLang="en-US"/>
          </a:p>
        </p:txBody>
      </p:sp>
      <p:sp>
        <p:nvSpPr>
          <p:cNvPr id="1250" name="CustomShape 30"/>
          <p:cNvSpPr/>
          <p:nvPr/>
        </p:nvSpPr>
        <p:spPr>
          <a:xfrm>
            <a:off x="5003640" y="5553000"/>
            <a:ext cx="2606040" cy="576720"/>
          </a:xfrm>
          <a:prstGeom prst="rect">
            <a:avLst/>
          </a:prstGeom>
          <a:solidFill>
            <a:srgbClr val="FFCC66"/>
          </a:solidFill>
          <a:ln w="9360">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600" strike="noStrike" spc="-1">
                <a:solidFill>
                  <a:srgbClr val="000000"/>
                </a:solidFill>
                <a:uFill>
                  <a:solidFill>
                    <a:srgbClr val="FFFFFF"/>
                  </a:solidFill>
                </a:uFill>
                <a:latin typeface="Arial"/>
                <a:ea typeface="MS PGothic"/>
              </a:rPr>
              <a:t>Value to buyers is less than cost to sellers</a:t>
            </a:r>
            <a:endParaRPr lang="en-US" sz="1800" strike="noStrike" spc="-1">
              <a:solidFill>
                <a:srgbClr val="000000"/>
              </a:solidFill>
              <a:uFill>
                <a:solidFill>
                  <a:srgbClr val="FFFFFF"/>
                </a:solidFill>
              </a:uFill>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1" name="CustomShape 1"/>
          <p:cNvSpPr/>
          <p:nvPr/>
        </p:nvSpPr>
        <p:spPr>
          <a:xfrm>
            <a:off x="900000" y="0"/>
            <a:ext cx="8063640" cy="685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rPr>
              <a:t>Market Equilibrium Maximizes Total Surplus</a:t>
            </a:r>
            <a:endParaRPr lang="en-US" sz="1800" strike="noStrike" spc="-1">
              <a:solidFill>
                <a:srgbClr val="000000"/>
              </a:solidFill>
              <a:uFill>
                <a:solidFill>
                  <a:srgbClr val="FFFFFF"/>
                </a:solidFill>
              </a:uFill>
              <a:latin typeface="Arial"/>
            </a:endParaRPr>
          </a:p>
        </p:txBody>
      </p:sp>
      <p:sp>
        <p:nvSpPr>
          <p:cNvPr id="1252" name="CustomShape 2"/>
          <p:cNvSpPr/>
          <p:nvPr/>
        </p:nvSpPr>
        <p:spPr>
          <a:xfrm>
            <a:off x="900000" y="907920"/>
            <a:ext cx="7992360" cy="57603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r>
              <a:rPr lang="en-US" sz="2500" b="1" strike="noStrike" spc="-1">
                <a:solidFill>
                  <a:srgbClr val="000000"/>
                </a:solidFill>
                <a:uFill>
                  <a:solidFill>
                    <a:srgbClr val="FFFFFF"/>
                  </a:solidFill>
                </a:uFill>
                <a:latin typeface="Calibri"/>
                <a:ea typeface="MS PGothic"/>
              </a:rPr>
              <a:t>1. </a:t>
            </a:r>
            <a:r>
              <a:rPr lang="en-US" sz="2500" strike="noStrike" spc="-1">
                <a:solidFill>
                  <a:srgbClr val="000000"/>
                </a:solidFill>
                <a:uFill>
                  <a:solidFill>
                    <a:srgbClr val="FFFFFF"/>
                  </a:solidFill>
                </a:uFill>
                <a:latin typeface="Calibri"/>
                <a:ea typeface="MS PGothic"/>
              </a:rPr>
              <a:t>Market equilibrium allocates consumption of the good to the potential buyers who value it the most, as indicated by the fact that they have the highest willingness to pay.</a:t>
            </a:r>
            <a:endParaRPr lang="en-US" sz="1800" strike="noStrike" spc="-1">
              <a:solidFill>
                <a:srgbClr val="000000"/>
              </a:solidFill>
              <a:uFill>
                <a:solidFill>
                  <a:srgbClr val="FFFFFF"/>
                </a:solidFill>
              </a:uFill>
              <a:latin typeface="Arial"/>
            </a:endParaRPr>
          </a:p>
          <a:p>
            <a:pPr marL="343080" indent="-342360">
              <a:lnSpc>
                <a:spcPct val="100000"/>
              </a:lnSpc>
            </a:pPr>
            <a:endParaRPr lang="en-US" sz="1800" strike="noStrike" spc="-1">
              <a:solidFill>
                <a:srgbClr val="000000"/>
              </a:solidFill>
              <a:uFill>
                <a:solidFill>
                  <a:srgbClr val="FFFFFF"/>
                </a:solidFill>
              </a:uFill>
              <a:latin typeface="Arial"/>
            </a:endParaRPr>
          </a:p>
          <a:p>
            <a:pPr marL="343080" indent="-342360">
              <a:lnSpc>
                <a:spcPct val="100000"/>
              </a:lnSpc>
            </a:pPr>
            <a:r>
              <a:rPr lang="en-US" sz="2500" b="1" strike="noStrike" spc="-1">
                <a:solidFill>
                  <a:srgbClr val="000000"/>
                </a:solidFill>
                <a:uFill>
                  <a:solidFill>
                    <a:srgbClr val="FFFFFF"/>
                  </a:solidFill>
                </a:uFill>
                <a:latin typeface="Calibri"/>
                <a:ea typeface="MS PGothic"/>
              </a:rPr>
              <a:t>2. </a:t>
            </a:r>
            <a:r>
              <a:rPr lang="en-US" sz="2500" strike="noStrike" spc="-1">
                <a:solidFill>
                  <a:srgbClr val="000000"/>
                </a:solidFill>
                <a:uFill>
                  <a:solidFill>
                    <a:srgbClr val="FFFFFF"/>
                  </a:solidFill>
                </a:uFill>
                <a:latin typeface="Calibri"/>
                <a:ea typeface="MS PGothic"/>
              </a:rPr>
              <a:t>It allocates sales to the potential sellers who most value the right to sell the good, as indicated by the fact that they have the lowest cost.</a:t>
            </a:r>
            <a:endParaRPr lang="en-US" sz="1800" strike="noStrike" spc="-1">
              <a:solidFill>
                <a:srgbClr val="000000"/>
              </a:solidFill>
              <a:uFill>
                <a:solidFill>
                  <a:srgbClr val="FFFFFF"/>
                </a:solidFill>
              </a:uFill>
              <a:latin typeface="Arial"/>
            </a:endParaRPr>
          </a:p>
          <a:p>
            <a:pPr marL="343080" indent="-342360">
              <a:lnSpc>
                <a:spcPct val="100000"/>
              </a:lnSpc>
            </a:pPr>
            <a:endParaRPr lang="en-US" sz="1800" strike="noStrike" spc="-1">
              <a:solidFill>
                <a:srgbClr val="000000"/>
              </a:solidFill>
              <a:uFill>
                <a:solidFill>
                  <a:srgbClr val="FFFFFF"/>
                </a:solidFill>
              </a:uFill>
              <a:latin typeface="Arial"/>
            </a:endParaRPr>
          </a:p>
          <a:p>
            <a:pPr marL="343080" indent="-342360">
              <a:lnSpc>
                <a:spcPct val="100000"/>
              </a:lnSpc>
            </a:pPr>
            <a:r>
              <a:rPr lang="en-US" sz="2500" b="1" strike="noStrike" spc="-1">
                <a:solidFill>
                  <a:srgbClr val="000000"/>
                </a:solidFill>
                <a:uFill>
                  <a:solidFill>
                    <a:srgbClr val="FFFFFF"/>
                  </a:solidFill>
                </a:uFill>
                <a:latin typeface="Calibri"/>
                <a:ea typeface="MS PGothic"/>
              </a:rPr>
              <a:t>3. </a:t>
            </a:r>
            <a:r>
              <a:rPr lang="en-US" sz="2500" strike="noStrike" spc="-1">
                <a:solidFill>
                  <a:srgbClr val="000000"/>
                </a:solidFill>
                <a:uFill>
                  <a:solidFill>
                    <a:srgbClr val="FFFFFF"/>
                  </a:solidFill>
                </a:uFill>
                <a:latin typeface="Calibri"/>
                <a:ea typeface="MS PGothic"/>
              </a:rPr>
              <a:t>It ensures that every consumer who makes a purchase values the good more than every seller who makes a sale, so that all transactions are mutually beneficial.</a:t>
            </a:r>
            <a:endParaRPr lang="en-US" sz="1800" strike="noStrike" spc="-1">
              <a:solidFill>
                <a:srgbClr val="000000"/>
              </a:solidFill>
              <a:uFill>
                <a:solidFill>
                  <a:srgbClr val="FFFFFF"/>
                </a:solidFill>
              </a:uFill>
              <a:latin typeface="Arial"/>
            </a:endParaRPr>
          </a:p>
          <a:p>
            <a:pPr marL="343080" indent="-342360">
              <a:lnSpc>
                <a:spcPct val="100000"/>
              </a:lnSpc>
            </a:pP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3" name="CustomShape 1"/>
          <p:cNvSpPr/>
          <p:nvPr/>
        </p:nvSpPr>
        <p:spPr>
          <a:xfrm>
            <a:off x="900000" y="0"/>
            <a:ext cx="8063640" cy="685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rPr>
              <a:t>Market Equilibrium Maximizes Total Surplus</a:t>
            </a:r>
            <a:endParaRPr lang="en-US" sz="1800" strike="noStrike" spc="-1">
              <a:solidFill>
                <a:srgbClr val="000000"/>
              </a:solidFill>
              <a:uFill>
                <a:solidFill>
                  <a:srgbClr val="FFFFFF"/>
                </a:solidFill>
              </a:uFill>
              <a:latin typeface="Arial"/>
            </a:endParaRPr>
          </a:p>
        </p:txBody>
      </p:sp>
      <p:sp>
        <p:nvSpPr>
          <p:cNvPr id="1254" name="CustomShape 2"/>
          <p:cNvSpPr/>
          <p:nvPr/>
        </p:nvSpPr>
        <p:spPr>
          <a:xfrm>
            <a:off x="900000" y="907920"/>
            <a:ext cx="7992360" cy="57603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100000"/>
              </a:lnSpc>
            </a:pPr>
            <a:r>
              <a:rPr lang="en-US" sz="2500" b="1" strike="noStrike" spc="-1">
                <a:solidFill>
                  <a:srgbClr val="000000"/>
                </a:solidFill>
                <a:uFill>
                  <a:solidFill>
                    <a:srgbClr val="FFFFFF"/>
                  </a:solidFill>
                </a:uFill>
                <a:latin typeface="Calibri"/>
                <a:ea typeface="MS PGothic"/>
              </a:rPr>
              <a:t>4. </a:t>
            </a:r>
            <a:r>
              <a:rPr lang="en-US" sz="2500" strike="noStrike" spc="-1">
                <a:solidFill>
                  <a:srgbClr val="000000"/>
                </a:solidFill>
                <a:uFill>
                  <a:solidFill>
                    <a:srgbClr val="FFFFFF"/>
                  </a:solidFill>
                </a:uFill>
                <a:latin typeface="Calibri"/>
                <a:ea typeface="MS PGothic"/>
              </a:rPr>
              <a:t>It ensures that every potential buyer who doesn’t make a purchase values the good less than every potential seller who doesn’t make a sale, so that no mutually beneficial transactions are missed.</a:t>
            </a:r>
            <a:endParaRPr lang="en-US" sz="1800" strike="noStrike" spc="-1">
              <a:solidFill>
                <a:srgbClr val="000000"/>
              </a:solidFill>
              <a:uFill>
                <a:solidFill>
                  <a:srgbClr val="FFFFFF"/>
                </a:solidFill>
              </a:uFill>
              <a:latin typeface="Arial"/>
            </a:endParaRPr>
          </a:p>
          <a:p>
            <a:pPr marL="343080" indent="-342360">
              <a:lnSpc>
                <a:spcPct val="100000"/>
              </a:lnSpc>
            </a:pPr>
            <a:endParaRPr lang="en-US" sz="1800" strike="noStrike" spc="-1">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As a result of these four functions, </a:t>
            </a:r>
            <a:r>
              <a:rPr lang="en-US" sz="2500" b="1" i="1" strike="noStrike" spc="-1">
                <a:solidFill>
                  <a:srgbClr val="000000"/>
                </a:solidFill>
                <a:uFill>
                  <a:solidFill>
                    <a:srgbClr val="FFFFFF"/>
                  </a:solidFill>
                </a:uFill>
                <a:latin typeface="Calibri"/>
                <a:ea typeface="MS PGothic"/>
              </a:rPr>
              <a:t>any way of allocating the good other than the market equilibrium outcome lowers total surplus.</a:t>
            </a:r>
            <a:endParaRPr lang="en-US" sz="1800" strike="noStrike" spc="-1">
              <a:solidFill>
                <a:srgbClr val="000000"/>
              </a:solidFill>
              <a:uFill>
                <a:solidFill>
                  <a:srgbClr val="FFFFFF"/>
                </a:solidFill>
              </a:uFill>
              <a:latin typeface="Arial"/>
            </a:endParaRPr>
          </a:p>
          <a:p>
            <a:pPr marL="343080" indent="-342360">
              <a:lnSpc>
                <a:spcPct val="100000"/>
              </a:lnSpc>
            </a:pP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5" name="CustomShape 1"/>
          <p:cNvSpPr/>
          <p:nvPr/>
        </p:nvSpPr>
        <p:spPr>
          <a:xfrm>
            <a:off x="1071720" y="74520"/>
            <a:ext cx="8078040" cy="537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1" strike="noStrike" spc="-1">
                <a:solidFill>
                  <a:srgbClr val="FFFFFF"/>
                </a:solidFill>
                <a:uFill>
                  <a:solidFill>
                    <a:srgbClr val="FFFFFF"/>
                  </a:solidFill>
                </a:uFill>
                <a:latin typeface="Calibri"/>
                <a:ea typeface="MS PGothic"/>
              </a:rPr>
              <a:t>Market Efficiency</a:t>
            </a:r>
            <a:endParaRPr lang="en-US" sz="1800" strike="noStrike" spc="-1">
              <a:solidFill>
                <a:srgbClr val="000000"/>
              </a:solidFill>
              <a:uFill>
                <a:solidFill>
                  <a:srgbClr val="FFFFFF"/>
                </a:solidFill>
              </a:uFill>
              <a:latin typeface="Arial"/>
            </a:endParaRPr>
          </a:p>
        </p:txBody>
      </p:sp>
      <p:sp>
        <p:nvSpPr>
          <p:cNvPr id="1256" name="CustomShape 2"/>
          <p:cNvSpPr/>
          <p:nvPr/>
        </p:nvSpPr>
        <p:spPr>
          <a:xfrm>
            <a:off x="611280" y="692280"/>
            <a:ext cx="8424000" cy="55443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100000"/>
              </a:lnSpc>
              <a:buClr>
                <a:srgbClr val="C00000"/>
              </a:buClr>
              <a:buFont typeface="Arial"/>
              <a:buChar char="•"/>
            </a:pPr>
            <a:r>
              <a:rPr lang="en-US" sz="2500" strike="noStrike" spc="-1">
                <a:solidFill>
                  <a:srgbClr val="C00000"/>
                </a:solidFill>
                <a:uFill>
                  <a:solidFill>
                    <a:srgbClr val="FFFFFF"/>
                  </a:solidFill>
                </a:uFill>
                <a:latin typeface="Calibri"/>
                <a:ea typeface="MS PGothic"/>
              </a:rPr>
              <a:t>Gains from trade in a market </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Like a pie to be shared among the market participants</a:t>
            </a:r>
            <a:endParaRPr lang="en-US" sz="1800" strike="noStrike" spc="-1">
              <a:solidFill>
                <a:srgbClr val="000000"/>
              </a:solidFill>
              <a:uFill>
                <a:solidFill>
                  <a:srgbClr val="FFFFFF"/>
                </a:solidFill>
              </a:uFill>
              <a:latin typeface="Arial"/>
            </a:endParaRPr>
          </a:p>
          <a:p>
            <a:pPr marL="343080" indent="-342360">
              <a:lnSpc>
                <a:spcPct val="100000"/>
              </a:lnSpc>
              <a:buClr>
                <a:srgbClr val="C00000"/>
              </a:buClr>
              <a:buFont typeface="Arial"/>
              <a:buChar char="•"/>
            </a:pPr>
            <a:r>
              <a:rPr lang="en-US" sz="2500" strike="noStrike" spc="-1">
                <a:solidFill>
                  <a:srgbClr val="C00000"/>
                </a:solidFill>
                <a:uFill>
                  <a:solidFill>
                    <a:srgbClr val="FFFFFF"/>
                  </a:solidFill>
                </a:uFill>
                <a:latin typeface="Calibri"/>
                <a:ea typeface="MS PGothic"/>
              </a:rPr>
              <a:t>The question of efficiency </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Maximizing the total surplus received by all members of society</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Whether the pie is as big as possible</a:t>
            </a:r>
            <a:endParaRPr lang="en-US" sz="1800" strike="noStrike" spc="-1">
              <a:solidFill>
                <a:srgbClr val="000000"/>
              </a:solidFill>
              <a:uFill>
                <a:solidFill>
                  <a:srgbClr val="FFFFFF"/>
                </a:solidFill>
              </a:uFill>
              <a:latin typeface="Arial"/>
            </a:endParaRPr>
          </a:p>
          <a:p>
            <a:pPr marL="343080" indent="-342360">
              <a:lnSpc>
                <a:spcPct val="100000"/>
              </a:lnSpc>
              <a:buClr>
                <a:srgbClr val="C00000"/>
              </a:buClr>
              <a:buFont typeface="Arial"/>
              <a:buChar char="•"/>
            </a:pPr>
            <a:r>
              <a:rPr lang="en-US" sz="2500" strike="noStrike" spc="-1">
                <a:solidFill>
                  <a:srgbClr val="C00000"/>
                </a:solidFill>
                <a:uFill>
                  <a:solidFill>
                    <a:srgbClr val="FFFFFF"/>
                  </a:solidFill>
                </a:uFill>
                <a:latin typeface="Calibri"/>
                <a:ea typeface="MS PGothic"/>
              </a:rPr>
              <a:t>The question of equality</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Property of distributing economic prosperity uniformly among the members of society</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How the pie is sliced</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How the portions are distributed among members of society</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7" name="CustomShape 1"/>
          <p:cNvSpPr/>
          <p:nvPr/>
        </p:nvSpPr>
        <p:spPr>
          <a:xfrm>
            <a:off x="900000" y="0"/>
            <a:ext cx="8063640" cy="685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Three Caveats to Market Efficiency </a:t>
            </a:r>
            <a:endParaRPr lang="en-US" sz="1800" strike="noStrike" spc="-1">
              <a:solidFill>
                <a:srgbClr val="000000"/>
              </a:solidFill>
              <a:uFill>
                <a:solidFill>
                  <a:srgbClr val="FFFFFF"/>
                </a:solidFill>
              </a:uFill>
              <a:latin typeface="Arial"/>
            </a:endParaRPr>
          </a:p>
        </p:txBody>
      </p:sp>
      <p:sp>
        <p:nvSpPr>
          <p:cNvPr id="1258" name="CustomShape 2"/>
          <p:cNvSpPr/>
          <p:nvPr/>
        </p:nvSpPr>
        <p:spPr>
          <a:xfrm>
            <a:off x="900000" y="981000"/>
            <a:ext cx="7992360" cy="53427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First, although a market may be efficient, it isn’t necessarily </a:t>
            </a:r>
            <a:r>
              <a:rPr lang="en-US" sz="2500" b="1" i="1" strike="noStrike" spc="-1">
                <a:solidFill>
                  <a:srgbClr val="000000"/>
                </a:solidFill>
                <a:uFill>
                  <a:solidFill>
                    <a:srgbClr val="FFFFFF"/>
                  </a:solidFill>
                </a:uFill>
                <a:latin typeface="Calibri"/>
                <a:ea typeface="MS PGothic"/>
              </a:rPr>
              <a:t>fair</a:t>
            </a:r>
            <a:r>
              <a:rPr lang="en-US" sz="2500" strike="noStrike" spc="-1">
                <a:solidFill>
                  <a:srgbClr val="000000"/>
                </a:solidFill>
                <a:uFill>
                  <a:solidFill>
                    <a:srgbClr val="FFFFFF"/>
                  </a:solidFill>
                </a:uFill>
                <a:latin typeface="Calibri"/>
                <a:ea typeface="MS PGothic"/>
              </a:rPr>
              <a:t>. In fact, fairness, or </a:t>
            </a:r>
            <a:r>
              <a:rPr lang="en-US" sz="2500" b="1" i="1" strike="noStrike" spc="-1">
                <a:solidFill>
                  <a:srgbClr val="000000"/>
                </a:solidFill>
                <a:uFill>
                  <a:solidFill>
                    <a:srgbClr val="FFFFFF"/>
                  </a:solidFill>
                </a:uFill>
                <a:latin typeface="Calibri"/>
                <a:ea typeface="MS PGothic"/>
              </a:rPr>
              <a:t>equity</a:t>
            </a:r>
            <a:r>
              <a:rPr lang="en-US" sz="2500" strike="noStrike" spc="-1">
                <a:solidFill>
                  <a:srgbClr val="000000"/>
                </a:solidFill>
                <a:uFill>
                  <a:solidFill>
                    <a:srgbClr val="FFFFFF"/>
                  </a:solidFill>
                </a:uFill>
                <a:latin typeface="Calibri"/>
                <a:ea typeface="MS PGothic"/>
              </a:rPr>
              <a:t>, is often in conflict with efficiency. Because society cares about equity, government intervention in a market that reduces efficiency while increasing equity can be justified.</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The second caveat is that markets sometimes </a:t>
            </a:r>
            <a:r>
              <a:rPr lang="en-US" sz="2500" b="1" i="1" strike="noStrike" spc="-1">
                <a:solidFill>
                  <a:srgbClr val="000000"/>
                </a:solidFill>
                <a:uFill>
                  <a:solidFill>
                    <a:srgbClr val="FFFFFF"/>
                  </a:solidFill>
                </a:uFill>
                <a:latin typeface="Calibri"/>
                <a:ea typeface="MS PGothic"/>
              </a:rPr>
              <a:t>fail</a:t>
            </a:r>
            <a:r>
              <a:rPr lang="en-US" sz="2500" strike="noStrike" spc="-1">
                <a:solidFill>
                  <a:srgbClr val="000000"/>
                </a:solidFill>
                <a:uFill>
                  <a:solidFill>
                    <a:srgbClr val="FFFFFF"/>
                  </a:solidFill>
                </a:uFill>
                <a:latin typeface="Calibri"/>
                <a:ea typeface="MS PGothic"/>
              </a:rPr>
              <a:t>. Under some well-defined conditions, markets can fail to deliver efficiency. When this occurs, markets no longer maximize total surplus. </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 name="CustomShape 1"/>
          <p:cNvSpPr/>
          <p:nvPr/>
        </p:nvSpPr>
        <p:spPr>
          <a:xfrm>
            <a:off x="900000" y="0"/>
            <a:ext cx="8063640" cy="685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Three Caveats to Market Efficiency</a:t>
            </a:r>
            <a:endParaRPr lang="en-US" sz="1800" strike="noStrike" spc="-1">
              <a:solidFill>
                <a:srgbClr val="000000"/>
              </a:solidFill>
              <a:uFill>
                <a:solidFill>
                  <a:srgbClr val="FFFFFF"/>
                </a:solidFill>
              </a:uFill>
              <a:latin typeface="Arial"/>
            </a:endParaRPr>
          </a:p>
        </p:txBody>
      </p:sp>
      <p:sp>
        <p:nvSpPr>
          <p:cNvPr id="1260" name="CustomShape 2"/>
          <p:cNvSpPr/>
          <p:nvPr/>
        </p:nvSpPr>
        <p:spPr>
          <a:xfrm>
            <a:off x="900000" y="981000"/>
            <a:ext cx="7992360" cy="53427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r>
              <a:rPr lang="en-US" sz="2500" strike="noStrike" spc="-1">
                <a:solidFill>
                  <a:srgbClr val="000000"/>
                </a:solidFill>
                <a:uFill>
                  <a:solidFill>
                    <a:srgbClr val="FFFFFF"/>
                  </a:solidFill>
                </a:uFill>
                <a:latin typeface="Calibri"/>
                <a:ea typeface="MS PGothic"/>
              </a:rPr>
              <a:t>Third, even when the market equilibrium maximizes total surplus, this does not mean that it results in the best outcome for every </a:t>
            </a:r>
            <a:r>
              <a:rPr lang="en-US" sz="2500" b="1" i="1" strike="noStrike" spc="-1">
                <a:solidFill>
                  <a:srgbClr val="000000"/>
                </a:solidFill>
                <a:uFill>
                  <a:solidFill>
                    <a:srgbClr val="FFFFFF"/>
                  </a:solidFill>
                </a:uFill>
                <a:latin typeface="Calibri"/>
                <a:ea typeface="MS PGothic"/>
              </a:rPr>
              <a:t>individual</a:t>
            </a:r>
            <a:r>
              <a:rPr lang="en-US" sz="2500" strike="noStrike" spc="-1">
                <a:solidFill>
                  <a:srgbClr val="000000"/>
                </a:solidFill>
                <a:uFill>
                  <a:solidFill>
                    <a:srgbClr val="FFFFFF"/>
                  </a:solidFill>
                </a:uFill>
                <a:latin typeface="Calibri"/>
                <a:ea typeface="MS PGothic"/>
              </a:rPr>
              <a:t> consumer and producer. </a:t>
            </a:r>
            <a:endParaRPr lang="en-US" sz="1800" strike="noStrike" spc="-1">
              <a:solidFill>
                <a:srgbClr val="000000"/>
              </a:solidFill>
              <a:uFill>
                <a:solidFill>
                  <a:srgbClr val="FFFFFF"/>
                </a:solidFill>
              </a:uFill>
              <a:latin typeface="Arial"/>
            </a:endParaRPr>
          </a:p>
          <a:p>
            <a:pPr marL="341280" lvl="1" indent="-21996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 </a:t>
            </a:r>
            <a:endParaRPr lang="en-US" sz="1800" strike="noStrike" spc="-1">
              <a:solidFill>
                <a:srgbClr val="000000"/>
              </a:solidFill>
              <a:uFill>
                <a:solidFill>
                  <a:srgbClr val="FFFFFF"/>
                </a:solidFill>
              </a:uFill>
              <a:latin typeface="Arial"/>
            </a:endParaRPr>
          </a:p>
          <a:p>
            <a:pPr marL="341280" lvl="1" indent="-219960">
              <a:lnSpc>
                <a:spcPct val="100000"/>
              </a:lnSpc>
              <a:buClr>
                <a:srgbClr val="000000"/>
              </a:buClr>
              <a:buFont typeface="Arial"/>
              <a:buChar char="•"/>
            </a:pPr>
            <a:r>
              <a:rPr lang="en-US" sz="2800" strike="noStrike" spc="-1">
                <a:solidFill>
                  <a:srgbClr val="000000"/>
                </a:solidFill>
                <a:uFill>
                  <a:solidFill>
                    <a:srgbClr val="FFFFFF"/>
                  </a:solidFill>
                </a:uFill>
                <a:latin typeface="Calibri"/>
                <a:ea typeface="MS PGothic"/>
              </a:rPr>
              <a:t>For instance, a price floor that kept the price up would benefit some sellers.</a:t>
            </a:r>
            <a:endParaRPr lang="en-US" sz="1800" strike="noStrike" spc="-1">
              <a:solidFill>
                <a:srgbClr val="000000"/>
              </a:solidFill>
              <a:uFill>
                <a:solidFill>
                  <a:srgbClr val="FFFFFF"/>
                </a:solidFill>
              </a:uFill>
              <a:latin typeface="Arial"/>
            </a:endParaRPr>
          </a:p>
          <a:p>
            <a:pPr marL="741240" lvl="2" indent="-219960">
              <a:lnSpc>
                <a:spcPct val="100000"/>
              </a:lnSpc>
              <a:buClr>
                <a:srgbClr val="000000"/>
              </a:buClr>
              <a:buFont typeface="Wingdings" charset="2"/>
              <a:buChar char=""/>
            </a:pPr>
            <a:r>
              <a:rPr lang="en-US" sz="2800" strike="noStrike" spc="-1">
                <a:solidFill>
                  <a:srgbClr val="000000"/>
                </a:solidFill>
                <a:uFill>
                  <a:solidFill>
                    <a:srgbClr val="FFFFFF"/>
                  </a:solidFill>
                </a:uFill>
                <a:latin typeface="Calibri"/>
                <a:ea typeface="MS PGothic"/>
              </a:rPr>
              <a:t> </a:t>
            </a:r>
            <a:endParaRPr lang="en-US" sz="1800" strike="noStrike" spc="-1">
              <a:solidFill>
                <a:srgbClr val="000000"/>
              </a:solidFill>
              <a:uFill>
                <a:solidFill>
                  <a:srgbClr val="FFFFFF"/>
                </a:solidFill>
              </a:uFill>
              <a:latin typeface="Arial"/>
            </a:endParaRPr>
          </a:p>
          <a:p>
            <a:pPr marL="741240" lvl="2" indent="-219960">
              <a:lnSpc>
                <a:spcPct val="100000"/>
              </a:lnSpc>
              <a:buClr>
                <a:srgbClr val="000000"/>
              </a:buClr>
              <a:buFont typeface="Wingdings" charset="2"/>
              <a:buChar char=""/>
            </a:pPr>
            <a:r>
              <a:rPr lang="en-US" sz="2800" strike="noStrike" spc="-1">
                <a:solidFill>
                  <a:srgbClr val="000000"/>
                </a:solidFill>
                <a:uFill>
                  <a:solidFill>
                    <a:srgbClr val="FFFFFF"/>
                  </a:solidFill>
                </a:uFill>
                <a:latin typeface="Calibri"/>
                <a:ea typeface="MS PGothic"/>
              </a:rPr>
              <a:t>But in the market equilibrium there is no way to make some people better off without making others worse off — and that’s the definition of efficiency.</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1" name="CustomShape 1"/>
          <p:cNvSpPr/>
          <p:nvPr/>
        </p:nvSpPr>
        <p:spPr>
          <a:xfrm>
            <a:off x="971640" y="76320"/>
            <a:ext cx="7921080" cy="608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rPr>
              <a:t>Why Markets Typically Work So Well</a:t>
            </a:r>
            <a:endParaRPr lang="en-US" sz="1800" strike="noStrike" spc="-1">
              <a:solidFill>
                <a:srgbClr val="000000"/>
              </a:solidFill>
              <a:uFill>
                <a:solidFill>
                  <a:srgbClr val="FFFFFF"/>
                </a:solidFill>
              </a:uFill>
              <a:latin typeface="Arial"/>
            </a:endParaRPr>
          </a:p>
        </p:txBody>
      </p:sp>
      <p:sp>
        <p:nvSpPr>
          <p:cNvPr id="1262" name="CustomShape 2"/>
          <p:cNvSpPr/>
          <p:nvPr/>
        </p:nvSpPr>
        <p:spPr>
          <a:xfrm>
            <a:off x="971640" y="981000"/>
            <a:ext cx="7921080" cy="54190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r>
              <a:rPr lang="en-US" sz="2500" strike="noStrike" spc="-1">
                <a:solidFill>
                  <a:srgbClr val="000000"/>
                </a:solidFill>
                <a:uFill>
                  <a:solidFill>
                    <a:srgbClr val="FFFFFF"/>
                  </a:solidFill>
                </a:uFill>
                <a:latin typeface="Calibri"/>
                <a:ea typeface="MS PGothic"/>
              </a:rPr>
              <a:t>Economists have written volumes about why markets are an effective way to organize an economy. In the end, well-functioning markets owe their effectiveness to two powerful features: </a:t>
            </a:r>
            <a:r>
              <a:rPr lang="en-US" sz="2500" b="1" i="1" strike="noStrike" spc="-1">
                <a:solidFill>
                  <a:srgbClr val="000000"/>
                </a:solidFill>
                <a:uFill>
                  <a:solidFill>
                    <a:srgbClr val="FFFFFF"/>
                  </a:solidFill>
                </a:uFill>
                <a:latin typeface="Calibri"/>
                <a:ea typeface="MS PGothic"/>
              </a:rPr>
              <a:t>property rights</a:t>
            </a:r>
            <a:r>
              <a:rPr lang="en-US" sz="2500" i="1" strike="noStrike" spc="-1">
                <a:solidFill>
                  <a:srgbClr val="000000"/>
                </a:solidFill>
                <a:uFill>
                  <a:solidFill>
                    <a:srgbClr val="FFFFFF"/>
                  </a:solidFill>
                </a:uFill>
                <a:latin typeface="Calibri"/>
                <a:ea typeface="MS PGothic"/>
              </a:rPr>
              <a:t> </a:t>
            </a:r>
            <a:r>
              <a:rPr lang="en-US" sz="2500" strike="noStrike" spc="-1">
                <a:solidFill>
                  <a:srgbClr val="000000"/>
                </a:solidFill>
                <a:uFill>
                  <a:solidFill>
                    <a:srgbClr val="FFFFFF"/>
                  </a:solidFill>
                </a:uFill>
                <a:latin typeface="Calibri"/>
                <a:ea typeface="MS PGothic"/>
              </a:rPr>
              <a:t>and the role of prices as </a:t>
            </a:r>
            <a:r>
              <a:rPr lang="en-US" sz="2500" b="1" i="1" strike="noStrike" spc="-1">
                <a:solidFill>
                  <a:srgbClr val="000000"/>
                </a:solidFill>
                <a:uFill>
                  <a:solidFill>
                    <a:srgbClr val="FFFFFF"/>
                  </a:solidFill>
                </a:uFill>
                <a:latin typeface="Calibri"/>
                <a:ea typeface="MS PGothic"/>
              </a:rPr>
              <a:t>economic signals</a:t>
            </a:r>
            <a:r>
              <a:rPr lang="en-US" sz="2500" i="1" strike="noStrike" spc="-1">
                <a:solidFill>
                  <a:srgbClr val="000000"/>
                </a:solidFill>
                <a:uFill>
                  <a:solidFill>
                    <a:srgbClr val="FFFFFF"/>
                  </a:solidFill>
                </a:uFill>
                <a:latin typeface="Calibri"/>
                <a:ea typeface="MS PGothic"/>
              </a:rPr>
              <a:t>.</a:t>
            </a:r>
            <a:endParaRPr lang="en-US" sz="1800" strike="noStrike" spc="-1">
              <a:solidFill>
                <a:srgbClr val="000000"/>
              </a:solidFill>
              <a:uFill>
                <a:solidFill>
                  <a:srgbClr val="FFFFFF"/>
                </a:solidFill>
              </a:uFill>
              <a:latin typeface="Arial"/>
            </a:endParaRPr>
          </a:p>
          <a:p>
            <a:endParaRPr lang="en-US" sz="1800" strike="noStrike" spc="-1">
              <a:solidFill>
                <a:srgbClr val="000000"/>
              </a:solidFill>
              <a:uFill>
                <a:solidFill>
                  <a:srgbClr val="FFFFFF"/>
                </a:solidFill>
              </a:uFill>
              <a:latin typeface="Arial"/>
            </a:endParaRPr>
          </a:p>
          <a:p>
            <a:r>
              <a:rPr lang="en-US" sz="2800" b="1" strike="noStrike" spc="-1">
                <a:solidFill>
                  <a:srgbClr val="000000"/>
                </a:solidFill>
                <a:uFill>
                  <a:solidFill>
                    <a:srgbClr val="FFFFFF"/>
                  </a:solidFill>
                </a:uFill>
                <a:latin typeface="Calibri"/>
                <a:ea typeface="MS PGothic"/>
              </a:rPr>
              <a:t>Property rights </a:t>
            </a:r>
            <a:r>
              <a:rPr lang="en-US" sz="2800" strike="noStrike" spc="-1">
                <a:solidFill>
                  <a:srgbClr val="000000"/>
                </a:solidFill>
                <a:uFill>
                  <a:solidFill>
                    <a:srgbClr val="FFFFFF"/>
                  </a:solidFill>
                </a:uFill>
                <a:latin typeface="Calibri"/>
                <a:ea typeface="MS PGothic"/>
              </a:rPr>
              <a:t>are the rights of owners of valuable items, whether resources or goods, to dispose of those items as they choose.</a:t>
            </a:r>
            <a:endParaRPr lang="en-US" sz="1800" strike="noStrike" spc="-1">
              <a:solidFill>
                <a:srgbClr val="000000"/>
              </a:solidFill>
              <a:uFill>
                <a:solidFill>
                  <a:srgbClr val="FFFFFF"/>
                </a:solidFill>
              </a:uFill>
              <a:latin typeface="Arial"/>
            </a:endParaRPr>
          </a:p>
          <a:p>
            <a:pPr marL="914400" lvl="2" indent="-448560">
              <a:lnSpc>
                <a:spcPct val="100000"/>
              </a:lnSpc>
              <a:buClr>
                <a:srgbClr val="000000"/>
              </a:buClr>
              <a:buFont typeface="Wingdings" charset="2"/>
              <a:buChar char=""/>
            </a:pPr>
            <a:r>
              <a:rPr lang="en-US" sz="2800" strike="noStrike" spc="-1">
                <a:solidFill>
                  <a:srgbClr val="000000"/>
                </a:solidFill>
                <a:uFill>
                  <a:solidFill>
                    <a:srgbClr val="FFFFFF"/>
                  </a:solidFill>
                </a:uFill>
                <a:latin typeface="Calibri"/>
                <a:ea typeface="MS PGothic"/>
              </a:rPr>
              <a:t> </a:t>
            </a:r>
            <a:endParaRPr lang="en-US" sz="1800" strike="noStrike" spc="-1">
              <a:solidFill>
                <a:srgbClr val="000000"/>
              </a:solidFill>
              <a:uFill>
                <a:solidFill>
                  <a:srgbClr val="FFFFFF"/>
                </a:solidFill>
              </a:uFill>
              <a:latin typeface="Arial"/>
            </a:endParaRPr>
          </a:p>
          <a:p>
            <a:pPr marL="914400" lvl="2" indent="-448560">
              <a:lnSpc>
                <a:spcPct val="100000"/>
              </a:lnSpc>
              <a:buClr>
                <a:srgbClr val="000000"/>
              </a:buClr>
              <a:buFont typeface="Wingdings" charset="2"/>
              <a:buChar char=""/>
            </a:pPr>
            <a:r>
              <a:rPr lang="en-US" sz="2800" strike="noStrike" spc="-1">
                <a:solidFill>
                  <a:srgbClr val="000000"/>
                </a:solidFill>
                <a:uFill>
                  <a:solidFill>
                    <a:srgbClr val="FFFFFF"/>
                  </a:solidFill>
                </a:uFill>
                <a:latin typeface="Calibri"/>
                <a:ea typeface="MS PGothic"/>
              </a:rPr>
              <a:t>An </a:t>
            </a:r>
            <a:r>
              <a:rPr lang="en-US" sz="2800" b="1" strike="noStrike" spc="-1">
                <a:solidFill>
                  <a:srgbClr val="000000"/>
                </a:solidFill>
                <a:uFill>
                  <a:solidFill>
                    <a:srgbClr val="FFFFFF"/>
                  </a:solidFill>
                </a:uFill>
                <a:latin typeface="Calibri"/>
                <a:ea typeface="MS PGothic"/>
              </a:rPr>
              <a:t>economic signal </a:t>
            </a:r>
            <a:r>
              <a:rPr lang="en-US" sz="2800" strike="noStrike" spc="-1">
                <a:solidFill>
                  <a:srgbClr val="000000"/>
                </a:solidFill>
                <a:uFill>
                  <a:solidFill>
                    <a:srgbClr val="FFFFFF"/>
                  </a:solidFill>
                </a:uFill>
                <a:latin typeface="Calibri"/>
                <a:ea typeface="MS PGothic"/>
              </a:rPr>
              <a:t>is any piece of information that helps people make better economic decisions.</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3" name="CustomShape 1"/>
          <p:cNvSpPr/>
          <p:nvPr/>
        </p:nvSpPr>
        <p:spPr>
          <a:xfrm>
            <a:off x="1071720" y="60480"/>
            <a:ext cx="807804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1" strike="noStrike" spc="-1">
                <a:solidFill>
                  <a:srgbClr val="FFFFFF"/>
                </a:solidFill>
                <a:uFill>
                  <a:solidFill>
                    <a:srgbClr val="FFFFFF"/>
                  </a:solidFill>
                </a:uFill>
                <a:latin typeface="Calibri"/>
                <a:ea typeface="MS PGothic"/>
              </a:rPr>
              <a:t>Should there be a market in organs?</a:t>
            </a:r>
            <a:endParaRPr lang="en-US" sz="1800" strike="noStrike" spc="-1">
              <a:solidFill>
                <a:srgbClr val="000000"/>
              </a:solidFill>
              <a:uFill>
                <a:solidFill>
                  <a:srgbClr val="FFFFFF"/>
                </a:solidFill>
              </a:uFill>
              <a:latin typeface="Arial"/>
            </a:endParaRPr>
          </a:p>
        </p:txBody>
      </p:sp>
      <p:sp>
        <p:nvSpPr>
          <p:cNvPr id="1264" name="CustomShape 2"/>
          <p:cNvSpPr/>
          <p:nvPr/>
        </p:nvSpPr>
        <p:spPr>
          <a:xfrm>
            <a:off x="755640" y="907920"/>
            <a:ext cx="7919280" cy="556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“How a mother’s love helped save two lives” </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Ms. Stevens - her son needed a kidney transplant</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The mother’s kidney was not compatible</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Donated one of her kidneys to a stranger</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Her son was moved to the top of the kidney waiting list</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Questions</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Trade a kidney for a kidney?</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Trade a kidney for an expensive, experimental cancer treatment?</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Exchange her kidney for free tuition for her son?</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Sell her kidney for cash?</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5" name="CustomShape 1"/>
          <p:cNvSpPr/>
          <p:nvPr/>
        </p:nvSpPr>
        <p:spPr>
          <a:xfrm>
            <a:off x="1071720" y="60480"/>
            <a:ext cx="8078040" cy="554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1" strike="noStrike" spc="-1">
                <a:solidFill>
                  <a:srgbClr val="FFFFFF"/>
                </a:solidFill>
                <a:uFill>
                  <a:solidFill>
                    <a:srgbClr val="FFFFFF"/>
                  </a:solidFill>
                </a:uFill>
                <a:latin typeface="Calibri"/>
                <a:ea typeface="MS PGothic"/>
              </a:rPr>
              <a:t>Should there be a market in organs?</a:t>
            </a:r>
            <a:endParaRPr lang="en-US" sz="1800" strike="noStrike" spc="-1">
              <a:solidFill>
                <a:srgbClr val="000000"/>
              </a:solidFill>
              <a:uFill>
                <a:solidFill>
                  <a:srgbClr val="FFFFFF"/>
                </a:solidFill>
              </a:uFill>
              <a:latin typeface="Arial"/>
            </a:endParaRPr>
          </a:p>
        </p:txBody>
      </p:sp>
      <p:sp>
        <p:nvSpPr>
          <p:cNvPr id="1266" name="CustomShape 2"/>
          <p:cNvSpPr/>
          <p:nvPr/>
        </p:nvSpPr>
        <p:spPr>
          <a:xfrm>
            <a:off x="755640" y="765000"/>
            <a:ext cx="8159040" cy="56397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lstStyle/>
          <a:p>
            <a:pPr marL="343080" indent="-34236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Public policy</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Illegal for people to sell their organs </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Government has imposed a price ceiling of zero</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Shortage of the good</a:t>
            </a:r>
            <a:endParaRPr lang="en-US" sz="1800" strike="noStrike" spc="-1">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Large benefits to allowing a free market in organs</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People are born with two kidneys</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People usually need only one kidney</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Some people have no working kidneys</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500" strike="noStrike" spc="-1">
                <a:solidFill>
                  <a:srgbClr val="000000"/>
                </a:solidFill>
                <a:uFill>
                  <a:solidFill>
                    <a:srgbClr val="FFFFFF"/>
                  </a:solidFill>
                </a:uFill>
                <a:latin typeface="Calibri"/>
                <a:ea typeface="MS PGothic"/>
              </a:rPr>
              <a:t>Typical patient - wait several years for a kidney transplant</a:t>
            </a:r>
            <a:endParaRPr lang="en-US" sz="1800" strike="noStrike" spc="-1">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Every year thousands die because no kidney can be found</a:t>
            </a:r>
            <a:endParaRPr lang="en-US" sz="1800" strike="noStrike" spc="-1">
              <a:solidFill>
                <a:srgbClr val="000000"/>
              </a:solidFill>
              <a:uFill>
                <a:solidFill>
                  <a:srgbClr val="FFFFFF"/>
                </a:solidFill>
              </a:uFill>
              <a:latin typeface="Arial"/>
            </a:endParaRPr>
          </a:p>
          <a:p>
            <a:pPr marL="343080" indent="-342360">
              <a:lnSpc>
                <a:spcPct val="100000"/>
              </a:lnSpc>
              <a:buClr>
                <a:srgbClr val="000000"/>
              </a:buClr>
              <a:buFont typeface="Arial"/>
              <a:buChar char="•"/>
            </a:pPr>
            <a:r>
              <a:rPr lang="en-US" sz="2500" strike="noStrike" spc="-1">
                <a:solidFill>
                  <a:srgbClr val="000000"/>
                </a:solidFill>
                <a:uFill>
                  <a:solidFill>
                    <a:srgbClr val="FFFFFF"/>
                  </a:solidFill>
                </a:uFill>
                <a:latin typeface="Calibri"/>
                <a:ea typeface="MS PGothic"/>
              </a:rPr>
              <a:t>Current system: </a:t>
            </a:r>
            <a:r>
              <a:rPr lang="en-US" sz="2500" strike="noStrike" spc="-1">
                <a:solidFill>
                  <a:srgbClr val="C00000"/>
                </a:solidFill>
                <a:uFill>
                  <a:solidFill>
                    <a:srgbClr val="FFFFFF"/>
                  </a:solidFill>
                </a:uFill>
                <a:latin typeface="Calibri"/>
                <a:ea typeface="MS PGothic"/>
              </a:rPr>
              <a:t>Is it Fair? Is it Efficient? Is it Equitable? </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Some people - extra kidney they don’t really need</a:t>
            </a:r>
            <a:endParaRPr lang="en-US" sz="1800" strike="noStrike" spc="-1">
              <a:solidFill>
                <a:srgbClr val="000000"/>
              </a:solidFill>
              <a:uFill>
                <a:solidFill>
                  <a:srgbClr val="FFFFFF"/>
                </a:solidFill>
              </a:uFill>
              <a:latin typeface="Arial"/>
            </a:endParaRPr>
          </a:p>
          <a:p>
            <a:pPr marL="743040" lvl="1" indent="-28512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ea typeface="MS PGothic"/>
              </a:rPr>
              <a:t>Others - dying to get one</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7" name="CustomShape 1"/>
          <p:cNvSpPr/>
          <p:nvPr/>
        </p:nvSpPr>
        <p:spPr>
          <a:xfrm>
            <a:off x="900000" y="39600"/>
            <a:ext cx="8063640" cy="578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000000"/>
                </a:solidFill>
                <a:uFill>
                  <a:solidFill>
                    <a:srgbClr val="FFFFFF"/>
                  </a:solidFill>
                </a:uFill>
                <a:latin typeface="Calibri"/>
                <a:ea typeface="MS PGothic"/>
              </a:rPr>
              <a:t>SUMMARY</a:t>
            </a:r>
            <a:endParaRPr lang="en-US" sz="1800" strike="noStrike" spc="-1">
              <a:solidFill>
                <a:srgbClr val="000000"/>
              </a:solidFill>
              <a:uFill>
                <a:solidFill>
                  <a:srgbClr val="FFFFFF"/>
                </a:solidFill>
              </a:uFill>
              <a:latin typeface="Arial"/>
            </a:endParaRPr>
          </a:p>
        </p:txBody>
      </p:sp>
      <p:sp>
        <p:nvSpPr>
          <p:cNvPr id="1268" name="CustomShape 2"/>
          <p:cNvSpPr/>
          <p:nvPr/>
        </p:nvSpPr>
        <p:spPr>
          <a:xfrm>
            <a:off x="900000" y="836640"/>
            <a:ext cx="7992360" cy="5616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sz="2400" strike="noStrike" spc="-1">
                <a:solidFill>
                  <a:srgbClr val="000000"/>
                </a:solidFill>
                <a:uFill>
                  <a:solidFill>
                    <a:srgbClr val="FFFFFF"/>
                  </a:solidFill>
                </a:uFill>
                <a:latin typeface="Calibri"/>
                <a:ea typeface="MS PGothic"/>
              </a:rPr>
              <a:t>The </a:t>
            </a:r>
            <a:r>
              <a:rPr lang="en-US" sz="2400" b="1" strike="noStrike" spc="-1">
                <a:solidFill>
                  <a:srgbClr val="000000"/>
                </a:solidFill>
                <a:uFill>
                  <a:solidFill>
                    <a:srgbClr val="FFFFFF"/>
                  </a:solidFill>
                </a:uFill>
                <a:latin typeface="Calibri"/>
                <a:ea typeface="MS PGothic"/>
              </a:rPr>
              <a:t>willingness to pay</a:t>
            </a:r>
            <a:r>
              <a:rPr lang="en-US" sz="2400" strike="noStrike" spc="-1">
                <a:solidFill>
                  <a:srgbClr val="000000"/>
                </a:solidFill>
                <a:uFill>
                  <a:solidFill>
                    <a:srgbClr val="FFFFFF"/>
                  </a:solidFill>
                </a:uFill>
                <a:latin typeface="Calibri"/>
                <a:ea typeface="MS PGothic"/>
              </a:rPr>
              <a:t> of each individual consumer determines the demand curve. </a:t>
            </a:r>
            <a:endParaRPr lang="en-US" sz="1800" strike="noStrike" spc="-1">
              <a:solidFill>
                <a:srgbClr val="000000"/>
              </a:solidFill>
              <a:uFill>
                <a:solidFill>
                  <a:srgbClr val="FFFFFF"/>
                </a:solidFill>
              </a:uFill>
              <a:latin typeface="Arial"/>
            </a:endParaRPr>
          </a:p>
          <a:p>
            <a:endParaRPr lang="en-US" sz="1800" strike="noStrike" spc="-1">
              <a:solidFill>
                <a:srgbClr val="000000"/>
              </a:solidFill>
              <a:uFill>
                <a:solidFill>
                  <a:srgbClr val="FFFFFF"/>
                </a:solidFill>
              </a:uFill>
              <a:latin typeface="Arial"/>
            </a:endParaRPr>
          </a:p>
          <a:p>
            <a:r>
              <a:rPr lang="en-US" sz="2400" strike="noStrike" spc="-1">
                <a:solidFill>
                  <a:srgbClr val="000000"/>
                </a:solidFill>
                <a:uFill>
                  <a:solidFill>
                    <a:srgbClr val="FFFFFF"/>
                  </a:solidFill>
                </a:uFill>
                <a:latin typeface="Calibri"/>
                <a:ea typeface="MS PGothic"/>
              </a:rPr>
              <a:t>When price is less than or equal to the willingness to pay, the potential consumer purchases the good. </a:t>
            </a:r>
            <a:endParaRPr lang="en-US" sz="1800" strike="noStrike" spc="-1">
              <a:solidFill>
                <a:srgbClr val="000000"/>
              </a:solidFill>
              <a:uFill>
                <a:solidFill>
                  <a:srgbClr val="FFFFFF"/>
                </a:solidFill>
              </a:uFill>
              <a:latin typeface="Arial"/>
            </a:endParaRPr>
          </a:p>
          <a:p>
            <a:endParaRPr lang="en-US" sz="1800" strike="noStrike" spc="-1">
              <a:solidFill>
                <a:srgbClr val="000000"/>
              </a:solidFill>
              <a:uFill>
                <a:solidFill>
                  <a:srgbClr val="FFFFFF"/>
                </a:solidFill>
              </a:uFill>
              <a:latin typeface="Arial"/>
            </a:endParaRPr>
          </a:p>
          <a:p>
            <a:r>
              <a:rPr lang="en-US" sz="2400" strike="noStrike" spc="-1">
                <a:solidFill>
                  <a:srgbClr val="000000"/>
                </a:solidFill>
                <a:uFill>
                  <a:solidFill>
                    <a:srgbClr val="FFFFFF"/>
                  </a:solidFill>
                </a:uFill>
                <a:latin typeface="Calibri"/>
                <a:ea typeface="MS PGothic"/>
              </a:rPr>
              <a:t>The difference between willingness to pay and price is the net gain to the consumer, the </a:t>
            </a:r>
            <a:r>
              <a:rPr lang="en-US" sz="2400" b="1" strike="noStrike" spc="-1">
                <a:solidFill>
                  <a:srgbClr val="000000"/>
                </a:solidFill>
                <a:uFill>
                  <a:solidFill>
                    <a:srgbClr val="FFFFFF"/>
                  </a:solidFill>
                </a:uFill>
                <a:latin typeface="Calibri"/>
                <a:ea typeface="MS PGothic"/>
              </a:rPr>
              <a:t>individual consumer surplus</a:t>
            </a:r>
            <a:r>
              <a:rPr lang="en-US" sz="2400" strike="noStrike" spc="-1">
                <a:solidFill>
                  <a:srgbClr val="000000"/>
                </a:solidFill>
                <a:uFill>
                  <a:solidFill>
                    <a:srgbClr val="FFFFFF"/>
                  </a:solidFill>
                </a:uFill>
                <a:latin typeface="Calibri"/>
                <a:ea typeface="MS PGothic"/>
              </a:rPr>
              <a:t>.</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Calibri"/>
              <a:buAutoNum type="arabicPeriod"/>
            </a:pPr>
            <a:r>
              <a:rPr lang="en-US" sz="2400" strike="noStrike" spc="-1">
                <a:solidFill>
                  <a:srgbClr val="000000"/>
                </a:solidFill>
                <a:uFill>
                  <a:solidFill>
                    <a:srgbClr val="FFFFFF"/>
                  </a:solidFill>
                </a:uFill>
                <a:latin typeface="Calibri"/>
                <a:ea typeface="MS PGothic"/>
              </a:rPr>
              <a:t> </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Calibri"/>
              <a:buAutoNum type="arabicPeriod"/>
            </a:pPr>
            <a:r>
              <a:rPr lang="en-US" sz="2400" b="1" strike="noStrike" spc="-1">
                <a:solidFill>
                  <a:srgbClr val="000000"/>
                </a:solidFill>
                <a:uFill>
                  <a:solidFill>
                    <a:srgbClr val="FFFFFF"/>
                  </a:solidFill>
                </a:uFill>
                <a:latin typeface="Calibri"/>
                <a:ea typeface="MS PGothic"/>
              </a:rPr>
              <a:t>Total consumer surplus</a:t>
            </a:r>
            <a:r>
              <a:rPr lang="en-US" sz="2400" strike="noStrike" spc="-1">
                <a:solidFill>
                  <a:srgbClr val="000000"/>
                </a:solidFill>
                <a:uFill>
                  <a:solidFill>
                    <a:srgbClr val="FFFFFF"/>
                  </a:solidFill>
                </a:uFill>
                <a:latin typeface="Calibri"/>
                <a:ea typeface="MS PGothic"/>
              </a:rPr>
              <a:t> in a market, the sum of all individual consumer surpluses in a market. </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Calibri"/>
              <a:buAutoNum type="arabicPeriod"/>
            </a:pPr>
            <a:r>
              <a:rPr lang="en-US" sz="2400" strike="noStrike" spc="-1">
                <a:solidFill>
                  <a:srgbClr val="000000"/>
                </a:solidFill>
                <a:uFill>
                  <a:solidFill>
                    <a:srgbClr val="FFFFFF"/>
                  </a:solidFill>
                </a:uFill>
                <a:latin typeface="Calibri"/>
                <a:ea typeface="MS PGothic"/>
              </a:rPr>
              <a:t> </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Calibri"/>
              <a:buAutoNum type="arabicPeriod"/>
            </a:pPr>
            <a:r>
              <a:rPr lang="en-US" sz="2400" strike="noStrike" spc="-1">
                <a:solidFill>
                  <a:srgbClr val="000000"/>
                </a:solidFill>
                <a:uFill>
                  <a:solidFill>
                    <a:srgbClr val="FFFFFF"/>
                  </a:solidFill>
                </a:uFill>
                <a:latin typeface="Calibri"/>
                <a:ea typeface="MS PGothic"/>
              </a:rPr>
              <a:t>A rise in the price of a good reduces consumer surplus; a fall in the price increases </a:t>
            </a:r>
            <a:r>
              <a:rPr lang="en-US" sz="2400" b="1" strike="noStrike" spc="-1">
                <a:solidFill>
                  <a:srgbClr val="000000"/>
                </a:solidFill>
                <a:uFill>
                  <a:solidFill>
                    <a:srgbClr val="FFFFFF"/>
                  </a:solidFill>
                </a:uFill>
                <a:latin typeface="Calibri"/>
                <a:ea typeface="MS PGothic"/>
              </a:rPr>
              <a:t>consumer surplus</a:t>
            </a:r>
            <a:r>
              <a:rPr lang="en-US" sz="2400" strike="noStrike" spc="-1">
                <a:solidFill>
                  <a:srgbClr val="000000"/>
                </a:solidFill>
                <a:uFill>
                  <a:solidFill>
                    <a:srgbClr val="FFFFFF"/>
                  </a:solidFill>
                </a:uFill>
                <a:latin typeface="Calibri"/>
                <a:ea typeface="MS PGothic"/>
              </a:rPr>
              <a:t>.</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 name="CustomShape 1"/>
          <p:cNvSpPr/>
          <p:nvPr/>
        </p:nvSpPr>
        <p:spPr>
          <a:xfrm>
            <a:off x="900000" y="39600"/>
            <a:ext cx="8063640" cy="578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000000"/>
                </a:solidFill>
                <a:uFill>
                  <a:solidFill>
                    <a:srgbClr val="FFFFFF"/>
                  </a:solidFill>
                </a:uFill>
                <a:latin typeface="Calibri"/>
                <a:ea typeface="MS PGothic"/>
              </a:rPr>
              <a:t>SUMMARY</a:t>
            </a:r>
            <a:endParaRPr lang="en-US" sz="1800" strike="noStrike" spc="-1">
              <a:solidFill>
                <a:srgbClr val="000000"/>
              </a:solidFill>
              <a:uFill>
                <a:solidFill>
                  <a:srgbClr val="FFFFFF"/>
                </a:solidFill>
              </a:uFill>
              <a:latin typeface="Arial"/>
            </a:endParaRPr>
          </a:p>
        </p:txBody>
      </p:sp>
      <p:sp>
        <p:nvSpPr>
          <p:cNvPr id="1270" name="CustomShape 2"/>
          <p:cNvSpPr/>
          <p:nvPr/>
        </p:nvSpPr>
        <p:spPr>
          <a:xfrm>
            <a:off x="971640" y="1066680"/>
            <a:ext cx="7921080" cy="5385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sz="2400" strike="noStrike" spc="-1">
                <a:solidFill>
                  <a:srgbClr val="000000"/>
                </a:solidFill>
                <a:uFill>
                  <a:solidFill>
                    <a:srgbClr val="FFFFFF"/>
                  </a:solidFill>
                </a:uFill>
                <a:latin typeface="Calibri"/>
                <a:ea typeface="MS PGothic"/>
              </a:rPr>
              <a:t>The </a:t>
            </a:r>
            <a:r>
              <a:rPr lang="en-US" sz="2400" b="1" strike="noStrike" spc="-1">
                <a:solidFill>
                  <a:srgbClr val="000000"/>
                </a:solidFill>
                <a:uFill>
                  <a:solidFill>
                    <a:srgbClr val="FFFFFF"/>
                  </a:solidFill>
                </a:uFill>
                <a:latin typeface="Calibri"/>
                <a:ea typeface="MS PGothic"/>
              </a:rPr>
              <a:t>cost</a:t>
            </a:r>
            <a:r>
              <a:rPr lang="en-US" sz="2400" strike="noStrike" spc="-1">
                <a:solidFill>
                  <a:srgbClr val="000000"/>
                </a:solidFill>
                <a:uFill>
                  <a:solidFill>
                    <a:srgbClr val="FFFFFF"/>
                  </a:solidFill>
                </a:uFill>
                <a:latin typeface="Calibri"/>
                <a:ea typeface="MS PGothic"/>
              </a:rPr>
              <a:t> of each potential producer, the lowest price at which he or she is willing to supply a unit of that good, determines the supply curve. </a:t>
            </a:r>
            <a:endParaRPr lang="en-US" sz="1800" strike="noStrike" spc="-1">
              <a:solidFill>
                <a:srgbClr val="000000"/>
              </a:solidFill>
              <a:uFill>
                <a:solidFill>
                  <a:srgbClr val="FFFFFF"/>
                </a:solidFill>
              </a:uFill>
              <a:latin typeface="Arial"/>
            </a:endParaRPr>
          </a:p>
          <a:p>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Calibri"/>
              <a:buAutoNum type="arabicPeriod" startAt="3"/>
            </a:pPr>
            <a:r>
              <a:rPr lang="en-US" sz="2400" strike="noStrike" spc="-1">
                <a:solidFill>
                  <a:srgbClr val="000000"/>
                </a:solidFill>
                <a:uFill>
                  <a:solidFill>
                    <a:srgbClr val="FFFFFF"/>
                  </a:solidFill>
                </a:uFill>
                <a:latin typeface="Calibri"/>
                <a:ea typeface="MS PGothic"/>
              </a:rPr>
              <a:t>If the price of a good is above a producer’s cost, a sale generates a net gain to the producer, known as the </a:t>
            </a:r>
            <a:r>
              <a:rPr lang="en-US" sz="2400" b="1" strike="noStrike" spc="-1">
                <a:solidFill>
                  <a:srgbClr val="000000"/>
                </a:solidFill>
                <a:uFill>
                  <a:solidFill>
                    <a:srgbClr val="FFFFFF"/>
                  </a:solidFill>
                </a:uFill>
                <a:latin typeface="Calibri"/>
                <a:ea typeface="MS PGothic"/>
              </a:rPr>
              <a:t>individual producer surplus</a:t>
            </a:r>
            <a:r>
              <a:rPr lang="en-US" sz="2400" strike="noStrike" spc="-1">
                <a:solidFill>
                  <a:srgbClr val="000000"/>
                </a:solidFill>
                <a:uFill>
                  <a:solidFill>
                    <a:srgbClr val="FFFFFF"/>
                  </a:solidFill>
                </a:uFill>
                <a:latin typeface="Calibri"/>
                <a:ea typeface="MS PGothic"/>
              </a:rPr>
              <a:t>.</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Calibri"/>
              <a:buAutoNum type="arabicPeriod" startAt="3"/>
            </a:pPr>
            <a:r>
              <a:rPr lang="en-US" sz="2400" strike="noStrike" spc="-1">
                <a:solidFill>
                  <a:srgbClr val="000000"/>
                </a:solidFill>
                <a:uFill>
                  <a:solidFill>
                    <a:srgbClr val="FFFFFF"/>
                  </a:solidFill>
                </a:uFill>
                <a:latin typeface="Calibri"/>
                <a:ea typeface="MS PGothic"/>
              </a:rPr>
              <a:t> </a:t>
            </a:r>
            <a:r>
              <a:rPr lang="en-US" sz="2400" b="1" strike="noStrike" spc="-1">
                <a:solidFill>
                  <a:srgbClr val="000000"/>
                </a:solidFill>
                <a:uFill>
                  <a:solidFill>
                    <a:srgbClr val="FFFFFF"/>
                  </a:solidFill>
                </a:uFill>
                <a:latin typeface="Calibri"/>
                <a:ea typeface="MS PGothic"/>
              </a:rPr>
              <a:t>Total producer surplus</a:t>
            </a:r>
            <a:r>
              <a:rPr lang="en-US" sz="2400" strike="noStrike" spc="-1">
                <a:solidFill>
                  <a:srgbClr val="000000"/>
                </a:solidFill>
                <a:uFill>
                  <a:solidFill>
                    <a:srgbClr val="FFFFFF"/>
                  </a:solidFill>
                </a:uFill>
                <a:latin typeface="Calibri"/>
                <a:ea typeface="MS PGothic"/>
              </a:rPr>
              <a:t> in a market, the sum of the individual producer surpluses in a market, is equal to the area above the market supply curve but below the price. </a:t>
            </a:r>
            <a:endParaRPr lang="en-US" sz="1800" strike="noStrike" spc="-1">
              <a:solidFill>
                <a:srgbClr val="000000"/>
              </a:solidFill>
              <a:uFill>
                <a:solidFill>
                  <a:srgbClr val="FFFFFF"/>
                </a:solidFill>
              </a:uFill>
              <a:latin typeface="Arial"/>
            </a:endParaRPr>
          </a:p>
          <a:p>
            <a:pPr>
              <a:lnSpc>
                <a:spcPct val="100000"/>
              </a:lnSpc>
            </a:pP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1" name="CustomShape 1"/>
          <p:cNvSpPr/>
          <p:nvPr/>
        </p:nvSpPr>
        <p:spPr>
          <a:xfrm>
            <a:off x="1076400" y="39600"/>
            <a:ext cx="8073360" cy="578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000000"/>
                </a:solidFill>
                <a:uFill>
                  <a:solidFill>
                    <a:srgbClr val="FFFFFF"/>
                  </a:solidFill>
                </a:uFill>
                <a:latin typeface="Calibri"/>
                <a:ea typeface="MS PGothic"/>
              </a:rPr>
              <a:t>SUMMARY</a:t>
            </a:r>
            <a:endParaRPr lang="en-US" sz="1800" strike="noStrike" spc="-1">
              <a:solidFill>
                <a:srgbClr val="000000"/>
              </a:solidFill>
              <a:uFill>
                <a:solidFill>
                  <a:srgbClr val="FFFFFF"/>
                </a:solidFill>
              </a:uFill>
              <a:latin typeface="Arial"/>
            </a:endParaRPr>
          </a:p>
        </p:txBody>
      </p:sp>
      <p:sp>
        <p:nvSpPr>
          <p:cNvPr id="1272" name="CustomShape 2"/>
          <p:cNvSpPr/>
          <p:nvPr/>
        </p:nvSpPr>
        <p:spPr>
          <a:xfrm>
            <a:off x="971640" y="907920"/>
            <a:ext cx="7921080" cy="5328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en-US" sz="2400" b="1" strike="noStrike" spc="-1">
                <a:solidFill>
                  <a:srgbClr val="000000"/>
                </a:solidFill>
                <a:uFill>
                  <a:solidFill>
                    <a:srgbClr val="FFFFFF"/>
                  </a:solidFill>
                </a:uFill>
                <a:latin typeface="Calibri"/>
                <a:ea typeface="MS PGothic"/>
              </a:rPr>
              <a:t>Total surplus</a:t>
            </a:r>
            <a:r>
              <a:rPr lang="en-US" sz="2400" strike="noStrike" spc="-1">
                <a:solidFill>
                  <a:srgbClr val="000000"/>
                </a:solidFill>
                <a:uFill>
                  <a:solidFill>
                    <a:srgbClr val="FFFFFF"/>
                  </a:solidFill>
                </a:uFill>
                <a:latin typeface="Calibri"/>
                <a:ea typeface="MS PGothic"/>
              </a:rPr>
              <a:t>, the total gain to society from the production and consumption of a good, is the sum of consumer and producer surplus.</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Calibri"/>
              <a:buAutoNum type="arabicPeriod" startAt="5"/>
            </a:pPr>
            <a:r>
              <a:rPr lang="en-US" sz="2400" strike="noStrike" spc="-1">
                <a:solidFill>
                  <a:srgbClr val="000000"/>
                </a:solidFill>
                <a:uFill>
                  <a:solidFill>
                    <a:srgbClr val="FFFFFF"/>
                  </a:solidFill>
                </a:uFill>
                <a:latin typeface="Calibri"/>
                <a:ea typeface="MS PGothic"/>
              </a:rPr>
              <a:t> </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Calibri"/>
              <a:buAutoNum type="arabicPeriod" startAt="5"/>
            </a:pPr>
            <a:r>
              <a:rPr lang="en-US" sz="2400" strike="noStrike" spc="-1">
                <a:solidFill>
                  <a:srgbClr val="000000"/>
                </a:solidFill>
                <a:uFill>
                  <a:solidFill>
                    <a:srgbClr val="FFFFFF"/>
                  </a:solidFill>
                </a:uFill>
                <a:latin typeface="Calibri"/>
                <a:ea typeface="MS PGothic"/>
              </a:rPr>
              <a:t>Usually, markets are efficient and achieve the maximum total surplus. Any possible reallocation of consumption or sales, or a change in the quantity bought and sold, reduces total surplus.</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Calibri"/>
              <a:buAutoNum type="arabicPeriod" startAt="5"/>
            </a:pPr>
            <a:r>
              <a:rPr lang="en-US" sz="2400" strike="noStrike" spc="-1">
                <a:solidFill>
                  <a:srgbClr val="000000"/>
                </a:solidFill>
                <a:uFill>
                  <a:solidFill>
                    <a:srgbClr val="FFFFFF"/>
                  </a:solidFill>
                </a:uFill>
                <a:latin typeface="Calibri"/>
                <a:ea typeface="MS PGothic"/>
              </a:rPr>
              <a:t> </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Calibri"/>
              <a:buAutoNum type="arabicPeriod" startAt="5"/>
            </a:pPr>
            <a:r>
              <a:rPr lang="en-US" sz="2400" strike="noStrike" spc="-1">
                <a:solidFill>
                  <a:srgbClr val="000000"/>
                </a:solidFill>
                <a:uFill>
                  <a:solidFill>
                    <a:srgbClr val="FFFFFF"/>
                  </a:solidFill>
                </a:uFill>
                <a:latin typeface="Calibri"/>
                <a:ea typeface="MS PGothic"/>
              </a:rPr>
              <a:t>However, society also cares about fairness and equity. So government intervention in a market that reduces efficiency but increases equity can be a valid choice by society.</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273" name="CustomShape 1"/>
          <p:cNvSpPr/>
          <p:nvPr/>
        </p:nvSpPr>
        <p:spPr>
          <a:xfrm>
            <a:off x="899640" y="1103400"/>
            <a:ext cx="7992000" cy="5022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65120" indent="-46440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rPr>
              <a:t>Willingness to pay</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rPr>
              <a:t>Individual consumer surplus</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rPr>
              <a:t>Total consumer surplus</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rPr>
              <a:t>Consumer surplus</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rPr>
              <a:t>Cost</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rPr>
              <a:t>Individual producer surplus</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rPr>
              <a:t>Total producer surplus</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rPr>
              <a:t>Producer surplus</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rPr>
              <a:t>Total surplus</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rPr>
              <a:t>Property rights</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rPr>
              <a:t>Economic signal</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rPr>
              <a:t>Inefficient</a:t>
            </a:r>
            <a:endParaRPr lang="en-US" sz="1800" strike="noStrike" spc="-1">
              <a:solidFill>
                <a:srgbClr val="000000"/>
              </a:solidFill>
              <a:uFill>
                <a:solidFill>
                  <a:srgbClr val="FFFFFF"/>
                </a:solidFill>
              </a:uFill>
              <a:latin typeface="Arial"/>
            </a:endParaRPr>
          </a:p>
          <a:p>
            <a:pPr marL="465120" indent="-464400">
              <a:lnSpc>
                <a:spcPct val="100000"/>
              </a:lnSpc>
              <a:buClr>
                <a:srgbClr val="000000"/>
              </a:buClr>
              <a:buFont typeface="Wingdings" charset="2"/>
              <a:buChar char=""/>
            </a:pPr>
            <a:r>
              <a:rPr lang="en-US" sz="2400" strike="noStrike" spc="-1">
                <a:solidFill>
                  <a:srgbClr val="000000"/>
                </a:solidFill>
                <a:uFill>
                  <a:solidFill>
                    <a:srgbClr val="FFFFFF"/>
                  </a:solidFill>
                </a:uFill>
                <a:latin typeface="Calibri"/>
              </a:rPr>
              <a:t>Market failure</a:t>
            </a:r>
            <a:endParaRPr lang="en-US" sz="1800" strike="noStrike" spc="-1">
              <a:solidFill>
                <a:srgbClr val="000000"/>
              </a:solidFill>
              <a:uFill>
                <a:solidFill>
                  <a:srgbClr val="FFFFFF"/>
                </a:solidFill>
              </a:uFill>
              <a:latin typeface="Arial"/>
            </a:endParaRPr>
          </a:p>
        </p:txBody>
      </p:sp>
      <p:sp>
        <p:nvSpPr>
          <p:cNvPr id="1274" name="CustomShape 2"/>
          <p:cNvSpPr/>
          <p:nvPr/>
        </p:nvSpPr>
        <p:spPr>
          <a:xfrm>
            <a:off x="971640" y="39600"/>
            <a:ext cx="7992360" cy="578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3200" b="1" strike="noStrike" spc="-1">
                <a:solidFill>
                  <a:srgbClr val="FFFFFF"/>
                </a:solidFill>
                <a:uFill>
                  <a:solidFill>
                    <a:srgbClr val="FFFFFF"/>
                  </a:solidFill>
                </a:uFill>
                <a:latin typeface="Calibri"/>
                <a:ea typeface="MS PGothic"/>
              </a:rPr>
              <a:t>KEY TERMS</a:t>
            </a:r>
            <a:endParaRPr lang="en-US" sz="1800" strike="noStrike" spc="-1">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4390</TotalTime>
  <Words>4505</Words>
  <Application>Microsoft Office PowerPoint</Application>
  <PresentationFormat>全屏显示(4:3)</PresentationFormat>
  <Paragraphs>534</Paragraphs>
  <Slides>40</Slides>
  <Notes>30</Notes>
  <HiddenSlides>1</HiddenSlides>
  <MMClips>0</MMClips>
  <ScaleCrop>false</ScaleCrop>
  <HeadingPairs>
    <vt:vector size="6" baseType="variant">
      <vt:variant>
        <vt:lpstr>已用的字体</vt:lpstr>
      </vt:variant>
      <vt:variant>
        <vt:i4>9</vt:i4>
      </vt:variant>
      <vt:variant>
        <vt:lpstr>主题</vt:lpstr>
      </vt:variant>
      <vt:variant>
        <vt:i4>6</vt:i4>
      </vt:variant>
      <vt:variant>
        <vt:lpstr>幻灯片标题</vt:lpstr>
      </vt:variant>
      <vt:variant>
        <vt:i4>40</vt:i4>
      </vt:variant>
    </vt:vector>
  </HeadingPairs>
  <TitlesOfParts>
    <vt:vector size="55" baseType="lpstr">
      <vt:lpstr>Myriad Pro</vt:lpstr>
      <vt:lpstr>Myriad Roman</vt:lpstr>
      <vt:lpstr>Arial</vt:lpstr>
      <vt:lpstr>Bookman Old Style</vt:lpstr>
      <vt:lpstr>Calibri</vt:lpstr>
      <vt:lpstr>Symbol</vt:lpstr>
      <vt:lpstr>Tahoma</vt:lpstr>
      <vt:lpstr>Times New Roman</vt:lpstr>
      <vt:lpstr>Wingdings</vt:lpstr>
      <vt:lpstr>Office Theme</vt:lpstr>
      <vt:lpstr>Office Theme</vt:lpstr>
      <vt:lpstr>Office Theme</vt:lpstr>
      <vt:lpstr>Office Theme</vt:lpstr>
      <vt:lpstr>Office Theme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Study of Economics</dc:title>
  <dc:creator>Gideon</dc:creator>
  <cp:lastModifiedBy>Suowei Wu (SSE,124090687)</cp:lastModifiedBy>
  <cp:revision>119</cp:revision>
  <dcterms:created xsi:type="dcterms:W3CDTF">2011-11-30T16:12:49Z</dcterms:created>
  <dcterms:modified xsi:type="dcterms:W3CDTF">2026-06-04T13:45:46Z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1</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35</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41</vt:i4>
  </property>
</Properties>
</file>